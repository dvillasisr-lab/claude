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9ed9d948-b8e3-76d5-6a96-2a0294e6a1b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1956" y="2130412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b="1" spc="15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KUESKI · BRAZE</a:t>
            </a:r>
            <a:endParaRPr lang="en-US" sz="1060" dirty="0"/>
          </a:p>
        </p:txBody>
      </p:sp>
      <p:sp>
        <p:nvSpPr>
          <p:cNvPr id="4" name="Text 2"/>
          <p:cNvSpPr txBox="1"/>
          <p:nvPr/>
        </p:nvSpPr>
        <p:spPr>
          <a:xfrm>
            <a:off x="511956" y="2528432"/>
            <a:ext cx="8808469" cy="117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420" b="1" spc="-9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Braze en Marketing: qué está pasando y por qué</a:t>
            </a:r>
            <a:endParaRPr lang="en-US" sz="4420" dirty="0"/>
          </a:p>
        </p:txBody>
      </p:sp>
      <p:sp>
        <p:nvSpPr>
          <p:cNvPr id="5" name="Text 3"/>
          <p:cNvSpPr txBox="1"/>
          <p:nvPr/>
        </p:nvSpPr>
        <p:spPr>
          <a:xfrm>
            <a:off x="511956" y="3949762"/>
            <a:ext cx="8808469" cy="501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63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de enero a septiembre 2026 de los mensajes que manda Marketing, comparado con los demás equipos.</a:t>
            </a:r>
            <a:endParaRPr lang="en-US" sz="163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4695014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M mensajes de Marketing, 27.2 M MXN en nueve meses · Octubre 2026</a:t>
            </a:r>
            <a:endParaRPr lang="en-US" sz="10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39 % de los mensajes y 47 % del gasto de Braze, y trae 25 % de las conversiones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7369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referidos, rescates a leads y recordatorios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05642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Marketing; se compara con Product Growth, Sales, Collections y Others.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5789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Leads, registrados sin crédito, ex clientes y clientes activos.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3527477" cy="10430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0350" y="2034561"/>
            <a:ext cx="332529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 M MXN</a:t>
            </a:r>
            <a:endParaRPr lang="en-US" sz="3260" dirty="0"/>
          </a:p>
        </p:txBody>
      </p:sp>
      <p:sp>
        <p:nvSpPr>
          <p:cNvPr id="13" name="Text 11"/>
          <p:cNvSpPr txBox="1"/>
          <p:nvPr/>
        </p:nvSpPr>
        <p:spPr>
          <a:xfrm>
            <a:off x="670350" y="2491660"/>
            <a:ext cx="3325297" cy="1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mes en mensajes; 84 % se va en WhatsApp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4331958" y="1912789"/>
            <a:ext cx="3527628" cy="10430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90353" y="2034561"/>
            <a:ext cx="3325453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MXN</a:t>
            </a:r>
            <a:endParaRPr lang="en-US" sz="3260" dirty="0"/>
          </a:p>
        </p:txBody>
      </p:sp>
      <p:sp>
        <p:nvSpPr>
          <p:cNvPr id="16" name="Text 14"/>
          <p:cNvSpPr txBox="1"/>
          <p:nvPr/>
        </p:nvSpPr>
        <p:spPr>
          <a:xfrm>
            <a:off x="4490353" y="2491660"/>
            <a:ext cx="3325453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conversión; Product Growth 21 y el resto de 4 a 17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8152111" y="1912789"/>
            <a:ext cx="3527477" cy="1043052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10505" y="2034561"/>
            <a:ext cx="332529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</a:t>
            </a:r>
            <a:endParaRPr lang="en-US" sz="3260" dirty="0"/>
          </a:p>
        </p:txBody>
      </p:sp>
      <p:sp>
        <p:nvSpPr>
          <p:cNvPr id="19" name="Text 17"/>
          <p:cNvSpPr txBox="1"/>
          <p:nvPr/>
        </p:nvSpPr>
        <p:spPr>
          <a:xfrm>
            <a:off x="8310505" y="2491660"/>
            <a:ext cx="3325297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bajas por cada mil correos; el resto de los equipos, 2.6</a:t>
            </a:r>
            <a:endParaRPr lang="en-US" sz="1040" dirty="0"/>
          </a:p>
        </p:txBody>
      </p:sp>
      <p:sp>
        <p:nvSpPr>
          <p:cNvPr id="20" name="Text 18"/>
          <p:cNvSpPr txBox="1"/>
          <p:nvPr/>
        </p:nvSpPr>
        <p:spPr>
          <a:xfrm>
            <a:off x="511956" y="3126443"/>
            <a:ext cx="6179037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punto es una campaña con 20 mil MXN o más: gasto contra MXN por conversión</a:t>
            </a:r>
            <a:endParaRPr lang="en-US" sz="96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3351902"/>
            <a:ext cx="5981159" cy="2392494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785790" y="3131265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85790" y="3221389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785790" y="3221389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25" name="Text 22"/>
          <p:cNvSpPr txBox="1"/>
          <p:nvPr/>
        </p:nvSpPr>
        <p:spPr>
          <a:xfrm>
            <a:off x="7090522" y="3221389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 campaña típica de Marketing paga 128 MXN por conversión; la del resto, 34. Gastar más no la abarata (R² 0.03).</a:t>
            </a:r>
            <a:endParaRPr lang="en-US" sz="1060" dirty="0"/>
          </a:p>
        </p:txBody>
      </p:sp>
      <p:sp>
        <p:nvSpPr>
          <p:cNvPr id="26" name="Shape 23"/>
          <p:cNvSpPr/>
          <p:nvPr/>
        </p:nvSpPr>
        <p:spPr>
          <a:xfrm>
            <a:off x="6785790" y="3661306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85790" y="3751430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785790" y="3751430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29" name="Text 26"/>
          <p:cNvSpPr txBox="1"/>
          <p:nvPr/>
        </p:nvSpPr>
        <p:spPr>
          <a:xfrm>
            <a:off x="7090522" y="3751430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canal.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terceras partes del push que abre menos de 1 de cada 100 personas son de Marketing.</a:t>
            </a:r>
            <a:endParaRPr lang="en-US" sz="1060" dirty="0"/>
          </a:p>
        </p:txBody>
      </p:sp>
      <p:sp>
        <p:nvSpPr>
          <p:cNvPr id="30" name="Shape 27"/>
          <p:cNvSpPr/>
          <p:nvPr/>
        </p:nvSpPr>
        <p:spPr>
          <a:xfrm>
            <a:off x="6785790" y="4191347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85790" y="4281471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785790" y="4281471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33" name="Text 30"/>
          <p:cNvSpPr txBox="1"/>
          <p:nvPr/>
        </p:nvSpPr>
        <p:spPr>
          <a:xfrm>
            <a:off x="7090522" y="4281471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Cuántas veces.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Hasta 2.3 M personas al mes reciben tres o más campañas el mismo día, casi siempre con Marketing.</a:t>
            </a:r>
            <a:endParaRPr lang="en-US" sz="1060" dirty="0"/>
          </a:p>
        </p:txBody>
      </p:sp>
      <p:sp>
        <p:nvSpPr>
          <p:cNvPr id="34" name="Shape 31"/>
          <p:cNvSpPr/>
          <p:nvPr/>
        </p:nvSpPr>
        <p:spPr>
          <a:xfrm>
            <a:off x="6785790" y="4721388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785790" y="4811512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785790" y="4811512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10" dirty="0"/>
          </a:p>
        </p:txBody>
      </p:sp>
      <p:sp>
        <p:nvSpPr>
          <p:cNvPr id="37" name="Text 34"/>
          <p:cNvSpPr txBox="1"/>
          <p:nvPr/>
        </p:nvSpPr>
        <p:spPr>
          <a:xfrm>
            <a:off x="7090522" y="4811512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sí funciona.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El recordatorio de registro: 21 MXN por préstamo; lo que nace de algo que hizo la persona responde siete veces más.</a:t>
            </a:r>
            <a:endParaRPr lang="en-US" sz="1060" dirty="0"/>
          </a:p>
        </p:txBody>
      </p:sp>
      <p:sp>
        <p:nvSpPr>
          <p:cNvPr id="38" name="Shape 35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40" name="Text 37"/>
          <p:cNvSpPr txBox="1"/>
          <p:nvPr/>
        </p:nvSpPr>
        <p:spPr>
          <a:xfrm>
            <a:off x="1409876" y="5942427"/>
            <a:ext cx="764781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dinero de Marketing se va en WhatsApp a quien no responde; funciona lo que nace de lo que hizo la persona.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11956" y="6319649"/>
            <a:ext cx="11202729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 (E1), enero a septiembre 2026. WhatsApp a 1.00 MXN por entregado, correo a 0.05 MXN. Conversión: crédito otorgado en 7 días, repartido. Bajas sobre correos entregados.</a:t>
            </a:r>
            <a:endParaRPr lang="en-US" sz="840" dirty="0"/>
          </a:p>
        </p:txBody>
      </p:sp>
      <p:sp>
        <p:nvSpPr>
          <p:cNvPr id="42" name="Text 39"/>
          <p:cNvSpPr txBox="1"/>
          <p:nvPr/>
        </p:nvSpPr>
        <p:spPr>
          <a:xfrm>
            <a:off x="11614332" y="6319649"/>
            <a:ext cx="85658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Visto desde el teléfono de la persona, así se sienten nuestros mensajes: tres casos reales</a:t>
            </a:r>
            <a:endParaRPr lang="en-US" sz="221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234451"/>
            <a:ext cx="1775042" cy="337285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433336" y="1234451"/>
            <a:ext cx="1706098" cy="279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20" b="1" spc="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ACABA DE REGISTRAR</a:t>
            </a:r>
            <a:endParaRPr lang="en-US" sz="820" dirty="0"/>
          </a:p>
        </p:txBody>
      </p:sp>
      <p:sp>
        <p:nvSpPr>
          <p:cNvPr id="5" name="Text 2"/>
          <p:cNvSpPr txBox="1"/>
          <p:nvPr/>
        </p:nvSpPr>
        <p:spPr>
          <a:xfrm>
            <a:off x="2433336" y="1575052"/>
            <a:ext cx="1706098" cy="87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4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correos</a:t>
            </a:r>
            <a:endParaRPr lang="en-US" sz="3460" dirty="0"/>
          </a:p>
        </p:txBody>
      </p:sp>
      <p:sp>
        <p:nvSpPr>
          <p:cNvPr id="6" name="Text 3"/>
          <p:cNvSpPr txBox="1"/>
          <p:nvPr/>
        </p:nvSpPr>
        <p:spPr>
          <a:xfrm>
            <a:off x="2433336" y="2513663"/>
            <a:ext cx="1706098" cy="348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darse de baja, hacia el día 5</a:t>
            </a:r>
            <a:endParaRPr lang="en-US" sz="1060" dirty="0"/>
          </a:p>
        </p:txBody>
      </p:sp>
      <p:sp>
        <p:nvSpPr>
          <p:cNvPr id="7" name="Text 4"/>
          <p:cNvSpPr txBox="1"/>
          <p:nvPr/>
        </p:nvSpPr>
        <p:spPr>
          <a:xfrm>
            <a:off x="2433336" y="2923288"/>
            <a:ext cx="1706098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 mil nuevos se dieron de baja de nuestros correos, típicamente al día 5 y con 10 correos. La mitad, con el recordatorio de registro, que llega casi 6 veces al mes.</a:t>
            </a:r>
            <a:endParaRPr lang="en-US" sz="98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682" y="1234451"/>
            <a:ext cx="1775042" cy="33728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37061" y="1234451"/>
            <a:ext cx="1706098" cy="279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20" b="1" spc="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NUESTRO CLIENTE MÁS ACTIVO</a:t>
            </a:r>
            <a:endParaRPr lang="en-US" sz="820" dirty="0"/>
          </a:p>
        </p:txBody>
      </p:sp>
      <p:sp>
        <p:nvSpPr>
          <p:cNvPr id="10" name="Text 6"/>
          <p:cNvSpPr txBox="1"/>
          <p:nvPr/>
        </p:nvSpPr>
        <p:spPr>
          <a:xfrm>
            <a:off x="6237061" y="1575052"/>
            <a:ext cx="1706098" cy="43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4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al día</a:t>
            </a:r>
            <a:endParaRPr lang="en-US" sz="3460" dirty="0"/>
          </a:p>
        </p:txBody>
      </p:sp>
      <p:sp>
        <p:nvSpPr>
          <p:cNvPr id="11" name="Text 7"/>
          <p:cNvSpPr txBox="1"/>
          <p:nvPr/>
        </p:nvSpPr>
        <p:spPr>
          <a:xfrm>
            <a:off x="6237061" y="2074801"/>
            <a:ext cx="1706098" cy="174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210 de los 273 días</a:t>
            </a:r>
            <a:endParaRPr lang="en-US" sz="1060" dirty="0"/>
          </a:p>
        </p:txBody>
      </p:sp>
      <p:sp>
        <p:nvSpPr>
          <p:cNvPr id="12" name="Text 8"/>
          <p:cNvSpPr txBox="1"/>
          <p:nvPr/>
        </p:nvSpPr>
        <p:spPr>
          <a:xfrm>
            <a:off x="6237061" y="2310056"/>
            <a:ext cx="1706098" cy="139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339 mil personas (1.7 % de la base) recibieron 482 mensajes cada una en nueve meses. Cuando a alguien le llegan tres campañas el mismo día, Marketing está en 63 % de esos días.</a:t>
            </a:r>
            <a:endParaRPr lang="en-US" sz="98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558" y="1234451"/>
            <a:ext cx="1775042" cy="337285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040938" y="1234451"/>
            <a:ext cx="1706098" cy="279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20" b="1" spc="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YA NOS DIJO QUE NO</a:t>
            </a:r>
            <a:endParaRPr lang="en-US" sz="820" dirty="0"/>
          </a:p>
        </p:txBody>
      </p:sp>
      <p:sp>
        <p:nvSpPr>
          <p:cNvPr id="15" name="Text 10"/>
          <p:cNvSpPr txBox="1"/>
          <p:nvPr/>
        </p:nvSpPr>
        <p:spPr>
          <a:xfrm>
            <a:off x="10040938" y="1575052"/>
            <a:ext cx="1706098" cy="43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4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 mil</a:t>
            </a:r>
            <a:endParaRPr lang="en-US" sz="3460" dirty="0"/>
          </a:p>
        </p:txBody>
      </p:sp>
      <p:sp>
        <p:nvSpPr>
          <p:cNvPr id="16" name="Text 11"/>
          <p:cNvSpPr txBox="1"/>
          <p:nvPr/>
        </p:nvSpPr>
        <p:spPr>
          <a:xfrm>
            <a:off x="10040938" y="2074801"/>
            <a:ext cx="1706098" cy="523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nuestras después de darse de baja</a:t>
            </a:r>
            <a:endParaRPr lang="en-US" sz="1060" dirty="0"/>
          </a:p>
        </p:txBody>
      </p:sp>
      <p:sp>
        <p:nvSpPr>
          <p:cNvPr id="17" name="Text 12"/>
          <p:cNvSpPr txBox="1"/>
          <p:nvPr/>
        </p:nvSpPr>
        <p:spPr>
          <a:xfrm>
            <a:off x="10040938" y="2658795"/>
            <a:ext cx="1706098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mil personas dadas de baja recibieron 79 mil promociones; 58 mil eran de Marketing. El recordatorio de verificación les siguió llegando nueve meses.</a:t>
            </a:r>
            <a:endParaRPr lang="en-US" sz="980" dirty="0"/>
          </a:p>
        </p:txBody>
      </p:sp>
      <p:sp>
        <p:nvSpPr>
          <p:cNvPr id="18" name="Shape 13"/>
          <p:cNvSpPr/>
          <p:nvPr/>
        </p:nvSpPr>
        <p:spPr>
          <a:xfrm>
            <a:off x="511956" y="4850997"/>
            <a:ext cx="11167783" cy="408570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70350" y="4999294"/>
            <a:ext cx="692605" cy="1398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ADEMÁS</a:t>
            </a:r>
            <a:endParaRPr lang="en-US" sz="820" dirty="0"/>
          </a:p>
        </p:txBody>
      </p:sp>
      <p:sp>
        <p:nvSpPr>
          <p:cNvPr id="20" name="Text 15"/>
          <p:cNvSpPr txBox="1"/>
          <p:nvPr/>
        </p:nvSpPr>
        <p:spPr>
          <a:xfrm>
            <a:off x="1483421" y="4960713"/>
            <a:ext cx="9972380" cy="189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59 % de los mensajes va por un canal al que esa persona nunca respondió: correos a quien solo lee WhatsApp, push a quien nunca abre un push.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11956" y="6454684"/>
            <a:ext cx="990609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enero a septiembre 2026 (deck v6, láminas 8, 18, 24, 35, 52 y 63). Pantallas ilustrativas; las cifras son reales. 58 mil = promociones de Marketing a personas ya dadas de baja.</a:t>
            </a:r>
            <a:endParaRPr lang="en-US" sz="840" dirty="0"/>
          </a:p>
        </p:txBody>
      </p:sp>
      <p:sp>
        <p:nvSpPr>
          <p:cNvPr id="22" name="Text 1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Después de junio mandamos menos, pero cada mil mensajes hoy traen 54 respuestas; en enero traían 84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6696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Junio: lanzamiento de BillPay y push de Mundial, Comercio del día y Anota y Gana.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56745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junio contra enero, Marketing sumó 28 M mensajes y Others 25 M.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93443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Casi toda la base: el correo de BillPay llegó a 16 M personas.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Septiembre mandó 66 M mensajes, casi como enero (59 M), pero trajo 54 respuestas por cada mil contra 84.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 fue el pico: 109 M mensajes. Después mandamos menos y la respuesta quedó en 61, 56 y 54 por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WhatsApp, que sí se lee, bajó de 10 % a 5 % de los mensajes; push, que casi no se abre, subió de 27 % a 37 %.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26553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a toda la base por push y correo, sin límite de mensajes por persona ni calendario entre equipos.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66614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Mandar menos no basta: hay que escribir a quien responde, por su canal y con un límite semanal.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6527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canal, enero a septiembre 2026. Respuesta = clic de correo, apertura de push, lectura de WhatsApp y clic in-app, por cada mil enviados.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0413" y="6454684"/>
            <a:ext cx="8969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gana con el recordatorio de registro y gasta la mitad de su dinero en Tasa 0 que casi no convierte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24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y rescate de leads, referidos, promociones de KPay, recordatorio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427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Marketing: 351 campañas por canal, 259 M mensajes (39 %), 27.2 M MXN (47 %).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3600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28 %, leads fríos 25 %, clientes 19 %, dormidos 7 %, registro a medias 7 %.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 de Veriff: 3.04 % de clic en 9.7 M correos y 5.83 % en push, a 21 MXN por préstamo de Cash otorgado.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a leads: 51 % de su gasto (13.6 M MXN). Su WhatsApp se lee, pero cuesta 694 a 844 MXN por préstamo.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218058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218058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205866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Pierde suscriptores: 5.9 bajas por cada mil correos, más del doble que el resto de los equipos (2.6).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606449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606449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667335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828291"/>
            <a:ext cx="3411139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Mide si el mensaje se lee, no cuánto cuesta cada préstamo: el WhatsApp a leads fríos se lee y sigue saliendo.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681873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Mover el gasto de WhatsApp a leads fríos hacia el recordatorio de registro y los referidos a clientes.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204592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2026; campañas con 50 mil o más entregados. Costo por préstamo de Cash otorgado en 7 días, repartido entre los mensajes del día; no mide KPay.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6140" y="6319649"/>
            <a:ext cx="83795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paga con clientes activos y referidos; con bases frías cada conversión cuesta 13 veces más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21446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Referidos y recordatorios a clientes; rescates de Tasa 0 y descuentos a bases frías.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33212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 en las dos puntas; Sales solo a clientes y leads de KPay.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57226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Bases frías: ex clientes (dormants, inactivos, churn) y leads que nunca activaron.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MXN por conversión con activos y 629 con bases frías (11 y 69 por solicitud); ahí va 48 % del WhatsApp (19.7 M MXN).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 el correo sale más barato: 74 contra 468 MXN por conversión y 13 contra 74 por solicitud.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060417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060417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048225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julio a septiembre, 2.2 M MXN de WhatsApp llegaron a quien no leyó ninguno en 90 días.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353394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se usa para buscar en volumen a quien ya no lo lee: no hay regla de lectura reciente ni presupuesto con límite.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7284892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clientes, primero correo y app; WhatsApp solo a quien lo leyó en 90 días, con límite y grupo sin envío.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201642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 a sep 2026; E9b. 132 campañas con 50 mil MXN o más. Conversión: préstamo otorgado en 7 días, repartido; solicitud: solicitudes registradas. 19.7 M MXN: lámina 50.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319649"/>
            <a:ext cx="86744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mitad del push va en campañas que casi nadie abre, y dos terceras partes de ese push son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9266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lanzamientos, rescates de fin de semana y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9353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92 M de los 141 M push que abre menos de 1 de cada 100.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94744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(83 % de su push abre menos de 1 %) y bases frías (75 %).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141 M de 251 M push (56 %) van en campañas que abre menos de 1 de cada 100 personas.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Rescate de fin de semana a leads de Marketing: 13.4 M push y 0.76 % de apertura.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 se abren los que la persona espera: pago recibido 14 %, Installments a activos 11 %.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24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push se usa para mandar ofertas a toda la lista porque no cuesta, sin ver si esa persona abrió uno en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5167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solo a quien abrió uno en 60 días y con una razón para esa persona; para el resto, otro canal.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65805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2026. Apertura directa sobre enviados. 322 campañas con 100 mil o más push (97 % del canal).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9004" y="6454684"/>
            <a:ext cx="8084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mes hasta 2.3 M personas reciben tres o más campañas el mismo día, casi siempre con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328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 Sale, Comercio del día, BillPay, Anota y Gana, Mundial, Día del Padre y Tasa 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3315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Sales, Product Growth y Others (NewProducts, QA); Collections no aparece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870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Recurrentes y activos de KPay, leads y envíos a toda la base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2.26 M personas tuvieron en junio al menos un día con tres o más campañas; 1.30 M en enero.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Esos días son 9 % de las personas-día y llevan 24 % de los mensajes.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está en 63 % de los choques promocionales; Sales en 41 % y Product Growth en 25 %.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4482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administra el calendario y el límite global de mensajes por persona de Braze está apagado.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34002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Hace falta un límite de mensajes por persona al día y un dueño del calendario.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102879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enero a septiembre 2026. Personas por mes: E6a. Parejas: E6b, 1,000 pares más frecuentes (muestra, no universo); promocional = nombre con ticket y equipo distinto de Collections.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pierde a los usuarios nuevos en días; Product Growth pierde a la base vieja en meses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52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recordatorio de registro, Tasa 0, BillPay. Base vieja: Tasa 0,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0242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Growth; Others por un solo correo de BillPay.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8713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primer correo desde febrero (158.5 mil bajas). Base vieja: enero (242.3 mil).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Marketing pierde 70 mil en 5 días con 10 correos; la mitad con el recordatorio de registro.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vieja: Product Growth pierde 87.5 mil en 128 días con 31 correos, unos dos por semana.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se llevó 49 mil nuevos con un solo correo: casi un tercio de sus bajas.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270501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junta recordatorios diarios sobre el recién llegado; Product Growth repite ofertas de crédito durante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1644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Nuevo: un correo al día y tres la primera semana. Base vieja: menos ofertas de crédito no pedidas.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34930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días y correos hasta la baja (E8 v3) por campaña que llegó ese día; 400.8 mil bajas, enero a septiembre 2026. Días: mediana; correos: promedio.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454684"/>
            <a:ext cx="8674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quien se dio de baja le siguen llegando promociones de Tasa 0 y referidos, casi todas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868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 promocional: Tasa 0, newsletters, referidos, cupones y recordatorio de registro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9583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(58 de 79 mil), Product Growth, Sales y Others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246130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mil personas que ya se habían dado de baja del correo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94 % de lo que llega tras la baja es cobranza y avisos de pago: eso sí procede.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 promociones; la mayor, rescate con Tasa 0 a leads rezagados (Marketing), 13.9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recordatorio de Veriff siguió llegando nueve meses seguidos a quien ya se había dado de baja.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5212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filtro de suscripción está en la entrada del Canvas y no en cada paso de correo (lo más probable).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94602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de configuración, no de negocio: filtro de suscripción en cada paso de correo, en una semana.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94336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 E5b (correos después de la baja), enero a septiembre 2026; tipo de mensaje del catálogo de campañas (muestra C). Cada punto es un Canvas con su fecha.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68517" y="6454684"/>
            <a:ext cx="13284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Ocho campañas de email causan un tercio de las bajas del correo, y seis casi no reciben clics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57661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BillPay, Tasa 0, referidos, AnotayGana, Cuesta de Enero, crédito en plazos y Veriff.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320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Growth 4 campañas, Marketing 3 y Others 1 (BillPay).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4241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 la base, leads y registrados que nunca tomaron crédito.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ocho suman 379 mil de 1.09 M bajas (35 %); seis reciben menos de 10 clics por mil.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contada como historia a rezagados: 9 bajas por mil correos; la mediana, 3.3.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salió una vez y sumó 80 mil bajas registradas (37 mil en junio).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191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manda la misma promoción a listas enteras sin ver si abren; a quien no le interesa, se da de baja.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083570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da de baja ya no recibe correos: achicar estos ocho envíos protege el contacto.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75087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2026; 169 campañas de email con 300 mil correos o más. Bajas = eventos atribuidos a la campaña, no personas.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92479" y="6454684"/>
            <a:ext cx="108166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que salen porque la persona hizo algo responden siete veces más en correo que los de una lista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196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Recordatorios, precobranza, ofertas tras comprar o cancelar, bienvenida y 45 días.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3001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Product Growth y Collections (precobranza).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085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registró, compró, tiene un pago, canceló o lleva tiempo sin volver.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157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 12 % de los mensajes y 57 % de los clics de correo.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356760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356760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344568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Correo, en promedio: 26 clics por mil contra 3.5; push: 49 aperturas por mil contra 10.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745135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745135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73294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todo motivo funciona igual: aniversario y compra en comercio responden poco por correo.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133526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133526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194412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355369"/>
            <a:ext cx="324225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mayoría de las promociones nace de una lista y no de algo que hizo la persona.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44464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promoción nueva debe nacer de algo que hizo la persona, no de una lista.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797281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2026. Motivo inferido del nombre de la campaña. Quien hizo algo ya es más activo: sin grupo sin mensajes no se sabe cuánto vende.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70777" y="6454684"/>
            <a:ext cx="13051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de cada diez comunicaciones que mandan no tienen equipo, ticket o nombre en regla: 36 % de los mensajes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70350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6,144</a:t>
            </a:r>
            <a:endParaRPr lang="en-US" sz="3260" dirty="0"/>
          </a:p>
        </p:txBody>
      </p:sp>
      <p:sp>
        <p:nvSpPr>
          <p:cNvPr id="5" name="Text 3"/>
          <p:cNvSpPr txBox="1"/>
          <p:nvPr/>
        </p:nvSpPr>
        <p:spPr>
          <a:xfrm>
            <a:off x="670350" y="1740228"/>
            <a:ext cx="2445301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comunicaciones guardadas; en septiembre solo 341 mandaron algo</a:t>
            </a:r>
            <a:endParaRPr lang="en-US" sz="1040" dirty="0"/>
          </a:p>
        </p:txBody>
      </p:sp>
      <p:sp>
        <p:nvSpPr>
          <p:cNvPr id="6" name="Shape 4"/>
          <p:cNvSpPr/>
          <p:nvPr/>
        </p:nvSpPr>
        <p:spPr>
          <a:xfrm>
            <a:off x="3343463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01857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183</a:t>
            </a:r>
            <a:endParaRPr lang="en-US" sz="3260" dirty="0"/>
          </a:p>
        </p:txBody>
      </p:sp>
      <p:sp>
        <p:nvSpPr>
          <p:cNvPr id="8" name="Text 6"/>
          <p:cNvSpPr txBox="1"/>
          <p:nvPr/>
        </p:nvSpPr>
        <p:spPr>
          <a:xfrm>
            <a:off x="3501857" y="1740228"/>
            <a:ext cx="2445301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 distintos en el campo de equipo, para 5 equipos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6174969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33364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731</a:t>
            </a:r>
            <a:endParaRPr lang="en-US" sz="3260" dirty="0"/>
          </a:p>
        </p:txBody>
      </p:sp>
      <p:sp>
        <p:nvSpPr>
          <p:cNvPr id="11" name="Text 9"/>
          <p:cNvSpPr txBox="1"/>
          <p:nvPr/>
        </p:nvSpPr>
        <p:spPr>
          <a:xfrm>
            <a:off x="6333364" y="1740228"/>
            <a:ext cx="2445301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 de audiencia; 85 M mensajes con segmento "Not Tracked"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9006476" y="1161358"/>
            <a:ext cx="2673263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64871" y="1283130"/>
            <a:ext cx="244545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3260" dirty="0"/>
          </a:p>
        </p:txBody>
      </p:sp>
      <p:sp>
        <p:nvSpPr>
          <p:cNvPr id="14" name="Text 12"/>
          <p:cNvSpPr txBox="1"/>
          <p:nvPr/>
        </p:nvSpPr>
        <p:spPr>
          <a:xfrm>
            <a:off x="9164871" y="1740228"/>
            <a:ext cx="2445457" cy="1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con grupo de control real</a:t>
            </a:r>
            <a:endParaRPr lang="en-US" sz="1040" dirty="0"/>
          </a:p>
        </p:txBody>
      </p:sp>
      <p:sp>
        <p:nvSpPr>
          <p:cNvPr id="15" name="Text 13"/>
          <p:cNvSpPr txBox="1"/>
          <p:nvPr/>
        </p:nvSpPr>
        <p:spPr>
          <a:xfrm>
            <a:off x="511956" y="2546216"/>
            <a:ext cx="7187252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punto es una comunicación que mandó algo en 2026, por problema de orden</a:t>
            </a:r>
            <a:endParaRPr lang="en-US" sz="96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2771676"/>
            <a:ext cx="6959858" cy="293052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764640" y="2551039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64640" y="2641162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64640" y="2641162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20" name="Text 17"/>
          <p:cNvSpPr txBox="1"/>
          <p:nvPr/>
        </p:nvSpPr>
        <p:spPr>
          <a:xfrm>
            <a:off x="8069372" y="2641162"/>
            <a:ext cx="3736811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1,053 fuera de la convención: "Recurentes", "Recurrentess", "Softnactive", fecha "202600903".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7764640" y="3081080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64640" y="3171203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64640" y="3171203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24" name="Text 21"/>
          <p:cNvSpPr txBox="1"/>
          <p:nvPr/>
        </p:nvSpPr>
        <p:spPr>
          <a:xfrm>
            <a:off x="8069372" y="3171203"/>
            <a:ext cx="3736811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Equipo y ticket.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"Copy of Copy of Copy of Copy of Marketing" es un equipo; T0000 y B0000 sirven de ticket, y B0171 cubre 362.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764640" y="3792121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64640" y="3882245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64640" y="3882245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28" name="Text 25"/>
          <p:cNvSpPr txBox="1"/>
          <p:nvPr/>
        </p:nvSpPr>
        <p:spPr>
          <a:xfrm>
            <a:off x="8069372" y="3882245"/>
            <a:ext cx="3736811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Copias.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63 % de lo que manda cada mes se creó ese mes: se arma una campaña nueva en vez de reusar la anterior.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31" name="Text 28"/>
          <p:cNvSpPr txBox="1"/>
          <p:nvPr/>
        </p:nvSpPr>
        <p:spPr>
          <a:xfrm>
            <a:off x="1409876" y="6077461"/>
            <a:ext cx="7019604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nombre, equipo, ticket ni audiencia confiables, nadie puede saber qué manda Braze ni de quién es.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11956" y="6454684"/>
            <a:ext cx="923084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catálogo de campañas y Canvas (E2), envíos por comunicación (E1), segmentos (E11), pasos de Canvas (E15) y grupos de control (E13), enero a septiembre 2026.</a:t>
            </a:r>
            <a:endParaRPr lang="en-US" sz="840" dirty="0"/>
          </a:p>
        </p:txBody>
      </p:sp>
      <p:sp>
        <p:nvSpPr>
          <p:cNvPr id="33" name="Text 30"/>
          <p:cNvSpPr txBox="1"/>
          <p:nvPr/>
        </p:nvSpPr>
        <p:spPr>
          <a:xfrm>
            <a:off x="11569873" y="6454684"/>
            <a:ext cx="13145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escribimos a quien no debería recibir promociones: congelados, dados de baja y quien pidió no recibirlas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25511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Promociones: Tasa 0, referidos, ofertas de KPay y de comercios.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67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Todos los equipos; Marketing manda la mayor parte de lo que llega tras la baja.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70561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con KPay congelado, dados de baja, REUS, ARCO y lista negra.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0350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 M</a:t>
            </a:r>
            <a:endParaRPr lang="en-US" sz="3260" dirty="0"/>
          </a:p>
        </p:txBody>
      </p:sp>
      <p:sp>
        <p:nvSpPr>
          <p:cNvPr id="13" name="Text 11"/>
          <p:cNvSpPr txBox="1"/>
          <p:nvPr/>
        </p:nvSpPr>
        <p:spPr>
          <a:xfrm>
            <a:off x="670350" y="2491660"/>
            <a:ext cx="1861949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tiene KPay congelado y no puede comprar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2777101" y="1912789"/>
            <a:ext cx="210690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35495" y="2034561"/>
            <a:ext cx="1862104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9.8 M</a:t>
            </a:r>
            <a:endParaRPr lang="en-US" sz="3260" dirty="0"/>
          </a:p>
        </p:txBody>
      </p:sp>
      <p:sp>
        <p:nvSpPr>
          <p:cNvPr id="16" name="Text 14"/>
          <p:cNvSpPr txBox="1"/>
          <p:nvPr/>
        </p:nvSpPr>
        <p:spPr>
          <a:xfrm>
            <a:off x="2935495" y="2491660"/>
            <a:ext cx="1862104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a personas marcadas como baja de WhatsApp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5042397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00791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249 mil</a:t>
            </a:r>
            <a:endParaRPr lang="en-US" sz="3260" dirty="0"/>
          </a:p>
        </p:txBody>
      </p:sp>
      <p:sp>
        <p:nvSpPr>
          <p:cNvPr id="19" name="Text 17"/>
          <p:cNvSpPr txBox="1"/>
          <p:nvPr/>
        </p:nvSpPr>
        <p:spPr>
          <a:xfrm>
            <a:off x="5200791" y="2491660"/>
            <a:ext cx="1861949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pidió no recibir publicidad (REUS o ARCO)</a:t>
            </a:r>
            <a:endParaRPr lang="en-US" sz="1040" dirty="0"/>
          </a:p>
        </p:txBody>
      </p:sp>
      <p:sp>
        <p:nvSpPr>
          <p:cNvPr id="20" name="Shape 18"/>
          <p:cNvSpPr/>
          <p:nvPr/>
        </p:nvSpPr>
        <p:spPr>
          <a:xfrm>
            <a:off x="7307542" y="1912789"/>
            <a:ext cx="210690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65936" y="2034561"/>
            <a:ext cx="1862104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146 mil</a:t>
            </a:r>
            <a:endParaRPr lang="en-US" sz="3260" dirty="0"/>
          </a:p>
        </p:txBody>
      </p:sp>
      <p:sp>
        <p:nvSpPr>
          <p:cNvPr id="22" name="Text 20"/>
          <p:cNvSpPr txBox="1"/>
          <p:nvPr/>
        </p:nvSpPr>
        <p:spPr>
          <a:xfrm>
            <a:off x="7465936" y="2491660"/>
            <a:ext cx="1862104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personas en lista negra</a:t>
            </a:r>
            <a:endParaRPr lang="en-US" sz="1040" dirty="0"/>
          </a:p>
        </p:txBody>
      </p:sp>
      <p:sp>
        <p:nvSpPr>
          <p:cNvPr id="23" name="Shape 21"/>
          <p:cNvSpPr/>
          <p:nvPr/>
        </p:nvSpPr>
        <p:spPr>
          <a:xfrm>
            <a:off x="9572838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731232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</a:t>
            </a:r>
            <a:endParaRPr lang="en-US" sz="3260" dirty="0"/>
          </a:p>
        </p:txBody>
      </p:sp>
      <p:sp>
        <p:nvSpPr>
          <p:cNvPr id="25" name="Text 23"/>
          <p:cNvSpPr txBox="1"/>
          <p:nvPr/>
        </p:nvSpPr>
        <p:spPr>
          <a:xfrm>
            <a:off x="9731232" y="2491660"/>
            <a:ext cx="1861949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ya se dio de baja del correo</a:t>
            </a:r>
            <a:endParaRPr lang="en-US" sz="1040" dirty="0"/>
          </a:p>
        </p:txBody>
      </p:sp>
      <p:sp>
        <p:nvSpPr>
          <p:cNvPr id="26" name="Text 24"/>
          <p:cNvSpPr txBox="1"/>
          <p:nvPr/>
        </p:nvSpPr>
        <p:spPr>
          <a:xfrm>
            <a:off x="511956" y="3297647"/>
            <a:ext cx="6963101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502 campañas mandaron promociones a quien no debía recibirlas; las 10 primeras suman solo 24 %</a:t>
            </a:r>
            <a:endParaRPr lang="en-US" sz="96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3523107"/>
            <a:ext cx="6742235" cy="2380889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547017" y="3302470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47017" y="3392594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47017" y="3392594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31" name="Text 28"/>
          <p:cNvSpPr txBox="1"/>
          <p:nvPr/>
        </p:nvSpPr>
        <p:spPr>
          <a:xfrm>
            <a:off x="7851750" y="3392594"/>
            <a:ext cx="3961117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KPay congelado.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 línea de KPay está bloqueada y no puede comprar; 30.1 M de esas promociones ofrecían justo KPay.</a:t>
            </a:r>
            <a:endParaRPr lang="en-US" sz="1060" dirty="0"/>
          </a:p>
        </p:txBody>
      </p:sp>
      <p:sp>
        <p:nvSpPr>
          <p:cNvPr id="32" name="Shape 29"/>
          <p:cNvSpPr/>
          <p:nvPr/>
        </p:nvSpPr>
        <p:spPr>
          <a:xfrm>
            <a:off x="7547017" y="4013512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47017" y="4103635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47017" y="4103635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35" name="Text 32"/>
          <p:cNvSpPr txBox="1"/>
          <p:nvPr/>
        </p:nvSpPr>
        <p:spPr>
          <a:xfrm>
            <a:off x="7851750" y="4103635"/>
            <a:ext cx="3961117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 o ARCO.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REUS: registro de CONDUSEF para no recibir publicidad. ARCO: pidió cancelar u oponerse al uso de sus datos.</a:t>
            </a:r>
            <a:endParaRPr lang="en-US" sz="1060" dirty="0"/>
          </a:p>
        </p:txBody>
      </p:sp>
      <p:sp>
        <p:nvSpPr>
          <p:cNvPr id="36" name="Shape 33"/>
          <p:cNvSpPr/>
          <p:nvPr/>
        </p:nvSpPr>
        <p:spPr>
          <a:xfrm>
            <a:off x="7547017" y="4724553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547017" y="4814677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547017" y="4814677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39" name="Text 36"/>
          <p:cNvSpPr txBox="1"/>
          <p:nvPr/>
        </p:nvSpPr>
        <p:spPr>
          <a:xfrm>
            <a:off x="7851750" y="4814677"/>
            <a:ext cx="3961117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 de correo.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79 mil promociones a quien ya se dio de baja, 58 mil son de Marketing; la mayor, rescate de Tasa 0.</a:t>
            </a:r>
            <a:endParaRPr lang="en-US" sz="1060" dirty="0"/>
          </a:p>
        </p:txBody>
      </p:sp>
      <p:sp>
        <p:nvSpPr>
          <p:cNvPr id="40" name="Shape 37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42" name="Text 39"/>
          <p:cNvSpPr txBox="1"/>
          <p:nvPr/>
        </p:nvSpPr>
        <p:spPr>
          <a:xfrm>
            <a:off x="1409876" y="6077461"/>
            <a:ext cx="642197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riesgo legal y de marca, no de una campaña: ninguna exclusión es común a toda la cuenta.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11956" y="6454684"/>
            <a:ext cx="684776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 (E1), banderas de contacto (E7a, E17) y envíos tras la baja (E5b), enero a septiembre 2026.</a:t>
            </a:r>
            <a:endParaRPr lang="en-US" sz="840" dirty="0"/>
          </a:p>
        </p:txBody>
      </p:sp>
      <p:sp>
        <p:nvSpPr>
          <p:cNvPr id="44" name="Text 41"/>
          <p:cNvSpPr txBox="1"/>
          <p:nvPr/>
        </p:nvSpPr>
        <p:spPr>
          <a:xfrm>
            <a:off x="11566859" y="6454684"/>
            <a:ext cx="13455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lo explica: escribimos por lo que queremos vender, cada equipo por su cuenta y sin medir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3527477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94765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73 %</a:t>
            </a:r>
            <a:endParaRPr lang="en-US" sz="4030" dirty="0"/>
          </a:p>
        </p:txBody>
      </p:sp>
      <p:sp>
        <p:nvSpPr>
          <p:cNvPr id="5" name="Text 3"/>
          <p:cNvSpPr txBox="1"/>
          <p:nvPr/>
        </p:nvSpPr>
        <p:spPr>
          <a:xfrm>
            <a:off x="694765" y="1953782"/>
            <a:ext cx="3275003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personas no respondió a nada en nueve meses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31958" y="1161358"/>
            <a:ext cx="3527628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14767" y="1356374"/>
            <a:ext cx="3275158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 M</a:t>
            </a:r>
            <a:endParaRPr lang="en-US" sz="4030" dirty="0"/>
          </a:p>
        </p:txBody>
      </p:sp>
      <p:sp>
        <p:nvSpPr>
          <p:cNvPr id="8" name="Text 6"/>
          <p:cNvSpPr txBox="1"/>
          <p:nvPr/>
        </p:nvSpPr>
        <p:spPr>
          <a:xfrm>
            <a:off x="4514767" y="1953782"/>
            <a:ext cx="3275158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al mes con tres o más campañas el mismo día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52111" y="1161358"/>
            <a:ext cx="3527477" cy="1398573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4920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4030" dirty="0"/>
          </a:p>
        </p:txBody>
      </p:sp>
      <p:sp>
        <p:nvSpPr>
          <p:cNvPr id="11" name="Text 9"/>
          <p:cNvSpPr txBox="1"/>
          <p:nvPr/>
        </p:nvSpPr>
        <p:spPr>
          <a:xfrm>
            <a:off x="8334920" y="1953782"/>
            <a:ext cx="3275003" cy="205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tiene un grupo de control real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1956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1956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1956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53310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por lo que queremos vender.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Las promociones salen a listas por etapa, no por lo que la persona hizo, y le seguimos escribiendo a quien no responde.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1958" y="2784184"/>
            <a:ext cx="352762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31958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31958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673312" y="2922987"/>
            <a:ext cx="3300150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equipo decide solo.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hay límite de mensajes por persona ni calendario común: Marketing, Product Growth y Sales le escriben a la misma gente el mismo día.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2111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11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52111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8493465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compara volumen contra respuesta.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Copiar una campaña cada mes es más fácil que medirla: 4 de cada 10 mensajes salen de campañas debajo del mínimo.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1409876" y="6077461"/>
            <a:ext cx="6795453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la forma de operar, no una campaña: por eso se corrige con reglas comunes, no apagando todo.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11956" y="6454684"/>
            <a:ext cx="473198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láminas de diagnóstico del deck v6 (Braze E1, E7b, E13, enero a septiembre 2026).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1572435" y="6454684"/>
            <a:ext cx="128811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Braze en Kueski</dc:title>
  <dc:subject>PptxGenJS Presentation</dc:subject>
  <dc:creator>PptxGenJS</dc:creator>
  <cp:lastModifiedBy>PptxGenJS</cp:lastModifiedBy>
  <cp:revision>1</cp:revision>
  <dcterms:created xsi:type="dcterms:W3CDTF">2026-10-20T09:15:37Z</dcterms:created>
  <dcterms:modified xsi:type="dcterms:W3CDTF">2026-10-20T09:15:37Z</dcterms:modified>
</cp:coreProperties>
</file>