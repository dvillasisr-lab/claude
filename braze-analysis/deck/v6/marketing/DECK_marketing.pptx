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badf1b25-0407-8db2-0ed6-86b3f297fb1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11956" y="2130412"/>
            <a:ext cx="11521105" cy="15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1060" b="1" spc="15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KUESKI · BRAZE</a:t>
            </a:r>
            <a:endParaRPr lang="en-US" sz="1060" dirty="0"/>
          </a:p>
        </p:txBody>
      </p:sp>
      <p:sp>
        <p:nvSpPr>
          <p:cNvPr id="4" name="Text 2"/>
          <p:cNvSpPr txBox="1"/>
          <p:nvPr/>
        </p:nvSpPr>
        <p:spPr>
          <a:xfrm>
            <a:off x="511956" y="2528432"/>
            <a:ext cx="8808469" cy="117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420" b="1" spc="-9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Braze en Marketing: qué está pasando y por qué</a:t>
            </a:r>
            <a:endParaRPr lang="en-US" sz="4420" dirty="0"/>
          </a:p>
        </p:txBody>
      </p:sp>
      <p:sp>
        <p:nvSpPr>
          <p:cNvPr id="5" name="Text 3"/>
          <p:cNvSpPr txBox="1"/>
          <p:nvPr/>
        </p:nvSpPr>
        <p:spPr>
          <a:xfrm>
            <a:off x="511956" y="3949762"/>
            <a:ext cx="8808469" cy="501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163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de enero a septiembre 2026 de los mensajes que manda Marketing, comparado con los demás equipos.</a:t>
            </a:r>
            <a:endParaRPr lang="en-US" sz="163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4695014"/>
            <a:ext cx="11521105" cy="15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106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M mensajes de Marketing, 27.2 M MXN en nueve meses · Octubre 2026</a:t>
            </a:r>
            <a:endParaRPr lang="en-US" sz="10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pone 39 % de los mensajes y 47 % del gasto de Braze, y trae 25 % de las conversiones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473697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0, referidos, rescates a leads y recordatorios de registro.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605642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Marketing; se compara con Product Growth, Sales, Collections y Others.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57896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Leads, registrados sin crédito, ex clientes y clientes activos.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11956" y="1912789"/>
            <a:ext cx="3527477" cy="1043052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0350" y="2034561"/>
            <a:ext cx="3325297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 M MXN</a:t>
            </a:r>
            <a:endParaRPr lang="en-US" sz="3260" dirty="0"/>
          </a:p>
        </p:txBody>
      </p:sp>
      <p:sp>
        <p:nvSpPr>
          <p:cNvPr id="13" name="Text 11"/>
          <p:cNvSpPr txBox="1"/>
          <p:nvPr/>
        </p:nvSpPr>
        <p:spPr>
          <a:xfrm>
            <a:off x="670350" y="2491660"/>
            <a:ext cx="3325297" cy="17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mes en mensajes; 84 % se va en WhatsApp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4331958" y="1912789"/>
            <a:ext cx="3527628" cy="1043052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90353" y="2034561"/>
            <a:ext cx="3325453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MXN</a:t>
            </a:r>
            <a:endParaRPr lang="en-US" sz="3260" dirty="0"/>
          </a:p>
        </p:txBody>
      </p:sp>
      <p:sp>
        <p:nvSpPr>
          <p:cNvPr id="16" name="Text 14"/>
          <p:cNvSpPr txBox="1"/>
          <p:nvPr/>
        </p:nvSpPr>
        <p:spPr>
          <a:xfrm>
            <a:off x="4490353" y="2491660"/>
            <a:ext cx="3325453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conversión; Product Growth 21 y el resto de 4 a 17</a:t>
            </a:r>
            <a:endParaRPr lang="en-US" sz="1040" dirty="0"/>
          </a:p>
        </p:txBody>
      </p:sp>
      <p:sp>
        <p:nvSpPr>
          <p:cNvPr id="17" name="Shape 15"/>
          <p:cNvSpPr/>
          <p:nvPr/>
        </p:nvSpPr>
        <p:spPr>
          <a:xfrm>
            <a:off x="8152111" y="1912789"/>
            <a:ext cx="3527477" cy="1043052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10505" y="2034561"/>
            <a:ext cx="3325297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</a:t>
            </a:r>
            <a:endParaRPr lang="en-US" sz="3260" dirty="0"/>
          </a:p>
        </p:txBody>
      </p:sp>
      <p:sp>
        <p:nvSpPr>
          <p:cNvPr id="19" name="Text 17"/>
          <p:cNvSpPr txBox="1"/>
          <p:nvPr/>
        </p:nvSpPr>
        <p:spPr>
          <a:xfrm>
            <a:off x="8310505" y="2491660"/>
            <a:ext cx="3325297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bajas por cada mil correos; el resto de los equipos, 2.6</a:t>
            </a:r>
            <a:endParaRPr lang="en-US" sz="1040" dirty="0"/>
          </a:p>
        </p:txBody>
      </p:sp>
      <p:sp>
        <p:nvSpPr>
          <p:cNvPr id="20" name="Text 18"/>
          <p:cNvSpPr txBox="1"/>
          <p:nvPr/>
        </p:nvSpPr>
        <p:spPr>
          <a:xfrm>
            <a:off x="511956" y="3126443"/>
            <a:ext cx="6179037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punto es una campaña con 20 mil MXN o más: MXN por conversión, por equipo</a:t>
            </a:r>
            <a:endParaRPr lang="en-US" sz="96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3351902"/>
            <a:ext cx="5981008" cy="2266501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785790" y="3131265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785790" y="3221389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785790" y="3221389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10" dirty="0"/>
          </a:p>
        </p:txBody>
      </p:sp>
      <p:sp>
        <p:nvSpPr>
          <p:cNvPr id="25" name="Text 22"/>
          <p:cNvSpPr txBox="1"/>
          <p:nvPr/>
        </p:nvSpPr>
        <p:spPr>
          <a:xfrm>
            <a:off x="7090522" y="3221389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 campaña típica de Marketing paga 128 MXN por conversión; la de Product Growth, 47. Tasa 0 a rezagados, 460.</a:t>
            </a:r>
            <a:endParaRPr lang="en-US" sz="1060" dirty="0"/>
          </a:p>
        </p:txBody>
      </p:sp>
      <p:sp>
        <p:nvSpPr>
          <p:cNvPr id="26" name="Shape 23"/>
          <p:cNvSpPr/>
          <p:nvPr/>
        </p:nvSpPr>
        <p:spPr>
          <a:xfrm>
            <a:off x="6785790" y="3661306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85790" y="3751430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785790" y="3751430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10" dirty="0"/>
          </a:p>
        </p:txBody>
      </p:sp>
      <p:sp>
        <p:nvSpPr>
          <p:cNvPr id="29" name="Text 26"/>
          <p:cNvSpPr txBox="1"/>
          <p:nvPr/>
        </p:nvSpPr>
        <p:spPr>
          <a:xfrm>
            <a:off x="7090522" y="3751430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qué canal.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Dos terceras partes del push que abre menos de 1 de cada 100 personas son de Marketing.</a:t>
            </a:r>
            <a:endParaRPr lang="en-US" sz="1060" dirty="0"/>
          </a:p>
        </p:txBody>
      </p:sp>
      <p:sp>
        <p:nvSpPr>
          <p:cNvPr id="30" name="Shape 27"/>
          <p:cNvSpPr/>
          <p:nvPr/>
        </p:nvSpPr>
        <p:spPr>
          <a:xfrm>
            <a:off x="6785790" y="4191347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85790" y="4281471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785790" y="4281471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10" dirty="0"/>
          </a:p>
        </p:txBody>
      </p:sp>
      <p:sp>
        <p:nvSpPr>
          <p:cNvPr id="33" name="Text 30"/>
          <p:cNvSpPr txBox="1"/>
          <p:nvPr/>
        </p:nvSpPr>
        <p:spPr>
          <a:xfrm>
            <a:off x="7090522" y="4281471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Cuántas veces.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Hasta 2.3 M personas al mes reciben tres o más campañas el mismo día, casi siempre con Marketing.</a:t>
            </a:r>
            <a:endParaRPr lang="en-US" sz="1060" dirty="0"/>
          </a:p>
        </p:txBody>
      </p:sp>
      <p:sp>
        <p:nvSpPr>
          <p:cNvPr id="34" name="Shape 31"/>
          <p:cNvSpPr/>
          <p:nvPr/>
        </p:nvSpPr>
        <p:spPr>
          <a:xfrm>
            <a:off x="6785790" y="4721388"/>
            <a:ext cx="4893949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785790" y="4811512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785790" y="4811512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10" dirty="0"/>
          </a:p>
        </p:txBody>
      </p:sp>
      <p:sp>
        <p:nvSpPr>
          <p:cNvPr id="37" name="Text 34"/>
          <p:cNvSpPr txBox="1"/>
          <p:nvPr/>
        </p:nvSpPr>
        <p:spPr>
          <a:xfrm>
            <a:off x="7090522" y="4811512"/>
            <a:ext cx="4745182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sí funciona.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El recordatorio de registro: 21 MXN por préstamo; lo que nace de algo que hizo la persona responde siete veces más.</a:t>
            </a:r>
            <a:endParaRPr lang="en-US" sz="1060" dirty="0"/>
          </a:p>
        </p:txBody>
      </p:sp>
      <p:sp>
        <p:nvSpPr>
          <p:cNvPr id="38" name="Shape 35"/>
          <p:cNvSpPr/>
          <p:nvPr/>
        </p:nvSpPr>
        <p:spPr>
          <a:xfrm>
            <a:off x="511956" y="5857126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70350" y="5981008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40" name="Text 37"/>
          <p:cNvSpPr txBox="1"/>
          <p:nvPr/>
        </p:nvSpPr>
        <p:spPr>
          <a:xfrm>
            <a:off x="1409876" y="5942427"/>
            <a:ext cx="7647818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dinero de Marketing se va en WhatsApp a quien no responde; funciona lo que nace de lo que hizo la persona.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11956" y="6319649"/>
            <a:ext cx="11202729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comunicación, mes y canal (E1), enero a septiembre 2026. WhatsApp a 1.00 MXN por entregado, correo a 0.05 MXN. Conversión: crédito otorgado en 7 días, repartido. Bajas sobre correos entregados.</a:t>
            </a:r>
            <a:endParaRPr lang="en-US" sz="840" dirty="0"/>
          </a:p>
        </p:txBody>
      </p:sp>
      <p:sp>
        <p:nvSpPr>
          <p:cNvPr id="42" name="Text 39"/>
          <p:cNvSpPr txBox="1"/>
          <p:nvPr/>
        </p:nvSpPr>
        <p:spPr>
          <a:xfrm>
            <a:off x="11614332" y="6319649"/>
            <a:ext cx="85658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Después de junio mandamos menos, pero cada mil mensajes hoy traen 54 respuestas; en enero traían 84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706696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Junio: lanzamiento de BillPay y push de Mundial, Comercio del día y Anota y Gana.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556745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junio contra enero, Marketing sumó 28 M mensajes y Others 25 M.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93443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Casi toda la base: el correo de BillPay llegó a 16 M personas.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Septiembre mandó 66 M mensajes, casi como enero (59 M), pero trajo 54 respuestas por cada mil contra 84.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Junio fue el pico: 109 M mensajes. Después mandamos menos y la respuesta quedó en 61, 56 y 54 por mil.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WhatsApp, que sí se lee, bajó de 10 % a 5 % de los mensajes; push, que casi no se abre, subió de 27 % a 37 %.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448808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448808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509694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670650"/>
            <a:ext cx="3265534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Escribimos a toda la base por push y correo, sin límite de mensajes por persona ni calendario entre equipos.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666147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Mandar menos no basta: hay que escribir a quien responde, por su canal y con un límite semanal.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9652762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comunicación, mes y canal, enero a septiembre 2026. Respuesta = clic de correo, apertura de push, lectura de WhatsApp y clic in-app, por cada mil enviados.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428" y="6454684"/>
            <a:ext cx="8658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gana con el recordatorio de registro y gasta la mitad de su dinero en Tasa 0 que casi no convierte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32452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 y rescate de leads, referidos, promociones de KPay, recordatorio de registro.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694278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Marketing: 351 campañas por canal, 259 M mensajes (39 %), 27.2 M MXN (47 %).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36008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 28 %, leads fríos 25 %, clientes 19 %, dormidos 7 %, registro a medias 7 %.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121417" cy="383462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Recordatorio de Veriff: 3.04 % de clic en 9.7 M correos y 5.83 % en push, a 21 MXN por préstamo de Cash otorgado.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672042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672042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659850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 a leads: 51 % de su gasto (13.6 M MXN). Su WhatsApp se lee, pero cuesta 694 a 844 MXN por préstamo.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3218058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3218058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3205866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Pierde suscriptores: 5.9 bajas por cada mil correos, más del doble que el resto de los equipos (2.6).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606449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606449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667335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828291"/>
            <a:ext cx="3411139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Mide si el mensaje se lee, no cuánto cuesta cada préstamo: el WhatsApp a leads fríos se lee y sigue saliendo.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857126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5981008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5942427"/>
            <a:ext cx="6818737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Mover el gasto de WhatsApp a leads fríos hacia el recordatorio de registro y los referidos a clientes.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319649"/>
            <a:ext cx="11198693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campaña, mes y canal, enero a septiembre 2026; campañas con 50 mil o más entregados. Costo por préstamo de Cash otorgado en 7 días, repartido entre los mensajes del día; no mide KPay.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0413" y="6319649"/>
            <a:ext cx="89694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paga con clientes activos y referidos; con bases frías cada conversión cuesta 13 veces más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214464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Referidos y recordatorios a clientes; rescates de Tasa 0 y descuentos a bases frías.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33212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y Product Growth en las dos puntas; Sales solo a clientes y leads de KPay.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572268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Bases frías: ex clientes (dormants, inactivos, churn) y leads que nunca activaron.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121417" cy="383462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472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MXN por conversión con activos y 629 con bases frías (11 y 69 por solicitud); ahí va 48 % del WhatsApp (19.7 M MXN).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672042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672042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659850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ex clientes el correo sale más barato: 74 contra 468 MXN por conversión y 13 contra 74 por solicitud.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3060417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3060417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3048225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julio a septiembre, 2.2 M MXN de WhatsApp llegaron a quien no leyó ninguno en 90 días.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448808"/>
            <a:ext cx="3585349" cy="753391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448808"/>
            <a:ext cx="0" cy="753391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509694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670650"/>
            <a:ext cx="3353394" cy="458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se usa para buscar en volumen a quien ya no lo lee: no hay regla de lectura reciente ni presupuesto con límite.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857126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5981008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5942427"/>
            <a:ext cx="7284892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ex clientes, primero correo y app; WhatsApp solo a quien lo leyó en 90 días, con límite y grupo sin envío.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319649"/>
            <a:ext cx="11204592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campaña, mes y canal, ene a sep 2026; E9b. 132 campañas con 50 mil MXN o más. Conversión: préstamo otorgado en 7 días, repartido; solicitud: solicitudes registradas. 19.7 M MXN: lámina 50.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6140" y="6319649"/>
            <a:ext cx="83795" cy="27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mitad del push va en campañas que casi nadie abre, y dos terceras partes de ese push son de Marketing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392667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0, lanzamientos, rescates de fin de semana y referidos.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593534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pone 92 M de los 141 M push que abre menos de 1 de cada 100.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694744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Leads (83 % de su push abre menos de 1 %) y bases frías (75 %).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141 M de 251 M push (56 %) van en campañas que abre menos de 1 de cada 100 personas.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Rescate de fin de semana a leads de Marketing: 13.4 M push y 0.76 % de apertura.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Sí se abren los que la persona espera: pago recibido 14 %, Installments a activos 11 %.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424955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push se usa para mandar ofertas a toda la lista porque no cuesta, sin ver si esa persona abrió uno en meses.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751678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solo a quien abrió uno en 60 días y con una razón para esa persona; para el resto, otro canal.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658052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campaña, mes y canal, enero a septiembre 2026. Apertura directa sobre enviados. 322 campañas con 100 mil o más push (97 % del canal).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277" y="6454684"/>
            <a:ext cx="86744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mes hasta 2.3 M personas reciben tres o más campañas el mismo día, casi siempre con Marketing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70328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Hot Sale, Comercio del día, BillPay, Anota y Gana, Mundial, Día del Padre y Tasa 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533150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Marketing, Sales, Product Growth y Others (NewProducts, QA); Collections no aparece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387079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Recurrentes y activos de KPay, leads y envíos a toda la base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2.26 M personas tuvieron en junio al menos un día con tres o más campañas; 1.30 M en enero.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Esos días son 9 % de las personas-día y llevan 24 % de los mensajes.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está en 63 % de los choques promocionales; Sales en 41 % y Product Growth en 25 %.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444824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Nadie administra el calendario y el límite global de mensajes por persona de Braze está apagado.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5340021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Hace falta un límite de mensajes por persona al día y un dueño del calendario.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10287962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enero a septiembre 2026. Personas por mes: E6a. Parejas: E6b, 1,000 pares más frecuentes (muestra, no universo); promocional = nombre con ticket y equipo distinto de Collections.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9004" y="6454684"/>
            <a:ext cx="80845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pierde a los usuarios nuevos en días; Product Growth pierde a la base vieja en meses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65252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Nuevos: recordatorio de registro, Tasa 0, BillPay. Base vieja: Tasa 0, referidos.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690242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y Product Growth; Others por un solo correo de BillPay.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68713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Nuevos: primer correo desde febrero (158.5 mil bajas). Base vieja: enero (242.3 mil).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Nuevos: Marketing pierde 70 mil en 5 días con 10 correos; la mitad con el recordatorio de registro.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vieja: Product Growth pierde 87.5 mil en 128 días con 31 correos, unos dos por semana.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lanzamiento de BillPay se llevó 49 mil nuevos con un solo correo: casi un tercio de sus bajas.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753391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753391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270501" cy="458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junta recordatorios diarios sobre el recién llegado; Product Growth repite ofertas de crédito durante meses.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716441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Nuevo: un correo al día y tres la primera semana. Base vieja: menos ofertas de crédito no pedidas.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349300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días y correos hasta la baja (E8 v3) por campaña que llegó ese día; 400.8 mil bajas, enero a septiembre 2026. Días: mediana; correos: promedio.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428" y="6454684"/>
            <a:ext cx="8658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quien se dio de baja le siguen llegando promociones de Tasa 0 y referidos, casi todas de Marketing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48689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Correo promocional: Tasa 0, newsletters, referidos, cupones y recordatorio de registro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195836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(58 de 79 mil), Product Growth, Sales y Others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246130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mil personas que ya se habían dado de baja del correo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94 % de lo que llega tras la baja es cobranza y avisos de pago: eso sí procede.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 mil promociones; la mayor, rescate con Tasa 0 a leads rezagados (Marketing), 13.9 mil.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recordatorio de Veriff siguió llegando nueve meses seguidos a quien ya se había dado de baja.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452120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filtro de suscripción está en la entrada del Canvas y no en cada paso de correo (lo más probable).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946026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 de configuración, no de negocio: filtro de suscripción en cada paso de correo, en una semana.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943364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 E5b (correos después de la baja), enero a septiembre 2026; tipo de mensaje del catálogo de campañas (muestra C). Cada punto es un Canvas con su fecha.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613277" y="6454684"/>
            <a:ext cx="86744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Ocho campañas de email causan un tercio de las bajas del correo, y seis casi no reciben clics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576614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BillPay, Tasa 0, referidos, AnotayGana, Cuesta de Enero, crédito en plazos y Veriff.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453206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Growth 4 campañas, Marketing 3 y Others 1 (BillPay).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424179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 la base, leads y registrados que nunca tomaron crédito.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ocho suman 379 mil de 1.09 M bajas (35 %); seis reciben menos de 10 clics por mil.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514401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514401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502209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Tasa 0 contada como historia a rezagados: 9 bajas por mil correos; la mediana, 3.3.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90277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90277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89058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lanzamiento de BillPay salió una vez y sumó 80 mil bajas registradas (37 mil en junio).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291167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291167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352053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513009"/>
            <a:ext cx="3191955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manda la misma promoción a listas enteras sin ver si abren; a quien no le interesa, se da de baja.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6083570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Quien se da de baja ya no recibe correos: achicar estos ocho envíos protege el contacto.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875087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 y canal, ene a sep 2026; 169 campañas de email con 300 mil correos o más. Bajas = eventos atribuidos a la campaña, no personas.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568517" y="6454684"/>
            <a:ext cx="132847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mensajes que salen porque la persona hizo algo responden siete veces más en correo que los de una lista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41967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Recordatorios, precobranza, ofertas tras comprar o cancelar, bienvenida y 45 días.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130019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Marketing, Product Growth y Collections (precobranza).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608591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Quien se registró, compró, tiene un pago, canceló o lleva tiempo sin volver.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1912789"/>
            <a:ext cx="7289909" cy="39696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94390" y="1912789"/>
            <a:ext cx="3711198" cy="11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DICE LA GRÁFICA</a:t>
            </a:r>
            <a:endParaRPr lang="en-US" sz="790" dirty="0"/>
          </a:p>
        </p:txBody>
      </p:sp>
      <p:sp>
        <p:nvSpPr>
          <p:cNvPr id="13" name="Shape 10"/>
          <p:cNvSpPr/>
          <p:nvPr/>
        </p:nvSpPr>
        <p:spPr>
          <a:xfrm>
            <a:off x="8094390" y="2126026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94390" y="2126026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8" dirty="0"/>
          </a:p>
        </p:txBody>
      </p:sp>
      <p:sp>
        <p:nvSpPr>
          <p:cNvPr id="15" name="Text 12"/>
          <p:cNvSpPr txBox="1"/>
          <p:nvPr/>
        </p:nvSpPr>
        <p:spPr>
          <a:xfrm>
            <a:off x="8338224" y="2113834"/>
            <a:ext cx="3460049" cy="157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 12 % de los mensajes y 57 % de los clics de correo.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094390" y="2356760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94390" y="2356760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8" dirty="0"/>
          </a:p>
        </p:txBody>
      </p:sp>
      <p:sp>
        <p:nvSpPr>
          <p:cNvPr id="18" name="Text 15"/>
          <p:cNvSpPr txBox="1"/>
          <p:nvPr/>
        </p:nvSpPr>
        <p:spPr>
          <a:xfrm>
            <a:off x="8338224" y="2344568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Correo, en promedio: 26 clics por mil contra 3.5; push: 49 aperturas por mil contra 10.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8094390" y="2745135"/>
            <a:ext cx="164573" cy="164573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94390" y="2745135"/>
            <a:ext cx="164573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68" dirty="0"/>
          </a:p>
        </p:txBody>
      </p:sp>
      <p:sp>
        <p:nvSpPr>
          <p:cNvPr id="21" name="Text 18"/>
          <p:cNvSpPr txBox="1"/>
          <p:nvPr/>
        </p:nvSpPr>
        <p:spPr>
          <a:xfrm>
            <a:off x="8338224" y="2732944"/>
            <a:ext cx="3460049" cy="31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94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todo motivo funciona igual: aniversario y compra en comercio responden poco por correo.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8094390" y="3133526"/>
            <a:ext cx="3585349" cy="59650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3" name="Shape 20"/>
          <p:cNvSpPr/>
          <p:nvPr/>
        </p:nvSpPr>
        <p:spPr>
          <a:xfrm>
            <a:off x="8108858" y="3133526"/>
            <a:ext cx="0" cy="596503"/>
          </a:xfrm>
          <a:prstGeom prst="line">
            <a:avLst/>
          </a:prstGeom>
          <a:noFill/>
          <a:ln w="28936">
            <a:solidFill>
              <a:srgbClr val="0B12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33041" y="3194412"/>
            <a:ext cx="3455380" cy="13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7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 RAÍZ</a:t>
            </a:r>
            <a:endParaRPr lang="en-US" sz="770" dirty="0"/>
          </a:p>
        </p:txBody>
      </p:sp>
      <p:sp>
        <p:nvSpPr>
          <p:cNvPr id="25" name="Text 22"/>
          <p:cNvSpPr txBox="1"/>
          <p:nvPr/>
        </p:nvSpPr>
        <p:spPr>
          <a:xfrm>
            <a:off x="8233041" y="3355369"/>
            <a:ext cx="3242250" cy="301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92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mayoría de las promociones nace de una lista y no de algo que hizo la persona.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8" name="Text 25"/>
          <p:cNvSpPr txBox="1"/>
          <p:nvPr/>
        </p:nvSpPr>
        <p:spPr>
          <a:xfrm>
            <a:off x="1409876" y="6077461"/>
            <a:ext cx="5444646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promoción nueva debe nacer de algo que hizo la persona, no de una lista.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1956" y="6454684"/>
            <a:ext cx="9797281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campaña y canal, ene a sep 2026. Motivo inferido del nombre de la campaña. Quien hizo algo ya es más activo: sin grupo sin mensajes no se sabe cuánto vende.</a:t>
            </a:r>
            <a:endParaRPr lang="en-US" sz="840" dirty="0"/>
          </a:p>
        </p:txBody>
      </p:sp>
      <p:sp>
        <p:nvSpPr>
          <p:cNvPr id="30" name="Text 27"/>
          <p:cNvSpPr txBox="1"/>
          <p:nvPr/>
        </p:nvSpPr>
        <p:spPr>
          <a:xfrm>
            <a:off x="11592479" y="6454684"/>
            <a:ext cx="108166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Tres de cada diez comunicaciones que mandan no tienen equipo, ticket o nombre en regla: 36 % de los mensajes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1358"/>
            <a:ext cx="2673112" cy="1214256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70350" y="1283130"/>
            <a:ext cx="2445301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6,144</a:t>
            </a:r>
            <a:endParaRPr lang="en-US" sz="3260" dirty="0"/>
          </a:p>
        </p:txBody>
      </p:sp>
      <p:sp>
        <p:nvSpPr>
          <p:cNvPr id="5" name="Text 3"/>
          <p:cNvSpPr txBox="1"/>
          <p:nvPr/>
        </p:nvSpPr>
        <p:spPr>
          <a:xfrm>
            <a:off x="670350" y="1740228"/>
            <a:ext cx="2445301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comunicaciones guardadas; en septiembre solo 341 mandaron algo</a:t>
            </a:r>
            <a:endParaRPr lang="en-US" sz="1040" dirty="0"/>
          </a:p>
        </p:txBody>
      </p:sp>
      <p:sp>
        <p:nvSpPr>
          <p:cNvPr id="6" name="Shape 4"/>
          <p:cNvSpPr/>
          <p:nvPr/>
        </p:nvSpPr>
        <p:spPr>
          <a:xfrm>
            <a:off x="3343463" y="1161358"/>
            <a:ext cx="2673112" cy="1214256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01857" y="1283130"/>
            <a:ext cx="2445301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183</a:t>
            </a:r>
            <a:endParaRPr lang="en-US" sz="3260" dirty="0"/>
          </a:p>
        </p:txBody>
      </p:sp>
      <p:sp>
        <p:nvSpPr>
          <p:cNvPr id="8" name="Text 6"/>
          <p:cNvSpPr txBox="1"/>
          <p:nvPr/>
        </p:nvSpPr>
        <p:spPr>
          <a:xfrm>
            <a:off x="3501857" y="1740228"/>
            <a:ext cx="2445301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nombres distintos en el campo de equipo, para 5 equipos</a:t>
            </a:r>
            <a:endParaRPr lang="en-US" sz="1040" dirty="0"/>
          </a:p>
        </p:txBody>
      </p:sp>
      <p:sp>
        <p:nvSpPr>
          <p:cNvPr id="9" name="Shape 7"/>
          <p:cNvSpPr/>
          <p:nvPr/>
        </p:nvSpPr>
        <p:spPr>
          <a:xfrm>
            <a:off x="6174969" y="1161358"/>
            <a:ext cx="2673112" cy="1214256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33364" y="1283130"/>
            <a:ext cx="2445301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731</a:t>
            </a:r>
            <a:endParaRPr lang="en-US" sz="3260" dirty="0"/>
          </a:p>
        </p:txBody>
      </p:sp>
      <p:sp>
        <p:nvSpPr>
          <p:cNvPr id="11" name="Text 9"/>
          <p:cNvSpPr txBox="1"/>
          <p:nvPr/>
        </p:nvSpPr>
        <p:spPr>
          <a:xfrm>
            <a:off x="6333364" y="1740228"/>
            <a:ext cx="2445301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nombres de audiencia; 85 M mensajes con segmento "Not Tracked"</a:t>
            </a:r>
            <a:endParaRPr lang="en-US" sz="1040" dirty="0"/>
          </a:p>
        </p:txBody>
      </p:sp>
      <p:sp>
        <p:nvSpPr>
          <p:cNvPr id="12" name="Shape 10"/>
          <p:cNvSpPr/>
          <p:nvPr/>
        </p:nvSpPr>
        <p:spPr>
          <a:xfrm>
            <a:off x="9006476" y="1161358"/>
            <a:ext cx="2673263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64871" y="1283130"/>
            <a:ext cx="2445457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de 3,228</a:t>
            </a:r>
            <a:endParaRPr lang="en-US" sz="3260" dirty="0"/>
          </a:p>
        </p:txBody>
      </p:sp>
      <p:sp>
        <p:nvSpPr>
          <p:cNvPr id="14" name="Text 12"/>
          <p:cNvSpPr txBox="1"/>
          <p:nvPr/>
        </p:nvSpPr>
        <p:spPr>
          <a:xfrm>
            <a:off x="9164871" y="1740228"/>
            <a:ext cx="2445457" cy="17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 con grupo de control real</a:t>
            </a:r>
            <a:endParaRPr lang="en-US" sz="1040" dirty="0"/>
          </a:p>
        </p:txBody>
      </p:sp>
      <p:sp>
        <p:nvSpPr>
          <p:cNvPr id="15" name="Text 13"/>
          <p:cNvSpPr txBox="1"/>
          <p:nvPr/>
        </p:nvSpPr>
        <p:spPr>
          <a:xfrm>
            <a:off x="511956" y="2546216"/>
            <a:ext cx="7187252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punto es una comunicación que mandó algo en 2026, por problema de orden</a:t>
            </a:r>
            <a:endParaRPr lang="en-US" sz="96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2771676"/>
            <a:ext cx="6959858" cy="293052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764640" y="2551039"/>
            <a:ext cx="391494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64640" y="2641162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64640" y="2641162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10" dirty="0"/>
          </a:p>
        </p:txBody>
      </p:sp>
      <p:sp>
        <p:nvSpPr>
          <p:cNvPr id="20" name="Text 17"/>
          <p:cNvSpPr txBox="1"/>
          <p:nvPr/>
        </p:nvSpPr>
        <p:spPr>
          <a:xfrm>
            <a:off x="8069372" y="2641162"/>
            <a:ext cx="3736811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Nombres.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1,053 fuera de la convención: "Recurentes", "Recurrentess", "Softnactive", fecha "202600903".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7764640" y="3081080"/>
            <a:ext cx="391494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64640" y="3171203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764640" y="3171203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10" dirty="0"/>
          </a:p>
        </p:txBody>
      </p:sp>
      <p:sp>
        <p:nvSpPr>
          <p:cNvPr id="24" name="Text 21"/>
          <p:cNvSpPr txBox="1"/>
          <p:nvPr/>
        </p:nvSpPr>
        <p:spPr>
          <a:xfrm>
            <a:off x="8069372" y="3171203"/>
            <a:ext cx="3736811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Equipo y ticket.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"Copy of Copy of Copy of Copy of Marketing" es un equipo; T0000 y B0000 sirven de ticket, y B0171 cubre 362.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7764640" y="3792121"/>
            <a:ext cx="391494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64640" y="3882245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64640" y="3882245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10" dirty="0"/>
          </a:p>
        </p:txBody>
      </p:sp>
      <p:sp>
        <p:nvSpPr>
          <p:cNvPr id="28" name="Text 25"/>
          <p:cNvSpPr txBox="1"/>
          <p:nvPr/>
        </p:nvSpPr>
        <p:spPr>
          <a:xfrm>
            <a:off x="8069372" y="3882245"/>
            <a:ext cx="3736811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Copias.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63 % de lo que manda cada mes se creó ese mes: se arma una campaña nueva en vez de reusar la anterior.</a:t>
            </a:r>
            <a:endParaRPr lang="en-US" sz="1060" dirty="0"/>
          </a:p>
        </p:txBody>
      </p:sp>
      <p:sp>
        <p:nvSpPr>
          <p:cNvPr id="29" name="Shape 26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31" name="Text 28"/>
          <p:cNvSpPr txBox="1"/>
          <p:nvPr/>
        </p:nvSpPr>
        <p:spPr>
          <a:xfrm>
            <a:off x="1409876" y="6077461"/>
            <a:ext cx="7019604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nombre, equipo, ticket ni audiencia confiables, nadie puede saber qué manda Braze ni de quién es.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11956" y="6454684"/>
            <a:ext cx="923084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catálogo de campañas y Canvas (E2), envíos por comunicación (E1), segmentos (E11), pasos de Canvas (E15) y grupos de control (E13), enero a septiembre 2026.</a:t>
            </a:r>
            <a:endParaRPr lang="en-US" sz="840" dirty="0"/>
          </a:p>
        </p:txBody>
      </p:sp>
      <p:sp>
        <p:nvSpPr>
          <p:cNvPr id="33" name="Text 30"/>
          <p:cNvSpPr txBox="1"/>
          <p:nvPr/>
        </p:nvSpPr>
        <p:spPr>
          <a:xfrm>
            <a:off x="11570777" y="6454684"/>
            <a:ext cx="130519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escribimos a quien no debería recibir promociones: congelados, dados de baja y quien pidió no recibirlas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6180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1956" y="1798251"/>
            <a:ext cx="11167783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19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SE MANDA</a:t>
            </a:r>
            <a:endParaRPr lang="en-US" sz="790" dirty="0"/>
          </a:p>
        </p:txBody>
      </p:sp>
      <p:sp>
        <p:nvSpPr>
          <p:cNvPr id="6" name="Text 4"/>
          <p:cNvSpPr txBox="1"/>
          <p:nvPr/>
        </p:nvSpPr>
        <p:spPr>
          <a:xfrm>
            <a:off x="511956" y="1410328"/>
            <a:ext cx="3625511" cy="14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Promociones: Tasa 0, referidos, ofertas de KPay y de comercios.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2995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4299556" y="1410328"/>
            <a:ext cx="3456777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Todos los equipos; Marketing manda la mayor parte de lo que llega tras la baja.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087156" y="1256304"/>
            <a:ext cx="3718649" cy="12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790" b="1" spc="80" kern="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QUIÉN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8087156" y="1410328"/>
            <a:ext cx="3705610" cy="29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00" dirty="0">
                <a:solidFill>
                  <a:srgbClr val="3B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Personas con KPay congelado, dados de baja, REUS, ARCO y lista negra.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11956" y="1912789"/>
            <a:ext cx="210675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0350" y="2034561"/>
            <a:ext cx="1861949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 M</a:t>
            </a:r>
            <a:endParaRPr lang="en-US" sz="3260" dirty="0"/>
          </a:p>
        </p:txBody>
      </p:sp>
      <p:sp>
        <p:nvSpPr>
          <p:cNvPr id="13" name="Text 11"/>
          <p:cNvSpPr txBox="1"/>
          <p:nvPr/>
        </p:nvSpPr>
        <p:spPr>
          <a:xfrm>
            <a:off x="670350" y="2491660"/>
            <a:ext cx="1861949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quien tiene KPay congelado y no puede comprar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2777101" y="1912789"/>
            <a:ext cx="210690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935495" y="2034561"/>
            <a:ext cx="1862104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9.8 M</a:t>
            </a:r>
            <a:endParaRPr lang="en-US" sz="3260" dirty="0"/>
          </a:p>
        </p:txBody>
      </p:sp>
      <p:sp>
        <p:nvSpPr>
          <p:cNvPr id="16" name="Text 14"/>
          <p:cNvSpPr txBox="1"/>
          <p:nvPr/>
        </p:nvSpPr>
        <p:spPr>
          <a:xfrm>
            <a:off x="2935495" y="2491660"/>
            <a:ext cx="1862104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a personas marcadas como baja de WhatsApp</a:t>
            </a:r>
            <a:endParaRPr lang="en-US" sz="1040" dirty="0"/>
          </a:p>
        </p:txBody>
      </p:sp>
      <p:sp>
        <p:nvSpPr>
          <p:cNvPr id="17" name="Shape 15"/>
          <p:cNvSpPr/>
          <p:nvPr/>
        </p:nvSpPr>
        <p:spPr>
          <a:xfrm>
            <a:off x="5042397" y="1912789"/>
            <a:ext cx="210675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00791" y="2034561"/>
            <a:ext cx="1861949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249 mil</a:t>
            </a:r>
            <a:endParaRPr lang="en-US" sz="3260" dirty="0"/>
          </a:p>
        </p:txBody>
      </p:sp>
      <p:sp>
        <p:nvSpPr>
          <p:cNvPr id="19" name="Text 17"/>
          <p:cNvSpPr txBox="1"/>
          <p:nvPr/>
        </p:nvSpPr>
        <p:spPr>
          <a:xfrm>
            <a:off x="5200791" y="2491660"/>
            <a:ext cx="1861949" cy="513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quien pidió no recibir publicidad (REUS o ARCO)</a:t>
            </a:r>
            <a:endParaRPr lang="en-US" sz="1040" dirty="0"/>
          </a:p>
        </p:txBody>
      </p:sp>
      <p:sp>
        <p:nvSpPr>
          <p:cNvPr id="20" name="Shape 18"/>
          <p:cNvSpPr/>
          <p:nvPr/>
        </p:nvSpPr>
        <p:spPr>
          <a:xfrm>
            <a:off x="7307542" y="1912789"/>
            <a:ext cx="210690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65936" y="2034561"/>
            <a:ext cx="1862104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146 mil</a:t>
            </a:r>
            <a:endParaRPr lang="en-US" sz="3260" dirty="0"/>
          </a:p>
        </p:txBody>
      </p:sp>
      <p:sp>
        <p:nvSpPr>
          <p:cNvPr id="22" name="Text 20"/>
          <p:cNvSpPr txBox="1"/>
          <p:nvPr/>
        </p:nvSpPr>
        <p:spPr>
          <a:xfrm>
            <a:off x="7465936" y="2491660"/>
            <a:ext cx="1862104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personas en lista negra</a:t>
            </a:r>
            <a:endParaRPr lang="en-US" sz="1040" dirty="0"/>
          </a:p>
        </p:txBody>
      </p:sp>
      <p:sp>
        <p:nvSpPr>
          <p:cNvPr id="23" name="Shape 21"/>
          <p:cNvSpPr/>
          <p:nvPr/>
        </p:nvSpPr>
        <p:spPr>
          <a:xfrm>
            <a:off x="9572838" y="1912789"/>
            <a:ext cx="2106751" cy="1214256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731232" y="2034561"/>
            <a:ext cx="1861949" cy="41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60" b="1" spc="-7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 mil</a:t>
            </a:r>
            <a:endParaRPr lang="en-US" sz="3260" dirty="0"/>
          </a:p>
        </p:txBody>
      </p:sp>
      <p:sp>
        <p:nvSpPr>
          <p:cNvPr id="25" name="Text 23"/>
          <p:cNvSpPr txBox="1"/>
          <p:nvPr/>
        </p:nvSpPr>
        <p:spPr>
          <a:xfrm>
            <a:off x="9731232" y="2491660"/>
            <a:ext cx="1861949" cy="34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4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promociones a quien ya se dio de baja del correo</a:t>
            </a:r>
            <a:endParaRPr lang="en-US" sz="1040" dirty="0"/>
          </a:p>
        </p:txBody>
      </p:sp>
      <p:sp>
        <p:nvSpPr>
          <p:cNvPr id="26" name="Text 24"/>
          <p:cNvSpPr txBox="1"/>
          <p:nvPr/>
        </p:nvSpPr>
        <p:spPr>
          <a:xfrm>
            <a:off x="511956" y="3297647"/>
            <a:ext cx="6963101" cy="164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punto es una campaña que mandó promociones a un grupo que no debería recibirlas</a:t>
            </a:r>
            <a:endParaRPr lang="en-US" sz="96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56" y="3523107"/>
            <a:ext cx="6742235" cy="2235606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7547017" y="3302470"/>
            <a:ext cx="4132722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47017" y="3392594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547017" y="3392594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10" dirty="0"/>
          </a:p>
        </p:txBody>
      </p:sp>
      <p:sp>
        <p:nvSpPr>
          <p:cNvPr id="31" name="Text 28"/>
          <p:cNvSpPr txBox="1"/>
          <p:nvPr/>
        </p:nvSpPr>
        <p:spPr>
          <a:xfrm>
            <a:off x="7851750" y="3392594"/>
            <a:ext cx="3961117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KPay congelado.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Su línea de KPay está bloqueada y no puede comprar; 30.1 M de esas promociones ofrecían justo KPay.</a:t>
            </a:r>
            <a:endParaRPr lang="en-US" sz="1060" dirty="0"/>
          </a:p>
        </p:txBody>
      </p:sp>
      <p:sp>
        <p:nvSpPr>
          <p:cNvPr id="32" name="Shape 29"/>
          <p:cNvSpPr/>
          <p:nvPr/>
        </p:nvSpPr>
        <p:spPr>
          <a:xfrm>
            <a:off x="7547017" y="4013512"/>
            <a:ext cx="4132722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547017" y="4103635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547017" y="4103635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10" dirty="0"/>
          </a:p>
        </p:txBody>
      </p:sp>
      <p:sp>
        <p:nvSpPr>
          <p:cNvPr id="35" name="Text 32"/>
          <p:cNvSpPr txBox="1"/>
          <p:nvPr/>
        </p:nvSpPr>
        <p:spPr>
          <a:xfrm>
            <a:off x="7851750" y="4103635"/>
            <a:ext cx="3961117" cy="543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 o ARCO.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REUS: registro de CONDUSEF para no recibir publicidad. ARCO: pidió cancelar u oponerse al uso de sus datos.</a:t>
            </a:r>
            <a:endParaRPr lang="en-US" sz="1060" dirty="0"/>
          </a:p>
        </p:txBody>
      </p:sp>
      <p:sp>
        <p:nvSpPr>
          <p:cNvPr id="36" name="Shape 33"/>
          <p:cNvSpPr/>
          <p:nvPr/>
        </p:nvSpPr>
        <p:spPr>
          <a:xfrm>
            <a:off x="7547017" y="4724553"/>
            <a:ext cx="4132722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547017" y="4814677"/>
            <a:ext cx="207224" cy="207224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547017" y="4814677"/>
            <a:ext cx="231729" cy="207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1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10" dirty="0"/>
          </a:p>
        </p:txBody>
      </p:sp>
      <p:sp>
        <p:nvSpPr>
          <p:cNvPr id="39" name="Text 36"/>
          <p:cNvSpPr txBox="1"/>
          <p:nvPr/>
        </p:nvSpPr>
        <p:spPr>
          <a:xfrm>
            <a:off x="7851750" y="4814677"/>
            <a:ext cx="3961117" cy="362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Baja de correo.</a:t>
            </a:r>
            <a:pPr algn="l" indent="0" marL="0">
              <a:lnSpc>
                <a:spcPct val="112000"/>
              </a:lnSpc>
              <a:buNone/>
            </a:pPr>
            <a:r>
              <a:rPr lang="en-US" sz="106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79 mil promociones a quien ya se dio de baja, 58 mil son de Marketing; la mayor, rescate de Tasa 0.</a:t>
            </a:r>
            <a:endParaRPr lang="en-US" sz="1060" dirty="0"/>
          </a:p>
        </p:txBody>
      </p:sp>
      <p:sp>
        <p:nvSpPr>
          <p:cNvPr id="40" name="Shape 37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42" name="Text 39"/>
          <p:cNvSpPr txBox="1"/>
          <p:nvPr/>
        </p:nvSpPr>
        <p:spPr>
          <a:xfrm>
            <a:off x="1409876" y="6077461"/>
            <a:ext cx="6421971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 riesgo legal y de marca, no de una campaña: ninguna exclusión es común a toda la cuenta.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11956" y="6454684"/>
            <a:ext cx="6847765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Braze, envíos por comunicación (E1), banderas de contacto (E7a, E17) y envíos tras la baja (E5b), enero a septiembre 2026.</a:t>
            </a:r>
            <a:endParaRPr lang="en-US" sz="840" dirty="0"/>
          </a:p>
        </p:txBody>
      </p:sp>
      <p:sp>
        <p:nvSpPr>
          <p:cNvPr id="44" name="Text 41"/>
          <p:cNvSpPr txBox="1"/>
          <p:nvPr/>
        </p:nvSpPr>
        <p:spPr>
          <a:xfrm>
            <a:off x="11569873" y="6454684"/>
            <a:ext cx="131450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1956" y="390033"/>
            <a:ext cx="11521105" cy="661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10" b="1" spc="-3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lo explica: escribimos por lo que queremos vender, cada equipo por su cuenta y sin medir</a:t>
            </a:r>
            <a:endParaRPr lang="en-US" sz="2210" dirty="0"/>
          </a:p>
        </p:txBody>
      </p:sp>
      <p:sp>
        <p:nvSpPr>
          <p:cNvPr id="3" name="Shape 1"/>
          <p:cNvSpPr/>
          <p:nvPr/>
        </p:nvSpPr>
        <p:spPr>
          <a:xfrm>
            <a:off x="511956" y="1161358"/>
            <a:ext cx="3527477" cy="139857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94765" y="1356374"/>
            <a:ext cx="3275003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73 %</a:t>
            </a:r>
            <a:endParaRPr lang="en-US" sz="4030" dirty="0"/>
          </a:p>
        </p:txBody>
      </p:sp>
      <p:sp>
        <p:nvSpPr>
          <p:cNvPr id="5" name="Text 3"/>
          <p:cNvSpPr txBox="1"/>
          <p:nvPr/>
        </p:nvSpPr>
        <p:spPr>
          <a:xfrm>
            <a:off x="694765" y="1953782"/>
            <a:ext cx="3275003" cy="411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las personas no respondió a nada en nueve meses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31958" y="1161358"/>
            <a:ext cx="3527628" cy="1398573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14767" y="1356374"/>
            <a:ext cx="3275158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 M</a:t>
            </a:r>
            <a:endParaRPr lang="en-US" sz="4030" dirty="0"/>
          </a:p>
        </p:txBody>
      </p:sp>
      <p:sp>
        <p:nvSpPr>
          <p:cNvPr id="8" name="Text 6"/>
          <p:cNvSpPr txBox="1"/>
          <p:nvPr/>
        </p:nvSpPr>
        <p:spPr>
          <a:xfrm>
            <a:off x="4514767" y="1953782"/>
            <a:ext cx="3275158" cy="411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personas al mes con tres o más campañas el mismo día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52111" y="1161358"/>
            <a:ext cx="3527477" cy="1398573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34920" y="1356374"/>
            <a:ext cx="3275003" cy="51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4030" b="1" spc="-8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de 3,228</a:t>
            </a:r>
            <a:endParaRPr lang="en-US" sz="4030" dirty="0"/>
          </a:p>
        </p:txBody>
      </p:sp>
      <p:sp>
        <p:nvSpPr>
          <p:cNvPr id="11" name="Text 9"/>
          <p:cNvSpPr txBox="1"/>
          <p:nvPr/>
        </p:nvSpPr>
        <p:spPr>
          <a:xfrm>
            <a:off x="8334920" y="1953782"/>
            <a:ext cx="3275003" cy="205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 tiene un grupo de control real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1956" y="2784184"/>
            <a:ext cx="3527477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1956" y="2922987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1956" y="2922987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53310" y="2922987"/>
            <a:ext cx="3299995" cy="110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Escribimos por lo que queremos vender.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Las promociones salen a listas por etapa, no por lo que la persona hizo, y le seguimos escribiendo a quien no responde.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31958" y="2784184"/>
            <a:ext cx="3527628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31958" y="2922987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331958" y="2922987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4673312" y="2922987"/>
            <a:ext cx="3300150" cy="110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equipo decide solo.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hay límite de mensajes por persona ni calendario común: Marketing, Product Growth y Sales le escriben a la misma gente el mismo día.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52111" y="2784184"/>
            <a:ext cx="3527477" cy="0"/>
          </a:xfrm>
          <a:prstGeom prst="line">
            <a:avLst/>
          </a:prstGeom>
          <a:noFill/>
          <a:ln w="9645">
            <a:solidFill>
              <a:srgbClr val="DDE2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11" y="2922987"/>
            <a:ext cx="231639" cy="231639"/>
          </a:xfrm>
          <a:prstGeom prst="ellipse">
            <a:avLst/>
          </a:prstGeom>
          <a:solidFill>
            <a:srgbClr val="E8EE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52111" y="2922987"/>
            <a:ext cx="256876" cy="231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8493465" y="2922987"/>
            <a:ext cx="3299995" cy="1109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Nadie compara volumen contra respuesta.</a:t>
            </a:r>
            <a:pPr algn="l"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Copiar una campaña cada mes es más fácil que medirla: 4 de cada 10 mensajes salen de campañas debajo del mínimo.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11956" y="5992160"/>
            <a:ext cx="11167783" cy="352808"/>
          </a:xfrm>
          <a:prstGeom prst="rect">
            <a:avLst/>
          </a:prstGeom>
          <a:solidFill>
            <a:srgbClr val="E8EEF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0350" y="6116043"/>
            <a:ext cx="616853" cy="134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820" b="1" spc="100" kern="0" dirty="0">
                <a:solidFill>
                  <a:srgbClr val="1F4F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</a:t>
            </a:r>
            <a:endParaRPr lang="en-US" sz="820" dirty="0"/>
          </a:p>
        </p:txBody>
      </p:sp>
      <p:sp>
        <p:nvSpPr>
          <p:cNvPr id="26" name="Text 24"/>
          <p:cNvSpPr txBox="1"/>
          <p:nvPr/>
        </p:nvSpPr>
        <p:spPr>
          <a:xfrm>
            <a:off x="1409876" y="6077461"/>
            <a:ext cx="6795453" cy="182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0B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 la forma de operar, no una campaña: por eso se corrige con reglas comunes, no apagando todo.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11956" y="6454684"/>
            <a:ext cx="4731987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Fuente: láminas de diagnóstico del deck v6 (Braze E1, E7b, E13, enero a septiembre 2026).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1566859" y="6454684"/>
            <a:ext cx="134555" cy="135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9000"/>
              </a:lnSpc>
              <a:buNone/>
            </a:pPr>
            <a:r>
              <a:rPr lang="en-US" sz="840" dirty="0">
                <a:solidFill>
                  <a:srgbClr val="6B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Braze en Kueski</dc:title>
  <dc:subject>PptxGenJS Presentation</dc:subject>
  <dc:creator>PptxGenJS</dc:creator>
  <cp:lastModifiedBy>PptxGenJS</cp:lastModifiedBy>
  <cp:revision>1</cp:revision>
  <dcterms:created xsi:type="dcterms:W3CDTF">2026-10-20T09:08:32Z</dcterms:created>
  <dcterms:modified xsi:type="dcterms:W3CDTF">2026-10-20T09:08:32Z</dcterms:modified>
</cp:coreProperties>
</file>