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icio" id="{7c664dc1-3743-8b88-25b4-d2ec0fa60e18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2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11956" y="2130412"/>
            <a:ext cx="11521105" cy="15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1060" b="1" spc="15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KUESKI · BRAZE</a:t>
            </a:r>
            <a:endParaRPr lang="en-US" sz="1060" dirty="0"/>
          </a:p>
        </p:txBody>
      </p:sp>
      <p:sp>
        <p:nvSpPr>
          <p:cNvPr id="4" name="Text 2"/>
          <p:cNvSpPr txBox="1"/>
          <p:nvPr/>
        </p:nvSpPr>
        <p:spPr>
          <a:xfrm>
            <a:off x="511956" y="2528432"/>
            <a:ext cx="8808469" cy="117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7000"/>
              </a:lnSpc>
              <a:buNone/>
            </a:pPr>
            <a:r>
              <a:rPr lang="en-US" sz="4420" b="1" spc="-9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Braze en Marketing: qué está pasando y por qué</a:t>
            </a:r>
            <a:endParaRPr lang="en-US" sz="4420" dirty="0"/>
          </a:p>
        </p:txBody>
      </p:sp>
      <p:sp>
        <p:nvSpPr>
          <p:cNvPr id="5" name="Text 3"/>
          <p:cNvSpPr txBox="1"/>
          <p:nvPr/>
        </p:nvSpPr>
        <p:spPr>
          <a:xfrm>
            <a:off x="511956" y="3949762"/>
            <a:ext cx="8808469" cy="5015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163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Diagnóstico de enero a septiembre 2026 de los mensajes que manda Marketing, comparado con los demás equipos.</a:t>
            </a:r>
            <a:endParaRPr lang="en-US" sz="1630" dirty="0"/>
          </a:p>
        </p:txBody>
      </p:sp>
      <p:sp>
        <p:nvSpPr>
          <p:cNvPr id="6" name="Text 4"/>
          <p:cNvSpPr txBox="1"/>
          <p:nvPr/>
        </p:nvSpPr>
        <p:spPr>
          <a:xfrm>
            <a:off x="511956" y="4695014"/>
            <a:ext cx="11521105" cy="15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106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262 M mensajes de Marketing, 27.2 M MXN en nueve meses · Octubre 2026</a:t>
            </a:r>
            <a:endParaRPr lang="en-US" sz="106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1956" y="390033"/>
            <a:ext cx="11521105" cy="6616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210" b="1" spc="-3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Marketing pone 39 % de los mensajes y 47 % del gasto de Braze, y trae 25 % de las conversiones</a:t>
            </a:r>
            <a:endParaRPr lang="en-US" sz="2210" dirty="0"/>
          </a:p>
        </p:txBody>
      </p:sp>
      <p:sp>
        <p:nvSpPr>
          <p:cNvPr id="3" name="Shape 1"/>
          <p:cNvSpPr/>
          <p:nvPr/>
        </p:nvSpPr>
        <p:spPr>
          <a:xfrm>
            <a:off x="511956" y="1166180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11956" y="1798251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19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SE MANDA</a:t>
            </a:r>
            <a:endParaRPr lang="en-US" sz="790" dirty="0"/>
          </a:p>
        </p:txBody>
      </p:sp>
      <p:sp>
        <p:nvSpPr>
          <p:cNvPr id="6" name="Text 4"/>
          <p:cNvSpPr txBox="1"/>
          <p:nvPr/>
        </p:nvSpPr>
        <p:spPr>
          <a:xfrm>
            <a:off x="511956" y="1410328"/>
            <a:ext cx="3473697" cy="14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Tasa 0, referidos, rescates a leads y recordatorios de registro.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2995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QUIÉN</a:t>
            </a:r>
            <a:endParaRPr lang="en-US" sz="790" dirty="0"/>
          </a:p>
        </p:txBody>
      </p:sp>
      <p:sp>
        <p:nvSpPr>
          <p:cNvPr id="8" name="Text 6"/>
          <p:cNvSpPr txBox="1"/>
          <p:nvPr/>
        </p:nvSpPr>
        <p:spPr>
          <a:xfrm>
            <a:off x="4299556" y="1410328"/>
            <a:ext cx="3605642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Marketing; se compara con Product Growth, Sales, Collections y Others.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80871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QUIÉN</a:t>
            </a:r>
            <a:endParaRPr lang="en-US" sz="790" dirty="0"/>
          </a:p>
        </p:txBody>
      </p:sp>
      <p:sp>
        <p:nvSpPr>
          <p:cNvPr id="10" name="Text 8"/>
          <p:cNvSpPr txBox="1"/>
          <p:nvPr/>
        </p:nvSpPr>
        <p:spPr>
          <a:xfrm>
            <a:off x="8087156" y="1410328"/>
            <a:ext cx="3357896" cy="14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Leads, registrados sin crédito, ex clientes y clientes activos.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11956" y="1912789"/>
            <a:ext cx="3527477" cy="1043052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70350" y="2034561"/>
            <a:ext cx="3325297" cy="414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3260" b="1" spc="-7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3.0 M MXN</a:t>
            </a:r>
            <a:endParaRPr lang="en-US" sz="3260" dirty="0"/>
          </a:p>
        </p:txBody>
      </p:sp>
      <p:sp>
        <p:nvSpPr>
          <p:cNvPr id="13" name="Text 11"/>
          <p:cNvSpPr txBox="1"/>
          <p:nvPr/>
        </p:nvSpPr>
        <p:spPr>
          <a:xfrm>
            <a:off x="670350" y="2491660"/>
            <a:ext cx="3325297" cy="1712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04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 mes en mensajes; 84 % se va en WhatsApp</a:t>
            </a:r>
            <a:endParaRPr lang="en-US" sz="1040" dirty="0"/>
          </a:p>
        </p:txBody>
      </p:sp>
      <p:sp>
        <p:nvSpPr>
          <p:cNvPr id="14" name="Shape 12"/>
          <p:cNvSpPr/>
          <p:nvPr/>
        </p:nvSpPr>
        <p:spPr>
          <a:xfrm>
            <a:off x="4331958" y="1912789"/>
            <a:ext cx="3527628" cy="1043052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490353" y="2034561"/>
            <a:ext cx="3325453" cy="414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3260" b="1" spc="-7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 MXN</a:t>
            </a:r>
            <a:endParaRPr lang="en-US" sz="3260" dirty="0"/>
          </a:p>
        </p:txBody>
      </p:sp>
      <p:sp>
        <p:nvSpPr>
          <p:cNvPr id="16" name="Text 14"/>
          <p:cNvSpPr txBox="1"/>
          <p:nvPr/>
        </p:nvSpPr>
        <p:spPr>
          <a:xfrm>
            <a:off x="4490353" y="2491660"/>
            <a:ext cx="3325453" cy="342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04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 conversión; Product Growth 21 y el resto de 4 a 17</a:t>
            </a:r>
            <a:endParaRPr lang="en-US" sz="1040" dirty="0"/>
          </a:p>
        </p:txBody>
      </p:sp>
      <p:sp>
        <p:nvSpPr>
          <p:cNvPr id="17" name="Shape 15"/>
          <p:cNvSpPr/>
          <p:nvPr/>
        </p:nvSpPr>
        <p:spPr>
          <a:xfrm>
            <a:off x="8152111" y="1912789"/>
            <a:ext cx="3527477" cy="1043052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310505" y="2034561"/>
            <a:ext cx="3325297" cy="414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3260" b="1" spc="-7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5.9</a:t>
            </a:r>
            <a:endParaRPr lang="en-US" sz="3260" dirty="0"/>
          </a:p>
        </p:txBody>
      </p:sp>
      <p:sp>
        <p:nvSpPr>
          <p:cNvPr id="19" name="Text 17"/>
          <p:cNvSpPr txBox="1"/>
          <p:nvPr/>
        </p:nvSpPr>
        <p:spPr>
          <a:xfrm>
            <a:off x="8310505" y="2491660"/>
            <a:ext cx="3325297" cy="342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04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bajas por cada mil correos; el resto de los equipos, 2.6</a:t>
            </a:r>
            <a:endParaRPr lang="en-US" sz="1040" dirty="0"/>
          </a:p>
        </p:txBody>
      </p:sp>
      <p:sp>
        <p:nvSpPr>
          <p:cNvPr id="20" name="Text 18"/>
          <p:cNvSpPr txBox="1"/>
          <p:nvPr/>
        </p:nvSpPr>
        <p:spPr>
          <a:xfrm>
            <a:off x="511956" y="3126443"/>
            <a:ext cx="6179037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60" b="1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Campañas de Marketing de la que más gasta a la que menos: gasto contra conversiones acumuladas</a:t>
            </a:r>
            <a:endParaRPr lang="en-US" sz="960" dirty="0"/>
          </a:p>
        </p:txBody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1956" y="3351902"/>
            <a:ext cx="5981159" cy="2392494"/>
          </a:xfrm>
          <a:prstGeom prst="rect">
            <a:avLst/>
          </a:prstGeom>
        </p:spPr>
      </p:pic>
      <p:sp>
        <p:nvSpPr>
          <p:cNvPr id="22" name="Shape 19"/>
          <p:cNvSpPr/>
          <p:nvPr/>
        </p:nvSpPr>
        <p:spPr>
          <a:xfrm>
            <a:off x="6785790" y="3131265"/>
            <a:ext cx="4893949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785790" y="3221389"/>
            <a:ext cx="207224" cy="207224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785790" y="3221389"/>
            <a:ext cx="231729" cy="207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10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910" dirty="0"/>
          </a:p>
        </p:txBody>
      </p:sp>
      <p:sp>
        <p:nvSpPr>
          <p:cNvPr id="25" name="Text 22"/>
          <p:cNvSpPr txBox="1"/>
          <p:nvPr/>
        </p:nvSpPr>
        <p:spPr>
          <a:xfrm>
            <a:off x="7090522" y="3221389"/>
            <a:ext cx="4745182" cy="3620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60" b="1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quién.</a:t>
            </a:r>
            <a:pPr algn="l" indent="0" marL="0">
              <a:lnSpc>
                <a:spcPct val="112000"/>
              </a:lnSpc>
              <a:buNone/>
            </a:pPr>
            <a:r>
              <a:rPr lang="en-US" sz="106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Cinco campañas son 46 % del gasto de Marketing y traen 23 % de sus conversiones; la mayor, Tasa 0 a rezagados.</a:t>
            </a:r>
            <a:endParaRPr lang="en-US" sz="1060" dirty="0"/>
          </a:p>
        </p:txBody>
      </p:sp>
      <p:sp>
        <p:nvSpPr>
          <p:cNvPr id="26" name="Shape 23"/>
          <p:cNvSpPr/>
          <p:nvPr/>
        </p:nvSpPr>
        <p:spPr>
          <a:xfrm>
            <a:off x="6785790" y="3661306"/>
            <a:ext cx="4893949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785790" y="3751430"/>
            <a:ext cx="207224" cy="207224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785790" y="3751430"/>
            <a:ext cx="231729" cy="207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10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910" dirty="0"/>
          </a:p>
        </p:txBody>
      </p:sp>
      <p:sp>
        <p:nvSpPr>
          <p:cNvPr id="29" name="Text 26"/>
          <p:cNvSpPr txBox="1"/>
          <p:nvPr/>
        </p:nvSpPr>
        <p:spPr>
          <a:xfrm>
            <a:off x="7090522" y="3751430"/>
            <a:ext cx="4745182" cy="3620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60" b="1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 qué canal.</a:t>
            </a:r>
            <a:pPr algn="l" indent="0" marL="0">
              <a:lnSpc>
                <a:spcPct val="112000"/>
              </a:lnSpc>
              <a:buNone/>
            </a:pPr>
            <a:r>
              <a:rPr lang="en-US" sz="106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Dos terceras partes del push que abre menos de 1 de cada 100 personas son de Marketing.</a:t>
            </a:r>
            <a:endParaRPr lang="en-US" sz="1060" dirty="0"/>
          </a:p>
        </p:txBody>
      </p:sp>
      <p:sp>
        <p:nvSpPr>
          <p:cNvPr id="30" name="Shape 27"/>
          <p:cNvSpPr/>
          <p:nvPr/>
        </p:nvSpPr>
        <p:spPr>
          <a:xfrm>
            <a:off x="6785790" y="4191347"/>
            <a:ext cx="4893949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785790" y="4281471"/>
            <a:ext cx="207224" cy="207224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6785790" y="4281471"/>
            <a:ext cx="231729" cy="207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10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910" dirty="0"/>
          </a:p>
        </p:txBody>
      </p:sp>
      <p:sp>
        <p:nvSpPr>
          <p:cNvPr id="33" name="Text 30"/>
          <p:cNvSpPr txBox="1"/>
          <p:nvPr/>
        </p:nvSpPr>
        <p:spPr>
          <a:xfrm>
            <a:off x="7090522" y="4281471"/>
            <a:ext cx="4745182" cy="3620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60" b="1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Cuántas veces.</a:t>
            </a:r>
            <a:pPr algn="l" indent="0" marL="0">
              <a:lnSpc>
                <a:spcPct val="112000"/>
              </a:lnSpc>
              <a:buNone/>
            </a:pPr>
            <a:r>
              <a:rPr lang="en-US" sz="106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Hasta 2.3 M personas al mes reciben tres o más campañas el mismo día, casi siempre con Marketing.</a:t>
            </a:r>
            <a:endParaRPr lang="en-US" sz="1060" dirty="0"/>
          </a:p>
        </p:txBody>
      </p:sp>
      <p:sp>
        <p:nvSpPr>
          <p:cNvPr id="34" name="Shape 31"/>
          <p:cNvSpPr/>
          <p:nvPr/>
        </p:nvSpPr>
        <p:spPr>
          <a:xfrm>
            <a:off x="6785790" y="4721388"/>
            <a:ext cx="4893949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6785790" y="4811512"/>
            <a:ext cx="207224" cy="207224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6785790" y="4811512"/>
            <a:ext cx="231729" cy="207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10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910" dirty="0"/>
          </a:p>
        </p:txBody>
      </p:sp>
      <p:sp>
        <p:nvSpPr>
          <p:cNvPr id="37" name="Text 34"/>
          <p:cNvSpPr txBox="1"/>
          <p:nvPr/>
        </p:nvSpPr>
        <p:spPr>
          <a:xfrm>
            <a:off x="7090522" y="4811512"/>
            <a:ext cx="4745182" cy="3620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60" b="1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sí funciona.</a:t>
            </a:r>
            <a:pPr algn="l" indent="0" marL="0">
              <a:lnSpc>
                <a:spcPct val="112000"/>
              </a:lnSpc>
              <a:buNone/>
            </a:pPr>
            <a:r>
              <a:rPr lang="en-US" sz="106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El recordatorio de registro: 21 MXN por préstamo; lo que nace de algo que hizo la persona responde siete veces más.</a:t>
            </a:r>
            <a:endParaRPr lang="en-US" sz="1060" dirty="0"/>
          </a:p>
        </p:txBody>
      </p:sp>
      <p:sp>
        <p:nvSpPr>
          <p:cNvPr id="38" name="Shape 35"/>
          <p:cNvSpPr/>
          <p:nvPr/>
        </p:nvSpPr>
        <p:spPr>
          <a:xfrm>
            <a:off x="511956" y="5857126"/>
            <a:ext cx="11167783" cy="352808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670350" y="5981008"/>
            <a:ext cx="616853" cy="134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820" b="1" spc="10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WHAT</a:t>
            </a:r>
            <a:endParaRPr lang="en-US" sz="820" dirty="0"/>
          </a:p>
        </p:txBody>
      </p:sp>
      <p:sp>
        <p:nvSpPr>
          <p:cNvPr id="40" name="Text 37"/>
          <p:cNvSpPr txBox="1"/>
          <p:nvPr/>
        </p:nvSpPr>
        <p:spPr>
          <a:xfrm>
            <a:off x="1409876" y="5942427"/>
            <a:ext cx="7647818" cy="1822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10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dinero de Marketing se va en WhatsApp a quien no responde; funciona lo que nace de lo que hizo la persona.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511956" y="6319649"/>
            <a:ext cx="11202729" cy="2700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Fuente: Braze, envíos por comunicación, mes y canal (E1), enero a septiembre 2026. WhatsApp a 1.00 MXN por entregado, correo a 0.05 MXN. Conversión: crédito otorgado en 7 días, repartido. Bajas sobre correos entregados.</a:t>
            </a:r>
            <a:endParaRPr lang="en-US" sz="840" dirty="0"/>
          </a:p>
        </p:txBody>
      </p:sp>
      <p:sp>
        <p:nvSpPr>
          <p:cNvPr id="42" name="Text 39"/>
          <p:cNvSpPr txBox="1"/>
          <p:nvPr/>
        </p:nvSpPr>
        <p:spPr>
          <a:xfrm>
            <a:off x="11614332" y="6319649"/>
            <a:ext cx="85658" cy="2700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84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1956" y="390033"/>
            <a:ext cx="11521105" cy="6616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210" b="1" spc="-3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Visto desde el teléfono de la persona, así se sienten nuestros mensajes: tres casos reales</a:t>
            </a:r>
            <a:endParaRPr lang="en-US" sz="221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1956" y="1234451"/>
            <a:ext cx="1775042" cy="3372851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2433336" y="1234451"/>
            <a:ext cx="1706098" cy="279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20" b="1" spc="8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QUIEN SE ACABA DE REGISTRAR</a:t>
            </a:r>
            <a:endParaRPr lang="en-US" sz="820" dirty="0"/>
          </a:p>
        </p:txBody>
      </p:sp>
      <p:sp>
        <p:nvSpPr>
          <p:cNvPr id="5" name="Text 2"/>
          <p:cNvSpPr txBox="1"/>
          <p:nvPr/>
        </p:nvSpPr>
        <p:spPr>
          <a:xfrm>
            <a:off x="2433336" y="1575052"/>
            <a:ext cx="1706098" cy="877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3460" b="1" spc="-7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correos</a:t>
            </a:r>
            <a:endParaRPr lang="en-US" sz="3460" dirty="0"/>
          </a:p>
        </p:txBody>
      </p:sp>
      <p:sp>
        <p:nvSpPr>
          <p:cNvPr id="6" name="Text 3"/>
          <p:cNvSpPr txBox="1"/>
          <p:nvPr/>
        </p:nvSpPr>
        <p:spPr>
          <a:xfrm>
            <a:off x="2433336" y="2513663"/>
            <a:ext cx="1706098" cy="3487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060" b="1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antes de darse de baja, hacia el día 5</a:t>
            </a:r>
            <a:endParaRPr lang="en-US" sz="1060" dirty="0"/>
          </a:p>
        </p:txBody>
      </p:sp>
      <p:sp>
        <p:nvSpPr>
          <p:cNvPr id="7" name="Text 4"/>
          <p:cNvSpPr txBox="1"/>
          <p:nvPr/>
        </p:nvSpPr>
        <p:spPr>
          <a:xfrm>
            <a:off x="2433336" y="2923288"/>
            <a:ext cx="1706098" cy="1218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8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 mil nuevos se dieron de baja de nuestros correos, típicamente al día 5 y con 10 correos. La mitad, con el recordatorio de registro, que llega casi 6 veces al mes.</a:t>
            </a:r>
            <a:endParaRPr lang="en-US" sz="98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5682" y="1234451"/>
            <a:ext cx="1775042" cy="3372851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237061" y="1234451"/>
            <a:ext cx="1706098" cy="279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20" b="1" spc="8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NUESTRO CLIENTE MÁS ACTIVO</a:t>
            </a:r>
            <a:endParaRPr lang="en-US" sz="820" dirty="0"/>
          </a:p>
        </p:txBody>
      </p:sp>
      <p:sp>
        <p:nvSpPr>
          <p:cNvPr id="10" name="Text 6"/>
          <p:cNvSpPr txBox="1"/>
          <p:nvPr/>
        </p:nvSpPr>
        <p:spPr>
          <a:xfrm>
            <a:off x="6237061" y="1575052"/>
            <a:ext cx="1706098" cy="4388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3460" b="1" spc="-7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al día</a:t>
            </a:r>
            <a:endParaRPr lang="en-US" sz="3460" dirty="0"/>
          </a:p>
        </p:txBody>
      </p:sp>
      <p:sp>
        <p:nvSpPr>
          <p:cNvPr id="11" name="Text 7"/>
          <p:cNvSpPr txBox="1"/>
          <p:nvPr/>
        </p:nvSpPr>
        <p:spPr>
          <a:xfrm>
            <a:off x="6237061" y="2074801"/>
            <a:ext cx="1706098" cy="1743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060" b="1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 210 de los 273 días</a:t>
            </a:r>
            <a:endParaRPr lang="en-US" sz="1060" dirty="0"/>
          </a:p>
        </p:txBody>
      </p:sp>
      <p:sp>
        <p:nvSpPr>
          <p:cNvPr id="12" name="Text 8"/>
          <p:cNvSpPr txBox="1"/>
          <p:nvPr/>
        </p:nvSpPr>
        <p:spPr>
          <a:xfrm>
            <a:off x="6237061" y="2310056"/>
            <a:ext cx="1706098" cy="1392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8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339 mil personas (1.7 % de la base) recibieron 482 mensajes cada una en nueve meses. Cuando a alguien le llegan tres campañas el mismo día, Marketing está en 63 % de esos días.</a:t>
            </a:r>
            <a:endParaRPr lang="en-US" sz="98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9558" y="1234451"/>
            <a:ext cx="1775042" cy="3372851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040938" y="1234451"/>
            <a:ext cx="1706098" cy="279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20" b="1" spc="8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QUIEN YA NOS DIJO QUE NO</a:t>
            </a:r>
            <a:endParaRPr lang="en-US" sz="820" dirty="0"/>
          </a:p>
        </p:txBody>
      </p:sp>
      <p:sp>
        <p:nvSpPr>
          <p:cNvPr id="15" name="Text 10"/>
          <p:cNvSpPr txBox="1"/>
          <p:nvPr/>
        </p:nvSpPr>
        <p:spPr>
          <a:xfrm>
            <a:off x="10040938" y="1575052"/>
            <a:ext cx="1706098" cy="4388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3460" b="1" spc="-7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58 mil</a:t>
            </a:r>
            <a:endParaRPr lang="en-US" sz="3460" dirty="0"/>
          </a:p>
        </p:txBody>
      </p:sp>
      <p:sp>
        <p:nvSpPr>
          <p:cNvPr id="16" name="Text 11"/>
          <p:cNvSpPr txBox="1"/>
          <p:nvPr/>
        </p:nvSpPr>
        <p:spPr>
          <a:xfrm>
            <a:off x="10040938" y="2074801"/>
            <a:ext cx="1706098" cy="5231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060" b="1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promociones nuestras después de darse de baja</a:t>
            </a:r>
            <a:endParaRPr lang="en-US" sz="1060" dirty="0"/>
          </a:p>
        </p:txBody>
      </p:sp>
      <p:sp>
        <p:nvSpPr>
          <p:cNvPr id="17" name="Text 12"/>
          <p:cNvSpPr txBox="1"/>
          <p:nvPr/>
        </p:nvSpPr>
        <p:spPr>
          <a:xfrm>
            <a:off x="10040938" y="2658795"/>
            <a:ext cx="1706098" cy="1218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8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 mil personas dadas de baja recibieron 79 mil promociones; 58 mil eran de Marketing. El recordatorio de verificación les siguió llegando nueve meses.</a:t>
            </a:r>
            <a:endParaRPr lang="en-US" sz="980" dirty="0"/>
          </a:p>
        </p:txBody>
      </p:sp>
      <p:sp>
        <p:nvSpPr>
          <p:cNvPr id="18" name="Shape 13"/>
          <p:cNvSpPr/>
          <p:nvPr/>
        </p:nvSpPr>
        <p:spPr>
          <a:xfrm>
            <a:off x="511956" y="4850997"/>
            <a:ext cx="11167783" cy="408570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670350" y="4999294"/>
            <a:ext cx="692605" cy="1398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20" b="1" spc="10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 ADEMÁS</a:t>
            </a:r>
            <a:endParaRPr lang="en-US" sz="820" dirty="0"/>
          </a:p>
        </p:txBody>
      </p:sp>
      <p:sp>
        <p:nvSpPr>
          <p:cNvPr id="20" name="Text 15"/>
          <p:cNvSpPr txBox="1"/>
          <p:nvPr/>
        </p:nvSpPr>
        <p:spPr>
          <a:xfrm>
            <a:off x="1483421" y="4960713"/>
            <a:ext cx="9972380" cy="189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59 % de los mensajes va por un canal al que esa persona nunca respondió: correos a quien solo lee WhatsApp, push a quien nunca abre un push.</a:t>
            </a:r>
            <a:endParaRPr lang="en-US" sz="1100" dirty="0"/>
          </a:p>
        </p:txBody>
      </p:sp>
      <p:sp>
        <p:nvSpPr>
          <p:cNvPr id="21" name="Text 16"/>
          <p:cNvSpPr txBox="1"/>
          <p:nvPr/>
        </p:nvSpPr>
        <p:spPr>
          <a:xfrm>
            <a:off x="511956" y="6454684"/>
            <a:ext cx="9906097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Fuente: Braze, enero a septiembre 2026 (deck v6, láminas 8, 18, 24, 35, 52 y 63). Pantallas ilustrativas; las cifras son reales. 58 mil = promociones de Marketing a personas ya dadas de baja.</a:t>
            </a:r>
            <a:endParaRPr lang="en-US" sz="840" dirty="0"/>
          </a:p>
        </p:txBody>
      </p:sp>
      <p:sp>
        <p:nvSpPr>
          <p:cNvPr id="22" name="Text 17"/>
          <p:cNvSpPr txBox="1"/>
          <p:nvPr/>
        </p:nvSpPr>
        <p:spPr>
          <a:xfrm>
            <a:off x="11613428" y="6454684"/>
            <a:ext cx="86589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84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1956" y="390033"/>
            <a:ext cx="11521105" cy="6616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210" b="1" spc="-3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Después de junio mandamos menos, pero cada mil mensajes hoy traen 54 respuestas; en enero traían 84</a:t>
            </a:r>
            <a:endParaRPr lang="en-US" sz="2210" dirty="0"/>
          </a:p>
        </p:txBody>
      </p:sp>
      <p:sp>
        <p:nvSpPr>
          <p:cNvPr id="3" name="Shape 1"/>
          <p:cNvSpPr/>
          <p:nvPr/>
        </p:nvSpPr>
        <p:spPr>
          <a:xfrm>
            <a:off x="511956" y="1166180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11956" y="1798251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19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SE MANDA</a:t>
            </a:r>
            <a:endParaRPr lang="en-US" sz="790" dirty="0"/>
          </a:p>
        </p:txBody>
      </p:sp>
      <p:sp>
        <p:nvSpPr>
          <p:cNvPr id="6" name="Text 4"/>
          <p:cNvSpPr txBox="1"/>
          <p:nvPr/>
        </p:nvSpPr>
        <p:spPr>
          <a:xfrm>
            <a:off x="511956" y="1410328"/>
            <a:ext cx="3706696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Junio: lanzamiento de BillPay y push de Mundial, Comercio del día y Anota y Gana.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2995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QUIÉN</a:t>
            </a:r>
            <a:endParaRPr lang="en-US" sz="790" dirty="0"/>
          </a:p>
        </p:txBody>
      </p:sp>
      <p:sp>
        <p:nvSpPr>
          <p:cNvPr id="8" name="Text 6"/>
          <p:cNvSpPr txBox="1"/>
          <p:nvPr/>
        </p:nvSpPr>
        <p:spPr>
          <a:xfrm>
            <a:off x="4299556" y="1410328"/>
            <a:ext cx="3556745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 junio contra enero, Marketing sumó 28 M mensajes y Others 25 M.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80871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QUIÉN</a:t>
            </a:r>
            <a:endParaRPr lang="en-US" sz="790" dirty="0"/>
          </a:p>
        </p:txBody>
      </p:sp>
      <p:sp>
        <p:nvSpPr>
          <p:cNvPr id="10" name="Text 8"/>
          <p:cNvSpPr txBox="1"/>
          <p:nvPr/>
        </p:nvSpPr>
        <p:spPr>
          <a:xfrm>
            <a:off x="8087156" y="1410328"/>
            <a:ext cx="3393443" cy="14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Casi toda la base: el correo de BillPay llegó a 16 M personas.</a:t>
            </a:r>
            <a:endParaRPr lang="en-US" sz="9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1956" y="1912789"/>
            <a:ext cx="7289909" cy="3969656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94390" y="1912789"/>
            <a:ext cx="3711198" cy="115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DICE LA GRÁFICA</a:t>
            </a:r>
            <a:endParaRPr lang="en-US" sz="790" dirty="0"/>
          </a:p>
        </p:txBody>
      </p:sp>
      <p:sp>
        <p:nvSpPr>
          <p:cNvPr id="13" name="Shape 10"/>
          <p:cNvSpPr/>
          <p:nvPr/>
        </p:nvSpPr>
        <p:spPr>
          <a:xfrm>
            <a:off x="8094390" y="2126026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094390" y="2126026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768" dirty="0"/>
          </a:p>
        </p:txBody>
      </p:sp>
      <p:sp>
        <p:nvSpPr>
          <p:cNvPr id="15" name="Text 12"/>
          <p:cNvSpPr txBox="1"/>
          <p:nvPr/>
        </p:nvSpPr>
        <p:spPr>
          <a:xfrm>
            <a:off x="8338224" y="2113834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Septiembre mandó 66 M mensajes, casi como enero (59 M), pero trajo 54 respuestas por cada mil contra 84.</a:t>
            </a:r>
            <a:endParaRPr lang="en-US" sz="940" dirty="0"/>
          </a:p>
        </p:txBody>
      </p:sp>
      <p:sp>
        <p:nvSpPr>
          <p:cNvPr id="16" name="Shape 13"/>
          <p:cNvSpPr/>
          <p:nvPr/>
        </p:nvSpPr>
        <p:spPr>
          <a:xfrm>
            <a:off x="8094390" y="2514401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094390" y="2514401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768" dirty="0"/>
          </a:p>
        </p:txBody>
      </p:sp>
      <p:sp>
        <p:nvSpPr>
          <p:cNvPr id="18" name="Text 15"/>
          <p:cNvSpPr txBox="1"/>
          <p:nvPr/>
        </p:nvSpPr>
        <p:spPr>
          <a:xfrm>
            <a:off x="8338224" y="2502209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Junio fue el pico: 109 M mensajes. Después mandamos menos y la respuesta quedó en 61, 56 y 54 por mil.</a:t>
            </a:r>
            <a:endParaRPr lang="en-US" sz="940" dirty="0"/>
          </a:p>
        </p:txBody>
      </p:sp>
      <p:sp>
        <p:nvSpPr>
          <p:cNvPr id="19" name="Shape 16"/>
          <p:cNvSpPr/>
          <p:nvPr/>
        </p:nvSpPr>
        <p:spPr>
          <a:xfrm>
            <a:off x="8094390" y="2902776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094390" y="2902776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768" dirty="0"/>
          </a:p>
        </p:txBody>
      </p:sp>
      <p:sp>
        <p:nvSpPr>
          <p:cNvPr id="21" name="Text 18"/>
          <p:cNvSpPr txBox="1"/>
          <p:nvPr/>
        </p:nvSpPr>
        <p:spPr>
          <a:xfrm>
            <a:off x="8338224" y="2890584"/>
            <a:ext cx="3460049" cy="472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WhatsApp, que sí se lee, bajó de 10 % a 5 % de los mensajes; push, que casi no se abre, subió de 27 % a 37 %.</a:t>
            </a:r>
            <a:endParaRPr lang="en-US" sz="940" dirty="0"/>
          </a:p>
        </p:txBody>
      </p:sp>
      <p:sp>
        <p:nvSpPr>
          <p:cNvPr id="22" name="Shape 19"/>
          <p:cNvSpPr/>
          <p:nvPr/>
        </p:nvSpPr>
        <p:spPr>
          <a:xfrm>
            <a:off x="8094390" y="3448808"/>
            <a:ext cx="3585349" cy="596503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23" name="Shape 20"/>
          <p:cNvSpPr/>
          <p:nvPr/>
        </p:nvSpPr>
        <p:spPr>
          <a:xfrm>
            <a:off x="8108858" y="3448808"/>
            <a:ext cx="0" cy="596503"/>
          </a:xfrm>
          <a:prstGeom prst="line">
            <a:avLst/>
          </a:prstGeom>
          <a:noFill/>
          <a:ln w="28936">
            <a:solidFill>
              <a:srgbClr val="0B122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233041" y="3509694"/>
            <a:ext cx="3455380" cy="1305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77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CAUSA RAÍZ</a:t>
            </a:r>
            <a:endParaRPr lang="en-US" sz="770" dirty="0"/>
          </a:p>
        </p:txBody>
      </p:sp>
      <p:sp>
        <p:nvSpPr>
          <p:cNvPr id="25" name="Text 22"/>
          <p:cNvSpPr txBox="1"/>
          <p:nvPr/>
        </p:nvSpPr>
        <p:spPr>
          <a:xfrm>
            <a:off x="8233041" y="3670650"/>
            <a:ext cx="3265534" cy="301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92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Escribimos a toda la base por push y correo, sin límite de mensajes por persona ni calendario entre equipos.</a:t>
            </a:r>
            <a:endParaRPr lang="en-US" sz="920" dirty="0"/>
          </a:p>
        </p:txBody>
      </p:sp>
      <p:sp>
        <p:nvSpPr>
          <p:cNvPr id="26" name="Shape 23"/>
          <p:cNvSpPr/>
          <p:nvPr/>
        </p:nvSpPr>
        <p:spPr>
          <a:xfrm>
            <a:off x="511956" y="5992160"/>
            <a:ext cx="11167783" cy="352808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670350" y="6116043"/>
            <a:ext cx="616853" cy="134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820" b="1" spc="10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WHAT</a:t>
            </a:r>
            <a:endParaRPr lang="en-US" sz="820" dirty="0"/>
          </a:p>
        </p:txBody>
      </p:sp>
      <p:sp>
        <p:nvSpPr>
          <p:cNvPr id="28" name="Text 25"/>
          <p:cNvSpPr txBox="1"/>
          <p:nvPr/>
        </p:nvSpPr>
        <p:spPr>
          <a:xfrm>
            <a:off x="1409876" y="6077461"/>
            <a:ext cx="6666147" cy="1822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10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Mandar menos no basta: hay que escribir a quien responde, por su canal y con un límite semanal.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11956" y="6454684"/>
            <a:ext cx="9652762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Fuente: Braze, envíos por comunicación, mes y canal, enero a septiembre 2026. Respuesta = clic de correo, apertura de push, lectura de WhatsApp y clic in-app, por cada mil enviados.</a:t>
            </a:r>
            <a:endParaRPr lang="en-US" sz="840" dirty="0"/>
          </a:p>
        </p:txBody>
      </p:sp>
      <p:sp>
        <p:nvSpPr>
          <p:cNvPr id="30" name="Text 27"/>
          <p:cNvSpPr txBox="1"/>
          <p:nvPr/>
        </p:nvSpPr>
        <p:spPr>
          <a:xfrm>
            <a:off x="11610413" y="6454684"/>
            <a:ext cx="89694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84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1956" y="390033"/>
            <a:ext cx="11521105" cy="6616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210" b="1" spc="-3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Marketing gana con el recordatorio de registro y gasta la mitad de su dinero en Tasa 0 que casi no convierte</a:t>
            </a:r>
            <a:endParaRPr lang="en-US" sz="2210" dirty="0"/>
          </a:p>
        </p:txBody>
      </p:sp>
      <p:sp>
        <p:nvSpPr>
          <p:cNvPr id="3" name="Shape 1"/>
          <p:cNvSpPr/>
          <p:nvPr/>
        </p:nvSpPr>
        <p:spPr>
          <a:xfrm>
            <a:off x="511956" y="1166180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11956" y="1798251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19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SE MANDA</a:t>
            </a:r>
            <a:endParaRPr lang="en-US" sz="790" dirty="0"/>
          </a:p>
        </p:txBody>
      </p:sp>
      <p:sp>
        <p:nvSpPr>
          <p:cNvPr id="6" name="Text 4"/>
          <p:cNvSpPr txBox="1"/>
          <p:nvPr/>
        </p:nvSpPr>
        <p:spPr>
          <a:xfrm>
            <a:off x="511956" y="1410328"/>
            <a:ext cx="3324521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Tasa 0 y rescate de leads, referidos, promociones de KPay, recordatorio de registro.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2995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QUIÉN</a:t>
            </a:r>
            <a:endParaRPr lang="en-US" sz="790" dirty="0"/>
          </a:p>
        </p:txBody>
      </p:sp>
      <p:sp>
        <p:nvSpPr>
          <p:cNvPr id="8" name="Text 6"/>
          <p:cNvSpPr txBox="1"/>
          <p:nvPr/>
        </p:nvSpPr>
        <p:spPr>
          <a:xfrm>
            <a:off x="4299556" y="1410328"/>
            <a:ext cx="3694278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Marketing: 351 campañas por canal, 259 M mensajes (39 %), 27.2 M MXN (47 %).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80871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QUIÉN</a:t>
            </a:r>
            <a:endParaRPr lang="en-US" sz="790" dirty="0"/>
          </a:p>
        </p:txBody>
      </p:sp>
      <p:sp>
        <p:nvSpPr>
          <p:cNvPr id="10" name="Text 8"/>
          <p:cNvSpPr txBox="1"/>
          <p:nvPr/>
        </p:nvSpPr>
        <p:spPr>
          <a:xfrm>
            <a:off x="8087156" y="1410328"/>
            <a:ext cx="3336008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Leads 28 %, leads fríos 25 %, clientes 19 %, dormidos 7 %, registro a medias 7 %.</a:t>
            </a:r>
            <a:endParaRPr lang="en-US" sz="9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1956" y="1912789"/>
            <a:ext cx="7121417" cy="3834621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94390" y="1912789"/>
            <a:ext cx="3711198" cy="115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DICE LA GRÁFICA</a:t>
            </a:r>
            <a:endParaRPr lang="en-US" sz="790" dirty="0"/>
          </a:p>
        </p:txBody>
      </p:sp>
      <p:sp>
        <p:nvSpPr>
          <p:cNvPr id="13" name="Shape 10"/>
          <p:cNvSpPr/>
          <p:nvPr/>
        </p:nvSpPr>
        <p:spPr>
          <a:xfrm>
            <a:off x="8094390" y="2126026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094390" y="2126026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768" dirty="0"/>
          </a:p>
        </p:txBody>
      </p:sp>
      <p:sp>
        <p:nvSpPr>
          <p:cNvPr id="15" name="Text 12"/>
          <p:cNvSpPr txBox="1"/>
          <p:nvPr/>
        </p:nvSpPr>
        <p:spPr>
          <a:xfrm>
            <a:off x="8338224" y="2113834"/>
            <a:ext cx="3460049" cy="472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Recordatorio de Veriff: 3.04 % de clic en 9.7 M correos y 5.83 % en push, a 21 MXN por préstamo de Cash otorgado.</a:t>
            </a:r>
            <a:endParaRPr lang="en-US" sz="940" dirty="0"/>
          </a:p>
        </p:txBody>
      </p:sp>
      <p:sp>
        <p:nvSpPr>
          <p:cNvPr id="16" name="Shape 13"/>
          <p:cNvSpPr/>
          <p:nvPr/>
        </p:nvSpPr>
        <p:spPr>
          <a:xfrm>
            <a:off x="8094390" y="2672042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094390" y="2672042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768" dirty="0"/>
          </a:p>
        </p:txBody>
      </p:sp>
      <p:sp>
        <p:nvSpPr>
          <p:cNvPr id="18" name="Text 15"/>
          <p:cNvSpPr txBox="1"/>
          <p:nvPr/>
        </p:nvSpPr>
        <p:spPr>
          <a:xfrm>
            <a:off x="8338224" y="2659850"/>
            <a:ext cx="3460049" cy="472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Tasa 0 a leads: 51 % de su gasto (13.6 M MXN). Su WhatsApp se lee, pero cuesta 694 a 844 MXN por préstamo.</a:t>
            </a:r>
            <a:endParaRPr lang="en-US" sz="940" dirty="0"/>
          </a:p>
        </p:txBody>
      </p:sp>
      <p:sp>
        <p:nvSpPr>
          <p:cNvPr id="19" name="Shape 16"/>
          <p:cNvSpPr/>
          <p:nvPr/>
        </p:nvSpPr>
        <p:spPr>
          <a:xfrm>
            <a:off x="8094390" y="3218058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094390" y="3218058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768" dirty="0"/>
          </a:p>
        </p:txBody>
      </p:sp>
      <p:sp>
        <p:nvSpPr>
          <p:cNvPr id="21" name="Text 18"/>
          <p:cNvSpPr txBox="1"/>
          <p:nvPr/>
        </p:nvSpPr>
        <p:spPr>
          <a:xfrm>
            <a:off x="8338224" y="3205866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Pierde suscriptores: 5.9 bajas por cada mil correos, más del doble que el resto de los equipos (2.6).</a:t>
            </a:r>
            <a:endParaRPr lang="en-US" sz="940" dirty="0"/>
          </a:p>
        </p:txBody>
      </p:sp>
      <p:sp>
        <p:nvSpPr>
          <p:cNvPr id="22" name="Shape 19"/>
          <p:cNvSpPr/>
          <p:nvPr/>
        </p:nvSpPr>
        <p:spPr>
          <a:xfrm>
            <a:off x="8094390" y="3606449"/>
            <a:ext cx="3585349" cy="596503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23" name="Shape 20"/>
          <p:cNvSpPr/>
          <p:nvPr/>
        </p:nvSpPr>
        <p:spPr>
          <a:xfrm>
            <a:off x="8108858" y="3606449"/>
            <a:ext cx="0" cy="596503"/>
          </a:xfrm>
          <a:prstGeom prst="line">
            <a:avLst/>
          </a:prstGeom>
          <a:noFill/>
          <a:ln w="28936">
            <a:solidFill>
              <a:srgbClr val="0B122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233041" y="3667335"/>
            <a:ext cx="3455380" cy="1305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77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CAUSA RAÍZ</a:t>
            </a:r>
            <a:endParaRPr lang="en-US" sz="770" dirty="0"/>
          </a:p>
        </p:txBody>
      </p:sp>
      <p:sp>
        <p:nvSpPr>
          <p:cNvPr id="25" name="Text 22"/>
          <p:cNvSpPr txBox="1"/>
          <p:nvPr/>
        </p:nvSpPr>
        <p:spPr>
          <a:xfrm>
            <a:off x="8233041" y="3828291"/>
            <a:ext cx="3411139" cy="301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92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Mide si el mensaje se lee, no cuánto cuesta cada préstamo: el WhatsApp a leads fríos se lee y sigue saliendo.</a:t>
            </a:r>
            <a:endParaRPr lang="en-US" sz="920" dirty="0"/>
          </a:p>
        </p:txBody>
      </p:sp>
      <p:sp>
        <p:nvSpPr>
          <p:cNvPr id="26" name="Shape 23"/>
          <p:cNvSpPr/>
          <p:nvPr/>
        </p:nvSpPr>
        <p:spPr>
          <a:xfrm>
            <a:off x="511956" y="5857126"/>
            <a:ext cx="11167783" cy="352808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670350" y="5981008"/>
            <a:ext cx="616853" cy="134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820" b="1" spc="10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WHAT</a:t>
            </a:r>
            <a:endParaRPr lang="en-US" sz="820" dirty="0"/>
          </a:p>
        </p:txBody>
      </p:sp>
      <p:sp>
        <p:nvSpPr>
          <p:cNvPr id="28" name="Text 25"/>
          <p:cNvSpPr txBox="1"/>
          <p:nvPr/>
        </p:nvSpPr>
        <p:spPr>
          <a:xfrm>
            <a:off x="1409876" y="5942427"/>
            <a:ext cx="6818737" cy="1822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10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Mover el gasto de WhatsApp a leads fríos hacia el recordatorio de registro y los referidos a clientes.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11956" y="6319649"/>
            <a:ext cx="11204592" cy="2700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Fuente: Braze, envíos por campaña, mes y canal, enero a septiembre 2026; campañas con 50 mil o más entregados. Costo por préstamo de Cash otorgado en 7 días, repartido entre los mensajes del día; no mide KPay.</a:t>
            </a:r>
            <a:endParaRPr lang="en-US" sz="840" dirty="0"/>
          </a:p>
        </p:txBody>
      </p:sp>
      <p:sp>
        <p:nvSpPr>
          <p:cNvPr id="30" name="Text 27"/>
          <p:cNvSpPr txBox="1"/>
          <p:nvPr/>
        </p:nvSpPr>
        <p:spPr>
          <a:xfrm>
            <a:off x="11616140" y="6319649"/>
            <a:ext cx="83795" cy="2700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84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1956" y="390033"/>
            <a:ext cx="11521105" cy="6616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210" b="1" spc="-3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WhatsApp paga con clientes activos y referidos; con bases frías cada conversión cuesta 13 veces más</a:t>
            </a:r>
            <a:endParaRPr lang="en-US" sz="2210" dirty="0"/>
          </a:p>
        </p:txBody>
      </p:sp>
      <p:sp>
        <p:nvSpPr>
          <p:cNvPr id="3" name="Shape 1"/>
          <p:cNvSpPr/>
          <p:nvPr/>
        </p:nvSpPr>
        <p:spPr>
          <a:xfrm>
            <a:off x="511956" y="1166180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11956" y="1798251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19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SE MANDA</a:t>
            </a:r>
            <a:endParaRPr lang="en-US" sz="790" dirty="0"/>
          </a:p>
        </p:txBody>
      </p:sp>
      <p:sp>
        <p:nvSpPr>
          <p:cNvPr id="6" name="Text 4"/>
          <p:cNvSpPr txBox="1"/>
          <p:nvPr/>
        </p:nvSpPr>
        <p:spPr>
          <a:xfrm>
            <a:off x="511956" y="1410328"/>
            <a:ext cx="3214464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Referidos y recordatorios a clientes; rescates de Tasa 0 y descuentos a bases frías.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2995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QUIÉN</a:t>
            </a:r>
            <a:endParaRPr lang="en-US" sz="790" dirty="0"/>
          </a:p>
        </p:txBody>
      </p:sp>
      <p:sp>
        <p:nvSpPr>
          <p:cNvPr id="8" name="Text 6"/>
          <p:cNvSpPr txBox="1"/>
          <p:nvPr/>
        </p:nvSpPr>
        <p:spPr>
          <a:xfrm>
            <a:off x="4299556" y="1410328"/>
            <a:ext cx="3332127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Marketing y Product Growth en las dos puntas; Sales solo a clientes y leads de KPay.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80871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QUIÉN</a:t>
            </a:r>
            <a:endParaRPr lang="en-US" sz="790" dirty="0"/>
          </a:p>
        </p:txBody>
      </p:sp>
      <p:sp>
        <p:nvSpPr>
          <p:cNvPr id="10" name="Text 8"/>
          <p:cNvSpPr txBox="1"/>
          <p:nvPr/>
        </p:nvSpPr>
        <p:spPr>
          <a:xfrm>
            <a:off x="8087156" y="1410328"/>
            <a:ext cx="3572268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Bases frías: ex clientes (dormants, inactivos, churn) y leads que nunca activaron.</a:t>
            </a:r>
            <a:endParaRPr lang="en-US" sz="9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1956" y="1912789"/>
            <a:ext cx="7121417" cy="3834621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94390" y="1912789"/>
            <a:ext cx="3711198" cy="115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DICE LA GRÁFICA</a:t>
            </a:r>
            <a:endParaRPr lang="en-US" sz="790" dirty="0"/>
          </a:p>
        </p:txBody>
      </p:sp>
      <p:sp>
        <p:nvSpPr>
          <p:cNvPr id="13" name="Shape 10"/>
          <p:cNvSpPr/>
          <p:nvPr/>
        </p:nvSpPr>
        <p:spPr>
          <a:xfrm>
            <a:off x="8094390" y="2126026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094390" y="2126026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768" dirty="0"/>
          </a:p>
        </p:txBody>
      </p:sp>
      <p:sp>
        <p:nvSpPr>
          <p:cNvPr id="15" name="Text 12"/>
          <p:cNvSpPr txBox="1"/>
          <p:nvPr/>
        </p:nvSpPr>
        <p:spPr>
          <a:xfrm>
            <a:off x="8338224" y="2113834"/>
            <a:ext cx="3460049" cy="472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48 MXN por conversión con activos y 629 con bases frías (11 y 69 por solicitud); ahí va 48 % del WhatsApp (19.7 M MXN).</a:t>
            </a:r>
            <a:endParaRPr lang="en-US" sz="940" dirty="0"/>
          </a:p>
        </p:txBody>
      </p:sp>
      <p:sp>
        <p:nvSpPr>
          <p:cNvPr id="16" name="Shape 13"/>
          <p:cNvSpPr/>
          <p:nvPr/>
        </p:nvSpPr>
        <p:spPr>
          <a:xfrm>
            <a:off x="8094390" y="2672042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094390" y="2672042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768" dirty="0"/>
          </a:p>
        </p:txBody>
      </p:sp>
      <p:sp>
        <p:nvSpPr>
          <p:cNvPr id="18" name="Text 15"/>
          <p:cNvSpPr txBox="1"/>
          <p:nvPr/>
        </p:nvSpPr>
        <p:spPr>
          <a:xfrm>
            <a:off x="8338224" y="2659850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ex clientes el correo sale más barato: 74 contra 468 MXN por conversión y 13 contra 74 por solicitud.</a:t>
            </a:r>
            <a:endParaRPr lang="en-US" sz="940" dirty="0"/>
          </a:p>
        </p:txBody>
      </p:sp>
      <p:sp>
        <p:nvSpPr>
          <p:cNvPr id="19" name="Shape 16"/>
          <p:cNvSpPr/>
          <p:nvPr/>
        </p:nvSpPr>
        <p:spPr>
          <a:xfrm>
            <a:off x="8094390" y="3060417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094390" y="3060417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768" dirty="0"/>
          </a:p>
        </p:txBody>
      </p:sp>
      <p:sp>
        <p:nvSpPr>
          <p:cNvPr id="21" name="Text 18"/>
          <p:cNvSpPr txBox="1"/>
          <p:nvPr/>
        </p:nvSpPr>
        <p:spPr>
          <a:xfrm>
            <a:off x="8338224" y="3048225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 julio a septiembre, 2.2 M MXN de WhatsApp llegaron a quien no leyó ninguno en 90 días.</a:t>
            </a:r>
            <a:endParaRPr lang="en-US" sz="940" dirty="0"/>
          </a:p>
        </p:txBody>
      </p:sp>
      <p:sp>
        <p:nvSpPr>
          <p:cNvPr id="22" name="Shape 19"/>
          <p:cNvSpPr/>
          <p:nvPr/>
        </p:nvSpPr>
        <p:spPr>
          <a:xfrm>
            <a:off x="8094390" y="3448808"/>
            <a:ext cx="3585349" cy="753391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23" name="Shape 20"/>
          <p:cNvSpPr/>
          <p:nvPr/>
        </p:nvSpPr>
        <p:spPr>
          <a:xfrm>
            <a:off x="8108858" y="3448808"/>
            <a:ext cx="0" cy="753391"/>
          </a:xfrm>
          <a:prstGeom prst="line">
            <a:avLst/>
          </a:prstGeom>
          <a:noFill/>
          <a:ln w="28936">
            <a:solidFill>
              <a:srgbClr val="0B122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233041" y="3509694"/>
            <a:ext cx="3455380" cy="1305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77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CAUSA RAÍZ</a:t>
            </a:r>
            <a:endParaRPr lang="en-US" sz="770" dirty="0"/>
          </a:p>
        </p:txBody>
      </p:sp>
      <p:sp>
        <p:nvSpPr>
          <p:cNvPr id="25" name="Text 22"/>
          <p:cNvSpPr txBox="1"/>
          <p:nvPr/>
        </p:nvSpPr>
        <p:spPr>
          <a:xfrm>
            <a:off x="8233041" y="3670650"/>
            <a:ext cx="3353394" cy="4584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92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WhatsApp se usa para buscar en volumen a quien ya no lo lee: no hay regla de lectura reciente ni presupuesto con límite.</a:t>
            </a:r>
            <a:endParaRPr lang="en-US" sz="920" dirty="0"/>
          </a:p>
        </p:txBody>
      </p:sp>
      <p:sp>
        <p:nvSpPr>
          <p:cNvPr id="26" name="Shape 23"/>
          <p:cNvSpPr/>
          <p:nvPr/>
        </p:nvSpPr>
        <p:spPr>
          <a:xfrm>
            <a:off x="511956" y="5857126"/>
            <a:ext cx="11167783" cy="352808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670350" y="5981008"/>
            <a:ext cx="616853" cy="134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820" b="1" spc="10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WHAT</a:t>
            </a:r>
            <a:endParaRPr lang="en-US" sz="820" dirty="0"/>
          </a:p>
        </p:txBody>
      </p:sp>
      <p:sp>
        <p:nvSpPr>
          <p:cNvPr id="28" name="Text 25"/>
          <p:cNvSpPr txBox="1"/>
          <p:nvPr/>
        </p:nvSpPr>
        <p:spPr>
          <a:xfrm>
            <a:off x="1409876" y="5942427"/>
            <a:ext cx="7284892" cy="1822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10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ex clientes, primero correo y app; WhatsApp solo a quien lo leyó en 90 días, con límite y grupo sin envío.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11956" y="6319649"/>
            <a:ext cx="11201642" cy="2700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Fuente: Braze, envíos por campaña, mes y canal, ene a sep 2026; E9b. 132 campañas con 50 mil MXN o más. Conversión: préstamo otorgado en 7 días, repartido; solicitud: solicitudes registradas. 19.7 M MXN: lámina 50.</a:t>
            </a:r>
            <a:endParaRPr lang="en-US" sz="840" dirty="0"/>
          </a:p>
        </p:txBody>
      </p:sp>
      <p:sp>
        <p:nvSpPr>
          <p:cNvPr id="30" name="Text 27"/>
          <p:cNvSpPr txBox="1"/>
          <p:nvPr/>
        </p:nvSpPr>
        <p:spPr>
          <a:xfrm>
            <a:off x="11613277" y="6319649"/>
            <a:ext cx="86744" cy="2700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84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1956" y="390033"/>
            <a:ext cx="11521105" cy="6616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210" b="1" spc="-3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mitad del push va en campañas que casi nadie abre, y dos terceras partes de ese push son de Marketing</a:t>
            </a:r>
            <a:endParaRPr lang="en-US" sz="2210" dirty="0"/>
          </a:p>
        </p:txBody>
      </p:sp>
      <p:sp>
        <p:nvSpPr>
          <p:cNvPr id="3" name="Shape 1"/>
          <p:cNvSpPr/>
          <p:nvPr/>
        </p:nvSpPr>
        <p:spPr>
          <a:xfrm>
            <a:off x="511956" y="1166180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11956" y="1798251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19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SE MANDA</a:t>
            </a:r>
            <a:endParaRPr lang="en-US" sz="790" dirty="0"/>
          </a:p>
        </p:txBody>
      </p:sp>
      <p:sp>
        <p:nvSpPr>
          <p:cNvPr id="6" name="Text 4"/>
          <p:cNvSpPr txBox="1"/>
          <p:nvPr/>
        </p:nvSpPr>
        <p:spPr>
          <a:xfrm>
            <a:off x="511956" y="1410328"/>
            <a:ext cx="3392667" cy="14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Tasa 0, lanzamientos, rescates de fin de semana y referidos.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2995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QUIÉN</a:t>
            </a:r>
            <a:endParaRPr lang="en-US" sz="790" dirty="0"/>
          </a:p>
        </p:txBody>
      </p:sp>
      <p:sp>
        <p:nvSpPr>
          <p:cNvPr id="8" name="Text 6"/>
          <p:cNvSpPr txBox="1"/>
          <p:nvPr/>
        </p:nvSpPr>
        <p:spPr>
          <a:xfrm>
            <a:off x="4299556" y="1410328"/>
            <a:ext cx="3593534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Marketing pone 92 M de los 141 M push que abre menos de 1 de cada 100.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80871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QUIÉN</a:t>
            </a:r>
            <a:endParaRPr lang="en-US" sz="790" dirty="0"/>
          </a:p>
        </p:txBody>
      </p:sp>
      <p:sp>
        <p:nvSpPr>
          <p:cNvPr id="10" name="Text 8"/>
          <p:cNvSpPr txBox="1"/>
          <p:nvPr/>
        </p:nvSpPr>
        <p:spPr>
          <a:xfrm>
            <a:off x="8087156" y="1410328"/>
            <a:ext cx="3694744" cy="14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Leads (83 % de su push abre menos de 1 %) y bases frías (75 %).</a:t>
            </a:r>
            <a:endParaRPr lang="en-US" sz="9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1956" y="1912789"/>
            <a:ext cx="7289909" cy="3969656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94390" y="1912789"/>
            <a:ext cx="3711198" cy="115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DICE LA GRÁFICA</a:t>
            </a:r>
            <a:endParaRPr lang="en-US" sz="790" dirty="0"/>
          </a:p>
        </p:txBody>
      </p:sp>
      <p:sp>
        <p:nvSpPr>
          <p:cNvPr id="13" name="Shape 10"/>
          <p:cNvSpPr/>
          <p:nvPr/>
        </p:nvSpPr>
        <p:spPr>
          <a:xfrm>
            <a:off x="8094390" y="2126026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094390" y="2126026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768" dirty="0"/>
          </a:p>
        </p:txBody>
      </p:sp>
      <p:sp>
        <p:nvSpPr>
          <p:cNvPr id="15" name="Text 12"/>
          <p:cNvSpPr txBox="1"/>
          <p:nvPr/>
        </p:nvSpPr>
        <p:spPr>
          <a:xfrm>
            <a:off x="8338224" y="2113834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141 M de 251 M push (56 %) van en campañas que abre menos de 1 de cada 100 personas.</a:t>
            </a:r>
            <a:endParaRPr lang="en-US" sz="940" dirty="0"/>
          </a:p>
        </p:txBody>
      </p:sp>
      <p:sp>
        <p:nvSpPr>
          <p:cNvPr id="16" name="Shape 13"/>
          <p:cNvSpPr/>
          <p:nvPr/>
        </p:nvSpPr>
        <p:spPr>
          <a:xfrm>
            <a:off x="8094390" y="2514401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094390" y="2514401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768" dirty="0"/>
          </a:p>
        </p:txBody>
      </p:sp>
      <p:sp>
        <p:nvSpPr>
          <p:cNvPr id="18" name="Text 15"/>
          <p:cNvSpPr txBox="1"/>
          <p:nvPr/>
        </p:nvSpPr>
        <p:spPr>
          <a:xfrm>
            <a:off x="8338224" y="2502209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Rescate de fin de semana a leads de Marketing: 13.4 M push y 0.76 % de apertura.</a:t>
            </a:r>
            <a:endParaRPr lang="en-US" sz="940" dirty="0"/>
          </a:p>
        </p:txBody>
      </p:sp>
      <p:sp>
        <p:nvSpPr>
          <p:cNvPr id="19" name="Shape 16"/>
          <p:cNvSpPr/>
          <p:nvPr/>
        </p:nvSpPr>
        <p:spPr>
          <a:xfrm>
            <a:off x="8094390" y="2902776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094390" y="2902776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768" dirty="0"/>
          </a:p>
        </p:txBody>
      </p:sp>
      <p:sp>
        <p:nvSpPr>
          <p:cNvPr id="21" name="Text 18"/>
          <p:cNvSpPr txBox="1"/>
          <p:nvPr/>
        </p:nvSpPr>
        <p:spPr>
          <a:xfrm>
            <a:off x="8338224" y="2890584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Sí se abren los que la persona espera: pago recibido 14 %, Installments a activos 11 %.</a:t>
            </a:r>
            <a:endParaRPr lang="en-US" sz="940" dirty="0"/>
          </a:p>
        </p:txBody>
      </p:sp>
      <p:sp>
        <p:nvSpPr>
          <p:cNvPr id="22" name="Shape 19"/>
          <p:cNvSpPr/>
          <p:nvPr/>
        </p:nvSpPr>
        <p:spPr>
          <a:xfrm>
            <a:off x="8094390" y="3291167"/>
            <a:ext cx="3585349" cy="596503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23" name="Shape 20"/>
          <p:cNvSpPr/>
          <p:nvPr/>
        </p:nvSpPr>
        <p:spPr>
          <a:xfrm>
            <a:off x="8108858" y="3291167"/>
            <a:ext cx="0" cy="596503"/>
          </a:xfrm>
          <a:prstGeom prst="line">
            <a:avLst/>
          </a:prstGeom>
          <a:noFill/>
          <a:ln w="28936">
            <a:solidFill>
              <a:srgbClr val="0B122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233041" y="3352053"/>
            <a:ext cx="3455380" cy="1305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77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CAUSA RAÍZ</a:t>
            </a:r>
            <a:endParaRPr lang="en-US" sz="770" dirty="0"/>
          </a:p>
        </p:txBody>
      </p:sp>
      <p:sp>
        <p:nvSpPr>
          <p:cNvPr id="25" name="Text 22"/>
          <p:cNvSpPr txBox="1"/>
          <p:nvPr/>
        </p:nvSpPr>
        <p:spPr>
          <a:xfrm>
            <a:off x="8233041" y="3513009"/>
            <a:ext cx="3424955" cy="301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92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push se usa para mandar ofertas a toda la lista porque no cuesta, sin ver si esa persona abrió uno en meses.</a:t>
            </a:r>
            <a:endParaRPr lang="en-US" sz="920" dirty="0"/>
          </a:p>
        </p:txBody>
      </p:sp>
      <p:sp>
        <p:nvSpPr>
          <p:cNvPr id="26" name="Shape 23"/>
          <p:cNvSpPr/>
          <p:nvPr/>
        </p:nvSpPr>
        <p:spPr>
          <a:xfrm>
            <a:off x="511956" y="5992160"/>
            <a:ext cx="11167783" cy="352808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670350" y="6116043"/>
            <a:ext cx="616853" cy="134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820" b="1" spc="10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WHAT</a:t>
            </a:r>
            <a:endParaRPr lang="en-US" sz="820" dirty="0"/>
          </a:p>
        </p:txBody>
      </p:sp>
      <p:sp>
        <p:nvSpPr>
          <p:cNvPr id="28" name="Text 25"/>
          <p:cNvSpPr txBox="1"/>
          <p:nvPr/>
        </p:nvSpPr>
        <p:spPr>
          <a:xfrm>
            <a:off x="1409876" y="6077461"/>
            <a:ext cx="6751678" cy="1822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10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Push solo a quien abrió uno en 60 días y con una razón para esa persona; para el resto, otro canal.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11956" y="6454684"/>
            <a:ext cx="8658052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Fuente: Braze, envíos por campaña, mes y canal, enero a septiembre 2026. Apertura directa sobre enviados. 322 campañas con 100 mil o más push (97 % del canal).</a:t>
            </a:r>
            <a:endParaRPr lang="en-US" sz="840" dirty="0"/>
          </a:p>
        </p:txBody>
      </p:sp>
      <p:sp>
        <p:nvSpPr>
          <p:cNvPr id="30" name="Text 27"/>
          <p:cNvSpPr txBox="1"/>
          <p:nvPr/>
        </p:nvSpPr>
        <p:spPr>
          <a:xfrm>
            <a:off x="11619004" y="6454684"/>
            <a:ext cx="80845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84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1956" y="390033"/>
            <a:ext cx="11521105" cy="6616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210" b="1" spc="-3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Cada mes hasta 2.3 M personas reciben tres o más campañas el mismo día, casi siempre con Marketing</a:t>
            </a:r>
            <a:endParaRPr lang="en-US" sz="2210" dirty="0"/>
          </a:p>
        </p:txBody>
      </p:sp>
      <p:sp>
        <p:nvSpPr>
          <p:cNvPr id="3" name="Shape 1"/>
          <p:cNvSpPr/>
          <p:nvPr/>
        </p:nvSpPr>
        <p:spPr>
          <a:xfrm>
            <a:off x="511956" y="1166180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11956" y="1798251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19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SE MANDA</a:t>
            </a:r>
            <a:endParaRPr lang="en-US" sz="790" dirty="0"/>
          </a:p>
        </p:txBody>
      </p:sp>
      <p:sp>
        <p:nvSpPr>
          <p:cNvPr id="6" name="Text 4"/>
          <p:cNvSpPr txBox="1"/>
          <p:nvPr/>
        </p:nvSpPr>
        <p:spPr>
          <a:xfrm>
            <a:off x="511956" y="1410328"/>
            <a:ext cx="3703281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Hot Sale, Comercio del día, BillPay, Anota y Gana, Mundial, Día del Padre y Tasa 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2995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QUIÉN</a:t>
            </a:r>
            <a:endParaRPr lang="en-US" sz="790" dirty="0"/>
          </a:p>
        </p:txBody>
      </p:sp>
      <p:sp>
        <p:nvSpPr>
          <p:cNvPr id="8" name="Text 6"/>
          <p:cNvSpPr txBox="1"/>
          <p:nvPr/>
        </p:nvSpPr>
        <p:spPr>
          <a:xfrm>
            <a:off x="4299556" y="1410328"/>
            <a:ext cx="3533150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Marketing, Sales, Product Growth y Others (NewProducts, QA); Collections no aparece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80871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QUIÉN</a:t>
            </a:r>
            <a:endParaRPr lang="en-US" sz="790" dirty="0"/>
          </a:p>
        </p:txBody>
      </p:sp>
      <p:sp>
        <p:nvSpPr>
          <p:cNvPr id="10" name="Text 8"/>
          <p:cNvSpPr txBox="1"/>
          <p:nvPr/>
        </p:nvSpPr>
        <p:spPr>
          <a:xfrm>
            <a:off x="8087156" y="1410328"/>
            <a:ext cx="3387079" cy="14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Recurrentes y activos de KPay, leads y envíos a toda la base</a:t>
            </a:r>
            <a:endParaRPr lang="en-US" sz="9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1956" y="1912789"/>
            <a:ext cx="7289909" cy="3969656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94390" y="1912789"/>
            <a:ext cx="3711198" cy="115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DICE LA GRÁFICA</a:t>
            </a:r>
            <a:endParaRPr lang="en-US" sz="790" dirty="0"/>
          </a:p>
        </p:txBody>
      </p:sp>
      <p:sp>
        <p:nvSpPr>
          <p:cNvPr id="13" name="Shape 10"/>
          <p:cNvSpPr/>
          <p:nvPr/>
        </p:nvSpPr>
        <p:spPr>
          <a:xfrm>
            <a:off x="8094390" y="2126026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094390" y="2126026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768" dirty="0"/>
          </a:p>
        </p:txBody>
      </p:sp>
      <p:sp>
        <p:nvSpPr>
          <p:cNvPr id="15" name="Text 12"/>
          <p:cNvSpPr txBox="1"/>
          <p:nvPr/>
        </p:nvSpPr>
        <p:spPr>
          <a:xfrm>
            <a:off x="8338224" y="2113834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2.26 M personas tuvieron en junio al menos un día con tres o más campañas; 1.30 M en enero.</a:t>
            </a:r>
            <a:endParaRPr lang="en-US" sz="940" dirty="0"/>
          </a:p>
        </p:txBody>
      </p:sp>
      <p:sp>
        <p:nvSpPr>
          <p:cNvPr id="16" name="Shape 13"/>
          <p:cNvSpPr/>
          <p:nvPr/>
        </p:nvSpPr>
        <p:spPr>
          <a:xfrm>
            <a:off x="8094390" y="2514401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094390" y="2514401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768" dirty="0"/>
          </a:p>
        </p:txBody>
      </p:sp>
      <p:sp>
        <p:nvSpPr>
          <p:cNvPr id="18" name="Text 15"/>
          <p:cNvSpPr txBox="1"/>
          <p:nvPr/>
        </p:nvSpPr>
        <p:spPr>
          <a:xfrm>
            <a:off x="8338224" y="2502209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Esos días son 9 % de las personas-día y llevan 24 % de los mensajes.</a:t>
            </a:r>
            <a:endParaRPr lang="en-US" sz="940" dirty="0"/>
          </a:p>
        </p:txBody>
      </p:sp>
      <p:sp>
        <p:nvSpPr>
          <p:cNvPr id="19" name="Shape 16"/>
          <p:cNvSpPr/>
          <p:nvPr/>
        </p:nvSpPr>
        <p:spPr>
          <a:xfrm>
            <a:off x="8094390" y="2902776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094390" y="2902776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768" dirty="0"/>
          </a:p>
        </p:txBody>
      </p:sp>
      <p:sp>
        <p:nvSpPr>
          <p:cNvPr id="21" name="Text 18"/>
          <p:cNvSpPr txBox="1"/>
          <p:nvPr/>
        </p:nvSpPr>
        <p:spPr>
          <a:xfrm>
            <a:off x="8338224" y="2890584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Marketing está en 63 % de los choques promocionales; Sales en 41 % y Product Growth en 25 %.</a:t>
            </a:r>
            <a:endParaRPr lang="en-US" sz="940" dirty="0"/>
          </a:p>
        </p:txBody>
      </p:sp>
      <p:sp>
        <p:nvSpPr>
          <p:cNvPr id="22" name="Shape 19"/>
          <p:cNvSpPr/>
          <p:nvPr/>
        </p:nvSpPr>
        <p:spPr>
          <a:xfrm>
            <a:off x="8094390" y="3291167"/>
            <a:ext cx="3585349" cy="596503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23" name="Shape 20"/>
          <p:cNvSpPr/>
          <p:nvPr/>
        </p:nvSpPr>
        <p:spPr>
          <a:xfrm>
            <a:off x="8108858" y="3291167"/>
            <a:ext cx="0" cy="596503"/>
          </a:xfrm>
          <a:prstGeom prst="line">
            <a:avLst/>
          </a:prstGeom>
          <a:noFill/>
          <a:ln w="28936">
            <a:solidFill>
              <a:srgbClr val="0B122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233041" y="3352053"/>
            <a:ext cx="3455380" cy="1305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77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CAUSA RAÍZ</a:t>
            </a:r>
            <a:endParaRPr lang="en-US" sz="770" dirty="0"/>
          </a:p>
        </p:txBody>
      </p:sp>
      <p:sp>
        <p:nvSpPr>
          <p:cNvPr id="25" name="Text 22"/>
          <p:cNvSpPr txBox="1"/>
          <p:nvPr/>
        </p:nvSpPr>
        <p:spPr>
          <a:xfrm>
            <a:off x="8233041" y="3513009"/>
            <a:ext cx="3444824" cy="301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92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Nadie administra el calendario y el límite global de mensajes por persona de Braze está apagado.</a:t>
            </a:r>
            <a:endParaRPr lang="en-US" sz="920" dirty="0"/>
          </a:p>
        </p:txBody>
      </p:sp>
      <p:sp>
        <p:nvSpPr>
          <p:cNvPr id="26" name="Shape 23"/>
          <p:cNvSpPr/>
          <p:nvPr/>
        </p:nvSpPr>
        <p:spPr>
          <a:xfrm>
            <a:off x="511956" y="5992160"/>
            <a:ext cx="11167783" cy="352808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670350" y="6116043"/>
            <a:ext cx="616853" cy="134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820" b="1" spc="10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WHAT</a:t>
            </a:r>
            <a:endParaRPr lang="en-US" sz="820" dirty="0"/>
          </a:p>
        </p:txBody>
      </p:sp>
      <p:sp>
        <p:nvSpPr>
          <p:cNvPr id="28" name="Text 25"/>
          <p:cNvSpPr txBox="1"/>
          <p:nvPr/>
        </p:nvSpPr>
        <p:spPr>
          <a:xfrm>
            <a:off x="1409876" y="6077461"/>
            <a:ext cx="5340021" cy="1822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10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Hace falta un límite de mensajes por persona al día y un dueño del calendario.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11956" y="6454684"/>
            <a:ext cx="10287962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Fuente: Braze, enero a septiembre 2026. Personas por mes: E6a. Parejas: E6b, 1,000 pares más frecuentes (muestra, no universo); promocional = nombre con ticket y equipo distinto de Collections.</a:t>
            </a:r>
            <a:endParaRPr lang="en-US" sz="840" dirty="0"/>
          </a:p>
        </p:txBody>
      </p:sp>
      <p:sp>
        <p:nvSpPr>
          <p:cNvPr id="30" name="Text 27"/>
          <p:cNvSpPr txBox="1"/>
          <p:nvPr/>
        </p:nvSpPr>
        <p:spPr>
          <a:xfrm>
            <a:off x="11613428" y="6454684"/>
            <a:ext cx="86589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84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1956" y="390033"/>
            <a:ext cx="11521105" cy="6616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210" b="1" spc="-3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Marketing pierde a los usuarios nuevos en días; Product Growth pierde a la base vieja en meses</a:t>
            </a:r>
            <a:endParaRPr lang="en-US" sz="2210" dirty="0"/>
          </a:p>
        </p:txBody>
      </p:sp>
      <p:sp>
        <p:nvSpPr>
          <p:cNvPr id="3" name="Shape 1"/>
          <p:cNvSpPr/>
          <p:nvPr/>
        </p:nvSpPr>
        <p:spPr>
          <a:xfrm>
            <a:off x="511956" y="1166180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11956" y="1798251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19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SE MANDA</a:t>
            </a:r>
            <a:endParaRPr lang="en-US" sz="790" dirty="0"/>
          </a:p>
        </p:txBody>
      </p:sp>
      <p:sp>
        <p:nvSpPr>
          <p:cNvPr id="6" name="Text 4"/>
          <p:cNvSpPr txBox="1"/>
          <p:nvPr/>
        </p:nvSpPr>
        <p:spPr>
          <a:xfrm>
            <a:off x="511956" y="1410328"/>
            <a:ext cx="3652521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Nuevos: recordatorio de registro, Tasa 0, BillPay. Base vieja: Tasa 0, referidos.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2995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QUIÉN</a:t>
            </a:r>
            <a:endParaRPr lang="en-US" sz="790" dirty="0"/>
          </a:p>
        </p:txBody>
      </p:sp>
      <p:sp>
        <p:nvSpPr>
          <p:cNvPr id="8" name="Text 6"/>
          <p:cNvSpPr txBox="1"/>
          <p:nvPr/>
        </p:nvSpPr>
        <p:spPr>
          <a:xfrm>
            <a:off x="4299556" y="1410328"/>
            <a:ext cx="3690242" cy="14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Marketing y Product Growth; Others por un solo correo de BillPay.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80871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QUIÉN</a:t>
            </a:r>
            <a:endParaRPr lang="en-US" sz="790" dirty="0"/>
          </a:p>
        </p:txBody>
      </p:sp>
      <p:sp>
        <p:nvSpPr>
          <p:cNvPr id="10" name="Text 8"/>
          <p:cNvSpPr txBox="1"/>
          <p:nvPr/>
        </p:nvSpPr>
        <p:spPr>
          <a:xfrm>
            <a:off x="8087156" y="1410328"/>
            <a:ext cx="3687137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Nuevos: primer correo desde febrero (158.5 mil bajas). Base vieja: enero (242.3 mil).</a:t>
            </a:r>
            <a:endParaRPr lang="en-US" sz="9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1956" y="1912789"/>
            <a:ext cx="7289909" cy="3969656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94390" y="1912789"/>
            <a:ext cx="3711198" cy="115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DICE LA GRÁFICA</a:t>
            </a:r>
            <a:endParaRPr lang="en-US" sz="790" dirty="0"/>
          </a:p>
        </p:txBody>
      </p:sp>
      <p:sp>
        <p:nvSpPr>
          <p:cNvPr id="13" name="Shape 10"/>
          <p:cNvSpPr/>
          <p:nvPr/>
        </p:nvSpPr>
        <p:spPr>
          <a:xfrm>
            <a:off x="8094390" y="2126026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094390" y="2126026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768" dirty="0"/>
          </a:p>
        </p:txBody>
      </p:sp>
      <p:sp>
        <p:nvSpPr>
          <p:cNvPr id="15" name="Text 12"/>
          <p:cNvSpPr txBox="1"/>
          <p:nvPr/>
        </p:nvSpPr>
        <p:spPr>
          <a:xfrm>
            <a:off x="8338224" y="2113834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Nuevos: Marketing pierde 70 mil en 5 días con 10 correos; la mitad con el recordatorio de registro.</a:t>
            </a:r>
            <a:endParaRPr lang="en-US" sz="940" dirty="0"/>
          </a:p>
        </p:txBody>
      </p:sp>
      <p:sp>
        <p:nvSpPr>
          <p:cNvPr id="16" name="Shape 13"/>
          <p:cNvSpPr/>
          <p:nvPr/>
        </p:nvSpPr>
        <p:spPr>
          <a:xfrm>
            <a:off x="8094390" y="2514401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094390" y="2514401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768" dirty="0"/>
          </a:p>
        </p:txBody>
      </p:sp>
      <p:sp>
        <p:nvSpPr>
          <p:cNvPr id="18" name="Text 15"/>
          <p:cNvSpPr txBox="1"/>
          <p:nvPr/>
        </p:nvSpPr>
        <p:spPr>
          <a:xfrm>
            <a:off x="8338224" y="2502209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 vieja: Product Growth pierde 87.5 mil en 128 días con 31 correos, unos dos por semana.</a:t>
            </a:r>
            <a:endParaRPr lang="en-US" sz="940" dirty="0"/>
          </a:p>
        </p:txBody>
      </p:sp>
      <p:sp>
        <p:nvSpPr>
          <p:cNvPr id="19" name="Shape 16"/>
          <p:cNvSpPr/>
          <p:nvPr/>
        </p:nvSpPr>
        <p:spPr>
          <a:xfrm>
            <a:off x="8094390" y="2902776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094390" y="2902776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768" dirty="0"/>
          </a:p>
        </p:txBody>
      </p:sp>
      <p:sp>
        <p:nvSpPr>
          <p:cNvPr id="21" name="Text 18"/>
          <p:cNvSpPr txBox="1"/>
          <p:nvPr/>
        </p:nvSpPr>
        <p:spPr>
          <a:xfrm>
            <a:off x="8338224" y="2890584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lanzamiento de BillPay se llevó 49 mil nuevos con un solo correo: casi un tercio de sus bajas.</a:t>
            </a:r>
            <a:endParaRPr lang="en-US" sz="940" dirty="0"/>
          </a:p>
        </p:txBody>
      </p:sp>
      <p:sp>
        <p:nvSpPr>
          <p:cNvPr id="22" name="Shape 19"/>
          <p:cNvSpPr/>
          <p:nvPr/>
        </p:nvSpPr>
        <p:spPr>
          <a:xfrm>
            <a:off x="8094390" y="3291167"/>
            <a:ext cx="3585349" cy="753391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23" name="Shape 20"/>
          <p:cNvSpPr/>
          <p:nvPr/>
        </p:nvSpPr>
        <p:spPr>
          <a:xfrm>
            <a:off x="8108858" y="3291167"/>
            <a:ext cx="0" cy="753391"/>
          </a:xfrm>
          <a:prstGeom prst="line">
            <a:avLst/>
          </a:prstGeom>
          <a:noFill/>
          <a:ln w="28936">
            <a:solidFill>
              <a:srgbClr val="0B122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233041" y="3352053"/>
            <a:ext cx="3455380" cy="1305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77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CAUSA RAÍZ</a:t>
            </a:r>
            <a:endParaRPr lang="en-US" sz="770" dirty="0"/>
          </a:p>
        </p:txBody>
      </p:sp>
      <p:sp>
        <p:nvSpPr>
          <p:cNvPr id="25" name="Text 22"/>
          <p:cNvSpPr txBox="1"/>
          <p:nvPr/>
        </p:nvSpPr>
        <p:spPr>
          <a:xfrm>
            <a:off x="8233041" y="3513009"/>
            <a:ext cx="3270501" cy="4584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92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Marketing junta recordatorios diarios sobre el recién llegado; Product Growth repite ofertas de crédito durante meses.</a:t>
            </a:r>
            <a:endParaRPr lang="en-US" sz="920" dirty="0"/>
          </a:p>
        </p:txBody>
      </p:sp>
      <p:sp>
        <p:nvSpPr>
          <p:cNvPr id="26" name="Shape 23"/>
          <p:cNvSpPr/>
          <p:nvPr/>
        </p:nvSpPr>
        <p:spPr>
          <a:xfrm>
            <a:off x="511956" y="5992160"/>
            <a:ext cx="11167783" cy="352808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670350" y="6116043"/>
            <a:ext cx="616853" cy="134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820" b="1" spc="10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WHAT</a:t>
            </a:r>
            <a:endParaRPr lang="en-US" sz="820" dirty="0"/>
          </a:p>
        </p:txBody>
      </p:sp>
      <p:sp>
        <p:nvSpPr>
          <p:cNvPr id="28" name="Text 25"/>
          <p:cNvSpPr txBox="1"/>
          <p:nvPr/>
        </p:nvSpPr>
        <p:spPr>
          <a:xfrm>
            <a:off x="1409876" y="6077461"/>
            <a:ext cx="6716441" cy="1822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10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Nuevo: un correo al día y tres la primera semana. Base vieja: menos ofertas de crédito no pedidas.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11956" y="6454684"/>
            <a:ext cx="8349300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Fuente: Braze, días y correos hasta la baja (E8 v3) por campaña que llegó ese día; 400.8 mil bajas, enero a septiembre 2026. Días: mediana; correos: promedio.</a:t>
            </a:r>
            <a:endParaRPr lang="en-US" sz="840" dirty="0"/>
          </a:p>
        </p:txBody>
      </p:sp>
      <p:sp>
        <p:nvSpPr>
          <p:cNvPr id="30" name="Text 27"/>
          <p:cNvSpPr txBox="1"/>
          <p:nvPr/>
        </p:nvSpPr>
        <p:spPr>
          <a:xfrm>
            <a:off x="11613277" y="6454684"/>
            <a:ext cx="86744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84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1956" y="390033"/>
            <a:ext cx="11521105" cy="6616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210" b="1" spc="-3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quien se dio de baja le siguen llegando promociones de Tasa 0 y referidos, casi todas de Marketing</a:t>
            </a:r>
            <a:endParaRPr lang="en-US" sz="2210" dirty="0"/>
          </a:p>
        </p:txBody>
      </p:sp>
      <p:sp>
        <p:nvSpPr>
          <p:cNvPr id="3" name="Shape 1"/>
          <p:cNvSpPr/>
          <p:nvPr/>
        </p:nvSpPr>
        <p:spPr>
          <a:xfrm>
            <a:off x="511956" y="1166180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11956" y="1798251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19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SE MANDA</a:t>
            </a:r>
            <a:endParaRPr lang="en-US" sz="790" dirty="0"/>
          </a:p>
        </p:txBody>
      </p:sp>
      <p:sp>
        <p:nvSpPr>
          <p:cNvPr id="6" name="Text 4"/>
          <p:cNvSpPr txBox="1"/>
          <p:nvPr/>
        </p:nvSpPr>
        <p:spPr>
          <a:xfrm>
            <a:off x="511956" y="1410328"/>
            <a:ext cx="3486891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Correo promocional: Tasa 0, newsletters, referidos, cupones y recordatorio de registro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2995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QUIÉN</a:t>
            </a:r>
            <a:endParaRPr lang="en-US" sz="790" dirty="0"/>
          </a:p>
        </p:txBody>
      </p:sp>
      <p:sp>
        <p:nvSpPr>
          <p:cNvPr id="8" name="Text 6"/>
          <p:cNvSpPr txBox="1"/>
          <p:nvPr/>
        </p:nvSpPr>
        <p:spPr>
          <a:xfrm>
            <a:off x="4299556" y="1410328"/>
            <a:ext cx="3195836" cy="14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Marketing (58 de 79 mil), Product Growth, Sales y Others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80871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QUIÉN</a:t>
            </a:r>
            <a:endParaRPr lang="en-US" sz="790" dirty="0"/>
          </a:p>
        </p:txBody>
      </p:sp>
      <p:sp>
        <p:nvSpPr>
          <p:cNvPr id="10" name="Text 8"/>
          <p:cNvSpPr txBox="1"/>
          <p:nvPr/>
        </p:nvSpPr>
        <p:spPr>
          <a:xfrm>
            <a:off x="8087156" y="1410328"/>
            <a:ext cx="3246130" cy="14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 mil personas que ya se habían dado de baja del correo</a:t>
            </a:r>
            <a:endParaRPr lang="en-US" sz="9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1956" y="1912789"/>
            <a:ext cx="7289909" cy="3969656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94390" y="1912789"/>
            <a:ext cx="3711198" cy="115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DICE LA GRÁFICA</a:t>
            </a:r>
            <a:endParaRPr lang="en-US" sz="790" dirty="0"/>
          </a:p>
        </p:txBody>
      </p:sp>
      <p:sp>
        <p:nvSpPr>
          <p:cNvPr id="13" name="Shape 10"/>
          <p:cNvSpPr/>
          <p:nvPr/>
        </p:nvSpPr>
        <p:spPr>
          <a:xfrm>
            <a:off x="8094390" y="2126026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094390" y="2126026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768" dirty="0"/>
          </a:p>
        </p:txBody>
      </p:sp>
      <p:sp>
        <p:nvSpPr>
          <p:cNvPr id="15" name="Text 12"/>
          <p:cNvSpPr txBox="1"/>
          <p:nvPr/>
        </p:nvSpPr>
        <p:spPr>
          <a:xfrm>
            <a:off x="8338224" y="2113834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94 % de lo que llega tras la baja es cobranza y avisos de pago: eso sí procede.</a:t>
            </a:r>
            <a:endParaRPr lang="en-US" sz="940" dirty="0"/>
          </a:p>
        </p:txBody>
      </p:sp>
      <p:sp>
        <p:nvSpPr>
          <p:cNvPr id="16" name="Shape 13"/>
          <p:cNvSpPr/>
          <p:nvPr/>
        </p:nvSpPr>
        <p:spPr>
          <a:xfrm>
            <a:off x="8094390" y="2514401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094390" y="2514401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768" dirty="0"/>
          </a:p>
        </p:txBody>
      </p:sp>
      <p:sp>
        <p:nvSpPr>
          <p:cNvPr id="18" name="Text 15"/>
          <p:cNvSpPr txBox="1"/>
          <p:nvPr/>
        </p:nvSpPr>
        <p:spPr>
          <a:xfrm>
            <a:off x="8338224" y="2502209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 mil promociones; la mayor, rescate con Tasa 0 a leads rezagados (Marketing), 13.9 mil.</a:t>
            </a:r>
            <a:endParaRPr lang="en-US" sz="940" dirty="0"/>
          </a:p>
        </p:txBody>
      </p:sp>
      <p:sp>
        <p:nvSpPr>
          <p:cNvPr id="19" name="Shape 16"/>
          <p:cNvSpPr/>
          <p:nvPr/>
        </p:nvSpPr>
        <p:spPr>
          <a:xfrm>
            <a:off x="8094390" y="2902776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094390" y="2902776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768" dirty="0"/>
          </a:p>
        </p:txBody>
      </p:sp>
      <p:sp>
        <p:nvSpPr>
          <p:cNvPr id="21" name="Text 18"/>
          <p:cNvSpPr txBox="1"/>
          <p:nvPr/>
        </p:nvSpPr>
        <p:spPr>
          <a:xfrm>
            <a:off x="8338224" y="2890584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recordatorio de Veriff siguió llegando nueve meses seguidos a quien ya se había dado de baja.</a:t>
            </a:r>
            <a:endParaRPr lang="en-US" sz="940" dirty="0"/>
          </a:p>
        </p:txBody>
      </p:sp>
      <p:sp>
        <p:nvSpPr>
          <p:cNvPr id="22" name="Shape 19"/>
          <p:cNvSpPr/>
          <p:nvPr/>
        </p:nvSpPr>
        <p:spPr>
          <a:xfrm>
            <a:off x="8094390" y="3291167"/>
            <a:ext cx="3585349" cy="596503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23" name="Shape 20"/>
          <p:cNvSpPr/>
          <p:nvPr/>
        </p:nvSpPr>
        <p:spPr>
          <a:xfrm>
            <a:off x="8108858" y="3291167"/>
            <a:ext cx="0" cy="596503"/>
          </a:xfrm>
          <a:prstGeom prst="line">
            <a:avLst/>
          </a:prstGeom>
          <a:noFill/>
          <a:ln w="28936">
            <a:solidFill>
              <a:srgbClr val="0B122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233041" y="3352053"/>
            <a:ext cx="3455380" cy="1305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77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CAUSA RAÍZ</a:t>
            </a:r>
            <a:endParaRPr lang="en-US" sz="770" dirty="0"/>
          </a:p>
        </p:txBody>
      </p:sp>
      <p:sp>
        <p:nvSpPr>
          <p:cNvPr id="25" name="Text 22"/>
          <p:cNvSpPr txBox="1"/>
          <p:nvPr/>
        </p:nvSpPr>
        <p:spPr>
          <a:xfrm>
            <a:off x="8233041" y="3513009"/>
            <a:ext cx="3452120" cy="301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92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filtro de suscripción está en la entrada del Canvas y no en cada paso de correo (lo más probable).</a:t>
            </a:r>
            <a:endParaRPr lang="en-US" sz="920" dirty="0"/>
          </a:p>
        </p:txBody>
      </p:sp>
      <p:sp>
        <p:nvSpPr>
          <p:cNvPr id="26" name="Shape 23"/>
          <p:cNvSpPr/>
          <p:nvPr/>
        </p:nvSpPr>
        <p:spPr>
          <a:xfrm>
            <a:off x="511956" y="5992160"/>
            <a:ext cx="11167783" cy="352808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670350" y="6116043"/>
            <a:ext cx="616853" cy="134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820" b="1" spc="10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WHAT</a:t>
            </a:r>
            <a:endParaRPr lang="en-US" sz="820" dirty="0"/>
          </a:p>
        </p:txBody>
      </p:sp>
      <p:sp>
        <p:nvSpPr>
          <p:cNvPr id="28" name="Text 25"/>
          <p:cNvSpPr txBox="1"/>
          <p:nvPr/>
        </p:nvSpPr>
        <p:spPr>
          <a:xfrm>
            <a:off x="1409876" y="6077461"/>
            <a:ext cx="6946026" cy="1822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10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Ajuste de configuración, no de negocio: filtro de suscripción en cada paso de correo, en una semana.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11956" y="6454684"/>
            <a:ext cx="8943364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Fuente: Braze E5b (correos después de la baja), enero a septiembre 2026; tipo de mensaje del catálogo de campañas (muestra C). Cada punto es un Canvas con su fecha.</a:t>
            </a:r>
            <a:endParaRPr lang="en-US" sz="840" dirty="0"/>
          </a:p>
        </p:txBody>
      </p:sp>
      <p:sp>
        <p:nvSpPr>
          <p:cNvPr id="30" name="Text 27"/>
          <p:cNvSpPr txBox="1"/>
          <p:nvPr/>
        </p:nvSpPr>
        <p:spPr>
          <a:xfrm>
            <a:off x="11568517" y="6454684"/>
            <a:ext cx="132847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84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1956" y="390033"/>
            <a:ext cx="11521105" cy="6616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210" b="1" spc="-3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Ocho campañas de email causan un tercio de las bajas del correo, y seis casi no reciben clics</a:t>
            </a:r>
            <a:endParaRPr lang="en-US" sz="2210" dirty="0"/>
          </a:p>
        </p:txBody>
      </p:sp>
      <p:sp>
        <p:nvSpPr>
          <p:cNvPr id="3" name="Shape 1"/>
          <p:cNvSpPr/>
          <p:nvPr/>
        </p:nvSpPr>
        <p:spPr>
          <a:xfrm>
            <a:off x="511956" y="1166180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11956" y="1798251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19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SE MANDA</a:t>
            </a:r>
            <a:endParaRPr lang="en-US" sz="790" dirty="0"/>
          </a:p>
        </p:txBody>
      </p:sp>
      <p:sp>
        <p:nvSpPr>
          <p:cNvPr id="6" name="Text 4"/>
          <p:cNvSpPr txBox="1"/>
          <p:nvPr/>
        </p:nvSpPr>
        <p:spPr>
          <a:xfrm>
            <a:off x="511956" y="1410328"/>
            <a:ext cx="3576614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BillPay, Tasa 0, referidos, AnotayGana, Cuesta de Enero, crédito en plazos y Veriff.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2995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QUIÉN</a:t>
            </a:r>
            <a:endParaRPr lang="en-US" sz="790" dirty="0"/>
          </a:p>
        </p:txBody>
      </p:sp>
      <p:sp>
        <p:nvSpPr>
          <p:cNvPr id="8" name="Text 6"/>
          <p:cNvSpPr txBox="1"/>
          <p:nvPr/>
        </p:nvSpPr>
        <p:spPr>
          <a:xfrm>
            <a:off x="4299556" y="1410328"/>
            <a:ext cx="3453206" cy="14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 Growth 4 campañas, Marketing 3 y Others 1 (BillPay).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80871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QUIÉN</a:t>
            </a:r>
            <a:endParaRPr lang="en-US" sz="790" dirty="0"/>
          </a:p>
        </p:txBody>
      </p:sp>
      <p:sp>
        <p:nvSpPr>
          <p:cNvPr id="10" name="Text 8"/>
          <p:cNvSpPr txBox="1"/>
          <p:nvPr/>
        </p:nvSpPr>
        <p:spPr>
          <a:xfrm>
            <a:off x="8087156" y="1410328"/>
            <a:ext cx="3424179" cy="14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 la base, leads y registrados que nunca tomaron crédito.</a:t>
            </a:r>
            <a:endParaRPr lang="en-US" sz="9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1956" y="1912789"/>
            <a:ext cx="7289909" cy="3969656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94390" y="1912789"/>
            <a:ext cx="3711198" cy="115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DICE LA GRÁFICA</a:t>
            </a:r>
            <a:endParaRPr lang="en-US" sz="790" dirty="0"/>
          </a:p>
        </p:txBody>
      </p:sp>
      <p:sp>
        <p:nvSpPr>
          <p:cNvPr id="13" name="Shape 10"/>
          <p:cNvSpPr/>
          <p:nvPr/>
        </p:nvSpPr>
        <p:spPr>
          <a:xfrm>
            <a:off x="8094390" y="2126026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094390" y="2126026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768" dirty="0"/>
          </a:p>
        </p:txBody>
      </p:sp>
      <p:sp>
        <p:nvSpPr>
          <p:cNvPr id="15" name="Text 12"/>
          <p:cNvSpPr txBox="1"/>
          <p:nvPr/>
        </p:nvSpPr>
        <p:spPr>
          <a:xfrm>
            <a:off x="8338224" y="2113834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 ocho suman 379 mil de 1.09 M bajas (35 %); seis reciben menos de 10 clics por mil.</a:t>
            </a:r>
            <a:endParaRPr lang="en-US" sz="940" dirty="0"/>
          </a:p>
        </p:txBody>
      </p:sp>
      <p:sp>
        <p:nvSpPr>
          <p:cNvPr id="16" name="Shape 13"/>
          <p:cNvSpPr/>
          <p:nvPr/>
        </p:nvSpPr>
        <p:spPr>
          <a:xfrm>
            <a:off x="8094390" y="2514401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094390" y="2514401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768" dirty="0"/>
          </a:p>
        </p:txBody>
      </p:sp>
      <p:sp>
        <p:nvSpPr>
          <p:cNvPr id="18" name="Text 15"/>
          <p:cNvSpPr txBox="1"/>
          <p:nvPr/>
        </p:nvSpPr>
        <p:spPr>
          <a:xfrm>
            <a:off x="8338224" y="2502209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Tasa 0 contada como historia a rezagados: 9 bajas por mil correos; la mediana, 3.3.</a:t>
            </a:r>
            <a:endParaRPr lang="en-US" sz="940" dirty="0"/>
          </a:p>
        </p:txBody>
      </p:sp>
      <p:sp>
        <p:nvSpPr>
          <p:cNvPr id="19" name="Shape 16"/>
          <p:cNvSpPr/>
          <p:nvPr/>
        </p:nvSpPr>
        <p:spPr>
          <a:xfrm>
            <a:off x="8094390" y="2902776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094390" y="2902776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768" dirty="0"/>
          </a:p>
        </p:txBody>
      </p:sp>
      <p:sp>
        <p:nvSpPr>
          <p:cNvPr id="21" name="Text 18"/>
          <p:cNvSpPr txBox="1"/>
          <p:nvPr/>
        </p:nvSpPr>
        <p:spPr>
          <a:xfrm>
            <a:off x="8338224" y="2890584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lanzamiento de BillPay salió una vez y sumó 80 mil bajas registradas (37 mil en junio).</a:t>
            </a:r>
            <a:endParaRPr lang="en-US" sz="940" dirty="0"/>
          </a:p>
        </p:txBody>
      </p:sp>
      <p:sp>
        <p:nvSpPr>
          <p:cNvPr id="22" name="Shape 19"/>
          <p:cNvSpPr/>
          <p:nvPr/>
        </p:nvSpPr>
        <p:spPr>
          <a:xfrm>
            <a:off x="8094390" y="3291167"/>
            <a:ext cx="3585349" cy="596503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23" name="Shape 20"/>
          <p:cNvSpPr/>
          <p:nvPr/>
        </p:nvSpPr>
        <p:spPr>
          <a:xfrm>
            <a:off x="8108858" y="3291167"/>
            <a:ext cx="0" cy="596503"/>
          </a:xfrm>
          <a:prstGeom prst="line">
            <a:avLst/>
          </a:prstGeom>
          <a:noFill/>
          <a:ln w="28936">
            <a:solidFill>
              <a:srgbClr val="0B122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233041" y="3352053"/>
            <a:ext cx="3455380" cy="1305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77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CAUSA RAÍZ</a:t>
            </a:r>
            <a:endParaRPr lang="en-US" sz="770" dirty="0"/>
          </a:p>
        </p:txBody>
      </p:sp>
      <p:sp>
        <p:nvSpPr>
          <p:cNvPr id="25" name="Text 22"/>
          <p:cNvSpPr txBox="1"/>
          <p:nvPr/>
        </p:nvSpPr>
        <p:spPr>
          <a:xfrm>
            <a:off x="8233041" y="3513009"/>
            <a:ext cx="3191955" cy="301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92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 manda la misma promoción a listas enteras sin ver si abren; a quien no le interesa, se da de baja.</a:t>
            </a:r>
            <a:endParaRPr lang="en-US" sz="920" dirty="0"/>
          </a:p>
        </p:txBody>
      </p:sp>
      <p:sp>
        <p:nvSpPr>
          <p:cNvPr id="26" name="Shape 23"/>
          <p:cNvSpPr/>
          <p:nvPr/>
        </p:nvSpPr>
        <p:spPr>
          <a:xfrm>
            <a:off x="511956" y="5992160"/>
            <a:ext cx="11167783" cy="352808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670350" y="6116043"/>
            <a:ext cx="616853" cy="134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820" b="1" spc="10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WHAT</a:t>
            </a:r>
            <a:endParaRPr lang="en-US" sz="820" dirty="0"/>
          </a:p>
        </p:txBody>
      </p:sp>
      <p:sp>
        <p:nvSpPr>
          <p:cNvPr id="28" name="Text 25"/>
          <p:cNvSpPr txBox="1"/>
          <p:nvPr/>
        </p:nvSpPr>
        <p:spPr>
          <a:xfrm>
            <a:off x="1409876" y="6077461"/>
            <a:ext cx="6083570" cy="1822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10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Quien se da de baja ya no recibe correos: achicar estos ocho envíos protege el contacto.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11956" y="6454684"/>
            <a:ext cx="8750879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Fuente: Braze, envíos por campaña y canal, ene a sep 2026; 169 campañas de email con 300 mil correos o más. Bajas = eventos atribuidos a la campaña, no personas.</a:t>
            </a:r>
            <a:endParaRPr lang="en-US" sz="840" dirty="0"/>
          </a:p>
        </p:txBody>
      </p:sp>
      <p:sp>
        <p:nvSpPr>
          <p:cNvPr id="30" name="Text 27"/>
          <p:cNvSpPr txBox="1"/>
          <p:nvPr/>
        </p:nvSpPr>
        <p:spPr>
          <a:xfrm>
            <a:off x="11592479" y="6454684"/>
            <a:ext cx="108166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84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1956" y="390033"/>
            <a:ext cx="11521105" cy="6616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210" b="1" spc="-3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Los mensajes que salen porque la persona hizo algo responden siete veces más en correo que los de una lista</a:t>
            </a:r>
            <a:endParaRPr lang="en-US" sz="2210" dirty="0"/>
          </a:p>
        </p:txBody>
      </p:sp>
      <p:sp>
        <p:nvSpPr>
          <p:cNvPr id="3" name="Shape 1"/>
          <p:cNvSpPr/>
          <p:nvPr/>
        </p:nvSpPr>
        <p:spPr>
          <a:xfrm>
            <a:off x="511956" y="1166180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11956" y="1798251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19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SE MANDA</a:t>
            </a:r>
            <a:endParaRPr lang="en-US" sz="790" dirty="0"/>
          </a:p>
        </p:txBody>
      </p:sp>
      <p:sp>
        <p:nvSpPr>
          <p:cNvPr id="6" name="Text 4"/>
          <p:cNvSpPr txBox="1"/>
          <p:nvPr/>
        </p:nvSpPr>
        <p:spPr>
          <a:xfrm>
            <a:off x="511956" y="1410328"/>
            <a:ext cx="3419677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Recordatorios, precobranza, ofertas tras comprar o cancelar, bienvenida y 45 días.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2995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QUIÉN</a:t>
            </a:r>
            <a:endParaRPr lang="en-US" sz="790" dirty="0"/>
          </a:p>
        </p:txBody>
      </p:sp>
      <p:sp>
        <p:nvSpPr>
          <p:cNvPr id="8" name="Text 6"/>
          <p:cNvSpPr txBox="1"/>
          <p:nvPr/>
        </p:nvSpPr>
        <p:spPr>
          <a:xfrm>
            <a:off x="4299556" y="1410328"/>
            <a:ext cx="3130019" cy="14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Marketing, Product Growth y Collections (precobranza).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80871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QUIÉN</a:t>
            </a:r>
            <a:endParaRPr lang="en-US" sz="790" dirty="0"/>
          </a:p>
        </p:txBody>
      </p:sp>
      <p:sp>
        <p:nvSpPr>
          <p:cNvPr id="10" name="Text 8"/>
          <p:cNvSpPr txBox="1"/>
          <p:nvPr/>
        </p:nvSpPr>
        <p:spPr>
          <a:xfrm>
            <a:off x="8087156" y="1410328"/>
            <a:ext cx="3608591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Quien se registró, compró, tiene un pago, canceló o lleva tiempo sin volver.</a:t>
            </a:r>
            <a:endParaRPr lang="en-US" sz="9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1956" y="1912789"/>
            <a:ext cx="7289909" cy="3969656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94390" y="1912789"/>
            <a:ext cx="3711198" cy="115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DICE LA GRÁFICA</a:t>
            </a:r>
            <a:endParaRPr lang="en-US" sz="790" dirty="0"/>
          </a:p>
        </p:txBody>
      </p:sp>
      <p:sp>
        <p:nvSpPr>
          <p:cNvPr id="13" name="Shape 10"/>
          <p:cNvSpPr/>
          <p:nvPr/>
        </p:nvSpPr>
        <p:spPr>
          <a:xfrm>
            <a:off x="8094390" y="2126026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094390" y="2126026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768" dirty="0"/>
          </a:p>
        </p:txBody>
      </p:sp>
      <p:sp>
        <p:nvSpPr>
          <p:cNvPr id="15" name="Text 12"/>
          <p:cNvSpPr txBox="1"/>
          <p:nvPr/>
        </p:nvSpPr>
        <p:spPr>
          <a:xfrm>
            <a:off x="8338224" y="2113834"/>
            <a:ext cx="3460049" cy="157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Son 12 % de los mensajes y 57 % de los clics de correo.</a:t>
            </a:r>
            <a:endParaRPr lang="en-US" sz="940" dirty="0"/>
          </a:p>
        </p:txBody>
      </p:sp>
      <p:sp>
        <p:nvSpPr>
          <p:cNvPr id="16" name="Shape 13"/>
          <p:cNvSpPr/>
          <p:nvPr/>
        </p:nvSpPr>
        <p:spPr>
          <a:xfrm>
            <a:off x="8094390" y="2356760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094390" y="2356760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768" dirty="0"/>
          </a:p>
        </p:txBody>
      </p:sp>
      <p:sp>
        <p:nvSpPr>
          <p:cNvPr id="18" name="Text 15"/>
          <p:cNvSpPr txBox="1"/>
          <p:nvPr/>
        </p:nvSpPr>
        <p:spPr>
          <a:xfrm>
            <a:off x="8338224" y="2344568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Correo, en promedio: 26 clics por mil contra 3.5; push: 49 aperturas por mil contra 10.</a:t>
            </a:r>
            <a:endParaRPr lang="en-US" sz="940" dirty="0"/>
          </a:p>
        </p:txBody>
      </p:sp>
      <p:sp>
        <p:nvSpPr>
          <p:cNvPr id="19" name="Shape 16"/>
          <p:cNvSpPr/>
          <p:nvPr/>
        </p:nvSpPr>
        <p:spPr>
          <a:xfrm>
            <a:off x="8094390" y="2745135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094390" y="2745135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768" dirty="0"/>
          </a:p>
        </p:txBody>
      </p:sp>
      <p:sp>
        <p:nvSpPr>
          <p:cNvPr id="21" name="Text 18"/>
          <p:cNvSpPr txBox="1"/>
          <p:nvPr/>
        </p:nvSpPr>
        <p:spPr>
          <a:xfrm>
            <a:off x="8338224" y="2732944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todo motivo funciona igual: aniversario y compra en comercio responden poco por correo.</a:t>
            </a:r>
            <a:endParaRPr lang="en-US" sz="940" dirty="0"/>
          </a:p>
        </p:txBody>
      </p:sp>
      <p:sp>
        <p:nvSpPr>
          <p:cNvPr id="22" name="Shape 19"/>
          <p:cNvSpPr/>
          <p:nvPr/>
        </p:nvSpPr>
        <p:spPr>
          <a:xfrm>
            <a:off x="8094390" y="3133526"/>
            <a:ext cx="3585349" cy="596503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23" name="Shape 20"/>
          <p:cNvSpPr/>
          <p:nvPr/>
        </p:nvSpPr>
        <p:spPr>
          <a:xfrm>
            <a:off x="8108858" y="3133526"/>
            <a:ext cx="0" cy="596503"/>
          </a:xfrm>
          <a:prstGeom prst="line">
            <a:avLst/>
          </a:prstGeom>
          <a:noFill/>
          <a:ln w="28936">
            <a:solidFill>
              <a:srgbClr val="0B122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233041" y="3194412"/>
            <a:ext cx="3455380" cy="1305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77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CAUSA RAÍZ</a:t>
            </a:r>
            <a:endParaRPr lang="en-US" sz="770" dirty="0"/>
          </a:p>
        </p:txBody>
      </p:sp>
      <p:sp>
        <p:nvSpPr>
          <p:cNvPr id="25" name="Text 22"/>
          <p:cNvSpPr txBox="1"/>
          <p:nvPr/>
        </p:nvSpPr>
        <p:spPr>
          <a:xfrm>
            <a:off x="8233041" y="3355369"/>
            <a:ext cx="3242250" cy="301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92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mayoría de las promociones nace de una lista y no de algo que hizo la persona.</a:t>
            </a:r>
            <a:endParaRPr lang="en-US" sz="920" dirty="0"/>
          </a:p>
        </p:txBody>
      </p:sp>
      <p:sp>
        <p:nvSpPr>
          <p:cNvPr id="26" name="Shape 23"/>
          <p:cNvSpPr/>
          <p:nvPr/>
        </p:nvSpPr>
        <p:spPr>
          <a:xfrm>
            <a:off x="511956" y="5992160"/>
            <a:ext cx="11167783" cy="352808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670350" y="6116043"/>
            <a:ext cx="616853" cy="134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820" b="1" spc="10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WHAT</a:t>
            </a:r>
            <a:endParaRPr lang="en-US" sz="820" dirty="0"/>
          </a:p>
        </p:txBody>
      </p:sp>
      <p:sp>
        <p:nvSpPr>
          <p:cNvPr id="28" name="Text 25"/>
          <p:cNvSpPr txBox="1"/>
          <p:nvPr/>
        </p:nvSpPr>
        <p:spPr>
          <a:xfrm>
            <a:off x="1409876" y="6077461"/>
            <a:ext cx="5444646" cy="1822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10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Cada promoción nueva debe nacer de algo que hizo la persona, no de una lista.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11956" y="6454684"/>
            <a:ext cx="9797281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Fuente: Braze, envíos por campaña y canal, ene a sep 2026. Motivo inferido del nombre de la campaña. Quien hizo algo ya es más activo: sin grupo sin mensajes no se sabe cuánto vende.</a:t>
            </a:r>
            <a:endParaRPr lang="en-US" sz="840" dirty="0"/>
          </a:p>
        </p:txBody>
      </p:sp>
      <p:sp>
        <p:nvSpPr>
          <p:cNvPr id="30" name="Text 27"/>
          <p:cNvSpPr txBox="1"/>
          <p:nvPr/>
        </p:nvSpPr>
        <p:spPr>
          <a:xfrm>
            <a:off x="11570777" y="6454684"/>
            <a:ext cx="130519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84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1956" y="390033"/>
            <a:ext cx="11521105" cy="6616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210" b="1" spc="-3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Tres de cada diez comunicaciones que mandan no tienen equipo, ticket o nombre en regla: 36 % de los mensajes</a:t>
            </a:r>
            <a:endParaRPr lang="en-US" sz="2210" dirty="0"/>
          </a:p>
        </p:txBody>
      </p:sp>
      <p:sp>
        <p:nvSpPr>
          <p:cNvPr id="3" name="Shape 1"/>
          <p:cNvSpPr/>
          <p:nvPr/>
        </p:nvSpPr>
        <p:spPr>
          <a:xfrm>
            <a:off x="511956" y="1161358"/>
            <a:ext cx="2673112" cy="1214256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70350" y="1283130"/>
            <a:ext cx="2445301" cy="414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3260" b="1" spc="-7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6,144</a:t>
            </a:r>
            <a:endParaRPr lang="en-US" sz="3260" dirty="0"/>
          </a:p>
        </p:txBody>
      </p:sp>
      <p:sp>
        <p:nvSpPr>
          <p:cNvPr id="5" name="Text 3"/>
          <p:cNvSpPr txBox="1"/>
          <p:nvPr/>
        </p:nvSpPr>
        <p:spPr>
          <a:xfrm>
            <a:off x="670350" y="1740228"/>
            <a:ext cx="2445301" cy="342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04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comunicaciones guardadas; en septiembre solo 341 mandaron algo</a:t>
            </a:r>
            <a:endParaRPr lang="en-US" sz="1040" dirty="0"/>
          </a:p>
        </p:txBody>
      </p:sp>
      <p:sp>
        <p:nvSpPr>
          <p:cNvPr id="6" name="Shape 4"/>
          <p:cNvSpPr/>
          <p:nvPr/>
        </p:nvSpPr>
        <p:spPr>
          <a:xfrm>
            <a:off x="3343463" y="1161358"/>
            <a:ext cx="2673112" cy="1214256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501857" y="1283130"/>
            <a:ext cx="2445301" cy="414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3260" b="1" spc="-7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183</a:t>
            </a:r>
            <a:endParaRPr lang="en-US" sz="3260" dirty="0"/>
          </a:p>
        </p:txBody>
      </p:sp>
      <p:sp>
        <p:nvSpPr>
          <p:cNvPr id="8" name="Text 6"/>
          <p:cNvSpPr txBox="1"/>
          <p:nvPr/>
        </p:nvSpPr>
        <p:spPr>
          <a:xfrm>
            <a:off x="3501857" y="1740228"/>
            <a:ext cx="2445301" cy="342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04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nombres distintos en el campo de equipo, para 5 equipos</a:t>
            </a:r>
            <a:endParaRPr lang="en-US" sz="1040" dirty="0"/>
          </a:p>
        </p:txBody>
      </p:sp>
      <p:sp>
        <p:nvSpPr>
          <p:cNvPr id="9" name="Shape 7"/>
          <p:cNvSpPr/>
          <p:nvPr/>
        </p:nvSpPr>
        <p:spPr>
          <a:xfrm>
            <a:off x="6174969" y="1161358"/>
            <a:ext cx="2673112" cy="1214256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333364" y="1283130"/>
            <a:ext cx="2445301" cy="414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3260" b="1" spc="-7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731</a:t>
            </a:r>
            <a:endParaRPr lang="en-US" sz="3260" dirty="0"/>
          </a:p>
        </p:txBody>
      </p:sp>
      <p:sp>
        <p:nvSpPr>
          <p:cNvPr id="11" name="Text 9"/>
          <p:cNvSpPr txBox="1"/>
          <p:nvPr/>
        </p:nvSpPr>
        <p:spPr>
          <a:xfrm>
            <a:off x="6333364" y="1740228"/>
            <a:ext cx="2445301" cy="5136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04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nombres de audiencia; 85 M mensajes con segmento "Not Tracked"</a:t>
            </a:r>
            <a:endParaRPr lang="en-US" sz="1040" dirty="0"/>
          </a:p>
        </p:txBody>
      </p:sp>
      <p:sp>
        <p:nvSpPr>
          <p:cNvPr id="12" name="Shape 10"/>
          <p:cNvSpPr/>
          <p:nvPr/>
        </p:nvSpPr>
        <p:spPr>
          <a:xfrm>
            <a:off x="9006476" y="1161358"/>
            <a:ext cx="2673263" cy="1214256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164871" y="1283130"/>
            <a:ext cx="2445457" cy="414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3260" b="1" spc="-7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de 3,228</a:t>
            </a:r>
            <a:endParaRPr lang="en-US" sz="3260" dirty="0"/>
          </a:p>
        </p:txBody>
      </p:sp>
      <p:sp>
        <p:nvSpPr>
          <p:cNvPr id="14" name="Text 12"/>
          <p:cNvSpPr txBox="1"/>
          <p:nvPr/>
        </p:nvSpPr>
        <p:spPr>
          <a:xfrm>
            <a:off x="9164871" y="1740228"/>
            <a:ext cx="2445457" cy="1712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04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Canvas con grupo de control real</a:t>
            </a:r>
            <a:endParaRPr lang="en-US" sz="1040" dirty="0"/>
          </a:p>
        </p:txBody>
      </p:sp>
      <p:sp>
        <p:nvSpPr>
          <p:cNvPr id="15" name="Text 13"/>
          <p:cNvSpPr txBox="1"/>
          <p:nvPr/>
        </p:nvSpPr>
        <p:spPr>
          <a:xfrm>
            <a:off x="511956" y="2546216"/>
            <a:ext cx="7187252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60" b="1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 13 campañas con más versiones: casi cada mes se estrena una copia nueva</a:t>
            </a:r>
            <a:endParaRPr lang="en-US" sz="96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1956" y="2771676"/>
            <a:ext cx="6960009" cy="2979804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7764640" y="2551039"/>
            <a:ext cx="3914948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764640" y="2641162"/>
            <a:ext cx="207224" cy="207224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764640" y="2641162"/>
            <a:ext cx="231729" cy="207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10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910" dirty="0"/>
          </a:p>
        </p:txBody>
      </p:sp>
      <p:sp>
        <p:nvSpPr>
          <p:cNvPr id="20" name="Text 17"/>
          <p:cNvSpPr txBox="1"/>
          <p:nvPr/>
        </p:nvSpPr>
        <p:spPr>
          <a:xfrm>
            <a:off x="8069372" y="2641162"/>
            <a:ext cx="3736811" cy="3620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60" b="1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Nombres.</a:t>
            </a:r>
            <a:pPr algn="l" indent="0" marL="0">
              <a:lnSpc>
                <a:spcPct val="112000"/>
              </a:lnSpc>
              <a:buNone/>
            </a:pPr>
            <a:r>
              <a:rPr lang="en-US" sz="106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1,053 fuera de la convención: "Recurentes", "Recurrentess", "Softnactive", fecha "202600903".</a:t>
            </a:r>
            <a:endParaRPr lang="en-US" sz="1060" dirty="0"/>
          </a:p>
        </p:txBody>
      </p:sp>
      <p:sp>
        <p:nvSpPr>
          <p:cNvPr id="21" name="Shape 18"/>
          <p:cNvSpPr/>
          <p:nvPr/>
        </p:nvSpPr>
        <p:spPr>
          <a:xfrm>
            <a:off x="7764640" y="3081080"/>
            <a:ext cx="3914948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764640" y="3171203"/>
            <a:ext cx="207224" cy="207224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764640" y="3171203"/>
            <a:ext cx="231729" cy="207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10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910" dirty="0"/>
          </a:p>
        </p:txBody>
      </p:sp>
      <p:sp>
        <p:nvSpPr>
          <p:cNvPr id="24" name="Text 21"/>
          <p:cNvSpPr txBox="1"/>
          <p:nvPr/>
        </p:nvSpPr>
        <p:spPr>
          <a:xfrm>
            <a:off x="8069372" y="3171203"/>
            <a:ext cx="3736811" cy="543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60" b="1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Equipo y ticket.</a:t>
            </a:r>
            <a:pPr algn="l" indent="0" marL="0">
              <a:lnSpc>
                <a:spcPct val="112000"/>
              </a:lnSpc>
              <a:buNone/>
            </a:pPr>
            <a:r>
              <a:rPr lang="en-US" sz="106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"Copy of Copy of Copy of Copy of Marketing" es un equipo; T0000 y B0000 sirven de ticket, y B0171 cubre 362.</a:t>
            </a:r>
            <a:endParaRPr lang="en-US" sz="1060" dirty="0"/>
          </a:p>
        </p:txBody>
      </p:sp>
      <p:sp>
        <p:nvSpPr>
          <p:cNvPr id="25" name="Shape 22"/>
          <p:cNvSpPr/>
          <p:nvPr/>
        </p:nvSpPr>
        <p:spPr>
          <a:xfrm>
            <a:off x="7764640" y="3792121"/>
            <a:ext cx="3914948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764640" y="3882245"/>
            <a:ext cx="207224" cy="207224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764640" y="3882245"/>
            <a:ext cx="231729" cy="207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10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910" dirty="0"/>
          </a:p>
        </p:txBody>
      </p:sp>
      <p:sp>
        <p:nvSpPr>
          <p:cNvPr id="28" name="Text 25"/>
          <p:cNvSpPr txBox="1"/>
          <p:nvPr/>
        </p:nvSpPr>
        <p:spPr>
          <a:xfrm>
            <a:off x="8069372" y="3882245"/>
            <a:ext cx="3736811" cy="543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60" b="1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Copias.</a:t>
            </a:r>
            <a:pPr algn="l" indent="0" marL="0">
              <a:lnSpc>
                <a:spcPct val="112000"/>
              </a:lnSpc>
              <a:buNone/>
            </a:pPr>
            <a:r>
              <a:rPr lang="en-US" sz="106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63 % de lo que manda cada mes se creó ese mes: se arma una campaña nueva en vez de reusar la anterior.</a:t>
            </a:r>
            <a:endParaRPr lang="en-US" sz="1060" dirty="0"/>
          </a:p>
        </p:txBody>
      </p:sp>
      <p:sp>
        <p:nvSpPr>
          <p:cNvPr id="29" name="Shape 26"/>
          <p:cNvSpPr/>
          <p:nvPr/>
        </p:nvSpPr>
        <p:spPr>
          <a:xfrm>
            <a:off x="511956" y="5992160"/>
            <a:ext cx="11167783" cy="352808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670350" y="6116043"/>
            <a:ext cx="616853" cy="134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820" b="1" spc="10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WHAT</a:t>
            </a:r>
            <a:endParaRPr lang="en-US" sz="820" dirty="0"/>
          </a:p>
        </p:txBody>
      </p:sp>
      <p:sp>
        <p:nvSpPr>
          <p:cNvPr id="31" name="Text 28"/>
          <p:cNvSpPr txBox="1"/>
          <p:nvPr/>
        </p:nvSpPr>
        <p:spPr>
          <a:xfrm>
            <a:off x="1409876" y="6077461"/>
            <a:ext cx="7019604" cy="1822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10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Sin nombre, equipo, ticket ni audiencia confiables, nadie puede saber qué manda Braze ni de quién es.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511956" y="6454684"/>
            <a:ext cx="9230849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Fuente: Braze, catálogo de campañas y Canvas (E2), envíos por comunicación (E1), segmentos (E11), pasos de Canvas (E15) y grupos de control (E13), enero a septiembre 2026.</a:t>
            </a:r>
            <a:endParaRPr lang="en-US" sz="840" dirty="0"/>
          </a:p>
        </p:txBody>
      </p:sp>
      <p:sp>
        <p:nvSpPr>
          <p:cNvPr id="33" name="Text 30"/>
          <p:cNvSpPr txBox="1"/>
          <p:nvPr/>
        </p:nvSpPr>
        <p:spPr>
          <a:xfrm>
            <a:off x="11569873" y="6454684"/>
            <a:ext cx="131450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84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1956" y="390033"/>
            <a:ext cx="11521105" cy="6616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210" b="1" spc="-3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escribimos a quien no debería recibir promociones: congelados, dados de baja y quien pidió no recibirlas</a:t>
            </a:r>
            <a:endParaRPr lang="en-US" sz="2210" dirty="0"/>
          </a:p>
        </p:txBody>
      </p:sp>
      <p:sp>
        <p:nvSpPr>
          <p:cNvPr id="3" name="Shape 1"/>
          <p:cNvSpPr/>
          <p:nvPr/>
        </p:nvSpPr>
        <p:spPr>
          <a:xfrm>
            <a:off x="511956" y="1166180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11956" y="1798251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19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SE MANDA</a:t>
            </a:r>
            <a:endParaRPr lang="en-US" sz="790" dirty="0"/>
          </a:p>
        </p:txBody>
      </p:sp>
      <p:sp>
        <p:nvSpPr>
          <p:cNvPr id="6" name="Text 4"/>
          <p:cNvSpPr txBox="1"/>
          <p:nvPr/>
        </p:nvSpPr>
        <p:spPr>
          <a:xfrm>
            <a:off x="511956" y="1410328"/>
            <a:ext cx="3625511" cy="14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Promociones: Tasa 0, referidos, ofertas de KPay y de comercios.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2995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QUIÉN</a:t>
            </a:r>
            <a:endParaRPr lang="en-US" sz="790" dirty="0"/>
          </a:p>
        </p:txBody>
      </p:sp>
      <p:sp>
        <p:nvSpPr>
          <p:cNvPr id="8" name="Text 6"/>
          <p:cNvSpPr txBox="1"/>
          <p:nvPr/>
        </p:nvSpPr>
        <p:spPr>
          <a:xfrm>
            <a:off x="4299556" y="1410328"/>
            <a:ext cx="3456777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Todos los equipos; Marketing manda la mayor parte de lo que llega tras la baja.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80871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QUIÉN</a:t>
            </a:r>
            <a:endParaRPr lang="en-US" sz="790" dirty="0"/>
          </a:p>
        </p:txBody>
      </p:sp>
      <p:sp>
        <p:nvSpPr>
          <p:cNvPr id="10" name="Text 8"/>
          <p:cNvSpPr txBox="1"/>
          <p:nvPr/>
        </p:nvSpPr>
        <p:spPr>
          <a:xfrm>
            <a:off x="8087156" y="1410328"/>
            <a:ext cx="3705610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Personas con KPay congelado, dados de baja, REUS, ARCO y lista negra.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11956" y="1912789"/>
            <a:ext cx="2106751" cy="1214256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70350" y="2034561"/>
            <a:ext cx="1861949" cy="414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3260" b="1" spc="-7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43.3 M</a:t>
            </a:r>
            <a:endParaRPr lang="en-US" sz="3260" dirty="0"/>
          </a:p>
        </p:txBody>
      </p:sp>
      <p:sp>
        <p:nvSpPr>
          <p:cNvPr id="13" name="Text 11"/>
          <p:cNvSpPr txBox="1"/>
          <p:nvPr/>
        </p:nvSpPr>
        <p:spPr>
          <a:xfrm>
            <a:off x="670350" y="2491660"/>
            <a:ext cx="1861949" cy="5136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04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promociones a quien tiene KPay congelado y no puede comprar</a:t>
            </a:r>
            <a:endParaRPr lang="en-US" sz="1040" dirty="0"/>
          </a:p>
        </p:txBody>
      </p:sp>
      <p:sp>
        <p:nvSpPr>
          <p:cNvPr id="14" name="Shape 12"/>
          <p:cNvSpPr/>
          <p:nvPr/>
        </p:nvSpPr>
        <p:spPr>
          <a:xfrm>
            <a:off x="2777101" y="1912789"/>
            <a:ext cx="2106901" cy="1214256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2935495" y="2034561"/>
            <a:ext cx="1862104" cy="414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3260" b="1" spc="-7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9.8 M</a:t>
            </a:r>
            <a:endParaRPr lang="en-US" sz="3260" dirty="0"/>
          </a:p>
        </p:txBody>
      </p:sp>
      <p:sp>
        <p:nvSpPr>
          <p:cNvPr id="16" name="Text 14"/>
          <p:cNvSpPr txBox="1"/>
          <p:nvPr/>
        </p:nvSpPr>
        <p:spPr>
          <a:xfrm>
            <a:off x="2935495" y="2491660"/>
            <a:ext cx="1862104" cy="5136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04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WhatsApp a personas marcadas como baja de WhatsApp</a:t>
            </a:r>
            <a:endParaRPr lang="en-US" sz="1040" dirty="0"/>
          </a:p>
        </p:txBody>
      </p:sp>
      <p:sp>
        <p:nvSpPr>
          <p:cNvPr id="17" name="Shape 15"/>
          <p:cNvSpPr/>
          <p:nvPr/>
        </p:nvSpPr>
        <p:spPr>
          <a:xfrm>
            <a:off x="5042397" y="1912789"/>
            <a:ext cx="2106751" cy="1214256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200791" y="2034561"/>
            <a:ext cx="1861949" cy="414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3260" b="1" spc="-7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249 mil</a:t>
            </a:r>
            <a:endParaRPr lang="en-US" sz="3260" dirty="0"/>
          </a:p>
        </p:txBody>
      </p:sp>
      <p:sp>
        <p:nvSpPr>
          <p:cNvPr id="19" name="Text 17"/>
          <p:cNvSpPr txBox="1"/>
          <p:nvPr/>
        </p:nvSpPr>
        <p:spPr>
          <a:xfrm>
            <a:off x="5200791" y="2491660"/>
            <a:ext cx="1861949" cy="5136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04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promociones a quien pidió no recibir publicidad (REUS o ARCO)</a:t>
            </a:r>
            <a:endParaRPr lang="en-US" sz="1040" dirty="0"/>
          </a:p>
        </p:txBody>
      </p:sp>
      <p:sp>
        <p:nvSpPr>
          <p:cNvPr id="20" name="Shape 18"/>
          <p:cNvSpPr/>
          <p:nvPr/>
        </p:nvSpPr>
        <p:spPr>
          <a:xfrm>
            <a:off x="7307542" y="1912789"/>
            <a:ext cx="2106901" cy="1214256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65936" y="2034561"/>
            <a:ext cx="1862104" cy="414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3260" b="1" spc="-7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146 mil</a:t>
            </a:r>
            <a:endParaRPr lang="en-US" sz="3260" dirty="0"/>
          </a:p>
        </p:txBody>
      </p:sp>
      <p:sp>
        <p:nvSpPr>
          <p:cNvPr id="22" name="Text 20"/>
          <p:cNvSpPr txBox="1"/>
          <p:nvPr/>
        </p:nvSpPr>
        <p:spPr>
          <a:xfrm>
            <a:off x="7465936" y="2491660"/>
            <a:ext cx="1862104" cy="342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04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promociones a personas en lista negra</a:t>
            </a:r>
            <a:endParaRPr lang="en-US" sz="1040" dirty="0"/>
          </a:p>
        </p:txBody>
      </p:sp>
      <p:sp>
        <p:nvSpPr>
          <p:cNvPr id="23" name="Shape 21"/>
          <p:cNvSpPr/>
          <p:nvPr/>
        </p:nvSpPr>
        <p:spPr>
          <a:xfrm>
            <a:off x="9572838" y="1912789"/>
            <a:ext cx="2106751" cy="1214256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731232" y="2034561"/>
            <a:ext cx="1861949" cy="414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3260" b="1" spc="-7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 mil</a:t>
            </a:r>
            <a:endParaRPr lang="en-US" sz="3260" dirty="0"/>
          </a:p>
        </p:txBody>
      </p:sp>
      <p:sp>
        <p:nvSpPr>
          <p:cNvPr id="25" name="Text 23"/>
          <p:cNvSpPr txBox="1"/>
          <p:nvPr/>
        </p:nvSpPr>
        <p:spPr>
          <a:xfrm>
            <a:off x="9731232" y="2491660"/>
            <a:ext cx="1861949" cy="342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04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promociones a quien ya se dio de baja del correo</a:t>
            </a:r>
            <a:endParaRPr lang="en-US" sz="1040" dirty="0"/>
          </a:p>
        </p:txBody>
      </p:sp>
      <p:sp>
        <p:nvSpPr>
          <p:cNvPr id="26" name="Text 24"/>
          <p:cNvSpPr txBox="1"/>
          <p:nvPr/>
        </p:nvSpPr>
        <p:spPr>
          <a:xfrm>
            <a:off x="511956" y="3297647"/>
            <a:ext cx="6963101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60" b="1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 30 campañas que más promociones mandaron a quien no debía: 44 % de lo que mandaron 502</a:t>
            </a:r>
            <a:endParaRPr lang="en-US" sz="960" dirty="0"/>
          </a:p>
        </p:txBody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1956" y="3523107"/>
            <a:ext cx="6742235" cy="2486234"/>
          </a:xfrm>
          <a:prstGeom prst="rect">
            <a:avLst/>
          </a:prstGeom>
        </p:spPr>
      </p:pic>
      <p:sp>
        <p:nvSpPr>
          <p:cNvPr id="28" name="Shape 25"/>
          <p:cNvSpPr/>
          <p:nvPr/>
        </p:nvSpPr>
        <p:spPr>
          <a:xfrm>
            <a:off x="7547017" y="3302470"/>
            <a:ext cx="4132722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547017" y="3392594"/>
            <a:ext cx="207224" cy="207224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547017" y="3392594"/>
            <a:ext cx="231729" cy="207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10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910" dirty="0"/>
          </a:p>
        </p:txBody>
      </p:sp>
      <p:sp>
        <p:nvSpPr>
          <p:cNvPr id="31" name="Text 28"/>
          <p:cNvSpPr txBox="1"/>
          <p:nvPr/>
        </p:nvSpPr>
        <p:spPr>
          <a:xfrm>
            <a:off x="7851750" y="3392594"/>
            <a:ext cx="3961117" cy="543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60" b="1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KPay congelado.</a:t>
            </a:r>
            <a:pPr algn="l" indent="0" marL="0">
              <a:lnSpc>
                <a:spcPct val="112000"/>
              </a:lnSpc>
              <a:buNone/>
            </a:pPr>
            <a:r>
              <a:rPr lang="en-US" sz="106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Su línea de KPay está bloqueada y no puede comprar; 30.1 M de esas promociones ofrecían justo KPay.</a:t>
            </a:r>
            <a:endParaRPr lang="en-US" sz="1060" dirty="0"/>
          </a:p>
        </p:txBody>
      </p:sp>
      <p:sp>
        <p:nvSpPr>
          <p:cNvPr id="32" name="Shape 29"/>
          <p:cNvSpPr/>
          <p:nvPr/>
        </p:nvSpPr>
        <p:spPr>
          <a:xfrm>
            <a:off x="7547017" y="4013512"/>
            <a:ext cx="4132722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547017" y="4103635"/>
            <a:ext cx="207224" cy="207224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7547017" y="4103635"/>
            <a:ext cx="231729" cy="207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10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910" dirty="0"/>
          </a:p>
        </p:txBody>
      </p:sp>
      <p:sp>
        <p:nvSpPr>
          <p:cNvPr id="35" name="Text 32"/>
          <p:cNvSpPr txBox="1"/>
          <p:nvPr/>
        </p:nvSpPr>
        <p:spPr>
          <a:xfrm>
            <a:off x="7851750" y="4103635"/>
            <a:ext cx="3961117" cy="543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60" b="1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REUS o ARCO.</a:t>
            </a:r>
            <a:pPr algn="l" indent="0" marL="0">
              <a:lnSpc>
                <a:spcPct val="112000"/>
              </a:lnSpc>
              <a:buNone/>
            </a:pPr>
            <a:r>
              <a:rPr lang="en-US" sz="106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REUS: registro de CONDUSEF para no recibir publicidad. ARCO: pidió cancelar u oponerse al uso de sus datos.</a:t>
            </a:r>
            <a:endParaRPr lang="en-US" sz="1060" dirty="0"/>
          </a:p>
        </p:txBody>
      </p:sp>
      <p:sp>
        <p:nvSpPr>
          <p:cNvPr id="36" name="Shape 33"/>
          <p:cNvSpPr/>
          <p:nvPr/>
        </p:nvSpPr>
        <p:spPr>
          <a:xfrm>
            <a:off x="7547017" y="4724553"/>
            <a:ext cx="4132722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7547017" y="4814677"/>
            <a:ext cx="207224" cy="207224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7547017" y="4814677"/>
            <a:ext cx="231729" cy="207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10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910" dirty="0"/>
          </a:p>
        </p:txBody>
      </p:sp>
      <p:sp>
        <p:nvSpPr>
          <p:cNvPr id="39" name="Text 36"/>
          <p:cNvSpPr txBox="1"/>
          <p:nvPr/>
        </p:nvSpPr>
        <p:spPr>
          <a:xfrm>
            <a:off x="7851750" y="4814677"/>
            <a:ext cx="3961117" cy="3620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60" b="1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Baja de correo.</a:t>
            </a:r>
            <a:pPr algn="l" indent="0" marL="0">
              <a:lnSpc>
                <a:spcPct val="112000"/>
              </a:lnSpc>
              <a:buNone/>
            </a:pPr>
            <a:r>
              <a:rPr lang="en-US" sz="106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De 79 mil promociones a quien ya se dio de baja, 58 mil son de Marketing; la mayor, rescate de Tasa 0.</a:t>
            </a:r>
            <a:endParaRPr lang="en-US" sz="1060" dirty="0"/>
          </a:p>
        </p:txBody>
      </p:sp>
      <p:sp>
        <p:nvSpPr>
          <p:cNvPr id="40" name="Shape 37"/>
          <p:cNvSpPr/>
          <p:nvPr/>
        </p:nvSpPr>
        <p:spPr>
          <a:xfrm>
            <a:off x="511956" y="5992160"/>
            <a:ext cx="11167783" cy="352808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670350" y="6116043"/>
            <a:ext cx="616853" cy="134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820" b="1" spc="10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WHAT</a:t>
            </a:r>
            <a:endParaRPr lang="en-US" sz="820" dirty="0"/>
          </a:p>
        </p:txBody>
      </p:sp>
      <p:sp>
        <p:nvSpPr>
          <p:cNvPr id="42" name="Text 39"/>
          <p:cNvSpPr txBox="1"/>
          <p:nvPr/>
        </p:nvSpPr>
        <p:spPr>
          <a:xfrm>
            <a:off x="1409876" y="6077461"/>
            <a:ext cx="6421971" cy="1822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10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 riesgo legal y de marca, no de una campaña: ninguna exclusión es común a toda la cuenta.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11956" y="6454684"/>
            <a:ext cx="6847765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Fuente: Braze, envíos por comunicación (E1), banderas de contacto (E7a, E17) y envíos tras la baja (E5b), enero a septiembre 2026.</a:t>
            </a:r>
            <a:endParaRPr lang="en-US" sz="840" dirty="0"/>
          </a:p>
        </p:txBody>
      </p:sp>
      <p:sp>
        <p:nvSpPr>
          <p:cNvPr id="44" name="Text 41"/>
          <p:cNvSpPr txBox="1"/>
          <p:nvPr/>
        </p:nvSpPr>
        <p:spPr>
          <a:xfrm>
            <a:off x="11566859" y="6454684"/>
            <a:ext cx="134555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84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1956" y="390033"/>
            <a:ext cx="11521105" cy="6616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210" b="1" spc="-3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lo explica: escribimos por lo que queremos vender, cada equipo por su cuenta y sin medir</a:t>
            </a:r>
            <a:endParaRPr lang="en-US" sz="2210" dirty="0"/>
          </a:p>
        </p:txBody>
      </p:sp>
      <p:sp>
        <p:nvSpPr>
          <p:cNvPr id="3" name="Shape 1"/>
          <p:cNvSpPr/>
          <p:nvPr/>
        </p:nvSpPr>
        <p:spPr>
          <a:xfrm>
            <a:off x="511956" y="1161358"/>
            <a:ext cx="3527477" cy="1398573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94765" y="1356374"/>
            <a:ext cx="3275003" cy="5121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4030" b="1" spc="-8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73 %</a:t>
            </a:r>
            <a:endParaRPr lang="en-US" sz="4030" dirty="0"/>
          </a:p>
        </p:txBody>
      </p:sp>
      <p:sp>
        <p:nvSpPr>
          <p:cNvPr id="5" name="Text 3"/>
          <p:cNvSpPr txBox="1"/>
          <p:nvPr/>
        </p:nvSpPr>
        <p:spPr>
          <a:xfrm>
            <a:off x="694765" y="1953782"/>
            <a:ext cx="3275003" cy="411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 las personas no respondió a nada en nueve meses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331958" y="1161358"/>
            <a:ext cx="3527628" cy="1398573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514767" y="1356374"/>
            <a:ext cx="3275158" cy="5121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4030" b="1" spc="-8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2.3 M</a:t>
            </a:r>
            <a:endParaRPr lang="en-US" sz="4030" dirty="0"/>
          </a:p>
        </p:txBody>
      </p:sp>
      <p:sp>
        <p:nvSpPr>
          <p:cNvPr id="8" name="Text 6"/>
          <p:cNvSpPr txBox="1"/>
          <p:nvPr/>
        </p:nvSpPr>
        <p:spPr>
          <a:xfrm>
            <a:off x="4514767" y="1953782"/>
            <a:ext cx="3275158" cy="411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personas al mes con tres o más campañas el mismo día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152111" y="1161358"/>
            <a:ext cx="3527477" cy="1398573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334920" y="1356374"/>
            <a:ext cx="3275003" cy="5121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4030" b="1" spc="-8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de 3,228</a:t>
            </a:r>
            <a:endParaRPr lang="en-US" sz="4030" dirty="0"/>
          </a:p>
        </p:txBody>
      </p:sp>
      <p:sp>
        <p:nvSpPr>
          <p:cNvPr id="11" name="Text 9"/>
          <p:cNvSpPr txBox="1"/>
          <p:nvPr/>
        </p:nvSpPr>
        <p:spPr>
          <a:xfrm>
            <a:off x="8334920" y="1953782"/>
            <a:ext cx="3275003" cy="205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Canvas tiene un grupo de control real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11956" y="2784184"/>
            <a:ext cx="3527477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11956" y="2922987"/>
            <a:ext cx="231639" cy="231639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11956" y="2922987"/>
            <a:ext cx="256876" cy="2316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60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960" dirty="0"/>
          </a:p>
        </p:txBody>
      </p:sp>
      <p:sp>
        <p:nvSpPr>
          <p:cNvPr id="15" name="Text 13"/>
          <p:cNvSpPr txBox="1"/>
          <p:nvPr/>
        </p:nvSpPr>
        <p:spPr>
          <a:xfrm>
            <a:off x="853310" y="2922987"/>
            <a:ext cx="3299995" cy="11092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Escribimos por lo que queremos vender.</a:t>
            </a:r>
            <a:pPr algn="l"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Las promociones salen a listas por etapa, no por lo que la persona hizo, y le seguimos escribiendo a quien no responde.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331958" y="2784184"/>
            <a:ext cx="3527628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31958" y="2922987"/>
            <a:ext cx="231639" cy="231639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331958" y="2922987"/>
            <a:ext cx="256876" cy="2316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60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960" dirty="0"/>
          </a:p>
        </p:txBody>
      </p:sp>
      <p:sp>
        <p:nvSpPr>
          <p:cNvPr id="19" name="Text 17"/>
          <p:cNvSpPr txBox="1"/>
          <p:nvPr/>
        </p:nvSpPr>
        <p:spPr>
          <a:xfrm>
            <a:off x="4673312" y="2922987"/>
            <a:ext cx="3300150" cy="11092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Cada equipo decide solo.</a:t>
            </a:r>
            <a:pPr algn="l"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No hay límite de mensajes por persona ni calendario común: Marketing, Product Growth y Sales le escriben a la misma gente el mismo día.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8152111" y="2784184"/>
            <a:ext cx="3527477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152111" y="2922987"/>
            <a:ext cx="231639" cy="231639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152111" y="2922987"/>
            <a:ext cx="256876" cy="2316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60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960" dirty="0"/>
          </a:p>
        </p:txBody>
      </p:sp>
      <p:sp>
        <p:nvSpPr>
          <p:cNvPr id="23" name="Text 21"/>
          <p:cNvSpPr txBox="1"/>
          <p:nvPr/>
        </p:nvSpPr>
        <p:spPr>
          <a:xfrm>
            <a:off x="8493465" y="2922987"/>
            <a:ext cx="3299995" cy="11092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Nadie compara volumen contra respuesta.</a:t>
            </a:r>
            <a:pPr algn="l"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Copiar una campaña cada mes es más fácil que medirla: 4 de cada 10 mensajes salen de campañas debajo del mínimo.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11956" y="5992160"/>
            <a:ext cx="11167783" cy="352808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70350" y="6116043"/>
            <a:ext cx="616853" cy="134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820" b="1" spc="10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WHAT</a:t>
            </a:r>
            <a:endParaRPr lang="en-US" sz="820" dirty="0"/>
          </a:p>
        </p:txBody>
      </p:sp>
      <p:sp>
        <p:nvSpPr>
          <p:cNvPr id="26" name="Text 24"/>
          <p:cNvSpPr txBox="1"/>
          <p:nvPr/>
        </p:nvSpPr>
        <p:spPr>
          <a:xfrm>
            <a:off x="1409876" y="6077461"/>
            <a:ext cx="6795453" cy="1822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10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 la forma de operar, no una campaña: por eso se corrige con reglas comunes, no apagando todo.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511956" y="6454684"/>
            <a:ext cx="4731987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Fuente: láminas de diagnóstico del deck v6 (Braze E1, E7b, E13, enero a septiembre 2026).</a:t>
            </a:r>
            <a:endParaRPr lang="en-US" sz="840" dirty="0"/>
          </a:p>
        </p:txBody>
      </p:sp>
      <p:sp>
        <p:nvSpPr>
          <p:cNvPr id="28" name="Text 26"/>
          <p:cNvSpPr txBox="1"/>
          <p:nvPr/>
        </p:nvSpPr>
        <p:spPr>
          <a:xfrm>
            <a:off x="11572435" y="6454684"/>
            <a:ext cx="128811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84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Braze en Kueski</dc:title>
  <dc:subject>PptxGenJS Presentation</dc:subject>
  <dc:creator>PptxGenJS</dc:creator>
  <cp:lastModifiedBy>PptxGenJS</cp:lastModifiedBy>
  <cp:revision>1</cp:revision>
  <dcterms:created xsi:type="dcterms:W3CDTF">2026-10-20T09:26:10Z</dcterms:created>
  <dcterms:modified xsi:type="dcterms:W3CDTF">2026-10-20T09:26:10Z</dcterms:modified>
</cp:coreProperties>
</file>