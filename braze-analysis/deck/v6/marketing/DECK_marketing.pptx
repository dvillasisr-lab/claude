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10d54e60-fa37-03ee-8f16-65a60b84a05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11956" y="2130412"/>
            <a:ext cx="11521105" cy="15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060" b="1" spc="15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KUESKI · BRAZE</a:t>
            </a:r>
            <a:endParaRPr lang="en-US" sz="1060" dirty="0"/>
          </a:p>
        </p:txBody>
      </p:sp>
      <p:sp>
        <p:nvSpPr>
          <p:cNvPr id="4" name="Text 2"/>
          <p:cNvSpPr txBox="1"/>
          <p:nvPr/>
        </p:nvSpPr>
        <p:spPr>
          <a:xfrm>
            <a:off x="511956" y="2528432"/>
            <a:ext cx="8808469" cy="1177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20" b="1" spc="-9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Braze en Marketing: qué está pasando y por qué</a:t>
            </a:r>
            <a:endParaRPr lang="en-US" sz="4420" dirty="0"/>
          </a:p>
        </p:txBody>
      </p:sp>
      <p:sp>
        <p:nvSpPr>
          <p:cNvPr id="5" name="Text 3"/>
          <p:cNvSpPr txBox="1"/>
          <p:nvPr/>
        </p:nvSpPr>
        <p:spPr>
          <a:xfrm>
            <a:off x="511956" y="3949762"/>
            <a:ext cx="8808469" cy="501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63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de enero a septiembre 2026 de los mensajes que manda Marketing, comparado con los demás equipos.</a:t>
            </a:r>
            <a:endParaRPr lang="en-US" sz="163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4695014"/>
            <a:ext cx="11521105" cy="15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0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262 M mensajes de Marketing, 27.2 M MXN en nueve meses · Octubre 2026</a:t>
            </a:r>
            <a:endParaRPr lang="en-US" sz="10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pone 39 % de los mensajes y 47 % del gasto de Braze, y trae 25 % de las conversiones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73697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0, referidos, rescates a leads y recordatorios de registro.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605642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Marketing; se compara con Product Growth, Sales, Collections y Others.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357896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Leads, registrados sin crédito, ex clientes y clientes activos.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1956" y="1912789"/>
            <a:ext cx="3527477" cy="139857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4765" y="2107806"/>
            <a:ext cx="3275003" cy="512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30" b="1" spc="-8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3.0 M MXN</a:t>
            </a:r>
            <a:endParaRPr lang="en-US" sz="4030" dirty="0"/>
          </a:p>
        </p:txBody>
      </p:sp>
      <p:sp>
        <p:nvSpPr>
          <p:cNvPr id="13" name="Text 11"/>
          <p:cNvSpPr txBox="1"/>
          <p:nvPr/>
        </p:nvSpPr>
        <p:spPr>
          <a:xfrm>
            <a:off x="694765" y="2705213"/>
            <a:ext cx="3275003" cy="411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mes en mensajes; 84 % se va en WhatsApp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31958" y="1912789"/>
            <a:ext cx="3527628" cy="139857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14767" y="2107806"/>
            <a:ext cx="3275158" cy="512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30" b="1" spc="-8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MXN</a:t>
            </a:r>
            <a:endParaRPr lang="en-US" sz="4030" dirty="0"/>
          </a:p>
        </p:txBody>
      </p:sp>
      <p:sp>
        <p:nvSpPr>
          <p:cNvPr id="16" name="Text 14"/>
          <p:cNvSpPr txBox="1"/>
          <p:nvPr/>
        </p:nvSpPr>
        <p:spPr>
          <a:xfrm>
            <a:off x="4514767" y="2705213"/>
            <a:ext cx="3275158" cy="411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conversión; Product Growth 21 y el resto de 4 a 17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52111" y="1912789"/>
            <a:ext cx="3527477" cy="1398573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34920" y="2107806"/>
            <a:ext cx="3275003" cy="512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30" b="1" spc="-8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5.9</a:t>
            </a:r>
            <a:endParaRPr lang="en-US" sz="4030" dirty="0"/>
          </a:p>
        </p:txBody>
      </p:sp>
      <p:sp>
        <p:nvSpPr>
          <p:cNvPr id="19" name="Text 17"/>
          <p:cNvSpPr txBox="1"/>
          <p:nvPr/>
        </p:nvSpPr>
        <p:spPr>
          <a:xfrm>
            <a:off x="8334920" y="2705213"/>
            <a:ext cx="3275003" cy="411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bajas por cada mil correos; el resto de los equipos, 2.6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1956" y="3535616"/>
            <a:ext cx="543755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1956" y="3674418"/>
            <a:ext cx="231639" cy="231639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11956" y="3674418"/>
            <a:ext cx="256876" cy="231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60" dirty="0"/>
          </a:p>
        </p:txBody>
      </p:sp>
      <p:sp>
        <p:nvSpPr>
          <p:cNvPr id="23" name="Text 21"/>
          <p:cNvSpPr txBox="1"/>
          <p:nvPr/>
        </p:nvSpPr>
        <p:spPr>
          <a:xfrm>
            <a:off x="853310" y="3674418"/>
            <a:ext cx="5267374" cy="66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mitad del dinero va a Tasa 0 a leads que casi no convierte; por WhatsApp, una base fría cuesta 13 veces más por conversión.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42035" y="3535616"/>
            <a:ext cx="54377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42035" y="3674418"/>
            <a:ext cx="231639" cy="231639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42035" y="3674418"/>
            <a:ext cx="256876" cy="231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60" dirty="0"/>
          </a:p>
        </p:txBody>
      </p:sp>
      <p:sp>
        <p:nvSpPr>
          <p:cNvPr id="27" name="Text 25"/>
          <p:cNvSpPr txBox="1"/>
          <p:nvPr/>
        </p:nvSpPr>
        <p:spPr>
          <a:xfrm>
            <a:off x="6583389" y="3674418"/>
            <a:ext cx="5267529" cy="44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canal.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Dos terceras partes del push que abre menos de 1 de cada 100 personas son de Marketing.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11956" y="4503163"/>
            <a:ext cx="543755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1956" y="4641965"/>
            <a:ext cx="231639" cy="231639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11956" y="4641965"/>
            <a:ext cx="256876" cy="231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60" dirty="0"/>
          </a:p>
        </p:txBody>
      </p:sp>
      <p:sp>
        <p:nvSpPr>
          <p:cNvPr id="31" name="Text 29"/>
          <p:cNvSpPr txBox="1"/>
          <p:nvPr/>
        </p:nvSpPr>
        <p:spPr>
          <a:xfrm>
            <a:off x="853310" y="4641965"/>
            <a:ext cx="5267374" cy="44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Cuántas veces.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Hasta 2.3 M personas al mes reciben tres o más campañas el mismo día, casi siempre con Marketing.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42035" y="4503163"/>
            <a:ext cx="54377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42035" y="4641965"/>
            <a:ext cx="231639" cy="231639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242035" y="4641965"/>
            <a:ext cx="256876" cy="231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60" dirty="0"/>
          </a:p>
        </p:txBody>
      </p:sp>
      <p:sp>
        <p:nvSpPr>
          <p:cNvPr id="35" name="Text 33"/>
          <p:cNvSpPr txBox="1"/>
          <p:nvPr/>
        </p:nvSpPr>
        <p:spPr>
          <a:xfrm>
            <a:off x="6583389" y="4641965"/>
            <a:ext cx="5267529" cy="443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sí funciona.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recordatorio de registro: 21 MXN por préstamo. Lo que nace de algo que hizo la persona responde siete veces más.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11956" y="5857126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0350" y="5981008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38" name="Text 36"/>
          <p:cNvSpPr txBox="1"/>
          <p:nvPr/>
        </p:nvSpPr>
        <p:spPr>
          <a:xfrm>
            <a:off x="1409876" y="5942427"/>
            <a:ext cx="7647818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dinero de Marketing se va en WhatsApp a quien no responde; funciona lo que nace de lo que hizo la persona.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11956" y="6319649"/>
            <a:ext cx="11202729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comunicación, mes y canal (E1), enero a septiembre 2026. WhatsApp a 1.00 MXN por entregado, correo a 0.05 MXN. Conversión: crédito otorgado en 7 días, repartido. Bajas sobre correos entregados.</a:t>
            </a:r>
            <a:endParaRPr lang="en-US" sz="840" dirty="0"/>
          </a:p>
        </p:txBody>
      </p:sp>
      <p:sp>
        <p:nvSpPr>
          <p:cNvPr id="40" name="Text 38"/>
          <p:cNvSpPr txBox="1"/>
          <p:nvPr/>
        </p:nvSpPr>
        <p:spPr>
          <a:xfrm>
            <a:off x="11614332" y="6319649"/>
            <a:ext cx="85658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Después de junio mandamos menos, pero cada mil mensajes hoy traen 54 respuestas; en enero traían 84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706696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Junio: lanzamiento de BillPay y push de Mundial, Comercio del día y Anota y Gana.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556745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junio contra enero, Marketing sumó 28 M mensajes y Others 25 M.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393443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Casi toda la base: el correo de BillPay llegó a 16 M personas.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Septiembre mandó 66 M mensajes, casi como enero (59 M), pero trajo 54 respuestas por cada mil contra 84.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Junio fue el pico: 109 M mensajes. Después mandamos menos y la respuesta quedó en 61, 56 y 54 por mil.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472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WhatsApp, que sí se lee, bajó de 10 % a 5 % de los mensajes; push, que casi no se abre, subió de 27 % a 37 %.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448808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448808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509694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670650"/>
            <a:ext cx="3265534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Escribimos a toda la base por push y correo, sin límite de mensajes por persona ni calendario entre equipos.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666147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Mandar menos no basta: hay que escribir a quien responde, por su canal y con un límite semanal.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65276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comunicación, mes y canal, enero a septiembre 2026. Respuesta = clic de correo, apertura de push, lectura de WhatsApp y clic in-app, por cada mil enviados.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613428" y="6454684"/>
            <a:ext cx="8658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gana con el recordatorio de registro y gasta la mitad de su dinero en Tasa 0 que casi no convierte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32452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 y rescate de leads, referidos, promociones de KPay, recordatorio de registro.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69427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Marketing: 351 campañas por canal, 259 M mensajes (39 %), 27.2 M MXN (47 %).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33600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28 %, leads fríos 25 %, clientes 19 %, dormidos 7 %, registro a medias 7 %.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121417" cy="383462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472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Recordatorio de Veriff: 3.04 % de clic en 9.7 M correos y 5.83 % en push, a 21 MXN por préstamo de Cash otorgado.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672042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672042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659850"/>
            <a:ext cx="3460049" cy="472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 a leads: 51 % de su gasto (13.6 M MXN). Su WhatsApp se lee, pero cuesta 694 a 844 MXN por préstamo.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3218058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3218058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3205866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Pierde suscriptores: 5.9 bajas por cada mil correos, más del doble que el resto de los equipos (2.6).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606449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606449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667335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828291"/>
            <a:ext cx="3411139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Mide si el mensaje se lee, no cuánto cuesta cada préstamo: el WhatsApp a leads fríos se lee y sigue saliendo.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857126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5981008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5942427"/>
            <a:ext cx="6818737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Mover el gasto de WhatsApp a leads fríos hacia el recordatorio de registro y los referidos a clientes.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319649"/>
            <a:ext cx="11198693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canal, enero a septiembre 2026; campañas con 50 mil o más entregados. Costo por préstamo de Cash otorgado en 7 días, repartido entre los mensajes del día; no mide KPay.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610413" y="6319649"/>
            <a:ext cx="89694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paga con clientes activos y referidos; con bases frías cada conversión cuesta 13 veces más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214464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Referidos y recordatorios a clientes; rescates de Tasa 0 y descuentos a bases frías.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33212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Product Growth en las dos puntas; Sales solo a clientes y leads de KPay.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57226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Bases frías: ex clientes (dormants, inactivos, churn) y leads que nunca activaron.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121417" cy="383462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472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 MXN por conversión con activos y 629 con bases frías (11 y 69 por solicitud); ahí va 48 % del WhatsApp (19.7 M MXN).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672042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672042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659850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ex clientes el correo sale más barato: 74 contra 468 MXN por conversión y 13 contra 74 por solicitud.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3060417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3060417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3048225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julio a septiembre, 2.2 M MXN de WhatsApp llegaron a quien no leyó ninguno en 90 días.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448808"/>
            <a:ext cx="3585349" cy="753391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448808"/>
            <a:ext cx="0" cy="753391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509694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670650"/>
            <a:ext cx="3353394" cy="458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se usa para buscar en volumen a quien ya no lo lee: no hay regla de lectura reciente ni presupuesto con límite.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857126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5981008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5942427"/>
            <a:ext cx="7284892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ex clientes, primero correo y app; WhatsApp solo a quien lo leyó en 90 días, con límite y grupo sin envío.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319649"/>
            <a:ext cx="11204592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canal, ene a sep 2026; E9b. 132 campañas con 50 mil MXN o más. Conversión: préstamo otorgado en 7 días, repartido; solicitud: solicitudes registradas. 19.7 M MXN: lámina 50.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616140" y="6319649"/>
            <a:ext cx="83795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mitad del push va en campañas que casi nadie abre, y dos terceras partes de ese push son de Marketing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392667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0, lanzamientos, rescates de fin de semana y referidos.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593534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pone 92 M de los 141 M push que abre menos de 1 de cada 100.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694744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(83 % de su push abre menos de 1 %) y bases frías (75 %).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141 M de 251 M push (56 %) van en campañas que abre menos de 1 de cada 100 personas.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Rescate de fin de semana a leads de Marketing: 13.4 M push y 0.76 % de apertura.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 se abren los que la persona espera: pago recibido 14 %, Installments a activos 11 %.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424955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push se usa para mandar ofertas a toda la lista porque no cuesta, sin ver si esa persona abrió uno en meses.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751678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solo a quien abrió uno en 60 días y con una razón para esa persona; para el resto, otro canal.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65805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canal, enero a septiembre 2026. Apertura directa sobre enviados. 322 campañas con 100 mil o más push (97 % del canal).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613277" y="6454684"/>
            <a:ext cx="8674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mes hasta 2.3 M personas reciben tres o más campañas el mismo día, casi siempre con Marketing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70328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Sale, Comercio del día, BillPay, Anota y Gana, Mundial, Día del Padre y Tasa 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533150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Marketing, Sales, Product Growth y Others (NewProducts, QA); Collections no aparece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387079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Recurrentes y activos de KPay, leads y envíos a toda la base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2.26 M personas tuvieron en junio al menos un día con tres o más campañas; 1.30 M en enero.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Esos días son 9 % de las personas-día y llevan 24 % de los mensajes.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está en 63 % de los choques promocionales; Sales en 41 % y Product Growth en 25 %.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444824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Nadie administra el calendario y el límite global de mensajes por persona de Braze está apagado.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5340021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Hace falta un límite de mensajes por persona al día y un dueño del calendario.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1028796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enero a septiembre 2026. Personas por mes: E6a. Parejas: E6b, 1,000 pares más frecuentes (muestra, no universo); promocional = nombre con ticket y equipo distinto de Collections.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619004" y="6454684"/>
            <a:ext cx="8084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pierde a los usuarios nuevos en días; Product Growth pierde a la base vieja en meses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5252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Nuevos: recordatorio de registro, Tasa 0, BillPay. Base vieja: Tasa 0, referidos.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690242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Product Growth; Others por un solo correo de BillPay.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68713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Nuevos: primer correo desde febrero (158.5 mil bajas). Base vieja: enero (242.3 mil).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Nuevos: Marketing pierde 70 mil en 5 días con 10 correos; la mitad con el recordatorio de registro.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vieja: Product Growth pierde 87.5 mil en 128 días con 31 correos, unos dos por semana.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lanzamiento de BillPay se llevó 49 mil nuevos con un solo correo: casi un tercio de sus bajas.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753391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753391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270501" cy="458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junta recordatorios diarios sobre el recién llegado; Product Growth repite ofertas de crédito durante meses.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716441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Nuevo: un correo al día y tres la primera semana. Base vieja: menos ofertas de crédito no pedidas.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34930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días y correos hasta la baja (E8 v3) por campaña que llegó ese día; 400.8 mil bajas, enero a septiembre 2026. Días: mediana; correos: promedio.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613428" y="6454684"/>
            <a:ext cx="8658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quien se dio de baja le siguen llegando promociones de Tasa 0 y referidos, casi todas de Marketing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8689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 promocional: Tasa 0, newsletters, referidos, cupones y recordatorio de registro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195836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(58 de 79 mil), Product Growth, Sales y Others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246130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mil personas que ya se habían dado de baja del correo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94 % de lo que llega tras la baja es cobranza y avisos de pago: eso sí procede.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 mil promociones; la mayor, rescate con Tasa 0 a leads rezagados (Marketing), 13.9 mil.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recordatorio de Veriff siguió llegando nueve meses seguidos a quien ya se había dado de baja.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452120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filtro de suscripción está en la entrada del Canvas y no en cada paso de correo (lo más probable).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946026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Ajuste de configuración, no de negocio: filtro de suscripción en cada paso de correo, en una semana.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94336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 E5b (correos después de la baja), enero a septiembre 2026; tipo de mensaje del catálogo de campañas (muestra C). Cada punto es un Canvas con su fecha.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613277" y="6454684"/>
            <a:ext cx="8674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8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Ocho campañas de email causan un tercio de las bajas del correo, y seis casi no reciben clics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576614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BillPay, Tasa 0, referidos, AnotayGana, Cuesta de Enero, crédito en plazos y Veriff.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453206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 4 campañas, Marketing 3 y Others 1 (BillPay).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424179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la base, leads y registrados que nunca tomaron crédito.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ocho suman 379 mil de 1.09 M bajas (35 %); seis reciben menos de 10 clics por mil.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 contada como historia a rezagados: 9 bajas por mil correos; la mediana, 3.3.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lanzamiento de BillPay salió una vez y sumó 80 mil bajas registradas (37 mil en junio).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191955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manda la misma promoción a listas enteras sin ver si abren; a quien no le interesa, se da de baja.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083570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Quien se da de baja ya no recibe correos: achicar estos ocho envíos protege el contacto.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75087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 y canal, ene a sep 2026; 169 campañas de email con 300 mil correos o más. Bajas = eventos atribuidos a la campaña, no personas.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68517" y="6454684"/>
            <a:ext cx="13284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mensajes que salen porque la persona hizo algo responden siete veces más en correo que los de una lista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1967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Recordatorios, precobranza, ofertas tras comprar o cancelar, bienvenida y 45 días.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130019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Marketing, Product Growth y Collections (precobranza).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60859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Quien se registró, compró, tiene un pago, canceló o lleva tiempo sin volver.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157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 12 % de los mensajes y 57 % de los clics de correo.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356760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356760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344568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Correo, en promedio: 26 clics por mil contra 3.5; push: 49 aperturas por mil contra 10.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745135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745135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73294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todo motivo funciona igual: aniversario y compra en comercio responden poco por correo.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133526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133526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194412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355369"/>
            <a:ext cx="3242250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mayoría de las promociones nace de una lista y no de algo que hizo la persona.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5444646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promoción nueva debe nacer de algo que hizo la persona, no de una lista.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79728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 y canal, ene a sep 2026. Motivo inferido del nombre de la campaña. Quien hizo algo ya es más activo: sin grupo sin mensajes no se sabe cuánto vende.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92479" y="6454684"/>
            <a:ext cx="108166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330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Braze no tiene dueño ni reglas comunes, y se nota en ocho datos de la cuenta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835376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467446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925499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079523"/>
            <a:ext cx="3039830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lo que vive en Braze: campañas, Canvas, listas y configuración.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925499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079523"/>
            <a:ext cx="3256841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los equipos; nadie es dueño de la cuenta completa.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925499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079523"/>
            <a:ext cx="2931791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la base, incluidos bloqueados y dados de baja.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1956" y="1591630"/>
            <a:ext cx="2609061" cy="0"/>
          </a:xfrm>
          <a:prstGeom prst="line">
            <a:avLst/>
          </a:prstGeom>
          <a:noFill/>
          <a:ln w="19291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1956" y="1710991"/>
            <a:ext cx="2705621" cy="13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</a:t>
            </a:r>
            <a:endParaRPr lang="en-US" sz="790" dirty="0"/>
          </a:p>
        </p:txBody>
      </p:sp>
      <p:sp>
        <p:nvSpPr>
          <p:cNvPr id="13" name="Text 11"/>
          <p:cNvSpPr txBox="1"/>
          <p:nvPr/>
        </p:nvSpPr>
        <p:spPr>
          <a:xfrm>
            <a:off x="511956" y="1900733"/>
            <a:ext cx="2705621" cy="39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70" b="1" spc="-6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6,144</a:t>
            </a:r>
            <a:endParaRPr lang="en-US" sz="3070" dirty="0"/>
          </a:p>
        </p:txBody>
      </p:sp>
      <p:sp>
        <p:nvSpPr>
          <p:cNvPr id="14" name="Text 12"/>
          <p:cNvSpPr txBox="1"/>
          <p:nvPr/>
        </p:nvSpPr>
        <p:spPr>
          <a:xfrm>
            <a:off x="511956" y="2345774"/>
            <a:ext cx="2705621" cy="378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comunicaciones guardadas; en septiembre solo 341 mandaron algo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64713" y="1591630"/>
            <a:ext cx="2609212" cy="0"/>
          </a:xfrm>
          <a:prstGeom prst="line">
            <a:avLst/>
          </a:prstGeom>
          <a:noFill/>
          <a:ln w="19291">
            <a:solidFill>
              <a:srgbClr val="0B12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64713" y="1710991"/>
            <a:ext cx="2705776" cy="13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</a:t>
            </a:r>
            <a:endParaRPr lang="en-US" sz="790" dirty="0"/>
          </a:p>
        </p:txBody>
      </p:sp>
      <p:sp>
        <p:nvSpPr>
          <p:cNvPr id="17" name="Text 15"/>
          <p:cNvSpPr txBox="1"/>
          <p:nvPr/>
        </p:nvSpPr>
        <p:spPr>
          <a:xfrm>
            <a:off x="3364713" y="1900733"/>
            <a:ext cx="2705776" cy="39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70" b="1" spc="-6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229</a:t>
            </a:r>
            <a:endParaRPr lang="en-US" sz="3070" dirty="0"/>
          </a:p>
        </p:txBody>
      </p:sp>
      <p:sp>
        <p:nvSpPr>
          <p:cNvPr id="18" name="Text 16"/>
          <p:cNvSpPr txBox="1"/>
          <p:nvPr/>
        </p:nvSpPr>
        <p:spPr>
          <a:xfrm>
            <a:off x="3364713" y="2345774"/>
            <a:ext cx="2705776" cy="378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marcadas como archivadas siguieron enviando en septiembre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620" y="1591630"/>
            <a:ext cx="2609212" cy="0"/>
          </a:xfrm>
          <a:prstGeom prst="line">
            <a:avLst/>
          </a:prstGeom>
          <a:noFill/>
          <a:ln w="19291">
            <a:solidFill>
              <a:srgbClr val="0B12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620" y="1710991"/>
            <a:ext cx="2705776" cy="13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DUEÑO</a:t>
            </a:r>
            <a:endParaRPr lang="en-US" sz="790" dirty="0"/>
          </a:p>
        </p:txBody>
      </p:sp>
      <p:sp>
        <p:nvSpPr>
          <p:cNvPr id="21" name="Text 19"/>
          <p:cNvSpPr txBox="1"/>
          <p:nvPr/>
        </p:nvSpPr>
        <p:spPr>
          <a:xfrm>
            <a:off x="6217620" y="1900733"/>
            <a:ext cx="2705776" cy="39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70" b="1" spc="-6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748</a:t>
            </a:r>
            <a:endParaRPr lang="en-US" sz="3070" dirty="0"/>
          </a:p>
        </p:txBody>
      </p:sp>
      <p:sp>
        <p:nvSpPr>
          <p:cNvPr id="22" name="Text 20"/>
          <p:cNvSpPr txBox="1"/>
          <p:nvPr/>
        </p:nvSpPr>
        <p:spPr>
          <a:xfrm>
            <a:off x="6217620" y="2345774"/>
            <a:ext cx="2705776" cy="567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comunicaciones sin equipo ni ticket; 210 de ellas mandaron 85 M mensajes en 2026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70527" y="1591630"/>
            <a:ext cx="2609212" cy="0"/>
          </a:xfrm>
          <a:prstGeom prst="line">
            <a:avLst/>
          </a:prstGeom>
          <a:noFill/>
          <a:ln w="19291">
            <a:solidFill>
              <a:srgbClr val="0B122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70527" y="1710991"/>
            <a:ext cx="2705776" cy="13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DUEÑO</a:t>
            </a:r>
            <a:endParaRPr lang="en-US" sz="790" dirty="0"/>
          </a:p>
        </p:txBody>
      </p:sp>
      <p:sp>
        <p:nvSpPr>
          <p:cNvPr id="25" name="Text 23"/>
          <p:cNvSpPr txBox="1"/>
          <p:nvPr/>
        </p:nvSpPr>
        <p:spPr>
          <a:xfrm>
            <a:off x="9070527" y="1900733"/>
            <a:ext cx="2705776" cy="39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70" b="1" spc="-6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3070" dirty="0"/>
          </a:p>
        </p:txBody>
      </p:sp>
      <p:sp>
        <p:nvSpPr>
          <p:cNvPr id="26" name="Text 24"/>
          <p:cNvSpPr txBox="1"/>
          <p:nvPr/>
        </p:nvSpPr>
        <p:spPr>
          <a:xfrm>
            <a:off x="9070527" y="2345774"/>
            <a:ext cx="2705776" cy="567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campañas se copiaron cinco o más veces en vez de medirse: 667 versiones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1956" y="3190946"/>
            <a:ext cx="2609061" cy="0"/>
          </a:xfrm>
          <a:prstGeom prst="line">
            <a:avLst/>
          </a:prstGeom>
          <a:noFill/>
          <a:ln w="19291">
            <a:solidFill>
              <a:srgbClr val="0B122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1956" y="3310307"/>
            <a:ext cx="2705621" cy="13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</a:t>
            </a:r>
            <a:endParaRPr lang="en-US" sz="790" dirty="0"/>
          </a:p>
        </p:txBody>
      </p:sp>
      <p:sp>
        <p:nvSpPr>
          <p:cNvPr id="29" name="Text 27"/>
          <p:cNvSpPr txBox="1"/>
          <p:nvPr/>
        </p:nvSpPr>
        <p:spPr>
          <a:xfrm>
            <a:off x="511956" y="3500049"/>
            <a:ext cx="2705621" cy="39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70" b="1" spc="-6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 M</a:t>
            </a:r>
            <a:endParaRPr lang="en-US" sz="3070" dirty="0"/>
          </a:p>
        </p:txBody>
      </p:sp>
      <p:sp>
        <p:nvSpPr>
          <p:cNvPr id="30" name="Text 28"/>
          <p:cNvSpPr txBox="1"/>
          <p:nvPr/>
        </p:nvSpPr>
        <p:spPr>
          <a:xfrm>
            <a:off x="511956" y="3945090"/>
            <a:ext cx="2705621" cy="378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promociones a personas con KPay congelado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64713" y="3190946"/>
            <a:ext cx="2609212" cy="0"/>
          </a:xfrm>
          <a:prstGeom prst="line">
            <a:avLst/>
          </a:prstGeom>
          <a:noFill/>
          <a:ln w="19291">
            <a:solidFill>
              <a:srgbClr val="0B122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64713" y="3310307"/>
            <a:ext cx="2705776" cy="13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</a:t>
            </a:r>
            <a:endParaRPr lang="en-US" sz="790" dirty="0"/>
          </a:p>
        </p:txBody>
      </p:sp>
      <p:sp>
        <p:nvSpPr>
          <p:cNvPr id="33" name="Text 31"/>
          <p:cNvSpPr txBox="1"/>
          <p:nvPr/>
        </p:nvSpPr>
        <p:spPr>
          <a:xfrm>
            <a:off x="3364713" y="3500049"/>
            <a:ext cx="2705776" cy="39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70" b="1" spc="-6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9.8 M</a:t>
            </a:r>
            <a:endParaRPr lang="en-US" sz="3070" dirty="0"/>
          </a:p>
        </p:txBody>
      </p:sp>
      <p:sp>
        <p:nvSpPr>
          <p:cNvPr id="34" name="Text 32"/>
          <p:cNvSpPr txBox="1"/>
          <p:nvPr/>
        </p:nvSpPr>
        <p:spPr>
          <a:xfrm>
            <a:off x="3364713" y="3945090"/>
            <a:ext cx="2705776" cy="378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a personas marcadas como baja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620" y="3190946"/>
            <a:ext cx="2609212" cy="0"/>
          </a:xfrm>
          <a:prstGeom prst="line">
            <a:avLst/>
          </a:prstGeom>
          <a:noFill/>
          <a:ln w="19291">
            <a:solidFill>
              <a:srgbClr val="0B122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17620" y="3310307"/>
            <a:ext cx="2705776" cy="13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</a:t>
            </a:r>
            <a:endParaRPr lang="en-US" sz="790" dirty="0"/>
          </a:p>
        </p:txBody>
      </p:sp>
      <p:sp>
        <p:nvSpPr>
          <p:cNvPr id="37" name="Text 35"/>
          <p:cNvSpPr txBox="1"/>
          <p:nvPr/>
        </p:nvSpPr>
        <p:spPr>
          <a:xfrm>
            <a:off x="6217620" y="3500049"/>
            <a:ext cx="2705776" cy="39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70" b="1" spc="-6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9.9 M</a:t>
            </a:r>
            <a:endParaRPr lang="en-US" sz="3070" dirty="0"/>
          </a:p>
        </p:txBody>
      </p:sp>
      <p:sp>
        <p:nvSpPr>
          <p:cNvPr id="38" name="Text 36"/>
          <p:cNvSpPr txBox="1"/>
          <p:nvPr/>
        </p:nvSpPr>
        <p:spPr>
          <a:xfrm>
            <a:off x="6217620" y="3945090"/>
            <a:ext cx="2705776" cy="378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veces una persona recibió la misma campaña dos veces el mismo día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70527" y="3190946"/>
            <a:ext cx="2609212" cy="0"/>
          </a:xfrm>
          <a:prstGeom prst="line">
            <a:avLst/>
          </a:prstGeom>
          <a:noFill/>
          <a:ln w="19291">
            <a:solidFill>
              <a:srgbClr val="0B122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070527" y="3310307"/>
            <a:ext cx="2705776" cy="13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MEDICIÓN</a:t>
            </a:r>
            <a:endParaRPr lang="en-US" sz="790" dirty="0"/>
          </a:p>
        </p:txBody>
      </p:sp>
      <p:sp>
        <p:nvSpPr>
          <p:cNvPr id="41" name="Text 39"/>
          <p:cNvSpPr txBox="1"/>
          <p:nvPr/>
        </p:nvSpPr>
        <p:spPr>
          <a:xfrm>
            <a:off x="9070527" y="3500049"/>
            <a:ext cx="2705776" cy="39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70" b="1" spc="-6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de 3,228</a:t>
            </a:r>
            <a:endParaRPr lang="en-US" sz="3070" dirty="0"/>
          </a:p>
        </p:txBody>
      </p:sp>
      <p:sp>
        <p:nvSpPr>
          <p:cNvPr id="42" name="Text 40"/>
          <p:cNvSpPr txBox="1"/>
          <p:nvPr/>
        </p:nvSpPr>
        <p:spPr>
          <a:xfrm>
            <a:off x="9070527" y="3945090"/>
            <a:ext cx="2705776" cy="567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Canvas tiene grupo de control real; solo el correo registra bajas por campaña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45" name="Text 43"/>
          <p:cNvSpPr txBox="1"/>
          <p:nvPr/>
        </p:nvSpPr>
        <p:spPr>
          <a:xfrm>
            <a:off x="1409876" y="6077461"/>
            <a:ext cx="6359879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es una campaña mala: es una cuenta sin dueño, sin reglas comunes y sin forma de medir.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11956" y="6454684"/>
            <a:ext cx="852626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catálogo de campañas y Canvas, envíos por comunicación (E1, E2), bloqueados (E7a, Sheets v4), grupos de control (E13), enero a septiembre 2026.</a:t>
            </a:r>
            <a:endParaRPr lang="en-US" sz="840" dirty="0"/>
          </a:p>
        </p:txBody>
      </p:sp>
      <p:sp>
        <p:nvSpPr>
          <p:cNvPr id="47" name="Text 45"/>
          <p:cNvSpPr txBox="1"/>
          <p:nvPr/>
        </p:nvSpPr>
        <p:spPr>
          <a:xfrm>
            <a:off x="11570777" y="6454684"/>
            <a:ext cx="13051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lo explica: escribimos por lo que queremos vender, cada equipo por su cuenta y sin medir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1358"/>
            <a:ext cx="3527477" cy="139857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94765" y="1356374"/>
            <a:ext cx="3275003" cy="512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30" b="1" spc="-8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73 %</a:t>
            </a:r>
            <a:endParaRPr lang="en-US" sz="4030" dirty="0"/>
          </a:p>
        </p:txBody>
      </p:sp>
      <p:sp>
        <p:nvSpPr>
          <p:cNvPr id="5" name="Text 3"/>
          <p:cNvSpPr txBox="1"/>
          <p:nvPr/>
        </p:nvSpPr>
        <p:spPr>
          <a:xfrm>
            <a:off x="694765" y="1953782"/>
            <a:ext cx="3275003" cy="411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las personas no respondió a nada en nueve meses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31958" y="1161358"/>
            <a:ext cx="3527628" cy="139857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14767" y="1356374"/>
            <a:ext cx="3275158" cy="512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30" b="1" spc="-8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 M</a:t>
            </a:r>
            <a:endParaRPr lang="en-US" sz="4030" dirty="0"/>
          </a:p>
        </p:txBody>
      </p:sp>
      <p:sp>
        <p:nvSpPr>
          <p:cNvPr id="8" name="Text 6"/>
          <p:cNvSpPr txBox="1"/>
          <p:nvPr/>
        </p:nvSpPr>
        <p:spPr>
          <a:xfrm>
            <a:off x="4514767" y="1953782"/>
            <a:ext cx="3275158" cy="411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personas al mes con tres o más campañas el mismo día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52111" y="1161358"/>
            <a:ext cx="3527477" cy="1398573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34920" y="1356374"/>
            <a:ext cx="3275003" cy="512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30" b="1" spc="-8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de 3,228</a:t>
            </a:r>
            <a:endParaRPr lang="en-US" sz="4030" dirty="0"/>
          </a:p>
        </p:txBody>
      </p:sp>
      <p:sp>
        <p:nvSpPr>
          <p:cNvPr id="11" name="Text 9"/>
          <p:cNvSpPr txBox="1"/>
          <p:nvPr/>
        </p:nvSpPr>
        <p:spPr>
          <a:xfrm>
            <a:off x="8334920" y="1953782"/>
            <a:ext cx="3275003" cy="205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Canvas tiene un grupo de control real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1956" y="2784184"/>
            <a:ext cx="352747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1956" y="2922987"/>
            <a:ext cx="231639" cy="231639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1956" y="2922987"/>
            <a:ext cx="256876" cy="231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853310" y="2922987"/>
            <a:ext cx="3299995" cy="1109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Escribimos por lo que queremos vender.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Las promociones salen a listas por etapa, no por lo que la persona hizo, y le seguimos escribiendo a quien no responde.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31958" y="2784184"/>
            <a:ext cx="352762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31958" y="2922987"/>
            <a:ext cx="231639" cy="231639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31958" y="2922987"/>
            <a:ext cx="256876" cy="231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60" dirty="0"/>
          </a:p>
        </p:txBody>
      </p:sp>
      <p:sp>
        <p:nvSpPr>
          <p:cNvPr id="19" name="Text 17"/>
          <p:cNvSpPr txBox="1"/>
          <p:nvPr/>
        </p:nvSpPr>
        <p:spPr>
          <a:xfrm>
            <a:off x="4673312" y="2922987"/>
            <a:ext cx="3300150" cy="1109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equipo decide solo.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hay límite de mensajes por persona ni calendario común: Marketing, Product Growth y Sales le escriben a la misma gente el mismo día.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52111" y="2784184"/>
            <a:ext cx="352747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2111" y="2922987"/>
            <a:ext cx="231639" cy="231639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52111" y="2922987"/>
            <a:ext cx="256876" cy="231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60" dirty="0"/>
          </a:p>
        </p:txBody>
      </p:sp>
      <p:sp>
        <p:nvSpPr>
          <p:cNvPr id="23" name="Text 21"/>
          <p:cNvSpPr txBox="1"/>
          <p:nvPr/>
        </p:nvSpPr>
        <p:spPr>
          <a:xfrm>
            <a:off x="8493465" y="2922987"/>
            <a:ext cx="3299995" cy="1109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Nadie compara volumen contra respuesta.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Copiar una campaña cada mes es más fácil que medirla: 4 de cada 10 mensajes salen de campañas debajo del mínimo.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6" name="Text 24"/>
          <p:cNvSpPr txBox="1"/>
          <p:nvPr/>
        </p:nvSpPr>
        <p:spPr>
          <a:xfrm>
            <a:off x="1409876" y="6077461"/>
            <a:ext cx="6795453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la forma de operar, no una campaña: por eso se corrige con reglas comunes, no apagando todo.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11956" y="6454684"/>
            <a:ext cx="473198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láminas de diagnóstico del deck v6 (Braze E1, E7b, E13, enero a septiembre 2026).</a:t>
            </a:r>
            <a:endParaRPr lang="en-US" sz="840" dirty="0"/>
          </a:p>
        </p:txBody>
      </p:sp>
      <p:sp>
        <p:nvSpPr>
          <p:cNvPr id="28" name="Text 26"/>
          <p:cNvSpPr txBox="1"/>
          <p:nvPr/>
        </p:nvSpPr>
        <p:spPr>
          <a:xfrm>
            <a:off x="11569873" y="6454684"/>
            <a:ext cx="13145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Braze en Kueski</dc:title>
  <dc:subject>PptxGenJS Presentation</dc:subject>
  <dc:creator>PptxGenJS</dc:creator>
  <cp:lastModifiedBy>PptxGenJS</cp:lastModifiedBy>
  <cp:revision>1</cp:revision>
  <dcterms:created xsi:type="dcterms:W3CDTF">2026-10-20T08:58:24Z</dcterms:created>
  <dcterms:modified xsi:type="dcterms:W3CDTF">2026-10-20T08:58:24Z</dcterms:modified>
</cp:coreProperties>
</file>