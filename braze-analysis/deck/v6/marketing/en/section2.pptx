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26e4816-9000-98ed-e962-bc0df48ccc6f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10" b="1" spc="11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· DIAGNOSIS</a:t>
            </a:r>
            <a:endParaRPr lang="en-US" sz="9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607957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today: what the audit found</a:t>
            </a:r>
            <a:endParaRPr lang="en-US" sz="2210" dirty="0"/>
          </a:p>
        </p:txBody>
      </p:sp>
      <p:sp>
        <p:nvSpPr>
          <p:cNvPr id="4" name="Shape 2"/>
          <p:cNvSpPr/>
          <p:nvPr/>
        </p:nvSpPr>
        <p:spPr>
          <a:xfrm>
            <a:off x="511956" y="1048477"/>
            <a:ext cx="2682306" cy="122977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0350" y="1182457"/>
            <a:ext cx="2454770" cy="41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60" b="1" spc="-7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269</a:t>
            </a:r>
            <a:endParaRPr lang="en-US" sz="3260" dirty="0"/>
          </a:p>
        </p:txBody>
      </p:sp>
      <p:sp>
        <p:nvSpPr>
          <p:cNvPr id="6" name="Text 4"/>
          <p:cNvSpPr txBox="1"/>
          <p:nvPr/>
        </p:nvSpPr>
        <p:spPr>
          <a:xfrm>
            <a:off x="670350" y="1645583"/>
            <a:ext cx="2454770" cy="49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canvases sent something in September; 228 of them are marked "archived"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3340449" y="1048477"/>
            <a:ext cx="2682306" cy="122977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98843" y="1182457"/>
            <a:ext cx="2454770" cy="41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60" b="1" spc="-7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3260" dirty="0"/>
          </a:p>
        </p:txBody>
      </p:sp>
      <p:sp>
        <p:nvSpPr>
          <p:cNvPr id="9" name="Text 7"/>
          <p:cNvSpPr txBox="1"/>
          <p:nvPr/>
        </p:nvSpPr>
        <p:spPr>
          <a:xfrm>
            <a:off x="3498843" y="1645583"/>
            <a:ext cx="2454770" cy="33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sends fire because the person did something; the other 88% go to lists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168941" y="1048477"/>
            <a:ext cx="2682306" cy="122977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7335" y="1182457"/>
            <a:ext cx="2454770" cy="41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60" b="1" spc="-7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260" dirty="0"/>
          </a:p>
        </p:txBody>
      </p:sp>
      <p:sp>
        <p:nvSpPr>
          <p:cNvPr id="12" name="Text 10"/>
          <p:cNvSpPr txBox="1"/>
          <p:nvPr/>
        </p:nvSpPr>
        <p:spPr>
          <a:xfrm>
            <a:off x="6327335" y="1645583"/>
            <a:ext cx="2454770" cy="33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per customer per week, all teams (about 12 a month)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997434" y="1048477"/>
            <a:ext cx="2682306" cy="122977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55828" y="1182457"/>
            <a:ext cx="2454770" cy="41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60" b="1" spc="-7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3260" dirty="0"/>
          </a:p>
        </p:txBody>
      </p:sp>
      <p:sp>
        <p:nvSpPr>
          <p:cNvPr id="15" name="Text 13"/>
          <p:cNvSpPr txBox="1"/>
          <p:nvPr/>
        </p:nvSpPr>
        <p:spPr>
          <a:xfrm>
            <a:off x="9155828" y="1645583"/>
            <a:ext cx="2454770" cy="49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canvases sending in 2026 with no owner or audience; 748 communications with no team or ticket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511956" y="2805736"/>
            <a:ext cx="72701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1956" y="2497625"/>
            <a:ext cx="679213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1238973" y="2805736"/>
            <a:ext cx="121033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8973" y="2497625"/>
            <a:ext cx="1177034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MESSAGES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2449311" y="2805736"/>
            <a:ext cx="75158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9311" y="2497625"/>
            <a:ext cx="704515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RATE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3200893" y="2805736"/>
            <a:ext cx="8932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893" y="2497625"/>
            <a:ext cx="85043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TO OPEN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4094141" y="2805736"/>
            <a:ext cx="163744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94141" y="2497625"/>
            <a:ext cx="1616954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LOANS IN 7 DAYS, PER MONTH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5731586" y="2805736"/>
            <a:ext cx="158334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31586" y="2497625"/>
            <a:ext cx="156122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LOANS PER 1,000 MESSAGES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511956" y="3079120"/>
            <a:ext cx="72701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1956" y="2861763"/>
            <a:ext cx="679213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238973" y="3079120"/>
            <a:ext cx="12103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8973" y="2861763"/>
            <a:ext cx="117703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2449311" y="3079120"/>
            <a:ext cx="7515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49311" y="2861763"/>
            <a:ext cx="704515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23.7%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200893" y="3079120"/>
            <a:ext cx="8932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00893" y="2861763"/>
            <a:ext cx="850431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3.9%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094141" y="3079120"/>
            <a:ext cx="16374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94141" y="2861763"/>
            <a:ext cx="161695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185K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731586" y="3079120"/>
            <a:ext cx="158334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31586" y="2861763"/>
            <a:ext cx="1561227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11956" y="3352505"/>
            <a:ext cx="72701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1956" y="3135148"/>
            <a:ext cx="679213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1238973" y="3352505"/>
            <a:ext cx="12103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238973" y="3135148"/>
            <a:ext cx="117703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2449311" y="3352505"/>
            <a:ext cx="7515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49311" y="3135148"/>
            <a:ext cx="704515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1.5%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200893" y="3352505"/>
            <a:ext cx="8932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00893" y="3135148"/>
            <a:ext cx="850431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4094141" y="3352505"/>
            <a:ext cx="16374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94141" y="3135148"/>
            <a:ext cx="161695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89K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731586" y="3352505"/>
            <a:ext cx="158334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731586" y="3135148"/>
            <a:ext cx="1561227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511956" y="3787449"/>
            <a:ext cx="72701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11956" y="3408533"/>
            <a:ext cx="679213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1238973" y="3787449"/>
            <a:ext cx="12103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238973" y="3408533"/>
            <a:ext cx="1177034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2449311" y="3787449"/>
            <a:ext cx="7515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449311" y="3408533"/>
            <a:ext cx="704515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68.9% read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3200893" y="3787449"/>
            <a:ext cx="8932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200893" y="3408533"/>
            <a:ext cx="850431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4094141" y="3787449"/>
            <a:ext cx="16374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094141" y="3408533"/>
            <a:ext cx="1616954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39K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731586" y="3787449"/>
            <a:ext cx="158334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731586" y="3408533"/>
            <a:ext cx="1561227" cy="33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511956" y="4060834"/>
            <a:ext cx="72701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11956" y="3843477"/>
            <a:ext cx="679213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1238973" y="4060834"/>
            <a:ext cx="12103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238973" y="3843477"/>
            <a:ext cx="117703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4%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2449311" y="4060834"/>
            <a:ext cx="7515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449311" y="3843477"/>
            <a:ext cx="704515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3200893" y="4060834"/>
            <a:ext cx="8932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200893" y="3843477"/>
            <a:ext cx="850431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38.2% click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4094141" y="4060834"/>
            <a:ext cx="16374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094141" y="3843477"/>
            <a:ext cx="1616954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63K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5731586" y="4060834"/>
            <a:ext cx="158334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731586" y="3843477"/>
            <a:ext cx="1561227" cy="17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8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20.7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7509943" y="2448858"/>
            <a:ext cx="4169796" cy="1872249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704960" y="2619460"/>
            <a:ext cx="3911444" cy="147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b="1" spc="100" kern="0" dirty="0">
                <a:solidFill>
                  <a:srgbClr val="8FA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SEE</a:t>
            </a:r>
            <a:endParaRPr lang="en-US" sz="860" dirty="0"/>
          </a:p>
        </p:txBody>
      </p:sp>
      <p:sp>
        <p:nvSpPr>
          <p:cNvPr id="78" name="Text 76"/>
          <p:cNvSpPr txBox="1"/>
          <p:nvPr/>
        </p:nvSpPr>
        <p:spPr>
          <a:xfrm>
            <a:off x="7704960" y="2864964"/>
            <a:ext cx="3911444" cy="363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</a:t>
            </a:r>
            <a:pPr algn="l" indent="0" marL="0">
              <a:lnSpc>
                <a:spcPct val="1140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In-app wins 20.7 loans per 1,000 messages, four to six times email or push, yet carries only 4% of what we send.</a:t>
            </a:r>
            <a:endParaRPr lang="en-US" sz="1040" dirty="0"/>
          </a:p>
        </p:txBody>
      </p:sp>
      <p:sp>
        <p:nvSpPr>
          <p:cNvPr id="79" name="Text 77"/>
          <p:cNvSpPr txBox="1"/>
          <p:nvPr/>
        </p:nvSpPr>
        <p:spPr>
          <a:xfrm>
            <a:off x="7704960" y="3325981"/>
            <a:ext cx="3911444" cy="363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</a:t>
            </a:r>
            <a:pPr algn="l" indent="0" marL="0">
              <a:lnSpc>
                <a:spcPct val="1140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Email gets opened (24%) but only 4 in 100 who open it click; push is 38% of our messages and 1.5% open it.</a:t>
            </a:r>
            <a:endParaRPr lang="en-US" sz="1040" dirty="0"/>
          </a:p>
        </p:txBody>
      </p:sp>
      <p:sp>
        <p:nvSpPr>
          <p:cNvPr id="80" name="Text 78"/>
          <p:cNvSpPr txBox="1"/>
          <p:nvPr/>
        </p:nvSpPr>
        <p:spPr>
          <a:xfrm>
            <a:off x="7704960" y="3786997"/>
            <a:ext cx="3911444" cy="363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</a:t>
            </a:r>
            <a:pPr algn="l" indent="0" marL="0">
              <a:lnSpc>
                <a:spcPct val="1140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WhatsApp is 71% of the spend with 8% of the messages, and wins barely more loans per message than email.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511956" y="4491709"/>
            <a:ext cx="11167783" cy="489199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82" name="Shape 80"/>
          <p:cNvSpPr/>
          <p:nvPr/>
        </p:nvSpPr>
        <p:spPr>
          <a:xfrm>
            <a:off x="670350" y="4601425"/>
            <a:ext cx="1475735" cy="269768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92267" y="4662383"/>
            <a:ext cx="1287146" cy="14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TURN · 5 MIN</a:t>
            </a:r>
            <a:endParaRPr lang="en-US" sz="860" dirty="0"/>
          </a:p>
        </p:txBody>
      </p:sp>
      <p:sp>
        <p:nvSpPr>
          <p:cNvPr id="84" name="Text 82"/>
          <p:cNvSpPr txBox="1"/>
          <p:nvPr/>
        </p:nvSpPr>
        <p:spPr>
          <a:xfrm>
            <a:off x="2304480" y="4633525"/>
            <a:ext cx="5725766" cy="20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these numbers surprises you? Which one did you already expect?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511956" y="6454684"/>
            <a:ext cx="979417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Braze audit, January to September 2026. Loans = granted within 7 days of a message, split across that day's messages. WhatsApp read rate includes reads in the following month.</a:t>
            </a:r>
            <a:endParaRPr lang="en-US" sz="840" dirty="0"/>
          </a:p>
        </p:txBody>
      </p:sp>
      <p:sp>
        <p:nvSpPr>
          <p:cNvPr id="86" name="Text 84"/>
          <p:cNvSpPr txBox="1"/>
          <p:nvPr/>
        </p:nvSpPr>
        <p:spPr>
          <a:xfrm>
            <a:off x="11636034" y="6454684"/>
            <a:ext cx="6330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10" b="1" spc="11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· WHAT WE FOUND</a:t>
            </a:r>
            <a:endParaRPr lang="en-US" sz="9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607957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found, in three sentences</a:t>
            </a:r>
            <a:endParaRPr lang="en-US" sz="2210" dirty="0"/>
          </a:p>
        </p:txBody>
      </p:sp>
      <p:sp>
        <p:nvSpPr>
          <p:cNvPr id="4" name="Text 2"/>
          <p:cNvSpPr txBox="1"/>
          <p:nvPr/>
        </p:nvSpPr>
        <p:spPr>
          <a:xfrm>
            <a:off x="1072591" y="1048477"/>
            <a:ext cx="3559694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b="1" spc="9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</a:t>
            </a:r>
            <a:endParaRPr lang="en-US" sz="910" dirty="0"/>
          </a:p>
        </p:txBody>
      </p:sp>
      <p:sp>
        <p:nvSpPr>
          <p:cNvPr id="5" name="Text 3"/>
          <p:cNvSpPr txBox="1"/>
          <p:nvPr/>
        </p:nvSpPr>
        <p:spPr>
          <a:xfrm>
            <a:off x="4657036" y="1048477"/>
            <a:ext cx="3559694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b="1" spc="9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MEANS</a:t>
            </a:r>
            <a:endParaRPr lang="en-US" sz="910" dirty="0"/>
          </a:p>
        </p:txBody>
      </p:sp>
      <p:sp>
        <p:nvSpPr>
          <p:cNvPr id="6" name="Text 4"/>
          <p:cNvSpPr txBox="1"/>
          <p:nvPr/>
        </p:nvSpPr>
        <p:spPr>
          <a:xfrm>
            <a:off x="8241481" y="1048477"/>
            <a:ext cx="3559694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b="1" spc="9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511956" y="1859288"/>
            <a:ext cx="316939" cy="316939"/>
          </a:xfrm>
          <a:prstGeom prst="ellipse">
            <a:avLst/>
          </a:prstGeom>
          <a:solidFill>
            <a:srgbClr val="1F4F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859288"/>
            <a:ext cx="344736" cy="31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72591" y="1351100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72591" y="1355922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72591" y="2679744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77413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06026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240728" y="1497400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of the people we wrote to (14.2M) did not respond to anything in nine months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59% of our messages go through a channel that person has never responded to.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657036" y="1351100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7036" y="1355922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57036" y="2679744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61859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090471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825173" y="1497400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pay for messages nobody reads and wear out the permission: Marketing gets 5.9 unsubscribes per 1,000 emails, more than double the other teams (2.6).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241481" y="1351100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1481" y="1355922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241481" y="2679744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246304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674917" y="1351100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409618" y="1497400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each person through the channel they responded to in the last 90 days; WhatsApp only to people who read one, with 10% held out.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MarTech and Data build it; Marketing applies it. Week 3 to Month 2.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11956" y="3338941"/>
            <a:ext cx="316939" cy="316939"/>
          </a:xfrm>
          <a:prstGeom prst="ellipse">
            <a:avLst/>
          </a:prstGeom>
          <a:solidFill>
            <a:srgbClr val="1F4FD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1956" y="3338941"/>
            <a:ext cx="344736" cy="31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72591" y="2830753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2591" y="2835576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72591" y="4159397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77413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506026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1240728" y="2977054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with a reason win: 12% of our emails, 57% of the clicks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(26 vs 3.5 clicks per 1,000). In-app wins 20.7 loans per 1,000 messages with 4% of what we send.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4657036" y="2830753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57036" y="2835576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657036" y="4159397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61859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090471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4825173" y="2977054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promotions get ignored or unsubscribed, while the sign-up reminder wins a loan for MXN 21. The message is not the problem; who gets it, and why, is.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8241481" y="2830753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241481" y="2835576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241481" y="4159397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246304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1674917" y="2830753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8409618" y="2977054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the 10 biggest list promotions as journeys that fire on something the person did, starting with Tasa 0 to lapsed leads; move referrals into in-app.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Marketing with Product Growth, Weeks 1 to 4.</a:t>
            </a:r>
            <a:endParaRPr lang="en-US" sz="1130" dirty="0"/>
          </a:p>
        </p:txBody>
      </p:sp>
      <p:sp>
        <p:nvSpPr>
          <p:cNvPr id="47" name="Shape 45"/>
          <p:cNvSpPr/>
          <p:nvPr/>
        </p:nvSpPr>
        <p:spPr>
          <a:xfrm>
            <a:off x="511956" y="4818595"/>
            <a:ext cx="316939" cy="316939"/>
          </a:xfrm>
          <a:prstGeom prst="ellipse">
            <a:avLst/>
          </a:prstGeom>
          <a:solidFill>
            <a:srgbClr val="1F4FD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11956" y="4818595"/>
            <a:ext cx="344736" cy="31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072591" y="4310407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2591" y="4315230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072591" y="5639051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077413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506026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1240728" y="4456707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has no owner and no shared rules: only 1 of 3,228 Canvases has a real control group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748 communications have no team or ticket, and there is no limit per person.</a:t>
            </a:r>
            <a:endParaRPr lang="en-US" sz="1130" dirty="0"/>
          </a:p>
        </p:txBody>
      </p:sp>
      <p:sp>
        <p:nvSpPr>
          <p:cNvPr id="55" name="Shape 53"/>
          <p:cNvSpPr/>
          <p:nvPr/>
        </p:nvSpPr>
        <p:spPr>
          <a:xfrm>
            <a:off x="4657036" y="4310407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657036" y="4315230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657036" y="5639051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661859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8090471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4825173" y="4456707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can say what Braze actually sells. Up to 2.3M people a month get three or more campaigns in one day, and 43.3M promotions went to people with a frozen KPay line.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8241481" y="4310407"/>
            <a:ext cx="3438258" cy="1333467"/>
          </a:xfrm>
          <a:prstGeom prst="rect">
            <a:avLst/>
          </a:prstGeom>
          <a:solidFill>
            <a:srgbClr val="FBFCFF"/>
          </a:solidFill>
          <a:ln/>
        </p:spPr>
      </p:sp>
      <p:sp>
        <p:nvSpPr>
          <p:cNvPr id="62" name="Shape 60"/>
          <p:cNvSpPr/>
          <p:nvPr/>
        </p:nvSpPr>
        <p:spPr>
          <a:xfrm>
            <a:off x="8241481" y="4315230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8241481" y="5639051"/>
            <a:ext cx="3438258" cy="0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8246304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1674917" y="4310407"/>
            <a:ext cx="0" cy="1333467"/>
          </a:xfrm>
          <a:prstGeom prst="line">
            <a:avLst/>
          </a:prstGeom>
          <a:noFill/>
          <a:ln w="9645">
            <a:solidFill>
              <a:srgbClr val="B9C8F2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8409618" y="4456707"/>
            <a:ext cx="3223266" cy="104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3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exclusions (Week 1), a 10% control group on every promotion (Week 2), and limits of 5 promotions a week and 1 push a day (Month 2).</a:t>
            </a:r>
            <a:pPr algn="l" indent="0" marL="0">
              <a:lnSpc>
                <a:spcPct val="117000"/>
              </a:lnSpc>
              <a:buNone/>
            </a:pPr>
            <a:r>
              <a:rPr lang="en-US" sz="113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MarTech configures; CRM runs a weekly review.</a:t>
            </a:r>
            <a:endParaRPr lang="en-US" sz="1130" dirty="0"/>
          </a:p>
        </p:txBody>
      </p:sp>
      <p:sp>
        <p:nvSpPr>
          <p:cNvPr id="67" name="Text 65"/>
          <p:cNvSpPr txBox="1"/>
          <p:nvPr/>
        </p:nvSpPr>
        <p:spPr>
          <a:xfrm>
            <a:off x="511956" y="6454684"/>
            <a:ext cx="76906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Braze audit, January to September 2026 (deck v6, pages 12, 14, 18, 28, 35, 51, 81, 86 and 88). Loans = granted within 7 days of a message.</a:t>
            </a:r>
            <a:endParaRPr lang="en-US" sz="840" dirty="0"/>
          </a:p>
        </p:txBody>
      </p:sp>
      <p:sp>
        <p:nvSpPr>
          <p:cNvPr id="68" name="Text 66"/>
          <p:cNvSpPr txBox="1"/>
          <p:nvPr/>
        </p:nvSpPr>
        <p:spPr>
          <a:xfrm>
            <a:off x="11614332" y="6454684"/>
            <a:ext cx="8565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Braze en Kueski</dc:title>
  <dc:subject>PptxGenJS Presentation</dc:subject>
  <dc:creator>PptxGenJS</dc:creator>
  <cp:lastModifiedBy>PptxGenJS</cp:lastModifiedBy>
  <cp:revision>1</cp:revision>
  <dcterms:created xsi:type="dcterms:W3CDTF">2026-10-20T09:23:12Z</dcterms:created>
  <dcterms:modified xsi:type="dcterms:W3CDTF">2026-10-20T09:23:12Z</dcterms:modified>
</cp:coreProperties>
</file>