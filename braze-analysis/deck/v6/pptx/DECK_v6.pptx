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</p:sldIdLst>
  <p:notesMasterIdLst>
    <p:notesMasterId r:id="rId1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6a077389-c843-5f55-087a-6fe36e06f37e}">
          <p14:sldIdLst>
            <p14:sldId id="256"/>
            <p14:sldId id="257"/>
            <p14:sldId id="258"/>
          </p14:sldIdLst>
        </p14:section>
        <p14:section name="Mandamos mucho y nos responden cada vez menos" id="{b8dc9e58-96c8-6400-986c-d1a501201ede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</p14:sldIdLst>
        </p14:section>
        <p14:section name="Las causas: escribimos por lo que queremos vender, no por qu" id="{436cb08d-26cd-db16-ecd8-3b410cddc135}">
          <p14:sldIdLst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</p14:sldIdLst>
        </p14:section>
        <p14:section name="Corregirlo vale hasta 2.34 M MXN al mes: limpiar en 30 días," id="{46852013-bcd6-db19-a540-dede2f87022e}">
          <p14:sldIdLst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notesMaster" Target="notesMasters/notesMaster1.xml"/><Relationship Id="rId120" Type="http://schemas.openxmlformats.org/officeDocument/2006/relationships/presProps" Target="presProps.xml"/><Relationship Id="rId121" Type="http://schemas.openxmlformats.org/officeDocument/2006/relationships/viewProps" Target="viewProps.xml"/><Relationship Id="rId122" Type="http://schemas.openxmlformats.org/officeDocument/2006/relationships/theme" Target="theme/theme1.xml"/><Relationship Id="rId1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782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11956" y="2130412"/>
            <a:ext cx="11521105" cy="15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060" b="1" spc="15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KUESKI · BRAZE</a:t>
            </a:r>
            <a:endParaRPr lang="en-US" sz="1060" dirty="0"/>
          </a:p>
        </p:txBody>
      </p:sp>
      <p:sp>
        <p:nvSpPr>
          <p:cNvPr id="4" name="Text 2"/>
          <p:cNvSpPr txBox="1"/>
          <p:nvPr/>
        </p:nvSpPr>
        <p:spPr>
          <a:xfrm>
            <a:off x="511956" y="2528432"/>
            <a:ext cx="8808469" cy="1177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420" b="1" spc="-9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Menos mensajes, mejor dirigidos: Braze en Kueski</a:t>
            </a:r>
            <a:endParaRPr lang="en-US" sz="4420" dirty="0"/>
          </a:p>
        </p:txBody>
      </p:sp>
      <p:sp>
        <p:nvSpPr>
          <p:cNvPr id="5" name="Text 3"/>
          <p:cNvSpPr txBox="1"/>
          <p:nvPr/>
        </p:nvSpPr>
        <p:spPr>
          <a:xfrm>
            <a:off x="511956" y="3949762"/>
            <a:ext cx="8808469" cy="501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63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Auditoría de enero a septiembre 2026: qué está pasando con los mensajes que mandamos, por qué pasa y qué proponemos.</a:t>
            </a:r>
            <a:endParaRPr lang="en-US" sz="163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4695014"/>
            <a:ext cx="11521105" cy="15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06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667 M mensajes, 19.5 M personas y unas 1,070 campañas revisadas · Octubre 2026</a:t>
            </a:r>
            <a:endParaRPr lang="en-US" sz="10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Mandamos más y nos responden menos; cuatro decisiones bajan el gasto sin dejar de buscar a quien recuperamos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654073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Sobre todo promociones: Tasa 0, referidos, descuentos, rescates y lanzamientos.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625977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y Product Growth mandan dos de cada tres mensajes.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357896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Leads, registrados sin crédito, ex clientes y clientes activos.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1956" y="1912789"/>
            <a:ext cx="3608860" cy="1604139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94765" y="2107806"/>
            <a:ext cx="3358827" cy="512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030" b="1" spc="-8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</a:t>
            </a:r>
            <a:endParaRPr lang="en-US" sz="4030" dirty="0"/>
          </a:p>
        </p:txBody>
      </p:sp>
      <p:sp>
        <p:nvSpPr>
          <p:cNvPr id="13" name="Text 11"/>
          <p:cNvSpPr txBox="1"/>
          <p:nvPr/>
        </p:nvSpPr>
        <p:spPr>
          <a:xfrm>
            <a:off x="694765" y="2705213"/>
            <a:ext cx="3358827" cy="411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respuestas por cada mil mensajes en septiembre; en enero eran 84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1418" y="1912789"/>
            <a:ext cx="3608860" cy="1604139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74227" y="2107806"/>
            <a:ext cx="3358827" cy="512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030" b="1" spc="-8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6.4 M MXN</a:t>
            </a:r>
            <a:endParaRPr lang="en-US" sz="4030" dirty="0"/>
          </a:p>
        </p:txBody>
      </p:sp>
      <p:sp>
        <p:nvSpPr>
          <p:cNvPr id="16" name="Text 14"/>
          <p:cNvSpPr txBox="1"/>
          <p:nvPr/>
        </p:nvSpPr>
        <p:spPr>
          <a:xfrm>
            <a:off x="4474227" y="2705213"/>
            <a:ext cx="3358827" cy="411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 mes en mensajes, sin la licencia de Braze; 71 % es WhatsApp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70879" y="1912789"/>
            <a:ext cx="3608860" cy="1604139"/>
          </a:xfrm>
          <a:prstGeom prst="rect">
            <a:avLst/>
          </a:prstGeom>
          <a:solidFill>
            <a:srgbClr val="E4F2E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53688" y="2107806"/>
            <a:ext cx="3358827" cy="512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030" b="1" spc="-80" kern="0" dirty="0">
                <a:solidFill>
                  <a:srgbClr val="12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2.34 M MXN</a:t>
            </a:r>
            <a:endParaRPr lang="en-US" sz="4030" dirty="0"/>
          </a:p>
        </p:txBody>
      </p:sp>
      <p:sp>
        <p:nvSpPr>
          <p:cNvPr id="19" name="Text 17"/>
          <p:cNvSpPr txBox="1"/>
          <p:nvPr/>
        </p:nvSpPr>
        <p:spPr>
          <a:xfrm>
            <a:off x="8253688" y="2705213"/>
            <a:ext cx="3358827" cy="616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 mes de ahorro sobre los 4.23 M de septiembre: 1.48 M se quita ya y 0.85 M solo si no recupera clientes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11956" y="3741182"/>
            <a:ext cx="543755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1956" y="3879984"/>
            <a:ext cx="231639" cy="231639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11956" y="3879984"/>
            <a:ext cx="256876" cy="231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6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60" dirty="0"/>
          </a:p>
        </p:txBody>
      </p:sp>
      <p:sp>
        <p:nvSpPr>
          <p:cNvPr id="23" name="Text 21"/>
          <p:cNvSpPr txBox="1"/>
          <p:nvPr/>
        </p:nvSpPr>
        <p:spPr>
          <a:xfrm>
            <a:off x="853310" y="3889629"/>
            <a:ext cx="4732453" cy="414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 le escribimos.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44 M promociones fueron a personas bloqueadas.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53310" y="4333315"/>
            <a:ext cx="4179836" cy="192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12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exclusión común en toda campaña promocional.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42035" y="3741182"/>
            <a:ext cx="543770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2035" y="3879984"/>
            <a:ext cx="231639" cy="231639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242035" y="3879984"/>
            <a:ext cx="256876" cy="231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6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60" dirty="0"/>
          </a:p>
        </p:txBody>
      </p:sp>
      <p:sp>
        <p:nvSpPr>
          <p:cNvPr id="28" name="Text 26"/>
          <p:cNvSpPr txBox="1"/>
          <p:nvPr/>
        </p:nvSpPr>
        <p:spPr>
          <a:xfrm>
            <a:off x="6583389" y="3889629"/>
            <a:ext cx="4839716" cy="63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qué canal y cuántas veces.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59 % de los mensajes va a un canal al que esa persona nunca respondió, y 339 mil personas reciben casi dos al día.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583389" y="4555157"/>
            <a:ext cx="5159334" cy="192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12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persona por su canal y máximo 5 promociones a la semana.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11956" y="4930571"/>
            <a:ext cx="543755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1956" y="5069374"/>
            <a:ext cx="231639" cy="231639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11956" y="5069374"/>
            <a:ext cx="256876" cy="231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6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60" dirty="0"/>
          </a:p>
        </p:txBody>
      </p:sp>
      <p:sp>
        <p:nvSpPr>
          <p:cNvPr id="33" name="Text 31"/>
          <p:cNvSpPr txBox="1"/>
          <p:nvPr/>
        </p:nvSpPr>
        <p:spPr>
          <a:xfrm>
            <a:off x="853310" y="5079019"/>
            <a:ext cx="5152038" cy="414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medimos.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Solo 1 de 3,228 Canvas tiene un grupo de control real; ningún programa de recuperación de ex clientes tiene uno.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53310" y="5522704"/>
            <a:ext cx="4204828" cy="192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12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grupo sin mensajes de 5 a 10 % en toda campaña.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242035" y="4930571"/>
            <a:ext cx="543770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42035" y="5069374"/>
            <a:ext cx="231639" cy="231639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242035" y="5069374"/>
            <a:ext cx="256876" cy="231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6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60" dirty="0"/>
          </a:p>
        </p:txBody>
      </p:sp>
      <p:sp>
        <p:nvSpPr>
          <p:cNvPr id="38" name="Text 36"/>
          <p:cNvSpPr txBox="1"/>
          <p:nvPr/>
        </p:nvSpPr>
        <p:spPr>
          <a:xfrm>
            <a:off x="6583389" y="5079019"/>
            <a:ext cx="4753564" cy="192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 decide.</a:t>
            </a:r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748 comunicaciones no tienen dueño ni ticket.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6583389" y="5300862"/>
            <a:ext cx="3797195" cy="192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12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dueño por segmento y un calendario común.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42" name="Text 40"/>
          <p:cNvSpPr txBox="1"/>
          <p:nvPr/>
        </p:nvSpPr>
        <p:spPr>
          <a:xfrm>
            <a:off x="1409876" y="6077461"/>
            <a:ext cx="7079989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problema es la forma de operar, no una campaña: se corrige con reglas comunes, no apagando todo.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511956" y="6454684"/>
            <a:ext cx="9568939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enero a septiembre 2026 (E1, E3, E7b, E13; bloqueados del Sheets v4). Ahorro sobre el gasto de septiembre, del caso de negocio. WhatsApp a 1.00 MXN por entregado.</a:t>
            </a:r>
            <a:endParaRPr lang="en-US" sz="840" dirty="0"/>
          </a:p>
        </p:txBody>
      </p:sp>
      <p:sp>
        <p:nvSpPr>
          <p:cNvPr id="44" name="Text 42"/>
          <p:cNvSpPr txBox="1"/>
          <p:nvPr/>
        </p:nvSpPr>
        <p:spPr>
          <a:xfrm>
            <a:off x="11614332" y="6454684"/>
            <a:ext cx="85658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Cuatro decisiones ordenan a quién, por dónde y cuántas veces escribimos, y nos dejan medir qué vende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453983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Promociones; avisos de servicio y cobranza quedan fuera del límite.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195370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los equipos; MarTech configura Braze y CRM lleva calendario y medición.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589808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Bloqueados fuera; ex clientes con plan de recuperación; activos por su canal.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1956" y="1912789"/>
            <a:ext cx="2682306" cy="3144377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143" y="2058976"/>
            <a:ext cx="2479917" cy="139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2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DECISIÓN 1</a:t>
            </a:r>
            <a:endParaRPr lang="en-US" sz="820" dirty="0"/>
          </a:p>
        </p:txBody>
      </p:sp>
      <p:sp>
        <p:nvSpPr>
          <p:cNvPr id="13" name="Text 11"/>
          <p:cNvSpPr txBox="1"/>
          <p:nvPr/>
        </p:nvSpPr>
        <p:spPr>
          <a:xfrm>
            <a:off x="658143" y="2284134"/>
            <a:ext cx="2479917" cy="212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39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 le escribimos</a:t>
            </a:r>
            <a:endParaRPr lang="en-US" sz="1390" dirty="0"/>
          </a:p>
        </p:txBody>
      </p:sp>
      <p:sp>
        <p:nvSpPr>
          <p:cNvPr id="14" name="Text 12"/>
          <p:cNvSpPr txBox="1"/>
          <p:nvPr/>
        </p:nvSpPr>
        <p:spPr>
          <a:xfrm>
            <a:off x="658143" y="2581482"/>
            <a:ext cx="2479917" cy="1633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exclusión común en toda promoción: tarjeta KPay congelada, lista negra, quien pidió no recibir publicidad y dados de baja.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658143" y="4304680"/>
            <a:ext cx="238993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143" y="4394803"/>
            <a:ext cx="2479917" cy="341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690" b="1" spc="-5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0.20 M</a:t>
            </a:r>
            <a:endParaRPr lang="en-US" sz="2690" dirty="0"/>
          </a:p>
        </p:txBody>
      </p:sp>
      <p:sp>
        <p:nvSpPr>
          <p:cNvPr id="17" name="Text 15"/>
          <p:cNvSpPr txBox="1"/>
          <p:nvPr/>
        </p:nvSpPr>
        <p:spPr>
          <a:xfrm>
            <a:off x="658143" y="4772629"/>
            <a:ext cx="2479917" cy="1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1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MXN al mes; se quita ya sin perder ventas</a:t>
            </a:r>
            <a:endParaRPr lang="en-US" sz="910" dirty="0"/>
          </a:p>
        </p:txBody>
      </p:sp>
      <p:sp>
        <p:nvSpPr>
          <p:cNvPr id="18" name="Shape 16"/>
          <p:cNvSpPr/>
          <p:nvPr/>
        </p:nvSpPr>
        <p:spPr>
          <a:xfrm>
            <a:off x="3340449" y="1912789"/>
            <a:ext cx="2682306" cy="3144377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486636" y="2058976"/>
            <a:ext cx="2479917" cy="139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2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DECISIÓN 2</a:t>
            </a:r>
            <a:endParaRPr lang="en-US" sz="820" dirty="0"/>
          </a:p>
        </p:txBody>
      </p:sp>
      <p:sp>
        <p:nvSpPr>
          <p:cNvPr id="20" name="Text 18"/>
          <p:cNvSpPr txBox="1"/>
          <p:nvPr/>
        </p:nvSpPr>
        <p:spPr>
          <a:xfrm>
            <a:off x="3486636" y="2284134"/>
            <a:ext cx="2479917" cy="424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39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qué canal y cuántas veces</a:t>
            </a:r>
            <a:endParaRPr lang="en-US" sz="1390" dirty="0"/>
          </a:p>
        </p:txBody>
      </p:sp>
      <p:sp>
        <p:nvSpPr>
          <p:cNvPr id="21" name="Text 19"/>
          <p:cNvSpPr txBox="1"/>
          <p:nvPr/>
        </p:nvSpPr>
        <p:spPr>
          <a:xfrm>
            <a:off x="3486636" y="2793528"/>
            <a:ext cx="2479917" cy="1421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persona por el canal al que respondió en 90 días; WhatsApp solo a quien lo lee; máximo 5 promociones a la semana.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3486636" y="4304680"/>
            <a:ext cx="238993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86636" y="4394803"/>
            <a:ext cx="2479917" cy="341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690" b="1" spc="-5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1.29 M</a:t>
            </a:r>
            <a:endParaRPr lang="en-US" sz="2690" dirty="0"/>
          </a:p>
        </p:txBody>
      </p:sp>
      <p:sp>
        <p:nvSpPr>
          <p:cNvPr id="24" name="Text 22"/>
          <p:cNvSpPr txBox="1"/>
          <p:nvPr/>
        </p:nvSpPr>
        <p:spPr>
          <a:xfrm>
            <a:off x="3486636" y="4772629"/>
            <a:ext cx="2479917" cy="150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1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MXN al mes; se quita ya sin perder ventas</a:t>
            </a:r>
            <a:endParaRPr lang="en-US" sz="910" dirty="0"/>
          </a:p>
        </p:txBody>
      </p:sp>
      <p:sp>
        <p:nvSpPr>
          <p:cNvPr id="25" name="Shape 23"/>
          <p:cNvSpPr/>
          <p:nvPr/>
        </p:nvSpPr>
        <p:spPr>
          <a:xfrm>
            <a:off x="6168941" y="1912789"/>
            <a:ext cx="2682306" cy="3144377"/>
          </a:xfrm>
          <a:prstGeom prst="rect">
            <a:avLst/>
          </a:prstGeom>
          <a:solidFill>
            <a:srgbClr val="E4F2E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15128" y="2058976"/>
            <a:ext cx="2479917" cy="139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2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DECISIÓN 3</a:t>
            </a:r>
            <a:endParaRPr lang="en-US" sz="820" dirty="0"/>
          </a:p>
        </p:txBody>
      </p:sp>
      <p:sp>
        <p:nvSpPr>
          <p:cNvPr id="27" name="Text 25"/>
          <p:cNvSpPr txBox="1"/>
          <p:nvPr/>
        </p:nvSpPr>
        <p:spPr>
          <a:xfrm>
            <a:off x="6315128" y="2284134"/>
            <a:ext cx="2479917" cy="212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39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medimos</a:t>
            </a:r>
            <a:endParaRPr lang="en-US" sz="1390" dirty="0"/>
          </a:p>
        </p:txBody>
      </p:sp>
      <p:sp>
        <p:nvSpPr>
          <p:cNvPr id="28" name="Text 26"/>
          <p:cNvSpPr txBox="1"/>
          <p:nvPr/>
        </p:nvSpPr>
        <p:spPr>
          <a:xfrm>
            <a:off x="6315128" y="2581482"/>
            <a:ext cx="2479917" cy="1482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grupo de 5 a 10 % sin mensajes en toda campaña, empezando por la recuperación de ex clientes.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6315128" y="4154122"/>
            <a:ext cx="238993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15128" y="4244246"/>
            <a:ext cx="2479917" cy="341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690" b="1" spc="-50" kern="0" dirty="0">
                <a:solidFill>
                  <a:srgbClr val="12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0.85 M</a:t>
            </a:r>
            <a:endParaRPr lang="en-US" sz="2690" dirty="0"/>
          </a:p>
        </p:txBody>
      </p:sp>
      <p:sp>
        <p:nvSpPr>
          <p:cNvPr id="31" name="Text 29"/>
          <p:cNvSpPr txBox="1"/>
          <p:nvPr/>
        </p:nvSpPr>
        <p:spPr>
          <a:xfrm>
            <a:off x="6315128" y="4622072"/>
            <a:ext cx="2479917" cy="301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1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MXN al mes; se quita solo si no recupera clientes</a:t>
            </a:r>
            <a:endParaRPr lang="en-US" sz="910" dirty="0"/>
          </a:p>
        </p:txBody>
      </p:sp>
      <p:sp>
        <p:nvSpPr>
          <p:cNvPr id="32" name="Shape 30"/>
          <p:cNvSpPr/>
          <p:nvPr/>
        </p:nvSpPr>
        <p:spPr>
          <a:xfrm>
            <a:off x="8997434" y="1912789"/>
            <a:ext cx="2682306" cy="3144377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143621" y="2058976"/>
            <a:ext cx="2479917" cy="139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2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DECISIÓN 4</a:t>
            </a:r>
            <a:endParaRPr lang="en-US" sz="820" dirty="0"/>
          </a:p>
        </p:txBody>
      </p:sp>
      <p:sp>
        <p:nvSpPr>
          <p:cNvPr id="34" name="Text 32"/>
          <p:cNvSpPr txBox="1"/>
          <p:nvPr/>
        </p:nvSpPr>
        <p:spPr>
          <a:xfrm>
            <a:off x="9143621" y="2284134"/>
            <a:ext cx="2479917" cy="212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39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 decide</a:t>
            </a:r>
            <a:endParaRPr lang="en-US" sz="1390" dirty="0"/>
          </a:p>
        </p:txBody>
      </p:sp>
      <p:sp>
        <p:nvSpPr>
          <p:cNvPr id="35" name="Text 33"/>
          <p:cNvSpPr txBox="1"/>
          <p:nvPr/>
        </p:nvSpPr>
        <p:spPr>
          <a:xfrm>
            <a:off x="9143621" y="2581482"/>
            <a:ext cx="2479917" cy="1482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dueño por segmento, un calendario común entre equipos y un catálogo de campañas activas.</a:t>
            </a:r>
            <a:endParaRPr lang="en-US" sz="1040" dirty="0"/>
          </a:p>
        </p:txBody>
      </p:sp>
      <p:sp>
        <p:nvSpPr>
          <p:cNvPr id="36" name="Shape 34"/>
          <p:cNvSpPr/>
          <p:nvPr/>
        </p:nvSpPr>
        <p:spPr>
          <a:xfrm>
            <a:off x="9143621" y="4154122"/>
            <a:ext cx="238993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143621" y="4244246"/>
            <a:ext cx="2479917" cy="341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690" b="1" spc="-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Sostiene</a:t>
            </a:r>
            <a:endParaRPr lang="en-US" sz="2690" dirty="0"/>
          </a:p>
        </p:txBody>
      </p:sp>
      <p:sp>
        <p:nvSpPr>
          <p:cNvPr id="38" name="Text 36"/>
          <p:cNvSpPr txBox="1"/>
          <p:nvPr/>
        </p:nvSpPr>
        <p:spPr>
          <a:xfrm>
            <a:off x="9143621" y="4622072"/>
            <a:ext cx="2479917" cy="301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1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otras tres decisiones; no tiene monto propio</a:t>
            </a:r>
            <a:endParaRPr lang="en-US" sz="910" dirty="0"/>
          </a:p>
        </p:txBody>
      </p:sp>
      <p:sp>
        <p:nvSpPr>
          <p:cNvPr id="39" name="Text 37"/>
          <p:cNvSpPr txBox="1"/>
          <p:nvPr/>
        </p:nvSpPr>
        <p:spPr>
          <a:xfrm>
            <a:off x="511956" y="5203353"/>
            <a:ext cx="3006611" cy="316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500" b="1" spc="-5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2.34 M MXN al mes</a:t>
            </a:r>
            <a:endParaRPr lang="en-US" sz="2500" dirty="0"/>
          </a:p>
        </p:txBody>
      </p:sp>
      <p:sp>
        <p:nvSpPr>
          <p:cNvPr id="40" name="Text 38"/>
          <p:cNvSpPr txBox="1"/>
          <p:nvPr/>
        </p:nvSpPr>
        <p:spPr>
          <a:xfrm>
            <a:off x="3559428" y="5348033"/>
            <a:ext cx="6146904" cy="172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1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total (28 M MXN al año). Los montos no se traslapan: salen en cadena del gasto de septiembre.</a:t>
            </a:r>
            <a:endParaRPr lang="en-US" sz="1010" dirty="0"/>
          </a:p>
        </p:txBody>
      </p:sp>
      <p:sp>
        <p:nvSpPr>
          <p:cNvPr id="41" name="Shape 39"/>
          <p:cNvSpPr/>
          <p:nvPr/>
        </p:nvSpPr>
        <p:spPr>
          <a:xfrm>
            <a:off x="511956" y="5857126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70350" y="5981008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43" name="Text 41"/>
          <p:cNvSpPr txBox="1"/>
          <p:nvPr/>
        </p:nvSpPr>
        <p:spPr>
          <a:xfrm>
            <a:off x="1409876" y="5942427"/>
            <a:ext cx="7236615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Ninguna decisión corta el contacto con quien queremos recuperar: cambian canal, frecuencia y medición.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511956" y="6319649"/>
            <a:ext cx="11201798" cy="27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caso de negocio sobre el gasto de septiembre 2026 (4.23 M MXN). 1 = bloqueados 0.17, duplicados 0.02 y pruebas 0.01; 2 = apagar a leads, rehacer correo, limpiar WhatsApp y canal preferido 0.34. Suma con redondeo.</a:t>
            </a:r>
            <a:endParaRPr lang="en-US" sz="840" dirty="0"/>
          </a:p>
        </p:txBody>
      </p:sp>
      <p:sp>
        <p:nvSpPr>
          <p:cNvPr id="45" name="Text 43"/>
          <p:cNvSpPr txBox="1"/>
          <p:nvPr/>
        </p:nvSpPr>
        <p:spPr>
          <a:xfrm>
            <a:off x="11613428" y="6319649"/>
            <a:ext cx="86589" cy="27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4F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2415100"/>
            <a:ext cx="11521105" cy="18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150" b="1" spc="18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ACTO 1 · QUÉ PASA HOY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11956" y="2793378"/>
            <a:ext cx="10064121" cy="982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460" b="1" spc="-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Mandamos mucho y nos responden cada vez menos</a:t>
            </a:r>
            <a:endParaRPr lang="en-US" sz="3460" dirty="0"/>
          </a:p>
        </p:txBody>
      </p:sp>
      <p:sp>
        <p:nvSpPr>
          <p:cNvPr id="4" name="Text 2"/>
          <p:cNvSpPr txBox="1"/>
          <p:nvPr/>
        </p:nvSpPr>
        <p:spPr>
          <a:xfrm>
            <a:off x="511956" y="3971313"/>
            <a:ext cx="8808469" cy="263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4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Cuánto mandamos, cuánto cuesta y por qué cada mensaje responde menos que en enero.</a:t>
            </a:r>
            <a:endParaRPr lang="en-US" sz="1540" dirty="0"/>
          </a:p>
        </p:txBody>
      </p:sp>
      <p:sp>
        <p:nvSpPr>
          <p:cNvPr id="5" name="Text 3"/>
          <p:cNvSpPr txBox="1"/>
          <p:nvPr/>
        </p:nvSpPr>
        <p:spPr>
          <a:xfrm>
            <a:off x="11610413" y="4429466"/>
            <a:ext cx="89694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8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Braze nos cuesta 6.4 M MXN al mes solo en mensajes, y la mitad se va en 22 campañas, sobre todo de WhatsApp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655781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Rescates de Tasa 0, descuentos a inactivos y referidos, casi todo por WhatsApp.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518092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y Product Growth: son dueños de las campañas que más gastan.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575527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 rezagados, ex clientes inactivos y registrados sin crédito.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121417" cy="3834621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de unas 1,070 campañas se llevan 51 % del gasto y traen 17 % de las conversiones atribuidas.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dos de Tasa 0 a leads rezagados de Marketing suman 7.8 M MXN en nueve meses, 7.3 M de ellos por WhatsApp.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es 71 % del gasto. Desde la campaña 666 todo es push e in-app, sin costo.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358516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hay presupuesto de mensajes por equipo ni por campaña: cada equipo ve sus clics, nadie ve el gasto total.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857126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5981008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5942427"/>
            <a:ext cx="5018386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Revisar unas 20 campañas mueve la mitad del gasto: ahí empieza el plan.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319649"/>
            <a:ext cx="11204592" cy="27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comunicación, mes y canal, enero a septiembre 2026. Campaña = nombre sin fecha, todos sus canales. Conversión atribuida = fraccional. WhatsApp 1.00 MXN por entregado, email 0.05 MXN.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616140" y="6319649"/>
            <a:ext cx="83795" cy="27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8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Respaldo de la lámina 5: las 22 campañas que se llevan la mitad del gasto en mensajes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566763"/>
            <a:ext cx="205867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11956" y="1191837"/>
            <a:ext cx="154987" cy="349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</a:t>
            </a:r>
            <a:endParaRPr lang="en-US" sz="790" dirty="0"/>
          </a:p>
        </p:txBody>
      </p:sp>
      <p:sp>
        <p:nvSpPr>
          <p:cNvPr id="5" name="Shape 3"/>
          <p:cNvSpPr/>
          <p:nvPr/>
        </p:nvSpPr>
        <p:spPr>
          <a:xfrm>
            <a:off x="717823" y="1566763"/>
            <a:ext cx="2410729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7823" y="1191837"/>
            <a:ext cx="2425994" cy="349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CAMPAÑA</a:t>
            </a:r>
            <a:endParaRPr lang="en-US" sz="790" dirty="0"/>
          </a:p>
        </p:txBody>
      </p:sp>
      <p:sp>
        <p:nvSpPr>
          <p:cNvPr id="7" name="Shape 5"/>
          <p:cNvSpPr/>
          <p:nvPr/>
        </p:nvSpPr>
        <p:spPr>
          <a:xfrm>
            <a:off x="3128553" y="1566763"/>
            <a:ext cx="473073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28553" y="1191837"/>
            <a:ext cx="430209" cy="349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TICKET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3601626" y="1566763"/>
            <a:ext cx="831005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01626" y="1191837"/>
            <a:ext cx="798879" cy="349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EQUIPO</a:t>
            </a:r>
            <a:endParaRPr lang="en-US" sz="790" dirty="0"/>
          </a:p>
        </p:txBody>
      </p:sp>
      <p:sp>
        <p:nvSpPr>
          <p:cNvPr id="11" name="Shape 9"/>
          <p:cNvSpPr/>
          <p:nvPr/>
        </p:nvSpPr>
        <p:spPr>
          <a:xfrm>
            <a:off x="4432631" y="1566763"/>
            <a:ext cx="934391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32631" y="1191837"/>
            <a:ext cx="905366" cy="349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GASTO 9 MESES (M MXN)</a:t>
            </a:r>
            <a:endParaRPr lang="en-US" sz="790" dirty="0"/>
          </a:p>
        </p:txBody>
      </p:sp>
      <p:sp>
        <p:nvSpPr>
          <p:cNvPr id="13" name="Shape 11"/>
          <p:cNvSpPr/>
          <p:nvPr/>
        </p:nvSpPr>
        <p:spPr>
          <a:xfrm>
            <a:off x="5367022" y="1566763"/>
            <a:ext cx="981261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67022" y="1191837"/>
            <a:ext cx="953643" cy="349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GASTO ACUMULADO</a:t>
            </a:r>
            <a:endParaRPr lang="en-US" sz="790" dirty="0"/>
          </a:p>
        </p:txBody>
      </p:sp>
      <p:sp>
        <p:nvSpPr>
          <p:cNvPr id="15" name="Shape 13"/>
          <p:cNvSpPr/>
          <p:nvPr/>
        </p:nvSpPr>
        <p:spPr>
          <a:xfrm>
            <a:off x="6348284" y="1566763"/>
            <a:ext cx="972822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48284" y="1191837"/>
            <a:ext cx="944950" cy="349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GASTO EN WHATSAPP</a:t>
            </a:r>
            <a:endParaRPr lang="en-US" sz="790" dirty="0"/>
          </a:p>
        </p:txBody>
      </p:sp>
      <p:sp>
        <p:nvSpPr>
          <p:cNvPr id="17" name="Shape 15"/>
          <p:cNvSpPr/>
          <p:nvPr/>
        </p:nvSpPr>
        <p:spPr>
          <a:xfrm>
            <a:off x="7321106" y="1566763"/>
            <a:ext cx="774339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21106" y="1191837"/>
            <a:ext cx="740513" cy="349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MENSAJES (M)</a:t>
            </a:r>
            <a:endParaRPr lang="en-US" sz="790" dirty="0"/>
          </a:p>
        </p:txBody>
      </p:sp>
      <p:sp>
        <p:nvSpPr>
          <p:cNvPr id="19" name="Shape 17"/>
          <p:cNvSpPr/>
          <p:nvPr/>
        </p:nvSpPr>
        <p:spPr>
          <a:xfrm>
            <a:off x="8095445" y="1566763"/>
            <a:ext cx="1041093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95445" y="1191837"/>
            <a:ext cx="1015269" cy="349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CRÉDITOS OTORGADOS</a:t>
            </a:r>
            <a:endParaRPr lang="en-US" sz="790" dirty="0"/>
          </a:p>
        </p:txBody>
      </p:sp>
      <p:sp>
        <p:nvSpPr>
          <p:cNvPr id="21" name="Shape 19"/>
          <p:cNvSpPr/>
          <p:nvPr/>
        </p:nvSpPr>
        <p:spPr>
          <a:xfrm>
            <a:off x="9136537" y="1566763"/>
            <a:ext cx="813372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36537" y="1191837"/>
            <a:ext cx="780717" cy="349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MXN POR CRÉDITO</a:t>
            </a:r>
            <a:endParaRPr lang="en-US" sz="790" dirty="0"/>
          </a:p>
        </p:txBody>
      </p:sp>
      <p:sp>
        <p:nvSpPr>
          <p:cNvPr id="23" name="Shape 21"/>
          <p:cNvSpPr/>
          <p:nvPr/>
        </p:nvSpPr>
        <p:spPr>
          <a:xfrm>
            <a:off x="9949910" y="1566763"/>
            <a:ext cx="803576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949910" y="1191837"/>
            <a:ext cx="770627" cy="349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SOLICITUDES</a:t>
            </a:r>
            <a:endParaRPr lang="en-US" sz="790" dirty="0"/>
          </a:p>
        </p:txBody>
      </p:sp>
      <p:sp>
        <p:nvSpPr>
          <p:cNvPr id="25" name="Shape 23"/>
          <p:cNvSpPr/>
          <p:nvPr/>
        </p:nvSpPr>
        <p:spPr>
          <a:xfrm>
            <a:off x="10753486" y="1566763"/>
            <a:ext cx="925952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753486" y="1191837"/>
            <a:ext cx="896673" cy="349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MXN POR SOLICITUD</a:t>
            </a:r>
            <a:endParaRPr lang="en-US" sz="790" dirty="0"/>
          </a:p>
        </p:txBody>
      </p:sp>
      <p:sp>
        <p:nvSpPr>
          <p:cNvPr id="27" name="Shape 25"/>
          <p:cNvSpPr/>
          <p:nvPr/>
        </p:nvSpPr>
        <p:spPr>
          <a:xfrm>
            <a:off x="511956" y="1723500"/>
            <a:ext cx="20586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11956" y="1586216"/>
            <a:ext cx="15498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717823" y="1723500"/>
            <a:ext cx="241072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17823" y="1586216"/>
            <a:ext cx="2425994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Narrativa Tasa 0 a leads rezagados</a:t>
            </a:r>
            <a:endParaRPr lang="en-US" sz="810" dirty="0"/>
          </a:p>
        </p:txBody>
      </p:sp>
      <p:sp>
        <p:nvSpPr>
          <p:cNvPr id="31" name="Shape 29"/>
          <p:cNvSpPr/>
          <p:nvPr/>
        </p:nvSpPr>
        <p:spPr>
          <a:xfrm>
            <a:off x="3128553" y="1723500"/>
            <a:ext cx="473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128553" y="1586216"/>
            <a:ext cx="43020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B0171</a:t>
            </a:r>
            <a:endParaRPr lang="en-US" sz="810" dirty="0"/>
          </a:p>
        </p:txBody>
      </p:sp>
      <p:sp>
        <p:nvSpPr>
          <p:cNvPr id="33" name="Shape 31"/>
          <p:cNvSpPr/>
          <p:nvPr/>
        </p:nvSpPr>
        <p:spPr>
          <a:xfrm>
            <a:off x="3601626" y="1723500"/>
            <a:ext cx="83100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601626" y="1586216"/>
            <a:ext cx="79887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</a:t>
            </a:r>
            <a:endParaRPr lang="en-US" sz="810" dirty="0"/>
          </a:p>
        </p:txBody>
      </p:sp>
      <p:sp>
        <p:nvSpPr>
          <p:cNvPr id="35" name="Shape 33"/>
          <p:cNvSpPr/>
          <p:nvPr/>
        </p:nvSpPr>
        <p:spPr>
          <a:xfrm>
            <a:off x="4432631" y="1723500"/>
            <a:ext cx="93439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432631" y="1586216"/>
            <a:ext cx="905366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4.29</a:t>
            </a:r>
            <a:endParaRPr lang="en-US" sz="810" dirty="0"/>
          </a:p>
        </p:txBody>
      </p:sp>
      <p:sp>
        <p:nvSpPr>
          <p:cNvPr id="37" name="Shape 35"/>
          <p:cNvSpPr/>
          <p:nvPr/>
        </p:nvSpPr>
        <p:spPr>
          <a:xfrm>
            <a:off x="5367022" y="1723500"/>
            <a:ext cx="98126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367022" y="1586216"/>
            <a:ext cx="95364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7 %</a:t>
            </a:r>
            <a:endParaRPr lang="en-US" sz="810" dirty="0"/>
          </a:p>
        </p:txBody>
      </p:sp>
      <p:sp>
        <p:nvSpPr>
          <p:cNvPr id="39" name="Shape 37"/>
          <p:cNvSpPr/>
          <p:nvPr/>
        </p:nvSpPr>
        <p:spPr>
          <a:xfrm>
            <a:off x="6348284" y="1723500"/>
            <a:ext cx="9728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48284" y="1586216"/>
            <a:ext cx="944950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94 %</a:t>
            </a:r>
            <a:endParaRPr lang="en-US" sz="810" dirty="0"/>
          </a:p>
        </p:txBody>
      </p:sp>
      <p:sp>
        <p:nvSpPr>
          <p:cNvPr id="41" name="Shape 39"/>
          <p:cNvSpPr/>
          <p:nvPr/>
        </p:nvSpPr>
        <p:spPr>
          <a:xfrm>
            <a:off x="7321106" y="1723500"/>
            <a:ext cx="77433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321106" y="1586216"/>
            <a:ext cx="74051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13.1</a:t>
            </a:r>
            <a:endParaRPr lang="en-US" sz="810" dirty="0"/>
          </a:p>
        </p:txBody>
      </p:sp>
      <p:sp>
        <p:nvSpPr>
          <p:cNvPr id="43" name="Shape 41"/>
          <p:cNvSpPr/>
          <p:nvPr/>
        </p:nvSpPr>
        <p:spPr>
          <a:xfrm>
            <a:off x="8095445" y="1723500"/>
            <a:ext cx="10410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095445" y="1586216"/>
            <a:ext cx="101526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9,329</a:t>
            </a:r>
            <a:endParaRPr lang="en-US" sz="810" dirty="0"/>
          </a:p>
        </p:txBody>
      </p:sp>
      <p:sp>
        <p:nvSpPr>
          <p:cNvPr id="45" name="Shape 43"/>
          <p:cNvSpPr/>
          <p:nvPr/>
        </p:nvSpPr>
        <p:spPr>
          <a:xfrm>
            <a:off x="9136537" y="1723500"/>
            <a:ext cx="81337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136537" y="1586216"/>
            <a:ext cx="78071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460</a:t>
            </a:r>
            <a:endParaRPr lang="en-US" sz="810" dirty="0"/>
          </a:p>
        </p:txBody>
      </p:sp>
      <p:sp>
        <p:nvSpPr>
          <p:cNvPr id="47" name="Shape 45"/>
          <p:cNvSpPr/>
          <p:nvPr/>
        </p:nvSpPr>
        <p:spPr>
          <a:xfrm>
            <a:off x="9949910" y="1723500"/>
            <a:ext cx="80357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949910" y="1586216"/>
            <a:ext cx="77062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118,095</a:t>
            </a:r>
            <a:endParaRPr lang="en-US" sz="810" dirty="0"/>
          </a:p>
        </p:txBody>
      </p:sp>
      <p:sp>
        <p:nvSpPr>
          <p:cNvPr id="49" name="Shape 47"/>
          <p:cNvSpPr/>
          <p:nvPr/>
        </p:nvSpPr>
        <p:spPr>
          <a:xfrm>
            <a:off x="10753486" y="1723500"/>
            <a:ext cx="92595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753486" y="1586216"/>
            <a:ext cx="89667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</a:t>
            </a:r>
            <a:endParaRPr lang="en-US" sz="810" dirty="0"/>
          </a:p>
        </p:txBody>
      </p:sp>
      <p:sp>
        <p:nvSpPr>
          <p:cNvPr id="51" name="Shape 49"/>
          <p:cNvSpPr/>
          <p:nvPr/>
        </p:nvSpPr>
        <p:spPr>
          <a:xfrm>
            <a:off x="511956" y="1880236"/>
            <a:ext cx="20586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11956" y="1742952"/>
            <a:ext cx="15498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10" dirty="0"/>
          </a:p>
        </p:txBody>
      </p:sp>
      <p:sp>
        <p:nvSpPr>
          <p:cNvPr id="53" name="Shape 51"/>
          <p:cNvSpPr/>
          <p:nvPr/>
        </p:nvSpPr>
        <p:spPr>
          <a:xfrm>
            <a:off x="717823" y="1880236"/>
            <a:ext cx="241072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17823" y="1742952"/>
            <a:ext cx="2425994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Rescate Tasa 0 a leads rezagados</a:t>
            </a:r>
            <a:endParaRPr lang="en-US" sz="810" dirty="0"/>
          </a:p>
        </p:txBody>
      </p:sp>
      <p:sp>
        <p:nvSpPr>
          <p:cNvPr id="55" name="Shape 53"/>
          <p:cNvSpPr/>
          <p:nvPr/>
        </p:nvSpPr>
        <p:spPr>
          <a:xfrm>
            <a:off x="3128553" y="1880236"/>
            <a:ext cx="473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128553" y="1742952"/>
            <a:ext cx="43020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B0171</a:t>
            </a:r>
            <a:endParaRPr lang="en-US" sz="810" dirty="0"/>
          </a:p>
        </p:txBody>
      </p:sp>
      <p:sp>
        <p:nvSpPr>
          <p:cNvPr id="57" name="Shape 55"/>
          <p:cNvSpPr/>
          <p:nvPr/>
        </p:nvSpPr>
        <p:spPr>
          <a:xfrm>
            <a:off x="3601626" y="1880236"/>
            <a:ext cx="83100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601626" y="1742952"/>
            <a:ext cx="79887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</a:t>
            </a:r>
            <a:endParaRPr lang="en-US" sz="810" dirty="0"/>
          </a:p>
        </p:txBody>
      </p:sp>
      <p:sp>
        <p:nvSpPr>
          <p:cNvPr id="59" name="Shape 57"/>
          <p:cNvSpPr/>
          <p:nvPr/>
        </p:nvSpPr>
        <p:spPr>
          <a:xfrm>
            <a:off x="4432631" y="1880236"/>
            <a:ext cx="93439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432631" y="1742952"/>
            <a:ext cx="905366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3.55</a:t>
            </a:r>
            <a:endParaRPr lang="en-US" sz="810" dirty="0"/>
          </a:p>
        </p:txBody>
      </p:sp>
      <p:sp>
        <p:nvSpPr>
          <p:cNvPr id="61" name="Shape 59"/>
          <p:cNvSpPr/>
          <p:nvPr/>
        </p:nvSpPr>
        <p:spPr>
          <a:xfrm>
            <a:off x="5367022" y="1880236"/>
            <a:ext cx="98126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367022" y="1742952"/>
            <a:ext cx="95364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14 %</a:t>
            </a:r>
            <a:endParaRPr lang="en-US" sz="810" dirty="0"/>
          </a:p>
        </p:txBody>
      </p:sp>
      <p:sp>
        <p:nvSpPr>
          <p:cNvPr id="63" name="Shape 61"/>
          <p:cNvSpPr/>
          <p:nvPr/>
        </p:nvSpPr>
        <p:spPr>
          <a:xfrm>
            <a:off x="6348284" y="1880236"/>
            <a:ext cx="9728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348284" y="1742952"/>
            <a:ext cx="944950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93 %</a:t>
            </a:r>
            <a:endParaRPr lang="en-US" sz="810" dirty="0"/>
          </a:p>
        </p:txBody>
      </p:sp>
      <p:sp>
        <p:nvSpPr>
          <p:cNvPr id="65" name="Shape 63"/>
          <p:cNvSpPr/>
          <p:nvPr/>
        </p:nvSpPr>
        <p:spPr>
          <a:xfrm>
            <a:off x="7321106" y="1880236"/>
            <a:ext cx="77433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7321106" y="1742952"/>
            <a:ext cx="74051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16.4</a:t>
            </a:r>
            <a:endParaRPr lang="en-US" sz="810" dirty="0"/>
          </a:p>
        </p:txBody>
      </p:sp>
      <p:sp>
        <p:nvSpPr>
          <p:cNvPr id="67" name="Shape 65"/>
          <p:cNvSpPr/>
          <p:nvPr/>
        </p:nvSpPr>
        <p:spPr>
          <a:xfrm>
            <a:off x="8095445" y="1880236"/>
            <a:ext cx="10410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095445" y="1742952"/>
            <a:ext cx="101526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9,052</a:t>
            </a:r>
            <a:endParaRPr lang="en-US" sz="810" dirty="0"/>
          </a:p>
        </p:txBody>
      </p:sp>
      <p:sp>
        <p:nvSpPr>
          <p:cNvPr id="69" name="Shape 67"/>
          <p:cNvSpPr/>
          <p:nvPr/>
        </p:nvSpPr>
        <p:spPr>
          <a:xfrm>
            <a:off x="9136537" y="1880236"/>
            <a:ext cx="81337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9136537" y="1742952"/>
            <a:ext cx="78071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392</a:t>
            </a:r>
            <a:endParaRPr lang="en-US" sz="810" dirty="0"/>
          </a:p>
        </p:txBody>
      </p:sp>
      <p:sp>
        <p:nvSpPr>
          <p:cNvPr id="71" name="Shape 69"/>
          <p:cNvSpPr/>
          <p:nvPr/>
        </p:nvSpPr>
        <p:spPr>
          <a:xfrm>
            <a:off x="9949910" y="1880236"/>
            <a:ext cx="80357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9949910" y="1742952"/>
            <a:ext cx="77062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102,878</a:t>
            </a:r>
            <a:endParaRPr lang="en-US" sz="810" dirty="0"/>
          </a:p>
        </p:txBody>
      </p:sp>
      <p:sp>
        <p:nvSpPr>
          <p:cNvPr id="73" name="Shape 71"/>
          <p:cNvSpPr/>
          <p:nvPr/>
        </p:nvSpPr>
        <p:spPr>
          <a:xfrm>
            <a:off x="10753486" y="1880236"/>
            <a:ext cx="92595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10753486" y="1742952"/>
            <a:ext cx="89667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</a:t>
            </a:r>
            <a:endParaRPr lang="en-US" sz="810" dirty="0"/>
          </a:p>
        </p:txBody>
      </p:sp>
      <p:sp>
        <p:nvSpPr>
          <p:cNvPr id="75" name="Shape 73"/>
          <p:cNvSpPr/>
          <p:nvPr/>
        </p:nvSpPr>
        <p:spPr>
          <a:xfrm>
            <a:off x="511956" y="2036973"/>
            <a:ext cx="20586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511956" y="1899689"/>
            <a:ext cx="15498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10" dirty="0"/>
          </a:p>
        </p:txBody>
      </p:sp>
      <p:sp>
        <p:nvSpPr>
          <p:cNvPr id="77" name="Shape 75"/>
          <p:cNvSpPr/>
          <p:nvPr/>
        </p:nvSpPr>
        <p:spPr>
          <a:xfrm>
            <a:off x="717823" y="2036973"/>
            <a:ext cx="241072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717823" y="1899689"/>
            <a:ext cx="2425994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Descuento directo a clientes inactivos</a:t>
            </a:r>
            <a:endParaRPr lang="en-US" sz="810" dirty="0"/>
          </a:p>
        </p:txBody>
      </p:sp>
      <p:sp>
        <p:nvSpPr>
          <p:cNvPr id="79" name="Shape 77"/>
          <p:cNvSpPr/>
          <p:nvPr/>
        </p:nvSpPr>
        <p:spPr>
          <a:xfrm>
            <a:off x="3128553" y="2036973"/>
            <a:ext cx="473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3128553" y="1899689"/>
            <a:ext cx="43020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B0209</a:t>
            </a:r>
            <a:endParaRPr lang="en-US" sz="810" dirty="0"/>
          </a:p>
        </p:txBody>
      </p:sp>
      <p:sp>
        <p:nvSpPr>
          <p:cNvPr id="81" name="Shape 79"/>
          <p:cNvSpPr/>
          <p:nvPr/>
        </p:nvSpPr>
        <p:spPr>
          <a:xfrm>
            <a:off x="3601626" y="2036973"/>
            <a:ext cx="83100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3601626" y="1899689"/>
            <a:ext cx="79887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</a:t>
            </a:r>
            <a:endParaRPr lang="en-US" sz="810" dirty="0"/>
          </a:p>
        </p:txBody>
      </p:sp>
      <p:sp>
        <p:nvSpPr>
          <p:cNvPr id="83" name="Shape 81"/>
          <p:cNvSpPr/>
          <p:nvPr/>
        </p:nvSpPr>
        <p:spPr>
          <a:xfrm>
            <a:off x="4432631" y="2036973"/>
            <a:ext cx="93439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4432631" y="1899689"/>
            <a:ext cx="905366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1.90</a:t>
            </a:r>
            <a:endParaRPr lang="en-US" sz="810" dirty="0"/>
          </a:p>
        </p:txBody>
      </p:sp>
      <p:sp>
        <p:nvSpPr>
          <p:cNvPr id="85" name="Shape 83"/>
          <p:cNvSpPr/>
          <p:nvPr/>
        </p:nvSpPr>
        <p:spPr>
          <a:xfrm>
            <a:off x="5367022" y="2036973"/>
            <a:ext cx="98126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5367022" y="1899689"/>
            <a:ext cx="95364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17 %</a:t>
            </a:r>
            <a:endParaRPr lang="en-US" sz="810" dirty="0"/>
          </a:p>
        </p:txBody>
      </p:sp>
      <p:sp>
        <p:nvSpPr>
          <p:cNvPr id="87" name="Shape 85"/>
          <p:cNvSpPr/>
          <p:nvPr/>
        </p:nvSpPr>
        <p:spPr>
          <a:xfrm>
            <a:off x="6348284" y="2036973"/>
            <a:ext cx="9728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6348284" y="1899689"/>
            <a:ext cx="944950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78 %</a:t>
            </a:r>
            <a:endParaRPr lang="en-US" sz="810" dirty="0"/>
          </a:p>
        </p:txBody>
      </p:sp>
      <p:sp>
        <p:nvSpPr>
          <p:cNvPr id="89" name="Shape 87"/>
          <p:cNvSpPr/>
          <p:nvPr/>
        </p:nvSpPr>
        <p:spPr>
          <a:xfrm>
            <a:off x="7321106" y="2036973"/>
            <a:ext cx="77433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7321106" y="1899689"/>
            <a:ext cx="74051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14.4</a:t>
            </a:r>
            <a:endParaRPr lang="en-US" sz="810" dirty="0"/>
          </a:p>
        </p:txBody>
      </p:sp>
      <p:sp>
        <p:nvSpPr>
          <p:cNvPr id="91" name="Shape 89"/>
          <p:cNvSpPr/>
          <p:nvPr/>
        </p:nvSpPr>
        <p:spPr>
          <a:xfrm>
            <a:off x="8095445" y="2036973"/>
            <a:ext cx="10410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8095445" y="1899689"/>
            <a:ext cx="101526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22,540</a:t>
            </a:r>
            <a:endParaRPr lang="en-US" sz="810" dirty="0"/>
          </a:p>
        </p:txBody>
      </p:sp>
      <p:sp>
        <p:nvSpPr>
          <p:cNvPr id="93" name="Shape 91"/>
          <p:cNvSpPr/>
          <p:nvPr/>
        </p:nvSpPr>
        <p:spPr>
          <a:xfrm>
            <a:off x="9136537" y="2036973"/>
            <a:ext cx="81337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9136537" y="1899689"/>
            <a:ext cx="78071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</a:t>
            </a:r>
            <a:endParaRPr lang="en-US" sz="810" dirty="0"/>
          </a:p>
        </p:txBody>
      </p:sp>
      <p:sp>
        <p:nvSpPr>
          <p:cNvPr id="95" name="Shape 93"/>
          <p:cNvSpPr/>
          <p:nvPr/>
        </p:nvSpPr>
        <p:spPr>
          <a:xfrm>
            <a:off x="9949910" y="2036973"/>
            <a:ext cx="80357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9949910" y="1899689"/>
            <a:ext cx="77062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139,900</a:t>
            </a:r>
            <a:endParaRPr lang="en-US" sz="810" dirty="0"/>
          </a:p>
        </p:txBody>
      </p:sp>
      <p:sp>
        <p:nvSpPr>
          <p:cNvPr id="97" name="Shape 95"/>
          <p:cNvSpPr/>
          <p:nvPr/>
        </p:nvSpPr>
        <p:spPr>
          <a:xfrm>
            <a:off x="10753486" y="2036973"/>
            <a:ext cx="92595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10753486" y="1899689"/>
            <a:ext cx="89667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810" dirty="0"/>
          </a:p>
        </p:txBody>
      </p:sp>
      <p:sp>
        <p:nvSpPr>
          <p:cNvPr id="99" name="Shape 97"/>
          <p:cNvSpPr/>
          <p:nvPr/>
        </p:nvSpPr>
        <p:spPr>
          <a:xfrm>
            <a:off x="511956" y="2193709"/>
            <a:ext cx="20586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511956" y="2056426"/>
            <a:ext cx="15498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810" dirty="0"/>
          </a:p>
        </p:txBody>
      </p:sp>
      <p:sp>
        <p:nvSpPr>
          <p:cNvPr id="101" name="Shape 99"/>
          <p:cNvSpPr/>
          <p:nvPr/>
        </p:nvSpPr>
        <p:spPr>
          <a:xfrm>
            <a:off x="717823" y="2193709"/>
            <a:ext cx="241072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717823" y="2056426"/>
            <a:ext cx="2425994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 clientes KPay con 12 meses sin uso</a:t>
            </a:r>
            <a:endParaRPr lang="en-US" sz="810" dirty="0"/>
          </a:p>
        </p:txBody>
      </p:sp>
      <p:sp>
        <p:nvSpPr>
          <p:cNvPr id="103" name="Shape 101"/>
          <p:cNvSpPr/>
          <p:nvPr/>
        </p:nvSpPr>
        <p:spPr>
          <a:xfrm>
            <a:off x="3128553" y="2193709"/>
            <a:ext cx="473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3128553" y="2056426"/>
            <a:ext cx="43020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B0333</a:t>
            </a:r>
            <a:endParaRPr lang="en-US" sz="810" dirty="0"/>
          </a:p>
        </p:txBody>
      </p:sp>
      <p:sp>
        <p:nvSpPr>
          <p:cNvPr id="105" name="Shape 103"/>
          <p:cNvSpPr/>
          <p:nvPr/>
        </p:nvSpPr>
        <p:spPr>
          <a:xfrm>
            <a:off x="3601626" y="2193709"/>
            <a:ext cx="83100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3601626" y="2056426"/>
            <a:ext cx="79887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</a:t>
            </a:r>
            <a:endParaRPr lang="en-US" sz="810" dirty="0"/>
          </a:p>
        </p:txBody>
      </p:sp>
      <p:sp>
        <p:nvSpPr>
          <p:cNvPr id="107" name="Shape 105"/>
          <p:cNvSpPr/>
          <p:nvPr/>
        </p:nvSpPr>
        <p:spPr>
          <a:xfrm>
            <a:off x="4432631" y="2193709"/>
            <a:ext cx="93439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4432631" y="2056426"/>
            <a:ext cx="905366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1.89</a:t>
            </a:r>
            <a:endParaRPr lang="en-US" sz="810" dirty="0"/>
          </a:p>
        </p:txBody>
      </p:sp>
      <p:sp>
        <p:nvSpPr>
          <p:cNvPr id="109" name="Shape 107"/>
          <p:cNvSpPr/>
          <p:nvPr/>
        </p:nvSpPr>
        <p:spPr>
          <a:xfrm>
            <a:off x="5367022" y="2193709"/>
            <a:ext cx="98126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5367022" y="2056426"/>
            <a:ext cx="95364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20 %</a:t>
            </a:r>
            <a:endParaRPr lang="en-US" sz="810" dirty="0"/>
          </a:p>
        </p:txBody>
      </p:sp>
      <p:sp>
        <p:nvSpPr>
          <p:cNvPr id="111" name="Shape 109"/>
          <p:cNvSpPr/>
          <p:nvPr/>
        </p:nvSpPr>
        <p:spPr>
          <a:xfrm>
            <a:off x="6348284" y="2193709"/>
            <a:ext cx="9728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6348284" y="2056426"/>
            <a:ext cx="944950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91 %</a:t>
            </a:r>
            <a:endParaRPr lang="en-US" sz="810" dirty="0"/>
          </a:p>
        </p:txBody>
      </p:sp>
      <p:sp>
        <p:nvSpPr>
          <p:cNvPr id="113" name="Shape 111"/>
          <p:cNvSpPr/>
          <p:nvPr/>
        </p:nvSpPr>
        <p:spPr>
          <a:xfrm>
            <a:off x="7321106" y="2193709"/>
            <a:ext cx="77433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7321106" y="2056426"/>
            <a:ext cx="74051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7.3</a:t>
            </a:r>
            <a:endParaRPr lang="en-US" sz="810" dirty="0"/>
          </a:p>
        </p:txBody>
      </p:sp>
      <p:sp>
        <p:nvSpPr>
          <p:cNvPr id="115" name="Shape 113"/>
          <p:cNvSpPr/>
          <p:nvPr/>
        </p:nvSpPr>
        <p:spPr>
          <a:xfrm>
            <a:off x="8095445" y="2193709"/>
            <a:ext cx="10410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8095445" y="2056426"/>
            <a:ext cx="101526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3,050</a:t>
            </a:r>
            <a:endParaRPr lang="en-US" sz="810" dirty="0"/>
          </a:p>
        </p:txBody>
      </p:sp>
      <p:sp>
        <p:nvSpPr>
          <p:cNvPr id="117" name="Shape 115"/>
          <p:cNvSpPr/>
          <p:nvPr/>
        </p:nvSpPr>
        <p:spPr>
          <a:xfrm>
            <a:off x="9136537" y="2193709"/>
            <a:ext cx="81337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9136537" y="2056426"/>
            <a:ext cx="78071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620</a:t>
            </a:r>
            <a:endParaRPr lang="en-US" sz="810" dirty="0"/>
          </a:p>
        </p:txBody>
      </p:sp>
      <p:sp>
        <p:nvSpPr>
          <p:cNvPr id="119" name="Shape 117"/>
          <p:cNvSpPr/>
          <p:nvPr/>
        </p:nvSpPr>
        <p:spPr>
          <a:xfrm>
            <a:off x="9949910" y="2193709"/>
            <a:ext cx="80357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9949910" y="2056426"/>
            <a:ext cx="77062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11,625</a:t>
            </a:r>
            <a:endParaRPr lang="en-US" sz="810" dirty="0"/>
          </a:p>
        </p:txBody>
      </p:sp>
      <p:sp>
        <p:nvSpPr>
          <p:cNvPr id="121" name="Shape 119"/>
          <p:cNvSpPr/>
          <p:nvPr/>
        </p:nvSpPr>
        <p:spPr>
          <a:xfrm>
            <a:off x="10753486" y="2193709"/>
            <a:ext cx="92595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10753486" y="2056426"/>
            <a:ext cx="89667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163</a:t>
            </a:r>
            <a:endParaRPr lang="en-US" sz="810" dirty="0"/>
          </a:p>
        </p:txBody>
      </p:sp>
      <p:sp>
        <p:nvSpPr>
          <p:cNvPr id="123" name="Shape 121"/>
          <p:cNvSpPr/>
          <p:nvPr/>
        </p:nvSpPr>
        <p:spPr>
          <a:xfrm>
            <a:off x="511956" y="2350446"/>
            <a:ext cx="20586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511956" y="2213162"/>
            <a:ext cx="15498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810" dirty="0"/>
          </a:p>
        </p:txBody>
      </p:sp>
      <p:sp>
        <p:nvSpPr>
          <p:cNvPr id="125" name="Shape 123"/>
          <p:cNvSpPr/>
          <p:nvPr/>
        </p:nvSpPr>
        <p:spPr>
          <a:xfrm>
            <a:off x="717823" y="2350446"/>
            <a:ext cx="241072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717823" y="2213162"/>
            <a:ext cx="2425994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0 a registrados de KPay</a:t>
            </a:r>
            <a:endParaRPr lang="en-US" sz="810" dirty="0"/>
          </a:p>
        </p:txBody>
      </p:sp>
      <p:sp>
        <p:nvSpPr>
          <p:cNvPr id="127" name="Shape 125"/>
          <p:cNvSpPr/>
          <p:nvPr/>
        </p:nvSpPr>
        <p:spPr>
          <a:xfrm>
            <a:off x="3128553" y="2350446"/>
            <a:ext cx="473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3128553" y="2213162"/>
            <a:ext cx="43020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B0211</a:t>
            </a:r>
            <a:endParaRPr lang="en-US" sz="810" dirty="0"/>
          </a:p>
        </p:txBody>
      </p:sp>
      <p:sp>
        <p:nvSpPr>
          <p:cNvPr id="129" name="Shape 127"/>
          <p:cNvSpPr/>
          <p:nvPr/>
        </p:nvSpPr>
        <p:spPr>
          <a:xfrm>
            <a:off x="3601626" y="2350446"/>
            <a:ext cx="83100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3601626" y="2213162"/>
            <a:ext cx="79887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</a:t>
            </a:r>
            <a:endParaRPr lang="en-US" sz="810" dirty="0"/>
          </a:p>
        </p:txBody>
      </p:sp>
      <p:sp>
        <p:nvSpPr>
          <p:cNvPr id="131" name="Shape 129"/>
          <p:cNvSpPr/>
          <p:nvPr/>
        </p:nvSpPr>
        <p:spPr>
          <a:xfrm>
            <a:off x="4432631" y="2350446"/>
            <a:ext cx="93439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4432631" y="2213162"/>
            <a:ext cx="905366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1.75</a:t>
            </a:r>
            <a:endParaRPr lang="en-US" sz="810" dirty="0"/>
          </a:p>
        </p:txBody>
      </p:sp>
      <p:sp>
        <p:nvSpPr>
          <p:cNvPr id="133" name="Shape 131"/>
          <p:cNvSpPr/>
          <p:nvPr/>
        </p:nvSpPr>
        <p:spPr>
          <a:xfrm>
            <a:off x="5367022" y="2350446"/>
            <a:ext cx="98126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5367022" y="2213162"/>
            <a:ext cx="95364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23 %</a:t>
            </a:r>
            <a:endParaRPr lang="en-US" sz="810" dirty="0"/>
          </a:p>
        </p:txBody>
      </p:sp>
      <p:sp>
        <p:nvSpPr>
          <p:cNvPr id="135" name="Shape 133"/>
          <p:cNvSpPr/>
          <p:nvPr/>
        </p:nvSpPr>
        <p:spPr>
          <a:xfrm>
            <a:off x="6348284" y="2350446"/>
            <a:ext cx="9728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6" name="Text 134"/>
          <p:cNvSpPr txBox="1"/>
          <p:nvPr/>
        </p:nvSpPr>
        <p:spPr>
          <a:xfrm>
            <a:off x="6348284" y="2213162"/>
            <a:ext cx="944950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0 %</a:t>
            </a:r>
            <a:endParaRPr lang="en-US" sz="810" dirty="0"/>
          </a:p>
        </p:txBody>
      </p:sp>
      <p:sp>
        <p:nvSpPr>
          <p:cNvPr id="137" name="Shape 135"/>
          <p:cNvSpPr/>
          <p:nvPr/>
        </p:nvSpPr>
        <p:spPr>
          <a:xfrm>
            <a:off x="7321106" y="2350446"/>
            <a:ext cx="77433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8" name="Text 136"/>
          <p:cNvSpPr txBox="1"/>
          <p:nvPr/>
        </p:nvSpPr>
        <p:spPr>
          <a:xfrm>
            <a:off x="7321106" y="2213162"/>
            <a:ext cx="74051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40.1</a:t>
            </a:r>
            <a:endParaRPr lang="en-US" sz="810" dirty="0"/>
          </a:p>
        </p:txBody>
      </p:sp>
      <p:sp>
        <p:nvSpPr>
          <p:cNvPr id="139" name="Shape 137"/>
          <p:cNvSpPr/>
          <p:nvPr/>
        </p:nvSpPr>
        <p:spPr>
          <a:xfrm>
            <a:off x="8095445" y="2350446"/>
            <a:ext cx="10410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0" name="Text 138"/>
          <p:cNvSpPr txBox="1"/>
          <p:nvPr/>
        </p:nvSpPr>
        <p:spPr>
          <a:xfrm>
            <a:off x="8095445" y="2213162"/>
            <a:ext cx="101526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5,429</a:t>
            </a:r>
            <a:endParaRPr lang="en-US" sz="810" dirty="0"/>
          </a:p>
        </p:txBody>
      </p:sp>
      <p:sp>
        <p:nvSpPr>
          <p:cNvPr id="141" name="Shape 139"/>
          <p:cNvSpPr/>
          <p:nvPr/>
        </p:nvSpPr>
        <p:spPr>
          <a:xfrm>
            <a:off x="9136537" y="2350446"/>
            <a:ext cx="81337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2" name="Text 140"/>
          <p:cNvSpPr txBox="1"/>
          <p:nvPr/>
        </p:nvSpPr>
        <p:spPr>
          <a:xfrm>
            <a:off x="9136537" y="2213162"/>
            <a:ext cx="78071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322</a:t>
            </a:r>
            <a:endParaRPr lang="en-US" sz="810" dirty="0"/>
          </a:p>
        </p:txBody>
      </p:sp>
      <p:sp>
        <p:nvSpPr>
          <p:cNvPr id="143" name="Shape 141"/>
          <p:cNvSpPr/>
          <p:nvPr/>
        </p:nvSpPr>
        <p:spPr>
          <a:xfrm>
            <a:off x="9949910" y="2350446"/>
            <a:ext cx="80357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4" name="Text 142"/>
          <p:cNvSpPr txBox="1"/>
          <p:nvPr/>
        </p:nvSpPr>
        <p:spPr>
          <a:xfrm>
            <a:off x="9949910" y="2213162"/>
            <a:ext cx="77062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81,771</a:t>
            </a:r>
            <a:endParaRPr lang="en-US" sz="810" dirty="0"/>
          </a:p>
        </p:txBody>
      </p:sp>
      <p:sp>
        <p:nvSpPr>
          <p:cNvPr id="145" name="Shape 143"/>
          <p:cNvSpPr/>
          <p:nvPr/>
        </p:nvSpPr>
        <p:spPr>
          <a:xfrm>
            <a:off x="10753486" y="2350446"/>
            <a:ext cx="92595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6" name="Text 144"/>
          <p:cNvSpPr txBox="1"/>
          <p:nvPr/>
        </p:nvSpPr>
        <p:spPr>
          <a:xfrm>
            <a:off x="10753486" y="2213162"/>
            <a:ext cx="89667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810" dirty="0"/>
          </a:p>
        </p:txBody>
      </p:sp>
      <p:sp>
        <p:nvSpPr>
          <p:cNvPr id="147" name="Shape 145"/>
          <p:cNvSpPr/>
          <p:nvPr/>
        </p:nvSpPr>
        <p:spPr>
          <a:xfrm>
            <a:off x="511956" y="2507183"/>
            <a:ext cx="20586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8" name="Text 146"/>
          <p:cNvSpPr txBox="1"/>
          <p:nvPr/>
        </p:nvSpPr>
        <p:spPr>
          <a:xfrm>
            <a:off x="511956" y="2369899"/>
            <a:ext cx="15498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810" dirty="0"/>
          </a:p>
        </p:txBody>
      </p:sp>
      <p:sp>
        <p:nvSpPr>
          <p:cNvPr id="149" name="Shape 147"/>
          <p:cNvSpPr/>
          <p:nvPr/>
        </p:nvSpPr>
        <p:spPr>
          <a:xfrm>
            <a:off x="717823" y="2507183"/>
            <a:ext cx="241072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50" name="Text 148"/>
          <p:cNvSpPr txBox="1"/>
          <p:nvPr/>
        </p:nvSpPr>
        <p:spPr>
          <a:xfrm>
            <a:off x="717823" y="2369899"/>
            <a:ext cx="2425994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Referidos a leads</a:t>
            </a:r>
            <a:endParaRPr lang="en-US" sz="810" dirty="0"/>
          </a:p>
        </p:txBody>
      </p:sp>
      <p:sp>
        <p:nvSpPr>
          <p:cNvPr id="151" name="Shape 149"/>
          <p:cNvSpPr/>
          <p:nvPr/>
        </p:nvSpPr>
        <p:spPr>
          <a:xfrm>
            <a:off x="3128553" y="2507183"/>
            <a:ext cx="473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52" name="Text 150"/>
          <p:cNvSpPr txBox="1"/>
          <p:nvPr/>
        </p:nvSpPr>
        <p:spPr>
          <a:xfrm>
            <a:off x="3128553" y="2369899"/>
            <a:ext cx="43020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B0326</a:t>
            </a:r>
            <a:endParaRPr lang="en-US" sz="810" dirty="0"/>
          </a:p>
        </p:txBody>
      </p:sp>
      <p:sp>
        <p:nvSpPr>
          <p:cNvPr id="153" name="Shape 151"/>
          <p:cNvSpPr/>
          <p:nvPr/>
        </p:nvSpPr>
        <p:spPr>
          <a:xfrm>
            <a:off x="3601626" y="2507183"/>
            <a:ext cx="83100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54" name="Text 152"/>
          <p:cNvSpPr txBox="1"/>
          <p:nvPr/>
        </p:nvSpPr>
        <p:spPr>
          <a:xfrm>
            <a:off x="3601626" y="2369899"/>
            <a:ext cx="79887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</a:t>
            </a:r>
            <a:endParaRPr lang="en-US" sz="810" dirty="0"/>
          </a:p>
        </p:txBody>
      </p:sp>
      <p:sp>
        <p:nvSpPr>
          <p:cNvPr id="155" name="Shape 153"/>
          <p:cNvSpPr/>
          <p:nvPr/>
        </p:nvSpPr>
        <p:spPr>
          <a:xfrm>
            <a:off x="4432631" y="2507183"/>
            <a:ext cx="93439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56" name="Text 154"/>
          <p:cNvSpPr txBox="1"/>
          <p:nvPr/>
        </p:nvSpPr>
        <p:spPr>
          <a:xfrm>
            <a:off x="4432631" y="2369899"/>
            <a:ext cx="905366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1.72</a:t>
            </a:r>
            <a:endParaRPr lang="en-US" sz="810" dirty="0"/>
          </a:p>
        </p:txBody>
      </p:sp>
      <p:sp>
        <p:nvSpPr>
          <p:cNvPr id="157" name="Shape 155"/>
          <p:cNvSpPr/>
          <p:nvPr/>
        </p:nvSpPr>
        <p:spPr>
          <a:xfrm>
            <a:off x="5367022" y="2507183"/>
            <a:ext cx="98126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58" name="Text 156"/>
          <p:cNvSpPr txBox="1"/>
          <p:nvPr/>
        </p:nvSpPr>
        <p:spPr>
          <a:xfrm>
            <a:off x="5367022" y="2369899"/>
            <a:ext cx="95364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26 %</a:t>
            </a:r>
            <a:endParaRPr lang="en-US" sz="810" dirty="0"/>
          </a:p>
        </p:txBody>
      </p:sp>
      <p:sp>
        <p:nvSpPr>
          <p:cNvPr id="159" name="Shape 157"/>
          <p:cNvSpPr/>
          <p:nvPr/>
        </p:nvSpPr>
        <p:spPr>
          <a:xfrm>
            <a:off x="6348284" y="2507183"/>
            <a:ext cx="9728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60" name="Text 158"/>
          <p:cNvSpPr txBox="1"/>
          <p:nvPr/>
        </p:nvSpPr>
        <p:spPr>
          <a:xfrm>
            <a:off x="6348284" y="2369899"/>
            <a:ext cx="944950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75 %</a:t>
            </a:r>
            <a:endParaRPr lang="en-US" sz="810" dirty="0"/>
          </a:p>
        </p:txBody>
      </p:sp>
      <p:sp>
        <p:nvSpPr>
          <p:cNvPr id="161" name="Shape 159"/>
          <p:cNvSpPr/>
          <p:nvPr/>
        </p:nvSpPr>
        <p:spPr>
          <a:xfrm>
            <a:off x="7321106" y="2507183"/>
            <a:ext cx="77433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62" name="Text 160"/>
          <p:cNvSpPr txBox="1"/>
          <p:nvPr/>
        </p:nvSpPr>
        <p:spPr>
          <a:xfrm>
            <a:off x="7321106" y="2369899"/>
            <a:ext cx="74051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17.1</a:t>
            </a:r>
            <a:endParaRPr lang="en-US" sz="810" dirty="0"/>
          </a:p>
        </p:txBody>
      </p:sp>
      <p:sp>
        <p:nvSpPr>
          <p:cNvPr id="163" name="Shape 161"/>
          <p:cNvSpPr/>
          <p:nvPr/>
        </p:nvSpPr>
        <p:spPr>
          <a:xfrm>
            <a:off x="8095445" y="2507183"/>
            <a:ext cx="10410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64" name="Text 162"/>
          <p:cNvSpPr txBox="1"/>
          <p:nvPr/>
        </p:nvSpPr>
        <p:spPr>
          <a:xfrm>
            <a:off x="8095445" y="2369899"/>
            <a:ext cx="101526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18,919</a:t>
            </a:r>
            <a:endParaRPr lang="en-US" sz="810" dirty="0"/>
          </a:p>
        </p:txBody>
      </p:sp>
      <p:sp>
        <p:nvSpPr>
          <p:cNvPr id="165" name="Shape 163"/>
          <p:cNvSpPr/>
          <p:nvPr/>
        </p:nvSpPr>
        <p:spPr>
          <a:xfrm>
            <a:off x="9136537" y="2507183"/>
            <a:ext cx="81337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66" name="Text 164"/>
          <p:cNvSpPr txBox="1"/>
          <p:nvPr/>
        </p:nvSpPr>
        <p:spPr>
          <a:xfrm>
            <a:off x="9136537" y="2369899"/>
            <a:ext cx="78071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91</a:t>
            </a:r>
            <a:endParaRPr lang="en-US" sz="810" dirty="0"/>
          </a:p>
        </p:txBody>
      </p:sp>
      <p:sp>
        <p:nvSpPr>
          <p:cNvPr id="167" name="Shape 165"/>
          <p:cNvSpPr/>
          <p:nvPr/>
        </p:nvSpPr>
        <p:spPr>
          <a:xfrm>
            <a:off x="9949910" y="2507183"/>
            <a:ext cx="80357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68" name="Text 166"/>
          <p:cNvSpPr txBox="1"/>
          <p:nvPr/>
        </p:nvSpPr>
        <p:spPr>
          <a:xfrm>
            <a:off x="9949910" y="2369899"/>
            <a:ext cx="77062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102,574</a:t>
            </a:r>
            <a:endParaRPr lang="en-US" sz="810" dirty="0"/>
          </a:p>
        </p:txBody>
      </p:sp>
      <p:sp>
        <p:nvSpPr>
          <p:cNvPr id="169" name="Shape 167"/>
          <p:cNvSpPr/>
          <p:nvPr/>
        </p:nvSpPr>
        <p:spPr>
          <a:xfrm>
            <a:off x="10753486" y="2507183"/>
            <a:ext cx="92595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70" name="Text 168"/>
          <p:cNvSpPr txBox="1"/>
          <p:nvPr/>
        </p:nvSpPr>
        <p:spPr>
          <a:xfrm>
            <a:off x="10753486" y="2369899"/>
            <a:ext cx="89667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810" dirty="0"/>
          </a:p>
        </p:txBody>
      </p:sp>
      <p:sp>
        <p:nvSpPr>
          <p:cNvPr id="171" name="Shape 169"/>
          <p:cNvSpPr/>
          <p:nvPr/>
        </p:nvSpPr>
        <p:spPr>
          <a:xfrm>
            <a:off x="511956" y="2663919"/>
            <a:ext cx="20586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72" name="Text 170"/>
          <p:cNvSpPr txBox="1"/>
          <p:nvPr/>
        </p:nvSpPr>
        <p:spPr>
          <a:xfrm>
            <a:off x="511956" y="2526635"/>
            <a:ext cx="15498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810" dirty="0"/>
          </a:p>
        </p:txBody>
      </p:sp>
      <p:sp>
        <p:nvSpPr>
          <p:cNvPr id="173" name="Shape 171"/>
          <p:cNvSpPr/>
          <p:nvPr/>
        </p:nvSpPr>
        <p:spPr>
          <a:xfrm>
            <a:off x="717823" y="2663919"/>
            <a:ext cx="241072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74" name="Text 172"/>
          <p:cNvSpPr txBox="1"/>
          <p:nvPr/>
        </p:nvSpPr>
        <p:spPr>
          <a:xfrm>
            <a:off x="717823" y="2526635"/>
            <a:ext cx="2425994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Installments a quien nunca activó</a:t>
            </a:r>
            <a:endParaRPr lang="en-US" sz="810" dirty="0"/>
          </a:p>
        </p:txBody>
      </p:sp>
      <p:sp>
        <p:nvSpPr>
          <p:cNvPr id="175" name="Shape 173"/>
          <p:cNvSpPr/>
          <p:nvPr/>
        </p:nvSpPr>
        <p:spPr>
          <a:xfrm>
            <a:off x="3128553" y="2663919"/>
            <a:ext cx="473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76" name="Text 174"/>
          <p:cNvSpPr txBox="1"/>
          <p:nvPr/>
        </p:nvSpPr>
        <p:spPr>
          <a:xfrm>
            <a:off x="3128553" y="2526635"/>
            <a:ext cx="43020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B0223</a:t>
            </a:r>
            <a:endParaRPr lang="en-US" sz="810" dirty="0"/>
          </a:p>
        </p:txBody>
      </p:sp>
      <p:sp>
        <p:nvSpPr>
          <p:cNvPr id="177" name="Shape 175"/>
          <p:cNvSpPr/>
          <p:nvPr/>
        </p:nvSpPr>
        <p:spPr>
          <a:xfrm>
            <a:off x="3601626" y="2663919"/>
            <a:ext cx="83100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78" name="Text 176"/>
          <p:cNvSpPr txBox="1"/>
          <p:nvPr/>
        </p:nvSpPr>
        <p:spPr>
          <a:xfrm>
            <a:off x="3601626" y="2526635"/>
            <a:ext cx="79887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</a:t>
            </a:r>
            <a:endParaRPr lang="en-US" sz="810" dirty="0"/>
          </a:p>
        </p:txBody>
      </p:sp>
      <p:sp>
        <p:nvSpPr>
          <p:cNvPr id="179" name="Shape 177"/>
          <p:cNvSpPr/>
          <p:nvPr/>
        </p:nvSpPr>
        <p:spPr>
          <a:xfrm>
            <a:off x="4432631" y="2663919"/>
            <a:ext cx="93439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80" name="Text 178"/>
          <p:cNvSpPr txBox="1"/>
          <p:nvPr/>
        </p:nvSpPr>
        <p:spPr>
          <a:xfrm>
            <a:off x="4432631" y="2526635"/>
            <a:ext cx="905366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1.64</a:t>
            </a:r>
            <a:endParaRPr lang="en-US" sz="810" dirty="0"/>
          </a:p>
        </p:txBody>
      </p:sp>
      <p:sp>
        <p:nvSpPr>
          <p:cNvPr id="181" name="Shape 179"/>
          <p:cNvSpPr/>
          <p:nvPr/>
        </p:nvSpPr>
        <p:spPr>
          <a:xfrm>
            <a:off x="5367022" y="2663919"/>
            <a:ext cx="98126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82" name="Text 180"/>
          <p:cNvSpPr txBox="1"/>
          <p:nvPr/>
        </p:nvSpPr>
        <p:spPr>
          <a:xfrm>
            <a:off x="5367022" y="2526635"/>
            <a:ext cx="95364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29 %</a:t>
            </a:r>
            <a:endParaRPr lang="en-US" sz="810" dirty="0"/>
          </a:p>
        </p:txBody>
      </p:sp>
      <p:sp>
        <p:nvSpPr>
          <p:cNvPr id="183" name="Shape 181"/>
          <p:cNvSpPr/>
          <p:nvPr/>
        </p:nvSpPr>
        <p:spPr>
          <a:xfrm>
            <a:off x="6348284" y="2663919"/>
            <a:ext cx="9728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84" name="Text 182"/>
          <p:cNvSpPr txBox="1"/>
          <p:nvPr/>
        </p:nvSpPr>
        <p:spPr>
          <a:xfrm>
            <a:off x="6348284" y="2526635"/>
            <a:ext cx="944950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59 %</a:t>
            </a:r>
            <a:endParaRPr lang="en-US" sz="810" dirty="0"/>
          </a:p>
        </p:txBody>
      </p:sp>
      <p:sp>
        <p:nvSpPr>
          <p:cNvPr id="185" name="Shape 183"/>
          <p:cNvSpPr/>
          <p:nvPr/>
        </p:nvSpPr>
        <p:spPr>
          <a:xfrm>
            <a:off x="7321106" y="2663919"/>
            <a:ext cx="77433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86" name="Text 184"/>
          <p:cNvSpPr txBox="1"/>
          <p:nvPr/>
        </p:nvSpPr>
        <p:spPr>
          <a:xfrm>
            <a:off x="7321106" y="2526635"/>
            <a:ext cx="74051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15.5</a:t>
            </a:r>
            <a:endParaRPr lang="en-US" sz="810" dirty="0"/>
          </a:p>
        </p:txBody>
      </p:sp>
      <p:sp>
        <p:nvSpPr>
          <p:cNvPr id="187" name="Shape 185"/>
          <p:cNvSpPr/>
          <p:nvPr/>
        </p:nvSpPr>
        <p:spPr>
          <a:xfrm>
            <a:off x="8095445" y="2663919"/>
            <a:ext cx="10410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88" name="Text 186"/>
          <p:cNvSpPr txBox="1"/>
          <p:nvPr/>
        </p:nvSpPr>
        <p:spPr>
          <a:xfrm>
            <a:off x="8095445" y="2526635"/>
            <a:ext cx="101526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779</a:t>
            </a:r>
            <a:endParaRPr lang="en-US" sz="810" dirty="0"/>
          </a:p>
        </p:txBody>
      </p:sp>
      <p:sp>
        <p:nvSpPr>
          <p:cNvPr id="189" name="Shape 187"/>
          <p:cNvSpPr/>
          <p:nvPr/>
        </p:nvSpPr>
        <p:spPr>
          <a:xfrm>
            <a:off x="9136537" y="2663919"/>
            <a:ext cx="81337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90" name="Text 188"/>
          <p:cNvSpPr txBox="1"/>
          <p:nvPr/>
        </p:nvSpPr>
        <p:spPr>
          <a:xfrm>
            <a:off x="9136537" y="2526635"/>
            <a:ext cx="78071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2,107</a:t>
            </a:r>
            <a:endParaRPr lang="en-US" sz="810" dirty="0"/>
          </a:p>
        </p:txBody>
      </p:sp>
      <p:sp>
        <p:nvSpPr>
          <p:cNvPr id="191" name="Shape 189"/>
          <p:cNvSpPr/>
          <p:nvPr/>
        </p:nvSpPr>
        <p:spPr>
          <a:xfrm>
            <a:off x="9949910" y="2663919"/>
            <a:ext cx="80357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92" name="Text 190"/>
          <p:cNvSpPr txBox="1"/>
          <p:nvPr/>
        </p:nvSpPr>
        <p:spPr>
          <a:xfrm>
            <a:off x="9949910" y="2526635"/>
            <a:ext cx="77062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5,641</a:t>
            </a:r>
            <a:endParaRPr lang="en-US" sz="810" dirty="0"/>
          </a:p>
        </p:txBody>
      </p:sp>
      <p:sp>
        <p:nvSpPr>
          <p:cNvPr id="193" name="Shape 191"/>
          <p:cNvSpPr/>
          <p:nvPr/>
        </p:nvSpPr>
        <p:spPr>
          <a:xfrm>
            <a:off x="10753486" y="2663919"/>
            <a:ext cx="92595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94" name="Text 192"/>
          <p:cNvSpPr txBox="1"/>
          <p:nvPr/>
        </p:nvSpPr>
        <p:spPr>
          <a:xfrm>
            <a:off x="10753486" y="2526635"/>
            <a:ext cx="89667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291</a:t>
            </a:r>
            <a:endParaRPr lang="en-US" sz="810" dirty="0"/>
          </a:p>
        </p:txBody>
      </p:sp>
      <p:sp>
        <p:nvSpPr>
          <p:cNvPr id="195" name="Shape 193"/>
          <p:cNvSpPr/>
          <p:nvPr/>
        </p:nvSpPr>
        <p:spPr>
          <a:xfrm>
            <a:off x="511956" y="2820656"/>
            <a:ext cx="20586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96" name="Text 194"/>
          <p:cNvSpPr txBox="1"/>
          <p:nvPr/>
        </p:nvSpPr>
        <p:spPr>
          <a:xfrm>
            <a:off x="511956" y="2683372"/>
            <a:ext cx="15498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810" dirty="0"/>
          </a:p>
        </p:txBody>
      </p:sp>
      <p:sp>
        <p:nvSpPr>
          <p:cNvPr id="197" name="Shape 195"/>
          <p:cNvSpPr/>
          <p:nvPr/>
        </p:nvSpPr>
        <p:spPr>
          <a:xfrm>
            <a:off x="717823" y="2820656"/>
            <a:ext cx="241072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98" name="Text 196"/>
          <p:cNvSpPr txBox="1"/>
          <p:nvPr/>
        </p:nvSpPr>
        <p:spPr>
          <a:xfrm>
            <a:off x="717823" y="2683372"/>
            <a:ext cx="2425994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Referidos a clientes KCash</a:t>
            </a:r>
            <a:endParaRPr lang="en-US" sz="810" dirty="0"/>
          </a:p>
        </p:txBody>
      </p:sp>
      <p:sp>
        <p:nvSpPr>
          <p:cNvPr id="199" name="Shape 197"/>
          <p:cNvSpPr/>
          <p:nvPr/>
        </p:nvSpPr>
        <p:spPr>
          <a:xfrm>
            <a:off x="3128553" y="2820656"/>
            <a:ext cx="473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00" name="Text 198"/>
          <p:cNvSpPr txBox="1"/>
          <p:nvPr/>
        </p:nvSpPr>
        <p:spPr>
          <a:xfrm>
            <a:off x="3128553" y="2683372"/>
            <a:ext cx="43020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B0326</a:t>
            </a:r>
            <a:endParaRPr lang="en-US" sz="810" dirty="0"/>
          </a:p>
        </p:txBody>
      </p:sp>
      <p:sp>
        <p:nvSpPr>
          <p:cNvPr id="201" name="Shape 199"/>
          <p:cNvSpPr/>
          <p:nvPr/>
        </p:nvSpPr>
        <p:spPr>
          <a:xfrm>
            <a:off x="3601626" y="2820656"/>
            <a:ext cx="83100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02" name="Text 200"/>
          <p:cNvSpPr txBox="1"/>
          <p:nvPr/>
        </p:nvSpPr>
        <p:spPr>
          <a:xfrm>
            <a:off x="3601626" y="2683372"/>
            <a:ext cx="79887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</a:t>
            </a:r>
            <a:endParaRPr lang="en-US" sz="810" dirty="0"/>
          </a:p>
        </p:txBody>
      </p:sp>
      <p:sp>
        <p:nvSpPr>
          <p:cNvPr id="203" name="Shape 201"/>
          <p:cNvSpPr/>
          <p:nvPr/>
        </p:nvSpPr>
        <p:spPr>
          <a:xfrm>
            <a:off x="4432631" y="2820656"/>
            <a:ext cx="93439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04" name="Text 202"/>
          <p:cNvSpPr txBox="1"/>
          <p:nvPr/>
        </p:nvSpPr>
        <p:spPr>
          <a:xfrm>
            <a:off x="4432631" y="2683372"/>
            <a:ext cx="905366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1.61</a:t>
            </a:r>
            <a:endParaRPr lang="en-US" sz="810" dirty="0"/>
          </a:p>
        </p:txBody>
      </p:sp>
      <p:sp>
        <p:nvSpPr>
          <p:cNvPr id="205" name="Shape 203"/>
          <p:cNvSpPr/>
          <p:nvPr/>
        </p:nvSpPr>
        <p:spPr>
          <a:xfrm>
            <a:off x="5367022" y="2820656"/>
            <a:ext cx="98126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06" name="Text 204"/>
          <p:cNvSpPr txBox="1"/>
          <p:nvPr/>
        </p:nvSpPr>
        <p:spPr>
          <a:xfrm>
            <a:off x="5367022" y="2683372"/>
            <a:ext cx="95364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32 %</a:t>
            </a:r>
            <a:endParaRPr lang="en-US" sz="810" dirty="0"/>
          </a:p>
        </p:txBody>
      </p:sp>
      <p:sp>
        <p:nvSpPr>
          <p:cNvPr id="207" name="Shape 205"/>
          <p:cNvSpPr/>
          <p:nvPr/>
        </p:nvSpPr>
        <p:spPr>
          <a:xfrm>
            <a:off x="6348284" y="2820656"/>
            <a:ext cx="9728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08" name="Text 206"/>
          <p:cNvSpPr txBox="1"/>
          <p:nvPr/>
        </p:nvSpPr>
        <p:spPr>
          <a:xfrm>
            <a:off x="6348284" y="2683372"/>
            <a:ext cx="944950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94 %</a:t>
            </a:r>
            <a:endParaRPr lang="en-US" sz="810" dirty="0"/>
          </a:p>
        </p:txBody>
      </p:sp>
      <p:sp>
        <p:nvSpPr>
          <p:cNvPr id="209" name="Shape 207"/>
          <p:cNvSpPr/>
          <p:nvPr/>
        </p:nvSpPr>
        <p:spPr>
          <a:xfrm>
            <a:off x="7321106" y="2820656"/>
            <a:ext cx="77433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10" name="Text 208"/>
          <p:cNvSpPr txBox="1"/>
          <p:nvPr/>
        </p:nvSpPr>
        <p:spPr>
          <a:xfrm>
            <a:off x="7321106" y="2683372"/>
            <a:ext cx="74051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6.4</a:t>
            </a:r>
            <a:endParaRPr lang="en-US" sz="810" dirty="0"/>
          </a:p>
        </p:txBody>
      </p:sp>
      <p:sp>
        <p:nvSpPr>
          <p:cNvPr id="211" name="Shape 209"/>
          <p:cNvSpPr/>
          <p:nvPr/>
        </p:nvSpPr>
        <p:spPr>
          <a:xfrm>
            <a:off x="8095445" y="2820656"/>
            <a:ext cx="10410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12" name="Text 210"/>
          <p:cNvSpPr txBox="1"/>
          <p:nvPr/>
        </p:nvSpPr>
        <p:spPr>
          <a:xfrm>
            <a:off x="8095445" y="2683372"/>
            <a:ext cx="101526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104,068</a:t>
            </a:r>
            <a:endParaRPr lang="en-US" sz="810" dirty="0"/>
          </a:p>
        </p:txBody>
      </p:sp>
      <p:sp>
        <p:nvSpPr>
          <p:cNvPr id="213" name="Shape 211"/>
          <p:cNvSpPr/>
          <p:nvPr/>
        </p:nvSpPr>
        <p:spPr>
          <a:xfrm>
            <a:off x="9136537" y="2820656"/>
            <a:ext cx="81337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14" name="Text 212"/>
          <p:cNvSpPr txBox="1"/>
          <p:nvPr/>
        </p:nvSpPr>
        <p:spPr>
          <a:xfrm>
            <a:off x="9136537" y="2683372"/>
            <a:ext cx="78071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810" dirty="0"/>
          </a:p>
        </p:txBody>
      </p:sp>
      <p:sp>
        <p:nvSpPr>
          <p:cNvPr id="215" name="Shape 213"/>
          <p:cNvSpPr/>
          <p:nvPr/>
        </p:nvSpPr>
        <p:spPr>
          <a:xfrm>
            <a:off x="9949910" y="2820656"/>
            <a:ext cx="80357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16" name="Text 214"/>
          <p:cNvSpPr txBox="1"/>
          <p:nvPr/>
        </p:nvSpPr>
        <p:spPr>
          <a:xfrm>
            <a:off x="9949910" y="2683372"/>
            <a:ext cx="77062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185,006</a:t>
            </a:r>
            <a:endParaRPr lang="en-US" sz="810" dirty="0"/>
          </a:p>
        </p:txBody>
      </p:sp>
      <p:sp>
        <p:nvSpPr>
          <p:cNvPr id="217" name="Shape 215"/>
          <p:cNvSpPr/>
          <p:nvPr/>
        </p:nvSpPr>
        <p:spPr>
          <a:xfrm>
            <a:off x="10753486" y="2820656"/>
            <a:ext cx="92595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18" name="Text 216"/>
          <p:cNvSpPr txBox="1"/>
          <p:nvPr/>
        </p:nvSpPr>
        <p:spPr>
          <a:xfrm>
            <a:off x="10753486" y="2683372"/>
            <a:ext cx="89667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810" dirty="0"/>
          </a:p>
        </p:txBody>
      </p:sp>
      <p:sp>
        <p:nvSpPr>
          <p:cNvPr id="219" name="Shape 217"/>
          <p:cNvSpPr/>
          <p:nvPr/>
        </p:nvSpPr>
        <p:spPr>
          <a:xfrm>
            <a:off x="511956" y="2977392"/>
            <a:ext cx="20586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20" name="Text 218"/>
          <p:cNvSpPr txBox="1"/>
          <p:nvPr/>
        </p:nvSpPr>
        <p:spPr>
          <a:xfrm>
            <a:off x="511956" y="2840108"/>
            <a:ext cx="15498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810" dirty="0"/>
          </a:p>
        </p:txBody>
      </p:sp>
      <p:sp>
        <p:nvSpPr>
          <p:cNvPr id="221" name="Shape 219"/>
          <p:cNvSpPr/>
          <p:nvPr/>
        </p:nvSpPr>
        <p:spPr>
          <a:xfrm>
            <a:off x="717823" y="2977392"/>
            <a:ext cx="241072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22" name="Text 220"/>
          <p:cNvSpPr txBox="1"/>
          <p:nvPr/>
        </p:nvSpPr>
        <p:spPr>
          <a:xfrm>
            <a:off x="717823" y="2840108"/>
            <a:ext cx="2425994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Rescate Tasa 0 a leads recientes</a:t>
            </a:r>
            <a:endParaRPr lang="en-US" sz="810" dirty="0"/>
          </a:p>
        </p:txBody>
      </p:sp>
      <p:sp>
        <p:nvSpPr>
          <p:cNvPr id="223" name="Shape 221"/>
          <p:cNvSpPr/>
          <p:nvPr/>
        </p:nvSpPr>
        <p:spPr>
          <a:xfrm>
            <a:off x="3128553" y="2977392"/>
            <a:ext cx="473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24" name="Text 222"/>
          <p:cNvSpPr txBox="1"/>
          <p:nvPr/>
        </p:nvSpPr>
        <p:spPr>
          <a:xfrm>
            <a:off x="3128553" y="2840108"/>
            <a:ext cx="43020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B0171</a:t>
            </a:r>
            <a:endParaRPr lang="en-US" sz="810" dirty="0"/>
          </a:p>
        </p:txBody>
      </p:sp>
      <p:sp>
        <p:nvSpPr>
          <p:cNvPr id="225" name="Shape 223"/>
          <p:cNvSpPr/>
          <p:nvPr/>
        </p:nvSpPr>
        <p:spPr>
          <a:xfrm>
            <a:off x="3601626" y="2977392"/>
            <a:ext cx="83100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26" name="Text 224"/>
          <p:cNvSpPr txBox="1"/>
          <p:nvPr/>
        </p:nvSpPr>
        <p:spPr>
          <a:xfrm>
            <a:off x="3601626" y="2840108"/>
            <a:ext cx="79887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</a:t>
            </a:r>
            <a:endParaRPr lang="en-US" sz="810" dirty="0"/>
          </a:p>
        </p:txBody>
      </p:sp>
      <p:sp>
        <p:nvSpPr>
          <p:cNvPr id="227" name="Shape 225"/>
          <p:cNvSpPr/>
          <p:nvPr/>
        </p:nvSpPr>
        <p:spPr>
          <a:xfrm>
            <a:off x="4432631" y="2977392"/>
            <a:ext cx="93439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28" name="Text 226"/>
          <p:cNvSpPr txBox="1"/>
          <p:nvPr/>
        </p:nvSpPr>
        <p:spPr>
          <a:xfrm>
            <a:off x="4432631" y="2840108"/>
            <a:ext cx="905366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1.46</a:t>
            </a:r>
            <a:endParaRPr lang="en-US" sz="810" dirty="0"/>
          </a:p>
        </p:txBody>
      </p:sp>
      <p:sp>
        <p:nvSpPr>
          <p:cNvPr id="229" name="Shape 227"/>
          <p:cNvSpPr/>
          <p:nvPr/>
        </p:nvSpPr>
        <p:spPr>
          <a:xfrm>
            <a:off x="5367022" y="2977392"/>
            <a:ext cx="98126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30" name="Text 228"/>
          <p:cNvSpPr txBox="1"/>
          <p:nvPr/>
        </p:nvSpPr>
        <p:spPr>
          <a:xfrm>
            <a:off x="5367022" y="2840108"/>
            <a:ext cx="95364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34 %</a:t>
            </a:r>
            <a:endParaRPr lang="en-US" sz="810" dirty="0"/>
          </a:p>
        </p:txBody>
      </p:sp>
      <p:sp>
        <p:nvSpPr>
          <p:cNvPr id="231" name="Shape 229"/>
          <p:cNvSpPr/>
          <p:nvPr/>
        </p:nvSpPr>
        <p:spPr>
          <a:xfrm>
            <a:off x="6348284" y="2977392"/>
            <a:ext cx="9728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32" name="Text 230"/>
          <p:cNvSpPr txBox="1"/>
          <p:nvPr/>
        </p:nvSpPr>
        <p:spPr>
          <a:xfrm>
            <a:off x="6348284" y="2840108"/>
            <a:ext cx="944950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90 %</a:t>
            </a:r>
            <a:endParaRPr lang="en-US" sz="810" dirty="0"/>
          </a:p>
        </p:txBody>
      </p:sp>
      <p:sp>
        <p:nvSpPr>
          <p:cNvPr id="233" name="Shape 231"/>
          <p:cNvSpPr/>
          <p:nvPr/>
        </p:nvSpPr>
        <p:spPr>
          <a:xfrm>
            <a:off x="7321106" y="2977392"/>
            <a:ext cx="77433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34" name="Text 232"/>
          <p:cNvSpPr txBox="1"/>
          <p:nvPr/>
        </p:nvSpPr>
        <p:spPr>
          <a:xfrm>
            <a:off x="7321106" y="2840108"/>
            <a:ext cx="74051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5.6</a:t>
            </a:r>
            <a:endParaRPr lang="en-US" sz="810" dirty="0"/>
          </a:p>
        </p:txBody>
      </p:sp>
      <p:sp>
        <p:nvSpPr>
          <p:cNvPr id="235" name="Shape 233"/>
          <p:cNvSpPr/>
          <p:nvPr/>
        </p:nvSpPr>
        <p:spPr>
          <a:xfrm>
            <a:off x="8095445" y="2977392"/>
            <a:ext cx="10410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36" name="Text 234"/>
          <p:cNvSpPr txBox="1"/>
          <p:nvPr/>
        </p:nvSpPr>
        <p:spPr>
          <a:xfrm>
            <a:off x="8095445" y="2840108"/>
            <a:ext cx="101526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6,575</a:t>
            </a:r>
            <a:endParaRPr lang="en-US" sz="810" dirty="0"/>
          </a:p>
        </p:txBody>
      </p:sp>
      <p:sp>
        <p:nvSpPr>
          <p:cNvPr id="237" name="Shape 235"/>
          <p:cNvSpPr/>
          <p:nvPr/>
        </p:nvSpPr>
        <p:spPr>
          <a:xfrm>
            <a:off x="9136537" y="2977392"/>
            <a:ext cx="81337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38" name="Text 236"/>
          <p:cNvSpPr txBox="1"/>
          <p:nvPr/>
        </p:nvSpPr>
        <p:spPr>
          <a:xfrm>
            <a:off x="9136537" y="2840108"/>
            <a:ext cx="78071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222</a:t>
            </a:r>
            <a:endParaRPr lang="en-US" sz="810" dirty="0"/>
          </a:p>
        </p:txBody>
      </p:sp>
      <p:sp>
        <p:nvSpPr>
          <p:cNvPr id="239" name="Shape 237"/>
          <p:cNvSpPr/>
          <p:nvPr/>
        </p:nvSpPr>
        <p:spPr>
          <a:xfrm>
            <a:off x="9949910" y="2977392"/>
            <a:ext cx="80357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40" name="Text 238"/>
          <p:cNvSpPr txBox="1"/>
          <p:nvPr/>
        </p:nvSpPr>
        <p:spPr>
          <a:xfrm>
            <a:off x="9949910" y="2840108"/>
            <a:ext cx="77062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82,296</a:t>
            </a:r>
            <a:endParaRPr lang="en-US" sz="810" dirty="0"/>
          </a:p>
        </p:txBody>
      </p:sp>
      <p:sp>
        <p:nvSpPr>
          <p:cNvPr id="241" name="Shape 239"/>
          <p:cNvSpPr/>
          <p:nvPr/>
        </p:nvSpPr>
        <p:spPr>
          <a:xfrm>
            <a:off x="10753486" y="2977392"/>
            <a:ext cx="92595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42" name="Text 240"/>
          <p:cNvSpPr txBox="1"/>
          <p:nvPr/>
        </p:nvSpPr>
        <p:spPr>
          <a:xfrm>
            <a:off x="10753486" y="2840108"/>
            <a:ext cx="89667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810" dirty="0"/>
          </a:p>
        </p:txBody>
      </p:sp>
      <p:sp>
        <p:nvSpPr>
          <p:cNvPr id="243" name="Shape 241"/>
          <p:cNvSpPr/>
          <p:nvPr/>
        </p:nvSpPr>
        <p:spPr>
          <a:xfrm>
            <a:off x="511956" y="3134129"/>
            <a:ext cx="20586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44" name="Text 242"/>
          <p:cNvSpPr txBox="1"/>
          <p:nvPr/>
        </p:nvSpPr>
        <p:spPr>
          <a:xfrm>
            <a:off x="511956" y="2996845"/>
            <a:ext cx="15498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810" dirty="0"/>
          </a:p>
        </p:txBody>
      </p:sp>
      <p:sp>
        <p:nvSpPr>
          <p:cNvPr id="245" name="Shape 243"/>
          <p:cNvSpPr/>
          <p:nvPr/>
        </p:nvSpPr>
        <p:spPr>
          <a:xfrm>
            <a:off x="717823" y="3134129"/>
            <a:ext cx="241072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46" name="Text 244"/>
          <p:cNvSpPr txBox="1"/>
          <p:nvPr/>
        </p:nvSpPr>
        <p:spPr>
          <a:xfrm>
            <a:off x="717823" y="2996845"/>
            <a:ext cx="2425994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Rescate Tasa 0 a leads recientes (otro nombre)</a:t>
            </a:r>
            <a:endParaRPr lang="en-US" sz="810" dirty="0"/>
          </a:p>
        </p:txBody>
      </p:sp>
      <p:sp>
        <p:nvSpPr>
          <p:cNvPr id="247" name="Shape 245"/>
          <p:cNvSpPr/>
          <p:nvPr/>
        </p:nvSpPr>
        <p:spPr>
          <a:xfrm>
            <a:off x="3128553" y="3134129"/>
            <a:ext cx="473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48" name="Text 246"/>
          <p:cNvSpPr txBox="1"/>
          <p:nvPr/>
        </p:nvSpPr>
        <p:spPr>
          <a:xfrm>
            <a:off x="3128553" y="2996845"/>
            <a:ext cx="43020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B0171</a:t>
            </a:r>
            <a:endParaRPr lang="en-US" sz="810" dirty="0"/>
          </a:p>
        </p:txBody>
      </p:sp>
      <p:sp>
        <p:nvSpPr>
          <p:cNvPr id="249" name="Shape 247"/>
          <p:cNvSpPr/>
          <p:nvPr/>
        </p:nvSpPr>
        <p:spPr>
          <a:xfrm>
            <a:off x="3601626" y="3134129"/>
            <a:ext cx="83100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50" name="Text 248"/>
          <p:cNvSpPr txBox="1"/>
          <p:nvPr/>
        </p:nvSpPr>
        <p:spPr>
          <a:xfrm>
            <a:off x="3601626" y="2996845"/>
            <a:ext cx="79887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</a:t>
            </a:r>
            <a:endParaRPr lang="en-US" sz="810" dirty="0"/>
          </a:p>
        </p:txBody>
      </p:sp>
      <p:sp>
        <p:nvSpPr>
          <p:cNvPr id="251" name="Shape 249"/>
          <p:cNvSpPr/>
          <p:nvPr/>
        </p:nvSpPr>
        <p:spPr>
          <a:xfrm>
            <a:off x="4432631" y="3134129"/>
            <a:ext cx="93439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52" name="Text 250"/>
          <p:cNvSpPr txBox="1"/>
          <p:nvPr/>
        </p:nvSpPr>
        <p:spPr>
          <a:xfrm>
            <a:off x="4432631" y="2996845"/>
            <a:ext cx="905366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1.39</a:t>
            </a:r>
            <a:endParaRPr lang="en-US" sz="810" dirty="0"/>
          </a:p>
        </p:txBody>
      </p:sp>
      <p:sp>
        <p:nvSpPr>
          <p:cNvPr id="253" name="Shape 251"/>
          <p:cNvSpPr/>
          <p:nvPr/>
        </p:nvSpPr>
        <p:spPr>
          <a:xfrm>
            <a:off x="5367022" y="3134129"/>
            <a:ext cx="98126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54" name="Text 252"/>
          <p:cNvSpPr txBox="1"/>
          <p:nvPr/>
        </p:nvSpPr>
        <p:spPr>
          <a:xfrm>
            <a:off x="5367022" y="2996845"/>
            <a:ext cx="95364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37 %</a:t>
            </a:r>
            <a:endParaRPr lang="en-US" sz="810" dirty="0"/>
          </a:p>
        </p:txBody>
      </p:sp>
      <p:sp>
        <p:nvSpPr>
          <p:cNvPr id="255" name="Shape 253"/>
          <p:cNvSpPr/>
          <p:nvPr/>
        </p:nvSpPr>
        <p:spPr>
          <a:xfrm>
            <a:off x="6348284" y="3134129"/>
            <a:ext cx="9728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56" name="Text 254"/>
          <p:cNvSpPr txBox="1"/>
          <p:nvPr/>
        </p:nvSpPr>
        <p:spPr>
          <a:xfrm>
            <a:off x="6348284" y="2996845"/>
            <a:ext cx="944950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93 %</a:t>
            </a:r>
            <a:endParaRPr lang="en-US" sz="810" dirty="0"/>
          </a:p>
        </p:txBody>
      </p:sp>
      <p:sp>
        <p:nvSpPr>
          <p:cNvPr id="257" name="Shape 255"/>
          <p:cNvSpPr/>
          <p:nvPr/>
        </p:nvSpPr>
        <p:spPr>
          <a:xfrm>
            <a:off x="7321106" y="3134129"/>
            <a:ext cx="77433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58" name="Text 256"/>
          <p:cNvSpPr txBox="1"/>
          <p:nvPr/>
        </p:nvSpPr>
        <p:spPr>
          <a:xfrm>
            <a:off x="7321106" y="2996845"/>
            <a:ext cx="74051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4.3</a:t>
            </a:r>
            <a:endParaRPr lang="en-US" sz="810" dirty="0"/>
          </a:p>
        </p:txBody>
      </p:sp>
      <p:sp>
        <p:nvSpPr>
          <p:cNvPr id="259" name="Shape 257"/>
          <p:cNvSpPr/>
          <p:nvPr/>
        </p:nvSpPr>
        <p:spPr>
          <a:xfrm>
            <a:off x="8095445" y="3134129"/>
            <a:ext cx="10410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60" name="Text 258"/>
          <p:cNvSpPr txBox="1"/>
          <p:nvPr/>
        </p:nvSpPr>
        <p:spPr>
          <a:xfrm>
            <a:off x="8095445" y="2996845"/>
            <a:ext cx="101526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5,847</a:t>
            </a:r>
            <a:endParaRPr lang="en-US" sz="810" dirty="0"/>
          </a:p>
        </p:txBody>
      </p:sp>
      <p:sp>
        <p:nvSpPr>
          <p:cNvPr id="261" name="Shape 259"/>
          <p:cNvSpPr/>
          <p:nvPr/>
        </p:nvSpPr>
        <p:spPr>
          <a:xfrm>
            <a:off x="9136537" y="3134129"/>
            <a:ext cx="81337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62" name="Text 260"/>
          <p:cNvSpPr txBox="1"/>
          <p:nvPr/>
        </p:nvSpPr>
        <p:spPr>
          <a:xfrm>
            <a:off x="9136537" y="2996845"/>
            <a:ext cx="78071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237</a:t>
            </a:r>
            <a:endParaRPr lang="en-US" sz="810" dirty="0"/>
          </a:p>
        </p:txBody>
      </p:sp>
      <p:sp>
        <p:nvSpPr>
          <p:cNvPr id="263" name="Shape 261"/>
          <p:cNvSpPr/>
          <p:nvPr/>
        </p:nvSpPr>
        <p:spPr>
          <a:xfrm>
            <a:off x="9949910" y="3134129"/>
            <a:ext cx="80357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64" name="Text 262"/>
          <p:cNvSpPr txBox="1"/>
          <p:nvPr/>
        </p:nvSpPr>
        <p:spPr>
          <a:xfrm>
            <a:off x="9949910" y="2996845"/>
            <a:ext cx="77062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94,921</a:t>
            </a:r>
            <a:endParaRPr lang="en-US" sz="810" dirty="0"/>
          </a:p>
        </p:txBody>
      </p:sp>
      <p:sp>
        <p:nvSpPr>
          <p:cNvPr id="265" name="Shape 263"/>
          <p:cNvSpPr/>
          <p:nvPr/>
        </p:nvSpPr>
        <p:spPr>
          <a:xfrm>
            <a:off x="10753486" y="3134129"/>
            <a:ext cx="92595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66" name="Text 264"/>
          <p:cNvSpPr txBox="1"/>
          <p:nvPr/>
        </p:nvSpPr>
        <p:spPr>
          <a:xfrm>
            <a:off x="10753486" y="2996845"/>
            <a:ext cx="89667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810" dirty="0"/>
          </a:p>
        </p:txBody>
      </p:sp>
      <p:sp>
        <p:nvSpPr>
          <p:cNvPr id="267" name="Shape 265"/>
          <p:cNvSpPr/>
          <p:nvPr/>
        </p:nvSpPr>
        <p:spPr>
          <a:xfrm>
            <a:off x="511956" y="3290866"/>
            <a:ext cx="20586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68" name="Text 266"/>
          <p:cNvSpPr txBox="1"/>
          <p:nvPr/>
        </p:nvSpPr>
        <p:spPr>
          <a:xfrm>
            <a:off x="511956" y="3153582"/>
            <a:ext cx="15498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810" dirty="0"/>
          </a:p>
        </p:txBody>
      </p:sp>
      <p:sp>
        <p:nvSpPr>
          <p:cNvPr id="269" name="Shape 267"/>
          <p:cNvSpPr/>
          <p:nvPr/>
        </p:nvSpPr>
        <p:spPr>
          <a:xfrm>
            <a:off x="717823" y="3290866"/>
            <a:ext cx="241072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70" name="Text 268"/>
          <p:cNvSpPr txBox="1"/>
          <p:nvPr/>
        </p:nvSpPr>
        <p:spPr>
          <a:xfrm>
            <a:off x="717823" y="3153582"/>
            <a:ext cx="2425994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Referidos a clientes KPay</a:t>
            </a:r>
            <a:endParaRPr lang="en-US" sz="810" dirty="0"/>
          </a:p>
        </p:txBody>
      </p:sp>
      <p:sp>
        <p:nvSpPr>
          <p:cNvPr id="271" name="Shape 269"/>
          <p:cNvSpPr/>
          <p:nvPr/>
        </p:nvSpPr>
        <p:spPr>
          <a:xfrm>
            <a:off x="3128553" y="3290866"/>
            <a:ext cx="473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72" name="Text 270"/>
          <p:cNvSpPr txBox="1"/>
          <p:nvPr/>
        </p:nvSpPr>
        <p:spPr>
          <a:xfrm>
            <a:off x="3128553" y="3153582"/>
            <a:ext cx="43020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B0326</a:t>
            </a:r>
            <a:endParaRPr lang="en-US" sz="810" dirty="0"/>
          </a:p>
        </p:txBody>
      </p:sp>
      <p:sp>
        <p:nvSpPr>
          <p:cNvPr id="273" name="Shape 271"/>
          <p:cNvSpPr/>
          <p:nvPr/>
        </p:nvSpPr>
        <p:spPr>
          <a:xfrm>
            <a:off x="3601626" y="3290866"/>
            <a:ext cx="83100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74" name="Text 272"/>
          <p:cNvSpPr txBox="1"/>
          <p:nvPr/>
        </p:nvSpPr>
        <p:spPr>
          <a:xfrm>
            <a:off x="3601626" y="3153582"/>
            <a:ext cx="79887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</a:t>
            </a:r>
            <a:endParaRPr lang="en-US" sz="810" dirty="0"/>
          </a:p>
        </p:txBody>
      </p:sp>
      <p:sp>
        <p:nvSpPr>
          <p:cNvPr id="275" name="Shape 273"/>
          <p:cNvSpPr/>
          <p:nvPr/>
        </p:nvSpPr>
        <p:spPr>
          <a:xfrm>
            <a:off x="4432631" y="3290866"/>
            <a:ext cx="93439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76" name="Text 274"/>
          <p:cNvSpPr txBox="1"/>
          <p:nvPr/>
        </p:nvSpPr>
        <p:spPr>
          <a:xfrm>
            <a:off x="4432631" y="3153582"/>
            <a:ext cx="905366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1.04</a:t>
            </a:r>
            <a:endParaRPr lang="en-US" sz="810" dirty="0"/>
          </a:p>
        </p:txBody>
      </p:sp>
      <p:sp>
        <p:nvSpPr>
          <p:cNvPr id="277" name="Shape 275"/>
          <p:cNvSpPr/>
          <p:nvPr/>
        </p:nvSpPr>
        <p:spPr>
          <a:xfrm>
            <a:off x="5367022" y="3290866"/>
            <a:ext cx="98126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78" name="Text 276"/>
          <p:cNvSpPr txBox="1"/>
          <p:nvPr/>
        </p:nvSpPr>
        <p:spPr>
          <a:xfrm>
            <a:off x="5367022" y="3153582"/>
            <a:ext cx="95364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39 %</a:t>
            </a:r>
            <a:endParaRPr lang="en-US" sz="810" dirty="0"/>
          </a:p>
        </p:txBody>
      </p:sp>
      <p:sp>
        <p:nvSpPr>
          <p:cNvPr id="279" name="Shape 277"/>
          <p:cNvSpPr/>
          <p:nvPr/>
        </p:nvSpPr>
        <p:spPr>
          <a:xfrm>
            <a:off x="6348284" y="3290866"/>
            <a:ext cx="9728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80" name="Text 278"/>
          <p:cNvSpPr txBox="1"/>
          <p:nvPr/>
        </p:nvSpPr>
        <p:spPr>
          <a:xfrm>
            <a:off x="6348284" y="3153582"/>
            <a:ext cx="944950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95 %</a:t>
            </a:r>
            <a:endParaRPr lang="en-US" sz="810" dirty="0"/>
          </a:p>
        </p:txBody>
      </p:sp>
      <p:sp>
        <p:nvSpPr>
          <p:cNvPr id="281" name="Shape 279"/>
          <p:cNvSpPr/>
          <p:nvPr/>
        </p:nvSpPr>
        <p:spPr>
          <a:xfrm>
            <a:off x="7321106" y="3290866"/>
            <a:ext cx="77433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82" name="Text 280"/>
          <p:cNvSpPr txBox="1"/>
          <p:nvPr/>
        </p:nvSpPr>
        <p:spPr>
          <a:xfrm>
            <a:off x="7321106" y="3153582"/>
            <a:ext cx="74051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</a:t>
            </a:r>
            <a:endParaRPr lang="en-US" sz="810" dirty="0"/>
          </a:p>
        </p:txBody>
      </p:sp>
      <p:sp>
        <p:nvSpPr>
          <p:cNvPr id="283" name="Shape 281"/>
          <p:cNvSpPr/>
          <p:nvPr/>
        </p:nvSpPr>
        <p:spPr>
          <a:xfrm>
            <a:off x="8095445" y="3290866"/>
            <a:ext cx="10410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84" name="Text 282"/>
          <p:cNvSpPr txBox="1"/>
          <p:nvPr/>
        </p:nvSpPr>
        <p:spPr>
          <a:xfrm>
            <a:off x="8095445" y="3153582"/>
            <a:ext cx="101526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98,541</a:t>
            </a:r>
            <a:endParaRPr lang="en-US" sz="810" dirty="0"/>
          </a:p>
        </p:txBody>
      </p:sp>
      <p:sp>
        <p:nvSpPr>
          <p:cNvPr id="285" name="Shape 283"/>
          <p:cNvSpPr/>
          <p:nvPr/>
        </p:nvSpPr>
        <p:spPr>
          <a:xfrm>
            <a:off x="9136537" y="3290866"/>
            <a:ext cx="81337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86" name="Text 284"/>
          <p:cNvSpPr txBox="1"/>
          <p:nvPr/>
        </p:nvSpPr>
        <p:spPr>
          <a:xfrm>
            <a:off x="9136537" y="3153582"/>
            <a:ext cx="78071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810" dirty="0"/>
          </a:p>
        </p:txBody>
      </p:sp>
      <p:sp>
        <p:nvSpPr>
          <p:cNvPr id="287" name="Shape 285"/>
          <p:cNvSpPr/>
          <p:nvPr/>
        </p:nvSpPr>
        <p:spPr>
          <a:xfrm>
            <a:off x="9949910" y="3290866"/>
            <a:ext cx="80357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88" name="Text 286"/>
          <p:cNvSpPr txBox="1"/>
          <p:nvPr/>
        </p:nvSpPr>
        <p:spPr>
          <a:xfrm>
            <a:off x="9949910" y="3153582"/>
            <a:ext cx="77062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227,652</a:t>
            </a:r>
            <a:endParaRPr lang="en-US" sz="810" dirty="0"/>
          </a:p>
        </p:txBody>
      </p:sp>
      <p:sp>
        <p:nvSpPr>
          <p:cNvPr id="289" name="Shape 287"/>
          <p:cNvSpPr/>
          <p:nvPr/>
        </p:nvSpPr>
        <p:spPr>
          <a:xfrm>
            <a:off x="10753486" y="3290866"/>
            <a:ext cx="92595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90" name="Text 288"/>
          <p:cNvSpPr txBox="1"/>
          <p:nvPr/>
        </p:nvSpPr>
        <p:spPr>
          <a:xfrm>
            <a:off x="10753486" y="3153582"/>
            <a:ext cx="89667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810" dirty="0"/>
          </a:p>
        </p:txBody>
      </p:sp>
      <p:sp>
        <p:nvSpPr>
          <p:cNvPr id="291" name="Shape 289"/>
          <p:cNvSpPr/>
          <p:nvPr/>
        </p:nvSpPr>
        <p:spPr>
          <a:xfrm>
            <a:off x="511956" y="3447602"/>
            <a:ext cx="20586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92" name="Text 290"/>
          <p:cNvSpPr txBox="1"/>
          <p:nvPr/>
        </p:nvSpPr>
        <p:spPr>
          <a:xfrm>
            <a:off x="511956" y="3310318"/>
            <a:ext cx="15498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810" dirty="0"/>
          </a:p>
        </p:txBody>
      </p:sp>
      <p:sp>
        <p:nvSpPr>
          <p:cNvPr id="293" name="Shape 291"/>
          <p:cNvSpPr/>
          <p:nvPr/>
        </p:nvSpPr>
        <p:spPr>
          <a:xfrm>
            <a:off x="717823" y="3447602"/>
            <a:ext cx="241072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94" name="Text 292"/>
          <p:cNvSpPr txBox="1"/>
          <p:nvPr/>
        </p:nvSpPr>
        <p:spPr>
          <a:xfrm>
            <a:off x="717823" y="3310318"/>
            <a:ext cx="2425994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Installments a clientes activos</a:t>
            </a:r>
            <a:endParaRPr lang="en-US" sz="810" dirty="0"/>
          </a:p>
        </p:txBody>
      </p:sp>
      <p:sp>
        <p:nvSpPr>
          <p:cNvPr id="295" name="Shape 293"/>
          <p:cNvSpPr/>
          <p:nvPr/>
        </p:nvSpPr>
        <p:spPr>
          <a:xfrm>
            <a:off x="3128553" y="3447602"/>
            <a:ext cx="473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96" name="Text 294"/>
          <p:cNvSpPr txBox="1"/>
          <p:nvPr/>
        </p:nvSpPr>
        <p:spPr>
          <a:xfrm>
            <a:off x="3128553" y="3310318"/>
            <a:ext cx="43020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B0301</a:t>
            </a:r>
            <a:endParaRPr lang="en-US" sz="810" dirty="0"/>
          </a:p>
        </p:txBody>
      </p:sp>
      <p:sp>
        <p:nvSpPr>
          <p:cNvPr id="297" name="Shape 295"/>
          <p:cNvSpPr/>
          <p:nvPr/>
        </p:nvSpPr>
        <p:spPr>
          <a:xfrm>
            <a:off x="3601626" y="3447602"/>
            <a:ext cx="83100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98" name="Text 296"/>
          <p:cNvSpPr txBox="1"/>
          <p:nvPr/>
        </p:nvSpPr>
        <p:spPr>
          <a:xfrm>
            <a:off x="3601626" y="3310318"/>
            <a:ext cx="79887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</a:t>
            </a:r>
            <a:endParaRPr lang="en-US" sz="810" dirty="0"/>
          </a:p>
        </p:txBody>
      </p:sp>
      <p:sp>
        <p:nvSpPr>
          <p:cNvPr id="299" name="Shape 297"/>
          <p:cNvSpPr/>
          <p:nvPr/>
        </p:nvSpPr>
        <p:spPr>
          <a:xfrm>
            <a:off x="4432631" y="3447602"/>
            <a:ext cx="93439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00" name="Text 298"/>
          <p:cNvSpPr txBox="1"/>
          <p:nvPr/>
        </p:nvSpPr>
        <p:spPr>
          <a:xfrm>
            <a:off x="4432631" y="3310318"/>
            <a:ext cx="905366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0.93</a:t>
            </a:r>
            <a:endParaRPr lang="en-US" sz="810" dirty="0"/>
          </a:p>
        </p:txBody>
      </p:sp>
      <p:sp>
        <p:nvSpPr>
          <p:cNvPr id="301" name="Shape 299"/>
          <p:cNvSpPr/>
          <p:nvPr/>
        </p:nvSpPr>
        <p:spPr>
          <a:xfrm>
            <a:off x="5367022" y="3447602"/>
            <a:ext cx="98126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02" name="Text 300"/>
          <p:cNvSpPr txBox="1"/>
          <p:nvPr/>
        </p:nvSpPr>
        <p:spPr>
          <a:xfrm>
            <a:off x="5367022" y="3310318"/>
            <a:ext cx="95364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40 %</a:t>
            </a:r>
            <a:endParaRPr lang="en-US" sz="810" dirty="0"/>
          </a:p>
        </p:txBody>
      </p:sp>
      <p:sp>
        <p:nvSpPr>
          <p:cNvPr id="303" name="Shape 301"/>
          <p:cNvSpPr/>
          <p:nvPr/>
        </p:nvSpPr>
        <p:spPr>
          <a:xfrm>
            <a:off x="6348284" y="3447602"/>
            <a:ext cx="9728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04" name="Text 302"/>
          <p:cNvSpPr txBox="1"/>
          <p:nvPr/>
        </p:nvSpPr>
        <p:spPr>
          <a:xfrm>
            <a:off x="6348284" y="3310318"/>
            <a:ext cx="944950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82 %</a:t>
            </a:r>
            <a:endParaRPr lang="en-US" sz="810" dirty="0"/>
          </a:p>
        </p:txBody>
      </p:sp>
      <p:sp>
        <p:nvSpPr>
          <p:cNvPr id="305" name="Shape 303"/>
          <p:cNvSpPr/>
          <p:nvPr/>
        </p:nvSpPr>
        <p:spPr>
          <a:xfrm>
            <a:off x="7321106" y="3447602"/>
            <a:ext cx="77433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06" name="Text 304"/>
          <p:cNvSpPr txBox="1"/>
          <p:nvPr/>
        </p:nvSpPr>
        <p:spPr>
          <a:xfrm>
            <a:off x="7321106" y="3310318"/>
            <a:ext cx="74051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6.9</a:t>
            </a:r>
            <a:endParaRPr lang="en-US" sz="810" dirty="0"/>
          </a:p>
        </p:txBody>
      </p:sp>
      <p:sp>
        <p:nvSpPr>
          <p:cNvPr id="307" name="Shape 305"/>
          <p:cNvSpPr/>
          <p:nvPr/>
        </p:nvSpPr>
        <p:spPr>
          <a:xfrm>
            <a:off x="8095445" y="3447602"/>
            <a:ext cx="10410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08" name="Text 306"/>
          <p:cNvSpPr txBox="1"/>
          <p:nvPr/>
        </p:nvSpPr>
        <p:spPr>
          <a:xfrm>
            <a:off x="8095445" y="3310318"/>
            <a:ext cx="101526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157,241</a:t>
            </a:r>
            <a:endParaRPr lang="en-US" sz="810" dirty="0"/>
          </a:p>
        </p:txBody>
      </p:sp>
      <p:sp>
        <p:nvSpPr>
          <p:cNvPr id="309" name="Shape 307"/>
          <p:cNvSpPr/>
          <p:nvPr/>
        </p:nvSpPr>
        <p:spPr>
          <a:xfrm>
            <a:off x="9136537" y="3447602"/>
            <a:ext cx="81337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10" name="Text 308"/>
          <p:cNvSpPr txBox="1"/>
          <p:nvPr/>
        </p:nvSpPr>
        <p:spPr>
          <a:xfrm>
            <a:off x="9136537" y="3310318"/>
            <a:ext cx="78071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810" dirty="0"/>
          </a:p>
        </p:txBody>
      </p:sp>
      <p:sp>
        <p:nvSpPr>
          <p:cNvPr id="311" name="Shape 309"/>
          <p:cNvSpPr/>
          <p:nvPr/>
        </p:nvSpPr>
        <p:spPr>
          <a:xfrm>
            <a:off x="9949910" y="3447602"/>
            <a:ext cx="80357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12" name="Text 310"/>
          <p:cNvSpPr txBox="1"/>
          <p:nvPr/>
        </p:nvSpPr>
        <p:spPr>
          <a:xfrm>
            <a:off x="9949910" y="3310318"/>
            <a:ext cx="77062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695,429</a:t>
            </a:r>
            <a:endParaRPr lang="en-US" sz="810" dirty="0"/>
          </a:p>
        </p:txBody>
      </p:sp>
      <p:sp>
        <p:nvSpPr>
          <p:cNvPr id="313" name="Shape 311"/>
          <p:cNvSpPr/>
          <p:nvPr/>
        </p:nvSpPr>
        <p:spPr>
          <a:xfrm>
            <a:off x="10753486" y="3447602"/>
            <a:ext cx="92595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14" name="Text 312"/>
          <p:cNvSpPr txBox="1"/>
          <p:nvPr/>
        </p:nvSpPr>
        <p:spPr>
          <a:xfrm>
            <a:off x="10753486" y="3310318"/>
            <a:ext cx="89667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10" dirty="0"/>
          </a:p>
        </p:txBody>
      </p:sp>
      <p:sp>
        <p:nvSpPr>
          <p:cNvPr id="315" name="Shape 313"/>
          <p:cNvSpPr/>
          <p:nvPr/>
        </p:nvSpPr>
        <p:spPr>
          <a:xfrm>
            <a:off x="511956" y="3604339"/>
            <a:ext cx="20586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16" name="Text 314"/>
          <p:cNvSpPr txBox="1"/>
          <p:nvPr/>
        </p:nvSpPr>
        <p:spPr>
          <a:xfrm>
            <a:off x="511956" y="3467055"/>
            <a:ext cx="15498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810" dirty="0"/>
          </a:p>
        </p:txBody>
      </p:sp>
      <p:sp>
        <p:nvSpPr>
          <p:cNvPr id="317" name="Shape 315"/>
          <p:cNvSpPr/>
          <p:nvPr/>
        </p:nvSpPr>
        <p:spPr>
          <a:xfrm>
            <a:off x="717823" y="3604339"/>
            <a:ext cx="241072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18" name="Text 316"/>
          <p:cNvSpPr txBox="1"/>
          <p:nvPr/>
        </p:nvSpPr>
        <p:spPr>
          <a:xfrm>
            <a:off x="717823" y="3467055"/>
            <a:ext cx="2425994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Referidos a ex clientes KCash</a:t>
            </a:r>
            <a:endParaRPr lang="en-US" sz="810" dirty="0"/>
          </a:p>
        </p:txBody>
      </p:sp>
      <p:sp>
        <p:nvSpPr>
          <p:cNvPr id="319" name="Shape 317"/>
          <p:cNvSpPr/>
          <p:nvPr/>
        </p:nvSpPr>
        <p:spPr>
          <a:xfrm>
            <a:off x="3128553" y="3604339"/>
            <a:ext cx="473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20" name="Text 318"/>
          <p:cNvSpPr txBox="1"/>
          <p:nvPr/>
        </p:nvSpPr>
        <p:spPr>
          <a:xfrm>
            <a:off x="3128553" y="3467055"/>
            <a:ext cx="43020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B0326</a:t>
            </a:r>
            <a:endParaRPr lang="en-US" sz="810" dirty="0"/>
          </a:p>
        </p:txBody>
      </p:sp>
      <p:sp>
        <p:nvSpPr>
          <p:cNvPr id="321" name="Shape 319"/>
          <p:cNvSpPr/>
          <p:nvPr/>
        </p:nvSpPr>
        <p:spPr>
          <a:xfrm>
            <a:off x="3601626" y="3604339"/>
            <a:ext cx="83100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22" name="Text 320"/>
          <p:cNvSpPr txBox="1"/>
          <p:nvPr/>
        </p:nvSpPr>
        <p:spPr>
          <a:xfrm>
            <a:off x="3601626" y="3467055"/>
            <a:ext cx="79887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</a:t>
            </a:r>
            <a:endParaRPr lang="en-US" sz="810" dirty="0"/>
          </a:p>
        </p:txBody>
      </p:sp>
      <p:sp>
        <p:nvSpPr>
          <p:cNvPr id="323" name="Shape 321"/>
          <p:cNvSpPr/>
          <p:nvPr/>
        </p:nvSpPr>
        <p:spPr>
          <a:xfrm>
            <a:off x="4432631" y="3604339"/>
            <a:ext cx="93439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24" name="Text 322"/>
          <p:cNvSpPr txBox="1"/>
          <p:nvPr/>
        </p:nvSpPr>
        <p:spPr>
          <a:xfrm>
            <a:off x="4432631" y="3467055"/>
            <a:ext cx="905366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0.90</a:t>
            </a:r>
            <a:endParaRPr lang="en-US" sz="810" dirty="0"/>
          </a:p>
        </p:txBody>
      </p:sp>
      <p:sp>
        <p:nvSpPr>
          <p:cNvPr id="325" name="Shape 323"/>
          <p:cNvSpPr/>
          <p:nvPr/>
        </p:nvSpPr>
        <p:spPr>
          <a:xfrm>
            <a:off x="5367022" y="3604339"/>
            <a:ext cx="98126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26" name="Text 324"/>
          <p:cNvSpPr txBox="1"/>
          <p:nvPr/>
        </p:nvSpPr>
        <p:spPr>
          <a:xfrm>
            <a:off x="5367022" y="3467055"/>
            <a:ext cx="95364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42 %</a:t>
            </a:r>
            <a:endParaRPr lang="en-US" sz="810" dirty="0"/>
          </a:p>
        </p:txBody>
      </p:sp>
      <p:sp>
        <p:nvSpPr>
          <p:cNvPr id="327" name="Shape 325"/>
          <p:cNvSpPr/>
          <p:nvPr/>
        </p:nvSpPr>
        <p:spPr>
          <a:xfrm>
            <a:off x="6348284" y="3604339"/>
            <a:ext cx="9728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28" name="Text 326"/>
          <p:cNvSpPr txBox="1"/>
          <p:nvPr/>
        </p:nvSpPr>
        <p:spPr>
          <a:xfrm>
            <a:off x="6348284" y="3467055"/>
            <a:ext cx="944950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61 %</a:t>
            </a:r>
            <a:endParaRPr lang="en-US" sz="810" dirty="0"/>
          </a:p>
        </p:txBody>
      </p:sp>
      <p:sp>
        <p:nvSpPr>
          <p:cNvPr id="329" name="Shape 327"/>
          <p:cNvSpPr/>
          <p:nvPr/>
        </p:nvSpPr>
        <p:spPr>
          <a:xfrm>
            <a:off x="7321106" y="3604339"/>
            <a:ext cx="77433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30" name="Text 328"/>
          <p:cNvSpPr txBox="1"/>
          <p:nvPr/>
        </p:nvSpPr>
        <p:spPr>
          <a:xfrm>
            <a:off x="7321106" y="3467055"/>
            <a:ext cx="74051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9.9</a:t>
            </a:r>
            <a:endParaRPr lang="en-US" sz="810" dirty="0"/>
          </a:p>
        </p:txBody>
      </p:sp>
      <p:sp>
        <p:nvSpPr>
          <p:cNvPr id="331" name="Shape 329"/>
          <p:cNvSpPr/>
          <p:nvPr/>
        </p:nvSpPr>
        <p:spPr>
          <a:xfrm>
            <a:off x="8095445" y="3604339"/>
            <a:ext cx="10410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32" name="Text 330"/>
          <p:cNvSpPr txBox="1"/>
          <p:nvPr/>
        </p:nvSpPr>
        <p:spPr>
          <a:xfrm>
            <a:off x="8095445" y="3467055"/>
            <a:ext cx="101526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11,905</a:t>
            </a:r>
            <a:endParaRPr lang="en-US" sz="810" dirty="0"/>
          </a:p>
        </p:txBody>
      </p:sp>
      <p:sp>
        <p:nvSpPr>
          <p:cNvPr id="333" name="Shape 331"/>
          <p:cNvSpPr/>
          <p:nvPr/>
        </p:nvSpPr>
        <p:spPr>
          <a:xfrm>
            <a:off x="9136537" y="3604339"/>
            <a:ext cx="81337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34" name="Text 332"/>
          <p:cNvSpPr txBox="1"/>
          <p:nvPr/>
        </p:nvSpPr>
        <p:spPr>
          <a:xfrm>
            <a:off x="9136537" y="3467055"/>
            <a:ext cx="78071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</a:t>
            </a:r>
            <a:endParaRPr lang="en-US" sz="810" dirty="0"/>
          </a:p>
        </p:txBody>
      </p:sp>
      <p:sp>
        <p:nvSpPr>
          <p:cNvPr id="335" name="Shape 333"/>
          <p:cNvSpPr/>
          <p:nvPr/>
        </p:nvSpPr>
        <p:spPr>
          <a:xfrm>
            <a:off x="9949910" y="3604339"/>
            <a:ext cx="80357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36" name="Text 334"/>
          <p:cNvSpPr txBox="1"/>
          <p:nvPr/>
        </p:nvSpPr>
        <p:spPr>
          <a:xfrm>
            <a:off x="9949910" y="3467055"/>
            <a:ext cx="77062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40,460</a:t>
            </a:r>
            <a:endParaRPr lang="en-US" sz="810" dirty="0"/>
          </a:p>
        </p:txBody>
      </p:sp>
      <p:sp>
        <p:nvSpPr>
          <p:cNvPr id="337" name="Shape 335"/>
          <p:cNvSpPr/>
          <p:nvPr/>
        </p:nvSpPr>
        <p:spPr>
          <a:xfrm>
            <a:off x="10753486" y="3604339"/>
            <a:ext cx="92595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38" name="Text 336"/>
          <p:cNvSpPr txBox="1"/>
          <p:nvPr/>
        </p:nvSpPr>
        <p:spPr>
          <a:xfrm>
            <a:off x="10753486" y="3467055"/>
            <a:ext cx="89667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810" dirty="0"/>
          </a:p>
        </p:txBody>
      </p:sp>
      <p:sp>
        <p:nvSpPr>
          <p:cNvPr id="339" name="Shape 337"/>
          <p:cNvSpPr/>
          <p:nvPr/>
        </p:nvSpPr>
        <p:spPr>
          <a:xfrm>
            <a:off x="511956" y="3761075"/>
            <a:ext cx="20586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40" name="Text 338"/>
          <p:cNvSpPr txBox="1"/>
          <p:nvPr/>
        </p:nvSpPr>
        <p:spPr>
          <a:xfrm>
            <a:off x="511956" y="3623791"/>
            <a:ext cx="15498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810" dirty="0"/>
          </a:p>
        </p:txBody>
      </p:sp>
      <p:sp>
        <p:nvSpPr>
          <p:cNvPr id="341" name="Shape 339"/>
          <p:cNvSpPr/>
          <p:nvPr/>
        </p:nvSpPr>
        <p:spPr>
          <a:xfrm>
            <a:off x="717823" y="3761075"/>
            <a:ext cx="241072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42" name="Text 340"/>
          <p:cNvSpPr txBox="1"/>
          <p:nvPr/>
        </p:nvSpPr>
        <p:spPr>
          <a:xfrm>
            <a:off x="717823" y="3623791"/>
            <a:ext cx="2425994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Lanzamiento de BillPay a toda la base</a:t>
            </a:r>
            <a:endParaRPr lang="en-US" sz="810" dirty="0"/>
          </a:p>
        </p:txBody>
      </p:sp>
      <p:sp>
        <p:nvSpPr>
          <p:cNvPr id="343" name="Shape 341"/>
          <p:cNvSpPr/>
          <p:nvPr/>
        </p:nvSpPr>
        <p:spPr>
          <a:xfrm>
            <a:off x="3128553" y="3761075"/>
            <a:ext cx="473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44" name="Text 342"/>
          <p:cNvSpPr txBox="1"/>
          <p:nvPr/>
        </p:nvSpPr>
        <p:spPr>
          <a:xfrm>
            <a:off x="3128553" y="3623791"/>
            <a:ext cx="43020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T0000</a:t>
            </a:r>
            <a:endParaRPr lang="en-US" sz="810" dirty="0"/>
          </a:p>
        </p:txBody>
      </p:sp>
      <p:sp>
        <p:nvSpPr>
          <p:cNvPr id="345" name="Shape 343"/>
          <p:cNvSpPr/>
          <p:nvPr/>
        </p:nvSpPr>
        <p:spPr>
          <a:xfrm>
            <a:off x="3601626" y="3761075"/>
            <a:ext cx="83100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46" name="Text 344"/>
          <p:cNvSpPr txBox="1"/>
          <p:nvPr/>
        </p:nvSpPr>
        <p:spPr>
          <a:xfrm>
            <a:off x="3601626" y="3623791"/>
            <a:ext cx="79887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Others</a:t>
            </a:r>
            <a:endParaRPr lang="en-US" sz="810" dirty="0"/>
          </a:p>
        </p:txBody>
      </p:sp>
      <p:sp>
        <p:nvSpPr>
          <p:cNvPr id="347" name="Shape 345"/>
          <p:cNvSpPr/>
          <p:nvPr/>
        </p:nvSpPr>
        <p:spPr>
          <a:xfrm>
            <a:off x="4432631" y="3761075"/>
            <a:ext cx="93439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48" name="Text 346"/>
          <p:cNvSpPr txBox="1"/>
          <p:nvPr/>
        </p:nvSpPr>
        <p:spPr>
          <a:xfrm>
            <a:off x="4432631" y="3623791"/>
            <a:ext cx="905366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0.81</a:t>
            </a:r>
            <a:endParaRPr lang="en-US" sz="810" dirty="0"/>
          </a:p>
        </p:txBody>
      </p:sp>
      <p:sp>
        <p:nvSpPr>
          <p:cNvPr id="349" name="Shape 347"/>
          <p:cNvSpPr/>
          <p:nvPr/>
        </p:nvSpPr>
        <p:spPr>
          <a:xfrm>
            <a:off x="5367022" y="3761075"/>
            <a:ext cx="98126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50" name="Text 348"/>
          <p:cNvSpPr txBox="1"/>
          <p:nvPr/>
        </p:nvSpPr>
        <p:spPr>
          <a:xfrm>
            <a:off x="5367022" y="3623791"/>
            <a:ext cx="95364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43 %</a:t>
            </a:r>
            <a:endParaRPr lang="en-US" sz="810" dirty="0"/>
          </a:p>
        </p:txBody>
      </p:sp>
      <p:sp>
        <p:nvSpPr>
          <p:cNvPr id="351" name="Shape 349"/>
          <p:cNvSpPr/>
          <p:nvPr/>
        </p:nvSpPr>
        <p:spPr>
          <a:xfrm>
            <a:off x="6348284" y="3761075"/>
            <a:ext cx="9728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52" name="Text 350"/>
          <p:cNvSpPr txBox="1"/>
          <p:nvPr/>
        </p:nvSpPr>
        <p:spPr>
          <a:xfrm>
            <a:off x="6348284" y="3623791"/>
            <a:ext cx="944950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0 %</a:t>
            </a:r>
            <a:endParaRPr lang="en-US" sz="810" dirty="0"/>
          </a:p>
        </p:txBody>
      </p:sp>
      <p:sp>
        <p:nvSpPr>
          <p:cNvPr id="353" name="Shape 351"/>
          <p:cNvSpPr/>
          <p:nvPr/>
        </p:nvSpPr>
        <p:spPr>
          <a:xfrm>
            <a:off x="7321106" y="3761075"/>
            <a:ext cx="77433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54" name="Text 352"/>
          <p:cNvSpPr txBox="1"/>
          <p:nvPr/>
        </p:nvSpPr>
        <p:spPr>
          <a:xfrm>
            <a:off x="7321106" y="3623791"/>
            <a:ext cx="74051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16.1</a:t>
            </a:r>
            <a:endParaRPr lang="en-US" sz="810" dirty="0"/>
          </a:p>
        </p:txBody>
      </p:sp>
      <p:sp>
        <p:nvSpPr>
          <p:cNvPr id="355" name="Shape 353"/>
          <p:cNvSpPr/>
          <p:nvPr/>
        </p:nvSpPr>
        <p:spPr>
          <a:xfrm>
            <a:off x="8095445" y="3761075"/>
            <a:ext cx="10410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56" name="Text 354"/>
          <p:cNvSpPr txBox="1"/>
          <p:nvPr/>
        </p:nvSpPr>
        <p:spPr>
          <a:xfrm>
            <a:off x="8095445" y="3623791"/>
            <a:ext cx="101526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1,708</a:t>
            </a:r>
            <a:endParaRPr lang="en-US" sz="810" dirty="0"/>
          </a:p>
        </p:txBody>
      </p:sp>
      <p:sp>
        <p:nvSpPr>
          <p:cNvPr id="357" name="Shape 355"/>
          <p:cNvSpPr/>
          <p:nvPr/>
        </p:nvSpPr>
        <p:spPr>
          <a:xfrm>
            <a:off x="9136537" y="3761075"/>
            <a:ext cx="81337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58" name="Text 356"/>
          <p:cNvSpPr txBox="1"/>
          <p:nvPr/>
        </p:nvSpPr>
        <p:spPr>
          <a:xfrm>
            <a:off x="9136537" y="3623791"/>
            <a:ext cx="78071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472</a:t>
            </a:r>
            <a:endParaRPr lang="en-US" sz="810" dirty="0"/>
          </a:p>
        </p:txBody>
      </p:sp>
      <p:sp>
        <p:nvSpPr>
          <p:cNvPr id="359" name="Shape 357"/>
          <p:cNvSpPr/>
          <p:nvPr/>
        </p:nvSpPr>
        <p:spPr>
          <a:xfrm>
            <a:off x="9949910" y="3761075"/>
            <a:ext cx="80357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60" name="Text 358"/>
          <p:cNvSpPr txBox="1"/>
          <p:nvPr/>
        </p:nvSpPr>
        <p:spPr>
          <a:xfrm>
            <a:off x="9949910" y="3623791"/>
            <a:ext cx="77062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810" dirty="0"/>
          </a:p>
        </p:txBody>
      </p:sp>
      <p:sp>
        <p:nvSpPr>
          <p:cNvPr id="361" name="Shape 359"/>
          <p:cNvSpPr/>
          <p:nvPr/>
        </p:nvSpPr>
        <p:spPr>
          <a:xfrm>
            <a:off x="10753486" y="3761075"/>
            <a:ext cx="92595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62" name="Text 360"/>
          <p:cNvSpPr txBox="1"/>
          <p:nvPr/>
        </p:nvSpPr>
        <p:spPr>
          <a:xfrm>
            <a:off x="10753486" y="3623791"/>
            <a:ext cx="89667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dato</a:t>
            </a:r>
            <a:endParaRPr lang="en-US" sz="810" dirty="0"/>
          </a:p>
        </p:txBody>
      </p:sp>
      <p:sp>
        <p:nvSpPr>
          <p:cNvPr id="363" name="Shape 361"/>
          <p:cNvSpPr/>
          <p:nvPr/>
        </p:nvSpPr>
        <p:spPr>
          <a:xfrm>
            <a:off x="511956" y="3917812"/>
            <a:ext cx="20586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64" name="Text 362"/>
          <p:cNvSpPr txBox="1"/>
          <p:nvPr/>
        </p:nvSpPr>
        <p:spPr>
          <a:xfrm>
            <a:off x="511956" y="3780528"/>
            <a:ext cx="15498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810" dirty="0"/>
          </a:p>
        </p:txBody>
      </p:sp>
      <p:sp>
        <p:nvSpPr>
          <p:cNvPr id="365" name="Shape 363"/>
          <p:cNvSpPr/>
          <p:nvPr/>
        </p:nvSpPr>
        <p:spPr>
          <a:xfrm>
            <a:off x="717823" y="3917812"/>
            <a:ext cx="241072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66" name="Text 364"/>
          <p:cNvSpPr txBox="1"/>
          <p:nvPr/>
        </p:nvSpPr>
        <p:spPr>
          <a:xfrm>
            <a:off x="717823" y="3780528"/>
            <a:ext cx="2425994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Referidos a ex clientes KPay</a:t>
            </a:r>
            <a:endParaRPr lang="en-US" sz="810" dirty="0"/>
          </a:p>
        </p:txBody>
      </p:sp>
      <p:sp>
        <p:nvSpPr>
          <p:cNvPr id="367" name="Shape 365"/>
          <p:cNvSpPr/>
          <p:nvPr/>
        </p:nvSpPr>
        <p:spPr>
          <a:xfrm>
            <a:off x="3128553" y="3917812"/>
            <a:ext cx="473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68" name="Text 366"/>
          <p:cNvSpPr txBox="1"/>
          <p:nvPr/>
        </p:nvSpPr>
        <p:spPr>
          <a:xfrm>
            <a:off x="3128553" y="3780528"/>
            <a:ext cx="43020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B0326</a:t>
            </a:r>
            <a:endParaRPr lang="en-US" sz="810" dirty="0"/>
          </a:p>
        </p:txBody>
      </p:sp>
      <p:sp>
        <p:nvSpPr>
          <p:cNvPr id="369" name="Shape 367"/>
          <p:cNvSpPr/>
          <p:nvPr/>
        </p:nvSpPr>
        <p:spPr>
          <a:xfrm>
            <a:off x="3601626" y="3917812"/>
            <a:ext cx="83100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70" name="Text 368"/>
          <p:cNvSpPr txBox="1"/>
          <p:nvPr/>
        </p:nvSpPr>
        <p:spPr>
          <a:xfrm>
            <a:off x="3601626" y="3780528"/>
            <a:ext cx="79887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</a:t>
            </a:r>
            <a:endParaRPr lang="en-US" sz="810" dirty="0"/>
          </a:p>
        </p:txBody>
      </p:sp>
      <p:sp>
        <p:nvSpPr>
          <p:cNvPr id="371" name="Shape 369"/>
          <p:cNvSpPr/>
          <p:nvPr/>
        </p:nvSpPr>
        <p:spPr>
          <a:xfrm>
            <a:off x="4432631" y="3917812"/>
            <a:ext cx="93439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72" name="Text 370"/>
          <p:cNvSpPr txBox="1"/>
          <p:nvPr/>
        </p:nvSpPr>
        <p:spPr>
          <a:xfrm>
            <a:off x="4432631" y="3780528"/>
            <a:ext cx="905366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0.70</a:t>
            </a:r>
            <a:endParaRPr lang="en-US" sz="810" dirty="0"/>
          </a:p>
        </p:txBody>
      </p:sp>
      <p:sp>
        <p:nvSpPr>
          <p:cNvPr id="373" name="Shape 371"/>
          <p:cNvSpPr/>
          <p:nvPr/>
        </p:nvSpPr>
        <p:spPr>
          <a:xfrm>
            <a:off x="5367022" y="3917812"/>
            <a:ext cx="98126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74" name="Text 372"/>
          <p:cNvSpPr txBox="1"/>
          <p:nvPr/>
        </p:nvSpPr>
        <p:spPr>
          <a:xfrm>
            <a:off x="5367022" y="3780528"/>
            <a:ext cx="95364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44 %</a:t>
            </a:r>
            <a:endParaRPr lang="en-US" sz="810" dirty="0"/>
          </a:p>
        </p:txBody>
      </p:sp>
      <p:sp>
        <p:nvSpPr>
          <p:cNvPr id="375" name="Shape 373"/>
          <p:cNvSpPr/>
          <p:nvPr/>
        </p:nvSpPr>
        <p:spPr>
          <a:xfrm>
            <a:off x="6348284" y="3917812"/>
            <a:ext cx="9728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76" name="Text 374"/>
          <p:cNvSpPr txBox="1"/>
          <p:nvPr/>
        </p:nvSpPr>
        <p:spPr>
          <a:xfrm>
            <a:off x="6348284" y="3780528"/>
            <a:ext cx="944950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63 %</a:t>
            </a:r>
            <a:endParaRPr lang="en-US" sz="810" dirty="0"/>
          </a:p>
        </p:txBody>
      </p:sp>
      <p:sp>
        <p:nvSpPr>
          <p:cNvPr id="377" name="Shape 375"/>
          <p:cNvSpPr/>
          <p:nvPr/>
        </p:nvSpPr>
        <p:spPr>
          <a:xfrm>
            <a:off x="7321106" y="3917812"/>
            <a:ext cx="77433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78" name="Text 376"/>
          <p:cNvSpPr txBox="1"/>
          <p:nvPr/>
        </p:nvSpPr>
        <p:spPr>
          <a:xfrm>
            <a:off x="7321106" y="3780528"/>
            <a:ext cx="74051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</a:t>
            </a:r>
            <a:endParaRPr lang="en-US" sz="810" dirty="0"/>
          </a:p>
        </p:txBody>
      </p:sp>
      <p:sp>
        <p:nvSpPr>
          <p:cNvPr id="379" name="Shape 377"/>
          <p:cNvSpPr/>
          <p:nvPr/>
        </p:nvSpPr>
        <p:spPr>
          <a:xfrm>
            <a:off x="8095445" y="3917812"/>
            <a:ext cx="10410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80" name="Text 378"/>
          <p:cNvSpPr txBox="1"/>
          <p:nvPr/>
        </p:nvSpPr>
        <p:spPr>
          <a:xfrm>
            <a:off x="8095445" y="3780528"/>
            <a:ext cx="101526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2,959</a:t>
            </a:r>
            <a:endParaRPr lang="en-US" sz="810" dirty="0"/>
          </a:p>
        </p:txBody>
      </p:sp>
      <p:sp>
        <p:nvSpPr>
          <p:cNvPr id="381" name="Shape 379"/>
          <p:cNvSpPr/>
          <p:nvPr/>
        </p:nvSpPr>
        <p:spPr>
          <a:xfrm>
            <a:off x="9136537" y="3917812"/>
            <a:ext cx="81337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82" name="Text 380"/>
          <p:cNvSpPr txBox="1"/>
          <p:nvPr/>
        </p:nvSpPr>
        <p:spPr>
          <a:xfrm>
            <a:off x="9136537" y="3780528"/>
            <a:ext cx="78071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237</a:t>
            </a:r>
            <a:endParaRPr lang="en-US" sz="810" dirty="0"/>
          </a:p>
        </p:txBody>
      </p:sp>
      <p:sp>
        <p:nvSpPr>
          <p:cNvPr id="383" name="Shape 381"/>
          <p:cNvSpPr/>
          <p:nvPr/>
        </p:nvSpPr>
        <p:spPr>
          <a:xfrm>
            <a:off x="9949910" y="3917812"/>
            <a:ext cx="80357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84" name="Text 382"/>
          <p:cNvSpPr txBox="1"/>
          <p:nvPr/>
        </p:nvSpPr>
        <p:spPr>
          <a:xfrm>
            <a:off x="9949910" y="3780528"/>
            <a:ext cx="77062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7,537</a:t>
            </a:r>
            <a:endParaRPr lang="en-US" sz="810" dirty="0"/>
          </a:p>
        </p:txBody>
      </p:sp>
      <p:sp>
        <p:nvSpPr>
          <p:cNvPr id="385" name="Shape 383"/>
          <p:cNvSpPr/>
          <p:nvPr/>
        </p:nvSpPr>
        <p:spPr>
          <a:xfrm>
            <a:off x="10753486" y="3917812"/>
            <a:ext cx="92595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86" name="Text 384"/>
          <p:cNvSpPr txBox="1"/>
          <p:nvPr/>
        </p:nvSpPr>
        <p:spPr>
          <a:xfrm>
            <a:off x="10753486" y="3780528"/>
            <a:ext cx="89667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</a:t>
            </a:r>
            <a:endParaRPr lang="en-US" sz="810" dirty="0"/>
          </a:p>
        </p:txBody>
      </p:sp>
      <p:sp>
        <p:nvSpPr>
          <p:cNvPr id="387" name="Shape 385"/>
          <p:cNvSpPr/>
          <p:nvPr/>
        </p:nvSpPr>
        <p:spPr>
          <a:xfrm>
            <a:off x="511956" y="4074548"/>
            <a:ext cx="20586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88" name="Text 386"/>
          <p:cNvSpPr txBox="1"/>
          <p:nvPr/>
        </p:nvSpPr>
        <p:spPr>
          <a:xfrm>
            <a:off x="511956" y="3937265"/>
            <a:ext cx="15498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810" dirty="0"/>
          </a:p>
        </p:txBody>
      </p:sp>
      <p:sp>
        <p:nvSpPr>
          <p:cNvPr id="389" name="Shape 387"/>
          <p:cNvSpPr/>
          <p:nvPr/>
        </p:nvSpPr>
        <p:spPr>
          <a:xfrm>
            <a:off x="717823" y="4074548"/>
            <a:ext cx="241072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90" name="Text 388"/>
          <p:cNvSpPr txBox="1"/>
          <p:nvPr/>
        </p:nvSpPr>
        <p:spPr>
          <a:xfrm>
            <a:off x="717823" y="3937265"/>
            <a:ext cx="2425994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Temu en febrero a clientes KPay</a:t>
            </a:r>
            <a:endParaRPr lang="en-US" sz="810" dirty="0"/>
          </a:p>
        </p:txBody>
      </p:sp>
      <p:sp>
        <p:nvSpPr>
          <p:cNvPr id="391" name="Shape 389"/>
          <p:cNvSpPr/>
          <p:nvPr/>
        </p:nvSpPr>
        <p:spPr>
          <a:xfrm>
            <a:off x="3128553" y="4074548"/>
            <a:ext cx="473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92" name="Text 390"/>
          <p:cNvSpPr txBox="1"/>
          <p:nvPr/>
        </p:nvSpPr>
        <p:spPr>
          <a:xfrm>
            <a:off x="3128553" y="3937265"/>
            <a:ext cx="43020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B0368</a:t>
            </a:r>
            <a:endParaRPr lang="en-US" sz="810" dirty="0"/>
          </a:p>
        </p:txBody>
      </p:sp>
      <p:sp>
        <p:nvSpPr>
          <p:cNvPr id="393" name="Shape 391"/>
          <p:cNvSpPr/>
          <p:nvPr/>
        </p:nvSpPr>
        <p:spPr>
          <a:xfrm>
            <a:off x="3601626" y="4074548"/>
            <a:ext cx="83100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94" name="Text 392"/>
          <p:cNvSpPr txBox="1"/>
          <p:nvPr/>
        </p:nvSpPr>
        <p:spPr>
          <a:xfrm>
            <a:off x="3601626" y="3937265"/>
            <a:ext cx="79887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</a:t>
            </a:r>
            <a:endParaRPr lang="en-US" sz="810" dirty="0"/>
          </a:p>
        </p:txBody>
      </p:sp>
      <p:sp>
        <p:nvSpPr>
          <p:cNvPr id="395" name="Shape 393"/>
          <p:cNvSpPr/>
          <p:nvPr/>
        </p:nvSpPr>
        <p:spPr>
          <a:xfrm>
            <a:off x="4432631" y="4074548"/>
            <a:ext cx="93439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96" name="Text 394"/>
          <p:cNvSpPr txBox="1"/>
          <p:nvPr/>
        </p:nvSpPr>
        <p:spPr>
          <a:xfrm>
            <a:off x="4432631" y="3937265"/>
            <a:ext cx="905366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0.67</a:t>
            </a:r>
            <a:endParaRPr lang="en-US" sz="810" dirty="0"/>
          </a:p>
        </p:txBody>
      </p:sp>
      <p:sp>
        <p:nvSpPr>
          <p:cNvPr id="397" name="Shape 395"/>
          <p:cNvSpPr/>
          <p:nvPr/>
        </p:nvSpPr>
        <p:spPr>
          <a:xfrm>
            <a:off x="5367022" y="4074548"/>
            <a:ext cx="98126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98" name="Text 396"/>
          <p:cNvSpPr txBox="1"/>
          <p:nvPr/>
        </p:nvSpPr>
        <p:spPr>
          <a:xfrm>
            <a:off x="5367022" y="3937265"/>
            <a:ext cx="95364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45 %</a:t>
            </a:r>
            <a:endParaRPr lang="en-US" sz="810" dirty="0"/>
          </a:p>
        </p:txBody>
      </p:sp>
      <p:sp>
        <p:nvSpPr>
          <p:cNvPr id="399" name="Shape 397"/>
          <p:cNvSpPr/>
          <p:nvPr/>
        </p:nvSpPr>
        <p:spPr>
          <a:xfrm>
            <a:off x="6348284" y="4074548"/>
            <a:ext cx="9728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00" name="Text 398"/>
          <p:cNvSpPr txBox="1"/>
          <p:nvPr/>
        </p:nvSpPr>
        <p:spPr>
          <a:xfrm>
            <a:off x="6348284" y="3937265"/>
            <a:ext cx="944950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93 %</a:t>
            </a:r>
            <a:endParaRPr lang="en-US" sz="810" dirty="0"/>
          </a:p>
        </p:txBody>
      </p:sp>
      <p:sp>
        <p:nvSpPr>
          <p:cNvPr id="401" name="Shape 399"/>
          <p:cNvSpPr/>
          <p:nvPr/>
        </p:nvSpPr>
        <p:spPr>
          <a:xfrm>
            <a:off x="7321106" y="4074548"/>
            <a:ext cx="77433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02" name="Text 400"/>
          <p:cNvSpPr txBox="1"/>
          <p:nvPr/>
        </p:nvSpPr>
        <p:spPr>
          <a:xfrm>
            <a:off x="7321106" y="3937265"/>
            <a:ext cx="74051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2.0</a:t>
            </a:r>
            <a:endParaRPr lang="en-US" sz="810" dirty="0"/>
          </a:p>
        </p:txBody>
      </p:sp>
      <p:sp>
        <p:nvSpPr>
          <p:cNvPr id="403" name="Shape 401"/>
          <p:cNvSpPr/>
          <p:nvPr/>
        </p:nvSpPr>
        <p:spPr>
          <a:xfrm>
            <a:off x="8095445" y="4074548"/>
            <a:ext cx="10410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04" name="Text 402"/>
          <p:cNvSpPr txBox="1"/>
          <p:nvPr/>
        </p:nvSpPr>
        <p:spPr>
          <a:xfrm>
            <a:off x="8095445" y="3937265"/>
            <a:ext cx="101526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15,635</a:t>
            </a:r>
            <a:endParaRPr lang="en-US" sz="810" dirty="0"/>
          </a:p>
        </p:txBody>
      </p:sp>
      <p:sp>
        <p:nvSpPr>
          <p:cNvPr id="405" name="Shape 403"/>
          <p:cNvSpPr/>
          <p:nvPr/>
        </p:nvSpPr>
        <p:spPr>
          <a:xfrm>
            <a:off x="9136537" y="4074548"/>
            <a:ext cx="81337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06" name="Text 404"/>
          <p:cNvSpPr txBox="1"/>
          <p:nvPr/>
        </p:nvSpPr>
        <p:spPr>
          <a:xfrm>
            <a:off x="9136537" y="3937265"/>
            <a:ext cx="78071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</a:t>
            </a:r>
            <a:endParaRPr lang="en-US" sz="810" dirty="0"/>
          </a:p>
        </p:txBody>
      </p:sp>
      <p:sp>
        <p:nvSpPr>
          <p:cNvPr id="407" name="Shape 405"/>
          <p:cNvSpPr/>
          <p:nvPr/>
        </p:nvSpPr>
        <p:spPr>
          <a:xfrm>
            <a:off x="9949910" y="4074548"/>
            <a:ext cx="80357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08" name="Text 406"/>
          <p:cNvSpPr txBox="1"/>
          <p:nvPr/>
        </p:nvSpPr>
        <p:spPr>
          <a:xfrm>
            <a:off x="9949910" y="3937265"/>
            <a:ext cx="77062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48,973</a:t>
            </a:r>
            <a:endParaRPr lang="en-US" sz="810" dirty="0"/>
          </a:p>
        </p:txBody>
      </p:sp>
      <p:sp>
        <p:nvSpPr>
          <p:cNvPr id="409" name="Shape 407"/>
          <p:cNvSpPr/>
          <p:nvPr/>
        </p:nvSpPr>
        <p:spPr>
          <a:xfrm>
            <a:off x="10753486" y="4074548"/>
            <a:ext cx="92595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10" name="Text 408"/>
          <p:cNvSpPr txBox="1"/>
          <p:nvPr/>
        </p:nvSpPr>
        <p:spPr>
          <a:xfrm>
            <a:off x="10753486" y="3937265"/>
            <a:ext cx="89667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810" dirty="0"/>
          </a:p>
        </p:txBody>
      </p:sp>
      <p:sp>
        <p:nvSpPr>
          <p:cNvPr id="411" name="Shape 409"/>
          <p:cNvSpPr/>
          <p:nvPr/>
        </p:nvSpPr>
        <p:spPr>
          <a:xfrm>
            <a:off x="511956" y="4231285"/>
            <a:ext cx="20586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12" name="Text 410"/>
          <p:cNvSpPr txBox="1"/>
          <p:nvPr/>
        </p:nvSpPr>
        <p:spPr>
          <a:xfrm>
            <a:off x="511956" y="4094001"/>
            <a:ext cx="15498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810" dirty="0"/>
          </a:p>
        </p:txBody>
      </p:sp>
      <p:sp>
        <p:nvSpPr>
          <p:cNvPr id="413" name="Shape 411"/>
          <p:cNvSpPr/>
          <p:nvPr/>
        </p:nvSpPr>
        <p:spPr>
          <a:xfrm>
            <a:off x="717823" y="4231285"/>
            <a:ext cx="241072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14" name="Text 412"/>
          <p:cNvSpPr txBox="1"/>
          <p:nvPr/>
        </p:nvSpPr>
        <p:spPr>
          <a:xfrm>
            <a:off x="717823" y="4094001"/>
            <a:ext cx="2425994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 clientes KPay con 6 meses sin uso</a:t>
            </a:r>
            <a:endParaRPr lang="en-US" sz="810" dirty="0"/>
          </a:p>
        </p:txBody>
      </p:sp>
      <p:sp>
        <p:nvSpPr>
          <p:cNvPr id="415" name="Shape 413"/>
          <p:cNvSpPr/>
          <p:nvPr/>
        </p:nvSpPr>
        <p:spPr>
          <a:xfrm>
            <a:off x="3128553" y="4231285"/>
            <a:ext cx="473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16" name="Text 414"/>
          <p:cNvSpPr txBox="1"/>
          <p:nvPr/>
        </p:nvSpPr>
        <p:spPr>
          <a:xfrm>
            <a:off x="3128553" y="4094001"/>
            <a:ext cx="43020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B0332</a:t>
            </a:r>
            <a:endParaRPr lang="en-US" sz="810" dirty="0"/>
          </a:p>
        </p:txBody>
      </p:sp>
      <p:sp>
        <p:nvSpPr>
          <p:cNvPr id="417" name="Shape 415"/>
          <p:cNvSpPr/>
          <p:nvPr/>
        </p:nvSpPr>
        <p:spPr>
          <a:xfrm>
            <a:off x="3601626" y="4231285"/>
            <a:ext cx="83100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18" name="Text 416"/>
          <p:cNvSpPr txBox="1"/>
          <p:nvPr/>
        </p:nvSpPr>
        <p:spPr>
          <a:xfrm>
            <a:off x="3601626" y="4094001"/>
            <a:ext cx="79887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</a:t>
            </a:r>
            <a:endParaRPr lang="en-US" sz="810" dirty="0"/>
          </a:p>
        </p:txBody>
      </p:sp>
      <p:sp>
        <p:nvSpPr>
          <p:cNvPr id="419" name="Shape 417"/>
          <p:cNvSpPr/>
          <p:nvPr/>
        </p:nvSpPr>
        <p:spPr>
          <a:xfrm>
            <a:off x="4432631" y="4231285"/>
            <a:ext cx="93439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20" name="Text 418"/>
          <p:cNvSpPr txBox="1"/>
          <p:nvPr/>
        </p:nvSpPr>
        <p:spPr>
          <a:xfrm>
            <a:off x="4432631" y="4094001"/>
            <a:ext cx="905366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0.58</a:t>
            </a:r>
            <a:endParaRPr lang="en-US" sz="810" dirty="0"/>
          </a:p>
        </p:txBody>
      </p:sp>
      <p:sp>
        <p:nvSpPr>
          <p:cNvPr id="421" name="Shape 419"/>
          <p:cNvSpPr/>
          <p:nvPr/>
        </p:nvSpPr>
        <p:spPr>
          <a:xfrm>
            <a:off x="5367022" y="4231285"/>
            <a:ext cx="98126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22" name="Text 420"/>
          <p:cNvSpPr txBox="1"/>
          <p:nvPr/>
        </p:nvSpPr>
        <p:spPr>
          <a:xfrm>
            <a:off x="5367022" y="4094001"/>
            <a:ext cx="95364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47 %</a:t>
            </a:r>
            <a:endParaRPr lang="en-US" sz="810" dirty="0"/>
          </a:p>
        </p:txBody>
      </p:sp>
      <p:sp>
        <p:nvSpPr>
          <p:cNvPr id="423" name="Shape 421"/>
          <p:cNvSpPr/>
          <p:nvPr/>
        </p:nvSpPr>
        <p:spPr>
          <a:xfrm>
            <a:off x="6348284" y="4231285"/>
            <a:ext cx="9728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24" name="Text 422"/>
          <p:cNvSpPr txBox="1"/>
          <p:nvPr/>
        </p:nvSpPr>
        <p:spPr>
          <a:xfrm>
            <a:off x="6348284" y="4094001"/>
            <a:ext cx="944950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89 %</a:t>
            </a:r>
            <a:endParaRPr lang="en-US" sz="810" dirty="0"/>
          </a:p>
        </p:txBody>
      </p:sp>
      <p:sp>
        <p:nvSpPr>
          <p:cNvPr id="425" name="Shape 423"/>
          <p:cNvSpPr/>
          <p:nvPr/>
        </p:nvSpPr>
        <p:spPr>
          <a:xfrm>
            <a:off x="7321106" y="4231285"/>
            <a:ext cx="77433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26" name="Text 424"/>
          <p:cNvSpPr txBox="1"/>
          <p:nvPr/>
        </p:nvSpPr>
        <p:spPr>
          <a:xfrm>
            <a:off x="7321106" y="4094001"/>
            <a:ext cx="74051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3.4</a:t>
            </a:r>
            <a:endParaRPr lang="en-US" sz="810" dirty="0"/>
          </a:p>
        </p:txBody>
      </p:sp>
      <p:sp>
        <p:nvSpPr>
          <p:cNvPr id="427" name="Shape 425"/>
          <p:cNvSpPr/>
          <p:nvPr/>
        </p:nvSpPr>
        <p:spPr>
          <a:xfrm>
            <a:off x="8095445" y="4231285"/>
            <a:ext cx="10410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28" name="Text 426"/>
          <p:cNvSpPr txBox="1"/>
          <p:nvPr/>
        </p:nvSpPr>
        <p:spPr>
          <a:xfrm>
            <a:off x="8095445" y="4094001"/>
            <a:ext cx="101526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6,964</a:t>
            </a:r>
            <a:endParaRPr lang="en-US" sz="810" dirty="0"/>
          </a:p>
        </p:txBody>
      </p:sp>
      <p:sp>
        <p:nvSpPr>
          <p:cNvPr id="429" name="Shape 427"/>
          <p:cNvSpPr/>
          <p:nvPr/>
        </p:nvSpPr>
        <p:spPr>
          <a:xfrm>
            <a:off x="9136537" y="4231285"/>
            <a:ext cx="81337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30" name="Text 428"/>
          <p:cNvSpPr txBox="1"/>
          <p:nvPr/>
        </p:nvSpPr>
        <p:spPr>
          <a:xfrm>
            <a:off x="9136537" y="4094001"/>
            <a:ext cx="78071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</a:t>
            </a:r>
            <a:endParaRPr lang="en-US" sz="810" dirty="0"/>
          </a:p>
        </p:txBody>
      </p:sp>
      <p:sp>
        <p:nvSpPr>
          <p:cNvPr id="431" name="Shape 429"/>
          <p:cNvSpPr/>
          <p:nvPr/>
        </p:nvSpPr>
        <p:spPr>
          <a:xfrm>
            <a:off x="9949910" y="4231285"/>
            <a:ext cx="80357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32" name="Text 430"/>
          <p:cNvSpPr txBox="1"/>
          <p:nvPr/>
        </p:nvSpPr>
        <p:spPr>
          <a:xfrm>
            <a:off x="9949910" y="4094001"/>
            <a:ext cx="77062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24,889</a:t>
            </a:r>
            <a:endParaRPr lang="en-US" sz="810" dirty="0"/>
          </a:p>
        </p:txBody>
      </p:sp>
      <p:sp>
        <p:nvSpPr>
          <p:cNvPr id="433" name="Shape 431"/>
          <p:cNvSpPr/>
          <p:nvPr/>
        </p:nvSpPr>
        <p:spPr>
          <a:xfrm>
            <a:off x="10753486" y="4231285"/>
            <a:ext cx="92595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34" name="Text 432"/>
          <p:cNvSpPr txBox="1"/>
          <p:nvPr/>
        </p:nvSpPr>
        <p:spPr>
          <a:xfrm>
            <a:off x="10753486" y="4094001"/>
            <a:ext cx="89667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810" dirty="0"/>
          </a:p>
        </p:txBody>
      </p:sp>
      <p:sp>
        <p:nvSpPr>
          <p:cNvPr id="435" name="Shape 433"/>
          <p:cNvSpPr/>
          <p:nvPr/>
        </p:nvSpPr>
        <p:spPr>
          <a:xfrm>
            <a:off x="511956" y="4388022"/>
            <a:ext cx="20586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36" name="Text 434"/>
          <p:cNvSpPr txBox="1"/>
          <p:nvPr/>
        </p:nvSpPr>
        <p:spPr>
          <a:xfrm>
            <a:off x="511956" y="4250738"/>
            <a:ext cx="15498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810" dirty="0"/>
          </a:p>
        </p:txBody>
      </p:sp>
      <p:sp>
        <p:nvSpPr>
          <p:cNvPr id="437" name="Shape 435"/>
          <p:cNvSpPr/>
          <p:nvPr/>
        </p:nvSpPr>
        <p:spPr>
          <a:xfrm>
            <a:off x="717823" y="4388022"/>
            <a:ext cx="241072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38" name="Text 436"/>
          <p:cNvSpPr txBox="1"/>
          <p:nvPr/>
        </p:nvSpPr>
        <p:spPr>
          <a:xfrm>
            <a:off x="717823" y="4250738"/>
            <a:ext cx="2425994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Cobranza KCash, primeros días de atraso</a:t>
            </a:r>
            <a:endParaRPr lang="en-US" sz="810" dirty="0"/>
          </a:p>
        </p:txBody>
      </p:sp>
      <p:sp>
        <p:nvSpPr>
          <p:cNvPr id="439" name="Shape 437"/>
          <p:cNvSpPr/>
          <p:nvPr/>
        </p:nvSpPr>
        <p:spPr>
          <a:xfrm>
            <a:off x="3128553" y="4388022"/>
            <a:ext cx="473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40" name="Text 438"/>
          <p:cNvSpPr txBox="1"/>
          <p:nvPr/>
        </p:nvSpPr>
        <p:spPr>
          <a:xfrm>
            <a:off x="3128553" y="4250738"/>
            <a:ext cx="43020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T000</a:t>
            </a:r>
            <a:endParaRPr lang="en-US" sz="810" dirty="0"/>
          </a:p>
        </p:txBody>
      </p:sp>
      <p:sp>
        <p:nvSpPr>
          <p:cNvPr id="441" name="Shape 439"/>
          <p:cNvSpPr/>
          <p:nvPr/>
        </p:nvSpPr>
        <p:spPr>
          <a:xfrm>
            <a:off x="3601626" y="4388022"/>
            <a:ext cx="83100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42" name="Text 440"/>
          <p:cNvSpPr txBox="1"/>
          <p:nvPr/>
        </p:nvSpPr>
        <p:spPr>
          <a:xfrm>
            <a:off x="3601626" y="4250738"/>
            <a:ext cx="79887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Others</a:t>
            </a:r>
            <a:endParaRPr lang="en-US" sz="810" dirty="0"/>
          </a:p>
        </p:txBody>
      </p:sp>
      <p:sp>
        <p:nvSpPr>
          <p:cNvPr id="443" name="Shape 441"/>
          <p:cNvSpPr/>
          <p:nvPr/>
        </p:nvSpPr>
        <p:spPr>
          <a:xfrm>
            <a:off x="4432631" y="4388022"/>
            <a:ext cx="93439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44" name="Text 442"/>
          <p:cNvSpPr txBox="1"/>
          <p:nvPr/>
        </p:nvSpPr>
        <p:spPr>
          <a:xfrm>
            <a:off x="4432631" y="4250738"/>
            <a:ext cx="905366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0.51</a:t>
            </a:r>
            <a:endParaRPr lang="en-US" sz="810" dirty="0"/>
          </a:p>
        </p:txBody>
      </p:sp>
      <p:sp>
        <p:nvSpPr>
          <p:cNvPr id="445" name="Shape 443"/>
          <p:cNvSpPr/>
          <p:nvPr/>
        </p:nvSpPr>
        <p:spPr>
          <a:xfrm>
            <a:off x="5367022" y="4388022"/>
            <a:ext cx="98126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46" name="Text 444"/>
          <p:cNvSpPr txBox="1"/>
          <p:nvPr/>
        </p:nvSpPr>
        <p:spPr>
          <a:xfrm>
            <a:off x="5367022" y="4250738"/>
            <a:ext cx="95364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47 %</a:t>
            </a:r>
            <a:endParaRPr lang="en-US" sz="810" dirty="0"/>
          </a:p>
        </p:txBody>
      </p:sp>
      <p:sp>
        <p:nvSpPr>
          <p:cNvPr id="447" name="Shape 445"/>
          <p:cNvSpPr/>
          <p:nvPr/>
        </p:nvSpPr>
        <p:spPr>
          <a:xfrm>
            <a:off x="6348284" y="4388022"/>
            <a:ext cx="9728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48" name="Text 446"/>
          <p:cNvSpPr txBox="1"/>
          <p:nvPr/>
        </p:nvSpPr>
        <p:spPr>
          <a:xfrm>
            <a:off x="6348284" y="4250738"/>
            <a:ext cx="944950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0 %</a:t>
            </a:r>
            <a:endParaRPr lang="en-US" sz="810" dirty="0"/>
          </a:p>
        </p:txBody>
      </p:sp>
      <p:sp>
        <p:nvSpPr>
          <p:cNvPr id="449" name="Shape 447"/>
          <p:cNvSpPr/>
          <p:nvPr/>
        </p:nvSpPr>
        <p:spPr>
          <a:xfrm>
            <a:off x="7321106" y="4388022"/>
            <a:ext cx="77433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50" name="Text 448"/>
          <p:cNvSpPr txBox="1"/>
          <p:nvPr/>
        </p:nvSpPr>
        <p:spPr>
          <a:xfrm>
            <a:off x="7321106" y="4250738"/>
            <a:ext cx="74051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15.8</a:t>
            </a:r>
            <a:endParaRPr lang="en-US" sz="810" dirty="0"/>
          </a:p>
        </p:txBody>
      </p:sp>
      <p:sp>
        <p:nvSpPr>
          <p:cNvPr id="451" name="Shape 449"/>
          <p:cNvSpPr/>
          <p:nvPr/>
        </p:nvSpPr>
        <p:spPr>
          <a:xfrm>
            <a:off x="8095445" y="4388022"/>
            <a:ext cx="10410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52" name="Text 450"/>
          <p:cNvSpPr txBox="1"/>
          <p:nvPr/>
        </p:nvSpPr>
        <p:spPr>
          <a:xfrm>
            <a:off x="8095445" y="4250738"/>
            <a:ext cx="101526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28,571</a:t>
            </a:r>
            <a:endParaRPr lang="en-US" sz="810" dirty="0"/>
          </a:p>
        </p:txBody>
      </p:sp>
      <p:sp>
        <p:nvSpPr>
          <p:cNvPr id="453" name="Shape 451"/>
          <p:cNvSpPr/>
          <p:nvPr/>
        </p:nvSpPr>
        <p:spPr>
          <a:xfrm>
            <a:off x="9136537" y="4388022"/>
            <a:ext cx="81337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54" name="Text 452"/>
          <p:cNvSpPr txBox="1"/>
          <p:nvPr/>
        </p:nvSpPr>
        <p:spPr>
          <a:xfrm>
            <a:off x="9136537" y="4250738"/>
            <a:ext cx="78071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810" dirty="0"/>
          </a:p>
        </p:txBody>
      </p:sp>
      <p:sp>
        <p:nvSpPr>
          <p:cNvPr id="455" name="Shape 453"/>
          <p:cNvSpPr/>
          <p:nvPr/>
        </p:nvSpPr>
        <p:spPr>
          <a:xfrm>
            <a:off x="9949910" y="4388022"/>
            <a:ext cx="80357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56" name="Text 454"/>
          <p:cNvSpPr txBox="1"/>
          <p:nvPr/>
        </p:nvSpPr>
        <p:spPr>
          <a:xfrm>
            <a:off x="9949910" y="4250738"/>
            <a:ext cx="77062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101,170</a:t>
            </a:r>
            <a:endParaRPr lang="en-US" sz="810" dirty="0"/>
          </a:p>
        </p:txBody>
      </p:sp>
      <p:sp>
        <p:nvSpPr>
          <p:cNvPr id="457" name="Shape 455"/>
          <p:cNvSpPr/>
          <p:nvPr/>
        </p:nvSpPr>
        <p:spPr>
          <a:xfrm>
            <a:off x="10753486" y="4388022"/>
            <a:ext cx="92595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58" name="Text 456"/>
          <p:cNvSpPr txBox="1"/>
          <p:nvPr/>
        </p:nvSpPr>
        <p:spPr>
          <a:xfrm>
            <a:off x="10753486" y="4250738"/>
            <a:ext cx="89667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810" dirty="0"/>
          </a:p>
        </p:txBody>
      </p:sp>
      <p:sp>
        <p:nvSpPr>
          <p:cNvPr id="459" name="Shape 457"/>
          <p:cNvSpPr/>
          <p:nvPr/>
        </p:nvSpPr>
        <p:spPr>
          <a:xfrm>
            <a:off x="511956" y="4544758"/>
            <a:ext cx="20586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60" name="Text 458"/>
          <p:cNvSpPr txBox="1"/>
          <p:nvPr/>
        </p:nvSpPr>
        <p:spPr>
          <a:xfrm>
            <a:off x="511956" y="4407474"/>
            <a:ext cx="15498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810" dirty="0"/>
          </a:p>
        </p:txBody>
      </p:sp>
      <p:sp>
        <p:nvSpPr>
          <p:cNvPr id="461" name="Shape 459"/>
          <p:cNvSpPr/>
          <p:nvPr/>
        </p:nvSpPr>
        <p:spPr>
          <a:xfrm>
            <a:off x="717823" y="4544758"/>
            <a:ext cx="241072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62" name="Text 460"/>
          <p:cNvSpPr txBox="1"/>
          <p:nvPr/>
        </p:nvSpPr>
        <p:spPr>
          <a:xfrm>
            <a:off x="717823" y="4407474"/>
            <a:ext cx="2425994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Buenas prácticas a adultos mayores</a:t>
            </a:r>
            <a:endParaRPr lang="en-US" sz="810" dirty="0"/>
          </a:p>
        </p:txBody>
      </p:sp>
      <p:sp>
        <p:nvSpPr>
          <p:cNvPr id="463" name="Shape 461"/>
          <p:cNvSpPr/>
          <p:nvPr/>
        </p:nvSpPr>
        <p:spPr>
          <a:xfrm>
            <a:off x="3128553" y="4544758"/>
            <a:ext cx="473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64" name="Text 462"/>
          <p:cNvSpPr txBox="1"/>
          <p:nvPr/>
        </p:nvSpPr>
        <p:spPr>
          <a:xfrm>
            <a:off x="3128553" y="4407474"/>
            <a:ext cx="43020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T2778</a:t>
            </a:r>
            <a:endParaRPr lang="en-US" sz="810" dirty="0"/>
          </a:p>
        </p:txBody>
      </p:sp>
      <p:sp>
        <p:nvSpPr>
          <p:cNvPr id="465" name="Shape 463"/>
          <p:cNvSpPr/>
          <p:nvPr/>
        </p:nvSpPr>
        <p:spPr>
          <a:xfrm>
            <a:off x="3601626" y="4544758"/>
            <a:ext cx="83100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66" name="Text 464"/>
          <p:cNvSpPr txBox="1"/>
          <p:nvPr/>
        </p:nvSpPr>
        <p:spPr>
          <a:xfrm>
            <a:off x="3601626" y="4407474"/>
            <a:ext cx="79887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Others</a:t>
            </a:r>
            <a:endParaRPr lang="en-US" sz="810" dirty="0"/>
          </a:p>
        </p:txBody>
      </p:sp>
      <p:sp>
        <p:nvSpPr>
          <p:cNvPr id="467" name="Shape 465"/>
          <p:cNvSpPr/>
          <p:nvPr/>
        </p:nvSpPr>
        <p:spPr>
          <a:xfrm>
            <a:off x="4432631" y="4544758"/>
            <a:ext cx="93439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68" name="Text 466"/>
          <p:cNvSpPr txBox="1"/>
          <p:nvPr/>
        </p:nvSpPr>
        <p:spPr>
          <a:xfrm>
            <a:off x="4432631" y="4407474"/>
            <a:ext cx="905366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0.51</a:t>
            </a:r>
            <a:endParaRPr lang="en-US" sz="810" dirty="0"/>
          </a:p>
        </p:txBody>
      </p:sp>
      <p:sp>
        <p:nvSpPr>
          <p:cNvPr id="469" name="Shape 467"/>
          <p:cNvSpPr/>
          <p:nvPr/>
        </p:nvSpPr>
        <p:spPr>
          <a:xfrm>
            <a:off x="5367022" y="4544758"/>
            <a:ext cx="98126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70" name="Text 468"/>
          <p:cNvSpPr txBox="1"/>
          <p:nvPr/>
        </p:nvSpPr>
        <p:spPr>
          <a:xfrm>
            <a:off x="5367022" y="4407474"/>
            <a:ext cx="95364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48 %</a:t>
            </a:r>
            <a:endParaRPr lang="en-US" sz="810" dirty="0"/>
          </a:p>
        </p:txBody>
      </p:sp>
      <p:sp>
        <p:nvSpPr>
          <p:cNvPr id="471" name="Shape 469"/>
          <p:cNvSpPr/>
          <p:nvPr/>
        </p:nvSpPr>
        <p:spPr>
          <a:xfrm>
            <a:off x="6348284" y="4544758"/>
            <a:ext cx="9728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72" name="Text 470"/>
          <p:cNvSpPr txBox="1"/>
          <p:nvPr/>
        </p:nvSpPr>
        <p:spPr>
          <a:xfrm>
            <a:off x="6348284" y="4407474"/>
            <a:ext cx="944950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76 %</a:t>
            </a:r>
            <a:endParaRPr lang="en-US" sz="810" dirty="0"/>
          </a:p>
        </p:txBody>
      </p:sp>
      <p:sp>
        <p:nvSpPr>
          <p:cNvPr id="473" name="Shape 471"/>
          <p:cNvSpPr/>
          <p:nvPr/>
        </p:nvSpPr>
        <p:spPr>
          <a:xfrm>
            <a:off x="7321106" y="4544758"/>
            <a:ext cx="77433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74" name="Text 472"/>
          <p:cNvSpPr txBox="1"/>
          <p:nvPr/>
        </p:nvSpPr>
        <p:spPr>
          <a:xfrm>
            <a:off x="7321106" y="4407474"/>
            <a:ext cx="74051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3.1</a:t>
            </a:r>
            <a:endParaRPr lang="en-US" sz="810" dirty="0"/>
          </a:p>
        </p:txBody>
      </p:sp>
      <p:sp>
        <p:nvSpPr>
          <p:cNvPr id="475" name="Shape 473"/>
          <p:cNvSpPr/>
          <p:nvPr/>
        </p:nvSpPr>
        <p:spPr>
          <a:xfrm>
            <a:off x="8095445" y="4544758"/>
            <a:ext cx="10410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76" name="Text 474"/>
          <p:cNvSpPr txBox="1"/>
          <p:nvPr/>
        </p:nvSpPr>
        <p:spPr>
          <a:xfrm>
            <a:off x="8095445" y="4407474"/>
            <a:ext cx="101526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2,153</a:t>
            </a:r>
            <a:endParaRPr lang="en-US" sz="810" dirty="0"/>
          </a:p>
        </p:txBody>
      </p:sp>
      <p:sp>
        <p:nvSpPr>
          <p:cNvPr id="477" name="Shape 475"/>
          <p:cNvSpPr/>
          <p:nvPr/>
        </p:nvSpPr>
        <p:spPr>
          <a:xfrm>
            <a:off x="9136537" y="4544758"/>
            <a:ext cx="81337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78" name="Text 476"/>
          <p:cNvSpPr txBox="1"/>
          <p:nvPr/>
        </p:nvSpPr>
        <p:spPr>
          <a:xfrm>
            <a:off x="9136537" y="4407474"/>
            <a:ext cx="78071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235</a:t>
            </a:r>
            <a:endParaRPr lang="en-US" sz="810" dirty="0"/>
          </a:p>
        </p:txBody>
      </p:sp>
      <p:sp>
        <p:nvSpPr>
          <p:cNvPr id="479" name="Shape 477"/>
          <p:cNvSpPr/>
          <p:nvPr/>
        </p:nvSpPr>
        <p:spPr>
          <a:xfrm>
            <a:off x="9949910" y="4544758"/>
            <a:ext cx="80357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80" name="Text 478"/>
          <p:cNvSpPr txBox="1"/>
          <p:nvPr/>
        </p:nvSpPr>
        <p:spPr>
          <a:xfrm>
            <a:off x="9949910" y="4407474"/>
            <a:ext cx="77062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810" dirty="0"/>
          </a:p>
        </p:txBody>
      </p:sp>
      <p:sp>
        <p:nvSpPr>
          <p:cNvPr id="481" name="Shape 479"/>
          <p:cNvSpPr/>
          <p:nvPr/>
        </p:nvSpPr>
        <p:spPr>
          <a:xfrm>
            <a:off x="10753486" y="4544758"/>
            <a:ext cx="92595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82" name="Text 480"/>
          <p:cNvSpPr txBox="1"/>
          <p:nvPr/>
        </p:nvSpPr>
        <p:spPr>
          <a:xfrm>
            <a:off x="10753486" y="4407474"/>
            <a:ext cx="89667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dato</a:t>
            </a:r>
            <a:endParaRPr lang="en-US" sz="810" dirty="0"/>
          </a:p>
        </p:txBody>
      </p:sp>
      <p:sp>
        <p:nvSpPr>
          <p:cNvPr id="483" name="Shape 481"/>
          <p:cNvSpPr/>
          <p:nvPr/>
        </p:nvSpPr>
        <p:spPr>
          <a:xfrm>
            <a:off x="511956" y="4701495"/>
            <a:ext cx="20586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84" name="Text 482"/>
          <p:cNvSpPr txBox="1"/>
          <p:nvPr/>
        </p:nvSpPr>
        <p:spPr>
          <a:xfrm>
            <a:off x="511956" y="4564211"/>
            <a:ext cx="15498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810" dirty="0"/>
          </a:p>
        </p:txBody>
      </p:sp>
      <p:sp>
        <p:nvSpPr>
          <p:cNvPr id="485" name="Shape 483"/>
          <p:cNvSpPr/>
          <p:nvPr/>
        </p:nvSpPr>
        <p:spPr>
          <a:xfrm>
            <a:off x="717823" y="4701495"/>
            <a:ext cx="241072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86" name="Text 484"/>
          <p:cNvSpPr txBox="1"/>
          <p:nvPr/>
        </p:nvSpPr>
        <p:spPr>
          <a:xfrm>
            <a:off x="717823" y="4564211"/>
            <a:ext cx="2425994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Cuesta de enero a clientes elegibles</a:t>
            </a:r>
            <a:endParaRPr lang="en-US" sz="810" dirty="0"/>
          </a:p>
        </p:txBody>
      </p:sp>
      <p:sp>
        <p:nvSpPr>
          <p:cNvPr id="487" name="Shape 485"/>
          <p:cNvSpPr/>
          <p:nvPr/>
        </p:nvSpPr>
        <p:spPr>
          <a:xfrm>
            <a:off x="3128553" y="4701495"/>
            <a:ext cx="473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88" name="Text 486"/>
          <p:cNvSpPr txBox="1"/>
          <p:nvPr/>
        </p:nvSpPr>
        <p:spPr>
          <a:xfrm>
            <a:off x="3128553" y="4564211"/>
            <a:ext cx="43020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B0337</a:t>
            </a:r>
            <a:endParaRPr lang="en-US" sz="810" dirty="0"/>
          </a:p>
        </p:txBody>
      </p:sp>
      <p:sp>
        <p:nvSpPr>
          <p:cNvPr id="489" name="Shape 487"/>
          <p:cNvSpPr/>
          <p:nvPr/>
        </p:nvSpPr>
        <p:spPr>
          <a:xfrm>
            <a:off x="3601626" y="4701495"/>
            <a:ext cx="83100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90" name="Text 488"/>
          <p:cNvSpPr txBox="1"/>
          <p:nvPr/>
        </p:nvSpPr>
        <p:spPr>
          <a:xfrm>
            <a:off x="3601626" y="4564211"/>
            <a:ext cx="79887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</a:t>
            </a:r>
            <a:endParaRPr lang="en-US" sz="810" dirty="0"/>
          </a:p>
        </p:txBody>
      </p:sp>
      <p:sp>
        <p:nvSpPr>
          <p:cNvPr id="491" name="Shape 489"/>
          <p:cNvSpPr/>
          <p:nvPr/>
        </p:nvSpPr>
        <p:spPr>
          <a:xfrm>
            <a:off x="4432631" y="4701495"/>
            <a:ext cx="93439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92" name="Text 490"/>
          <p:cNvSpPr txBox="1"/>
          <p:nvPr/>
        </p:nvSpPr>
        <p:spPr>
          <a:xfrm>
            <a:off x="4432631" y="4564211"/>
            <a:ext cx="905366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0.50</a:t>
            </a:r>
            <a:endParaRPr lang="en-US" sz="810" dirty="0"/>
          </a:p>
        </p:txBody>
      </p:sp>
      <p:sp>
        <p:nvSpPr>
          <p:cNvPr id="493" name="Shape 491"/>
          <p:cNvSpPr/>
          <p:nvPr/>
        </p:nvSpPr>
        <p:spPr>
          <a:xfrm>
            <a:off x="5367022" y="4701495"/>
            <a:ext cx="98126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94" name="Text 492"/>
          <p:cNvSpPr txBox="1"/>
          <p:nvPr/>
        </p:nvSpPr>
        <p:spPr>
          <a:xfrm>
            <a:off x="5367022" y="4564211"/>
            <a:ext cx="95364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49 %</a:t>
            </a:r>
            <a:endParaRPr lang="en-US" sz="810" dirty="0"/>
          </a:p>
        </p:txBody>
      </p:sp>
      <p:sp>
        <p:nvSpPr>
          <p:cNvPr id="495" name="Shape 493"/>
          <p:cNvSpPr/>
          <p:nvPr/>
        </p:nvSpPr>
        <p:spPr>
          <a:xfrm>
            <a:off x="6348284" y="4701495"/>
            <a:ext cx="9728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96" name="Text 494"/>
          <p:cNvSpPr txBox="1"/>
          <p:nvPr/>
        </p:nvSpPr>
        <p:spPr>
          <a:xfrm>
            <a:off x="6348284" y="4564211"/>
            <a:ext cx="944950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74 %</a:t>
            </a:r>
            <a:endParaRPr lang="en-US" sz="810" dirty="0"/>
          </a:p>
        </p:txBody>
      </p:sp>
      <p:sp>
        <p:nvSpPr>
          <p:cNvPr id="497" name="Shape 495"/>
          <p:cNvSpPr/>
          <p:nvPr/>
        </p:nvSpPr>
        <p:spPr>
          <a:xfrm>
            <a:off x="7321106" y="4701495"/>
            <a:ext cx="77433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98" name="Text 496"/>
          <p:cNvSpPr txBox="1"/>
          <p:nvPr/>
        </p:nvSpPr>
        <p:spPr>
          <a:xfrm>
            <a:off x="7321106" y="4564211"/>
            <a:ext cx="74051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4.5</a:t>
            </a:r>
            <a:endParaRPr lang="en-US" sz="810" dirty="0"/>
          </a:p>
        </p:txBody>
      </p:sp>
      <p:sp>
        <p:nvSpPr>
          <p:cNvPr id="499" name="Shape 497"/>
          <p:cNvSpPr/>
          <p:nvPr/>
        </p:nvSpPr>
        <p:spPr>
          <a:xfrm>
            <a:off x="8095445" y="4701495"/>
            <a:ext cx="10410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00" name="Text 498"/>
          <p:cNvSpPr txBox="1"/>
          <p:nvPr/>
        </p:nvSpPr>
        <p:spPr>
          <a:xfrm>
            <a:off x="8095445" y="4564211"/>
            <a:ext cx="101526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23,087</a:t>
            </a:r>
            <a:endParaRPr lang="en-US" sz="810" dirty="0"/>
          </a:p>
        </p:txBody>
      </p:sp>
      <p:sp>
        <p:nvSpPr>
          <p:cNvPr id="501" name="Shape 499"/>
          <p:cNvSpPr/>
          <p:nvPr/>
        </p:nvSpPr>
        <p:spPr>
          <a:xfrm>
            <a:off x="9136537" y="4701495"/>
            <a:ext cx="81337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02" name="Text 500"/>
          <p:cNvSpPr txBox="1"/>
          <p:nvPr/>
        </p:nvSpPr>
        <p:spPr>
          <a:xfrm>
            <a:off x="9136537" y="4564211"/>
            <a:ext cx="78071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810" dirty="0"/>
          </a:p>
        </p:txBody>
      </p:sp>
      <p:sp>
        <p:nvSpPr>
          <p:cNvPr id="503" name="Shape 501"/>
          <p:cNvSpPr/>
          <p:nvPr/>
        </p:nvSpPr>
        <p:spPr>
          <a:xfrm>
            <a:off x="9949910" y="4701495"/>
            <a:ext cx="80357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04" name="Text 502"/>
          <p:cNvSpPr txBox="1"/>
          <p:nvPr/>
        </p:nvSpPr>
        <p:spPr>
          <a:xfrm>
            <a:off x="9949910" y="4564211"/>
            <a:ext cx="77062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102,342</a:t>
            </a:r>
            <a:endParaRPr lang="en-US" sz="810" dirty="0"/>
          </a:p>
        </p:txBody>
      </p:sp>
      <p:sp>
        <p:nvSpPr>
          <p:cNvPr id="505" name="Shape 503"/>
          <p:cNvSpPr/>
          <p:nvPr/>
        </p:nvSpPr>
        <p:spPr>
          <a:xfrm>
            <a:off x="10753486" y="4701495"/>
            <a:ext cx="92595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06" name="Text 504"/>
          <p:cNvSpPr txBox="1"/>
          <p:nvPr/>
        </p:nvSpPr>
        <p:spPr>
          <a:xfrm>
            <a:off x="10753486" y="4564211"/>
            <a:ext cx="89667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810" dirty="0"/>
          </a:p>
        </p:txBody>
      </p:sp>
      <p:sp>
        <p:nvSpPr>
          <p:cNvPr id="507" name="Shape 505"/>
          <p:cNvSpPr/>
          <p:nvPr/>
        </p:nvSpPr>
        <p:spPr>
          <a:xfrm>
            <a:off x="511956" y="4858231"/>
            <a:ext cx="20586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08" name="Text 506"/>
          <p:cNvSpPr txBox="1"/>
          <p:nvPr/>
        </p:nvSpPr>
        <p:spPr>
          <a:xfrm>
            <a:off x="511956" y="4720947"/>
            <a:ext cx="15498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810" dirty="0"/>
          </a:p>
        </p:txBody>
      </p:sp>
      <p:sp>
        <p:nvSpPr>
          <p:cNvPr id="509" name="Shape 507"/>
          <p:cNvSpPr/>
          <p:nvPr/>
        </p:nvSpPr>
        <p:spPr>
          <a:xfrm>
            <a:off x="717823" y="4858231"/>
            <a:ext cx="241072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10" name="Text 508"/>
          <p:cNvSpPr txBox="1"/>
          <p:nvPr/>
        </p:nvSpPr>
        <p:spPr>
          <a:xfrm>
            <a:off x="717823" y="4720947"/>
            <a:ext cx="2425994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0 a quien usa KPay y nunca usó Cash</a:t>
            </a:r>
            <a:endParaRPr lang="en-US" sz="810" dirty="0"/>
          </a:p>
        </p:txBody>
      </p:sp>
      <p:sp>
        <p:nvSpPr>
          <p:cNvPr id="511" name="Shape 509"/>
          <p:cNvSpPr/>
          <p:nvPr/>
        </p:nvSpPr>
        <p:spPr>
          <a:xfrm>
            <a:off x="3128553" y="4858231"/>
            <a:ext cx="473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12" name="Text 510"/>
          <p:cNvSpPr txBox="1"/>
          <p:nvPr/>
        </p:nvSpPr>
        <p:spPr>
          <a:xfrm>
            <a:off x="3128553" y="4720947"/>
            <a:ext cx="43020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B0210</a:t>
            </a:r>
            <a:endParaRPr lang="en-US" sz="810" dirty="0"/>
          </a:p>
        </p:txBody>
      </p:sp>
      <p:sp>
        <p:nvSpPr>
          <p:cNvPr id="513" name="Shape 511"/>
          <p:cNvSpPr/>
          <p:nvPr/>
        </p:nvSpPr>
        <p:spPr>
          <a:xfrm>
            <a:off x="3601626" y="4858231"/>
            <a:ext cx="83100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14" name="Text 512"/>
          <p:cNvSpPr txBox="1"/>
          <p:nvPr/>
        </p:nvSpPr>
        <p:spPr>
          <a:xfrm>
            <a:off x="3601626" y="4720947"/>
            <a:ext cx="79887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</a:t>
            </a:r>
            <a:endParaRPr lang="en-US" sz="810" dirty="0"/>
          </a:p>
        </p:txBody>
      </p:sp>
      <p:sp>
        <p:nvSpPr>
          <p:cNvPr id="515" name="Shape 513"/>
          <p:cNvSpPr/>
          <p:nvPr/>
        </p:nvSpPr>
        <p:spPr>
          <a:xfrm>
            <a:off x="4432631" y="4858231"/>
            <a:ext cx="93439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16" name="Text 514"/>
          <p:cNvSpPr txBox="1"/>
          <p:nvPr/>
        </p:nvSpPr>
        <p:spPr>
          <a:xfrm>
            <a:off x="4432631" y="4720947"/>
            <a:ext cx="905366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0.49</a:t>
            </a:r>
            <a:endParaRPr lang="en-US" sz="810" dirty="0"/>
          </a:p>
        </p:txBody>
      </p:sp>
      <p:sp>
        <p:nvSpPr>
          <p:cNvPr id="517" name="Shape 515"/>
          <p:cNvSpPr/>
          <p:nvPr/>
        </p:nvSpPr>
        <p:spPr>
          <a:xfrm>
            <a:off x="5367022" y="4858231"/>
            <a:ext cx="98126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18" name="Text 516"/>
          <p:cNvSpPr txBox="1"/>
          <p:nvPr/>
        </p:nvSpPr>
        <p:spPr>
          <a:xfrm>
            <a:off x="5367022" y="4720947"/>
            <a:ext cx="95364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50 %</a:t>
            </a:r>
            <a:endParaRPr lang="en-US" sz="810" dirty="0"/>
          </a:p>
        </p:txBody>
      </p:sp>
      <p:sp>
        <p:nvSpPr>
          <p:cNvPr id="519" name="Shape 517"/>
          <p:cNvSpPr/>
          <p:nvPr/>
        </p:nvSpPr>
        <p:spPr>
          <a:xfrm>
            <a:off x="6348284" y="4858231"/>
            <a:ext cx="9728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20" name="Text 518"/>
          <p:cNvSpPr txBox="1"/>
          <p:nvPr/>
        </p:nvSpPr>
        <p:spPr>
          <a:xfrm>
            <a:off x="6348284" y="4720947"/>
            <a:ext cx="944950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88 %</a:t>
            </a:r>
            <a:endParaRPr lang="en-US" sz="810" dirty="0"/>
          </a:p>
        </p:txBody>
      </p:sp>
      <p:sp>
        <p:nvSpPr>
          <p:cNvPr id="521" name="Shape 519"/>
          <p:cNvSpPr/>
          <p:nvPr/>
        </p:nvSpPr>
        <p:spPr>
          <a:xfrm>
            <a:off x="7321106" y="4858231"/>
            <a:ext cx="77433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22" name="Text 520"/>
          <p:cNvSpPr txBox="1"/>
          <p:nvPr/>
        </p:nvSpPr>
        <p:spPr>
          <a:xfrm>
            <a:off x="7321106" y="4720947"/>
            <a:ext cx="74051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4.0</a:t>
            </a:r>
            <a:endParaRPr lang="en-US" sz="810" dirty="0"/>
          </a:p>
        </p:txBody>
      </p:sp>
      <p:sp>
        <p:nvSpPr>
          <p:cNvPr id="523" name="Shape 521"/>
          <p:cNvSpPr/>
          <p:nvPr/>
        </p:nvSpPr>
        <p:spPr>
          <a:xfrm>
            <a:off x="8095445" y="4858231"/>
            <a:ext cx="10410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24" name="Text 522"/>
          <p:cNvSpPr txBox="1"/>
          <p:nvPr/>
        </p:nvSpPr>
        <p:spPr>
          <a:xfrm>
            <a:off x="8095445" y="4720947"/>
            <a:ext cx="101526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10,656</a:t>
            </a:r>
            <a:endParaRPr lang="en-US" sz="810" dirty="0"/>
          </a:p>
        </p:txBody>
      </p:sp>
      <p:sp>
        <p:nvSpPr>
          <p:cNvPr id="525" name="Shape 523"/>
          <p:cNvSpPr/>
          <p:nvPr/>
        </p:nvSpPr>
        <p:spPr>
          <a:xfrm>
            <a:off x="9136537" y="4858231"/>
            <a:ext cx="81337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26" name="Text 524"/>
          <p:cNvSpPr txBox="1"/>
          <p:nvPr/>
        </p:nvSpPr>
        <p:spPr>
          <a:xfrm>
            <a:off x="9136537" y="4720947"/>
            <a:ext cx="78071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</a:t>
            </a:r>
            <a:endParaRPr lang="en-US" sz="810" dirty="0"/>
          </a:p>
        </p:txBody>
      </p:sp>
      <p:sp>
        <p:nvSpPr>
          <p:cNvPr id="527" name="Shape 525"/>
          <p:cNvSpPr/>
          <p:nvPr/>
        </p:nvSpPr>
        <p:spPr>
          <a:xfrm>
            <a:off x="9949910" y="4858231"/>
            <a:ext cx="80357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28" name="Text 526"/>
          <p:cNvSpPr txBox="1"/>
          <p:nvPr/>
        </p:nvSpPr>
        <p:spPr>
          <a:xfrm>
            <a:off x="9949910" y="4720947"/>
            <a:ext cx="77062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19,298</a:t>
            </a:r>
            <a:endParaRPr lang="en-US" sz="810" dirty="0"/>
          </a:p>
        </p:txBody>
      </p:sp>
      <p:sp>
        <p:nvSpPr>
          <p:cNvPr id="529" name="Shape 527"/>
          <p:cNvSpPr/>
          <p:nvPr/>
        </p:nvSpPr>
        <p:spPr>
          <a:xfrm>
            <a:off x="10753486" y="4858231"/>
            <a:ext cx="92595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30" name="Text 528"/>
          <p:cNvSpPr txBox="1"/>
          <p:nvPr/>
        </p:nvSpPr>
        <p:spPr>
          <a:xfrm>
            <a:off x="10753486" y="4720947"/>
            <a:ext cx="89667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810" dirty="0"/>
          </a:p>
        </p:txBody>
      </p:sp>
      <p:sp>
        <p:nvSpPr>
          <p:cNvPr id="531" name="Shape 529"/>
          <p:cNvSpPr/>
          <p:nvPr/>
        </p:nvSpPr>
        <p:spPr>
          <a:xfrm>
            <a:off x="511956" y="5014968"/>
            <a:ext cx="20586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32" name="Text 530"/>
          <p:cNvSpPr txBox="1"/>
          <p:nvPr/>
        </p:nvSpPr>
        <p:spPr>
          <a:xfrm>
            <a:off x="511956" y="4877684"/>
            <a:ext cx="15498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810" dirty="0"/>
          </a:p>
        </p:txBody>
      </p:sp>
      <p:sp>
        <p:nvSpPr>
          <p:cNvPr id="533" name="Shape 531"/>
          <p:cNvSpPr/>
          <p:nvPr/>
        </p:nvSpPr>
        <p:spPr>
          <a:xfrm>
            <a:off x="717823" y="5014968"/>
            <a:ext cx="241072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34" name="Text 532"/>
          <p:cNvSpPr txBox="1"/>
          <p:nvPr/>
        </p:nvSpPr>
        <p:spPr>
          <a:xfrm>
            <a:off x="717823" y="4877684"/>
            <a:ext cx="2425994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Verificar identidad a leads que no terminaron</a:t>
            </a:r>
            <a:endParaRPr lang="en-US" sz="810" dirty="0"/>
          </a:p>
        </p:txBody>
      </p:sp>
      <p:sp>
        <p:nvSpPr>
          <p:cNvPr id="535" name="Shape 533"/>
          <p:cNvSpPr/>
          <p:nvPr/>
        </p:nvSpPr>
        <p:spPr>
          <a:xfrm>
            <a:off x="3128553" y="5014968"/>
            <a:ext cx="473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36" name="Text 534"/>
          <p:cNvSpPr txBox="1"/>
          <p:nvPr/>
        </p:nvSpPr>
        <p:spPr>
          <a:xfrm>
            <a:off x="3128553" y="4877684"/>
            <a:ext cx="43020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B0000</a:t>
            </a:r>
            <a:endParaRPr lang="en-US" sz="810" dirty="0"/>
          </a:p>
        </p:txBody>
      </p:sp>
      <p:sp>
        <p:nvSpPr>
          <p:cNvPr id="537" name="Shape 535"/>
          <p:cNvSpPr/>
          <p:nvPr/>
        </p:nvSpPr>
        <p:spPr>
          <a:xfrm>
            <a:off x="3601626" y="5014968"/>
            <a:ext cx="83100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38" name="Text 536"/>
          <p:cNvSpPr txBox="1"/>
          <p:nvPr/>
        </p:nvSpPr>
        <p:spPr>
          <a:xfrm>
            <a:off x="3601626" y="4877684"/>
            <a:ext cx="79887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</a:t>
            </a:r>
            <a:endParaRPr lang="en-US" sz="810" dirty="0"/>
          </a:p>
        </p:txBody>
      </p:sp>
      <p:sp>
        <p:nvSpPr>
          <p:cNvPr id="539" name="Shape 537"/>
          <p:cNvSpPr/>
          <p:nvPr/>
        </p:nvSpPr>
        <p:spPr>
          <a:xfrm>
            <a:off x="4432631" y="5014968"/>
            <a:ext cx="93439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40" name="Text 538"/>
          <p:cNvSpPr txBox="1"/>
          <p:nvPr/>
        </p:nvSpPr>
        <p:spPr>
          <a:xfrm>
            <a:off x="4432631" y="4877684"/>
            <a:ext cx="905366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0.48</a:t>
            </a:r>
            <a:endParaRPr lang="en-US" sz="810" dirty="0"/>
          </a:p>
        </p:txBody>
      </p:sp>
      <p:sp>
        <p:nvSpPr>
          <p:cNvPr id="541" name="Shape 539"/>
          <p:cNvSpPr/>
          <p:nvPr/>
        </p:nvSpPr>
        <p:spPr>
          <a:xfrm>
            <a:off x="5367022" y="5014968"/>
            <a:ext cx="98126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42" name="Text 540"/>
          <p:cNvSpPr txBox="1"/>
          <p:nvPr/>
        </p:nvSpPr>
        <p:spPr>
          <a:xfrm>
            <a:off x="5367022" y="4877684"/>
            <a:ext cx="95364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51 %</a:t>
            </a:r>
            <a:endParaRPr lang="en-US" sz="810" dirty="0"/>
          </a:p>
        </p:txBody>
      </p:sp>
      <p:sp>
        <p:nvSpPr>
          <p:cNvPr id="543" name="Shape 541"/>
          <p:cNvSpPr/>
          <p:nvPr/>
        </p:nvSpPr>
        <p:spPr>
          <a:xfrm>
            <a:off x="6348284" y="5014968"/>
            <a:ext cx="9728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44" name="Text 542"/>
          <p:cNvSpPr txBox="1"/>
          <p:nvPr/>
        </p:nvSpPr>
        <p:spPr>
          <a:xfrm>
            <a:off x="6348284" y="4877684"/>
            <a:ext cx="944950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0 %</a:t>
            </a:r>
            <a:endParaRPr lang="en-US" sz="810" dirty="0"/>
          </a:p>
        </p:txBody>
      </p:sp>
      <p:sp>
        <p:nvSpPr>
          <p:cNvPr id="545" name="Shape 543"/>
          <p:cNvSpPr/>
          <p:nvPr/>
        </p:nvSpPr>
        <p:spPr>
          <a:xfrm>
            <a:off x="7321106" y="5014968"/>
            <a:ext cx="77433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46" name="Text 544"/>
          <p:cNvSpPr txBox="1"/>
          <p:nvPr/>
        </p:nvSpPr>
        <p:spPr>
          <a:xfrm>
            <a:off x="7321106" y="4877684"/>
            <a:ext cx="74051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13.2</a:t>
            </a:r>
            <a:endParaRPr lang="en-US" sz="810" dirty="0"/>
          </a:p>
        </p:txBody>
      </p:sp>
      <p:sp>
        <p:nvSpPr>
          <p:cNvPr id="547" name="Shape 545"/>
          <p:cNvSpPr/>
          <p:nvPr/>
        </p:nvSpPr>
        <p:spPr>
          <a:xfrm>
            <a:off x="8095445" y="5014968"/>
            <a:ext cx="10410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48" name="Text 546"/>
          <p:cNvSpPr txBox="1"/>
          <p:nvPr/>
        </p:nvSpPr>
        <p:spPr>
          <a:xfrm>
            <a:off x="8095445" y="4877684"/>
            <a:ext cx="101526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41,649</a:t>
            </a:r>
            <a:endParaRPr lang="en-US" sz="810" dirty="0"/>
          </a:p>
        </p:txBody>
      </p:sp>
      <p:sp>
        <p:nvSpPr>
          <p:cNvPr id="549" name="Shape 547"/>
          <p:cNvSpPr/>
          <p:nvPr/>
        </p:nvSpPr>
        <p:spPr>
          <a:xfrm>
            <a:off x="9136537" y="5014968"/>
            <a:ext cx="81337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50" name="Text 548"/>
          <p:cNvSpPr txBox="1"/>
          <p:nvPr/>
        </p:nvSpPr>
        <p:spPr>
          <a:xfrm>
            <a:off x="9136537" y="4877684"/>
            <a:ext cx="78071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810" dirty="0"/>
          </a:p>
        </p:txBody>
      </p:sp>
      <p:sp>
        <p:nvSpPr>
          <p:cNvPr id="551" name="Shape 549"/>
          <p:cNvSpPr/>
          <p:nvPr/>
        </p:nvSpPr>
        <p:spPr>
          <a:xfrm>
            <a:off x="9949910" y="5014968"/>
            <a:ext cx="80357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52" name="Text 550"/>
          <p:cNvSpPr txBox="1"/>
          <p:nvPr/>
        </p:nvSpPr>
        <p:spPr>
          <a:xfrm>
            <a:off x="9949910" y="4877684"/>
            <a:ext cx="77062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595,985</a:t>
            </a:r>
            <a:endParaRPr lang="en-US" sz="810" dirty="0"/>
          </a:p>
        </p:txBody>
      </p:sp>
      <p:sp>
        <p:nvSpPr>
          <p:cNvPr id="553" name="Shape 551"/>
          <p:cNvSpPr/>
          <p:nvPr/>
        </p:nvSpPr>
        <p:spPr>
          <a:xfrm>
            <a:off x="10753486" y="5014968"/>
            <a:ext cx="92595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54" name="Text 552"/>
          <p:cNvSpPr txBox="1"/>
          <p:nvPr/>
        </p:nvSpPr>
        <p:spPr>
          <a:xfrm>
            <a:off x="10753486" y="4877684"/>
            <a:ext cx="89667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10" dirty="0"/>
          </a:p>
        </p:txBody>
      </p:sp>
      <p:sp>
        <p:nvSpPr>
          <p:cNvPr id="555" name="Shape 553"/>
          <p:cNvSpPr/>
          <p:nvPr/>
        </p:nvSpPr>
        <p:spPr>
          <a:xfrm>
            <a:off x="511956" y="5024613"/>
            <a:ext cx="11167482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556" name="Shape 554"/>
          <p:cNvSpPr/>
          <p:nvPr/>
        </p:nvSpPr>
        <p:spPr>
          <a:xfrm>
            <a:off x="511956" y="5171705"/>
            <a:ext cx="20586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57" name="Shape 555"/>
          <p:cNvSpPr/>
          <p:nvPr/>
        </p:nvSpPr>
        <p:spPr>
          <a:xfrm>
            <a:off x="717823" y="5171705"/>
            <a:ext cx="241072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58" name="Text 556"/>
          <p:cNvSpPr txBox="1"/>
          <p:nvPr/>
        </p:nvSpPr>
        <p:spPr>
          <a:xfrm>
            <a:off x="717823" y="5034421"/>
            <a:ext cx="2425994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1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22 campañas</a:t>
            </a:r>
            <a:endParaRPr lang="en-US" sz="810" dirty="0"/>
          </a:p>
        </p:txBody>
      </p:sp>
      <p:sp>
        <p:nvSpPr>
          <p:cNvPr id="559" name="Shape 557"/>
          <p:cNvSpPr/>
          <p:nvPr/>
        </p:nvSpPr>
        <p:spPr>
          <a:xfrm>
            <a:off x="3128553" y="5171705"/>
            <a:ext cx="473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60" name="Shape 558"/>
          <p:cNvSpPr/>
          <p:nvPr/>
        </p:nvSpPr>
        <p:spPr>
          <a:xfrm>
            <a:off x="3601626" y="5171705"/>
            <a:ext cx="83100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61" name="Shape 559"/>
          <p:cNvSpPr/>
          <p:nvPr/>
        </p:nvSpPr>
        <p:spPr>
          <a:xfrm>
            <a:off x="4432631" y="5171705"/>
            <a:ext cx="93439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62" name="Text 560"/>
          <p:cNvSpPr txBox="1"/>
          <p:nvPr/>
        </p:nvSpPr>
        <p:spPr>
          <a:xfrm>
            <a:off x="4432631" y="5034421"/>
            <a:ext cx="905366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29.30</a:t>
            </a:r>
            <a:endParaRPr lang="en-US" sz="810" dirty="0"/>
          </a:p>
        </p:txBody>
      </p:sp>
      <p:sp>
        <p:nvSpPr>
          <p:cNvPr id="563" name="Shape 561"/>
          <p:cNvSpPr/>
          <p:nvPr/>
        </p:nvSpPr>
        <p:spPr>
          <a:xfrm>
            <a:off x="5367022" y="5171705"/>
            <a:ext cx="98126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64" name="Text 562"/>
          <p:cNvSpPr txBox="1"/>
          <p:nvPr/>
        </p:nvSpPr>
        <p:spPr>
          <a:xfrm>
            <a:off x="5367022" y="5034421"/>
            <a:ext cx="95364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51 %</a:t>
            </a:r>
            <a:endParaRPr lang="en-US" sz="810" dirty="0"/>
          </a:p>
        </p:txBody>
      </p:sp>
      <p:sp>
        <p:nvSpPr>
          <p:cNvPr id="565" name="Shape 563"/>
          <p:cNvSpPr/>
          <p:nvPr/>
        </p:nvSpPr>
        <p:spPr>
          <a:xfrm>
            <a:off x="6348284" y="5171705"/>
            <a:ext cx="9728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66" name="Text 564"/>
          <p:cNvSpPr txBox="1"/>
          <p:nvPr/>
        </p:nvSpPr>
        <p:spPr>
          <a:xfrm>
            <a:off x="6348284" y="5034421"/>
            <a:ext cx="944950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75 %</a:t>
            </a:r>
            <a:endParaRPr lang="en-US" sz="810" dirty="0"/>
          </a:p>
        </p:txBody>
      </p:sp>
      <p:sp>
        <p:nvSpPr>
          <p:cNvPr id="567" name="Shape 565"/>
          <p:cNvSpPr/>
          <p:nvPr/>
        </p:nvSpPr>
        <p:spPr>
          <a:xfrm>
            <a:off x="7321106" y="5171705"/>
            <a:ext cx="77433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68" name="Text 566"/>
          <p:cNvSpPr txBox="1"/>
          <p:nvPr/>
        </p:nvSpPr>
        <p:spPr>
          <a:xfrm>
            <a:off x="7321106" y="5034421"/>
            <a:ext cx="74051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230.9</a:t>
            </a:r>
            <a:endParaRPr lang="en-US" sz="810" dirty="0"/>
          </a:p>
        </p:txBody>
      </p:sp>
      <p:sp>
        <p:nvSpPr>
          <p:cNvPr id="569" name="Shape 567"/>
          <p:cNvSpPr/>
          <p:nvPr/>
        </p:nvSpPr>
        <p:spPr>
          <a:xfrm>
            <a:off x="8095445" y="5171705"/>
            <a:ext cx="10410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70" name="Text 568"/>
          <p:cNvSpPr txBox="1"/>
          <p:nvPr/>
        </p:nvSpPr>
        <p:spPr>
          <a:xfrm>
            <a:off x="8095445" y="5034421"/>
            <a:ext cx="1015269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586,656</a:t>
            </a:r>
            <a:endParaRPr lang="en-US" sz="810" dirty="0"/>
          </a:p>
        </p:txBody>
      </p:sp>
      <p:sp>
        <p:nvSpPr>
          <p:cNvPr id="571" name="Shape 569"/>
          <p:cNvSpPr/>
          <p:nvPr/>
        </p:nvSpPr>
        <p:spPr>
          <a:xfrm>
            <a:off x="9136537" y="5171705"/>
            <a:ext cx="81337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72" name="Text 570"/>
          <p:cNvSpPr txBox="1"/>
          <p:nvPr/>
        </p:nvSpPr>
        <p:spPr>
          <a:xfrm>
            <a:off x="9136537" y="5034421"/>
            <a:ext cx="78071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810" dirty="0"/>
          </a:p>
        </p:txBody>
      </p:sp>
      <p:sp>
        <p:nvSpPr>
          <p:cNvPr id="573" name="Shape 571"/>
          <p:cNvSpPr/>
          <p:nvPr/>
        </p:nvSpPr>
        <p:spPr>
          <a:xfrm>
            <a:off x="9949910" y="5171705"/>
            <a:ext cx="80357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74" name="Text 572"/>
          <p:cNvSpPr txBox="1"/>
          <p:nvPr/>
        </p:nvSpPr>
        <p:spPr>
          <a:xfrm>
            <a:off x="9949910" y="5034421"/>
            <a:ext cx="770627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2,788,442</a:t>
            </a:r>
            <a:endParaRPr lang="en-US" sz="810" dirty="0"/>
          </a:p>
        </p:txBody>
      </p:sp>
      <p:sp>
        <p:nvSpPr>
          <p:cNvPr id="575" name="Shape 573"/>
          <p:cNvSpPr/>
          <p:nvPr/>
        </p:nvSpPr>
        <p:spPr>
          <a:xfrm>
            <a:off x="10753486" y="5171705"/>
            <a:ext cx="92595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76" name="Text 574"/>
          <p:cNvSpPr txBox="1"/>
          <p:nvPr/>
        </p:nvSpPr>
        <p:spPr>
          <a:xfrm>
            <a:off x="10753486" y="5034421"/>
            <a:ext cx="896673" cy="127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1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810" dirty="0"/>
          </a:p>
        </p:txBody>
      </p:sp>
      <p:sp>
        <p:nvSpPr>
          <p:cNvPr id="577" name="Shape 575"/>
          <p:cNvSpPr/>
          <p:nvPr/>
        </p:nvSpPr>
        <p:spPr>
          <a:xfrm>
            <a:off x="511956" y="5857126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578" name="Text 576"/>
          <p:cNvSpPr txBox="1"/>
          <p:nvPr/>
        </p:nvSpPr>
        <p:spPr>
          <a:xfrm>
            <a:off x="670350" y="5981008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579" name="Text 577"/>
          <p:cNvSpPr txBox="1"/>
          <p:nvPr/>
        </p:nvSpPr>
        <p:spPr>
          <a:xfrm>
            <a:off x="1409876" y="5942427"/>
            <a:ext cx="7525032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tiene 10 de las 22 y 17.1 de los 29.3 M MXN; las cuatro que más gastan van casi todo por WhatsApp.</a:t>
            </a:r>
            <a:endParaRPr lang="en-US" sz="1100" dirty="0"/>
          </a:p>
        </p:txBody>
      </p:sp>
      <p:sp>
        <p:nvSpPr>
          <p:cNvPr id="580" name="Text 578"/>
          <p:cNvSpPr txBox="1"/>
          <p:nvPr/>
        </p:nvSpPr>
        <p:spPr>
          <a:xfrm>
            <a:off x="511956" y="6319649"/>
            <a:ext cx="10404384" cy="27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E1, enero a septiembre 2026. Campaña = nombre sin fecha, todos sus canales. Crédito otorgado en 7 días, repartido; solicitudes sin repartir. WhatsApp 1.00 MXN por entregado, correo 0.05 MXN.</a:t>
            </a:r>
            <a:endParaRPr lang="en-US" sz="840" dirty="0"/>
          </a:p>
        </p:txBody>
      </p:sp>
      <p:sp>
        <p:nvSpPr>
          <p:cNvPr id="581" name="Text 579"/>
          <p:cNvSpPr txBox="1"/>
          <p:nvPr/>
        </p:nvSpPr>
        <p:spPr>
          <a:xfrm>
            <a:off x="10839239" y="6319649"/>
            <a:ext cx="884003" cy="27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5a · lámina oculta</a:t>
            </a:r>
            <a:endParaRPr lang="en-US" sz="8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promociones responden casi cinco veces menos que los avisos por correo y push, y son casi todo el gasto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619457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Promoción: Tasa 0, referidos, descuentos. Aviso: pago, contrato, desembolso.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286956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Promociones: Marketing y Product Growth. Avisos: Others. Cobranza: Collections.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469350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Promociones a leads, registrados y ex clientes; avisos a quien hizo algo.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Promociones: 86 % de los mensajes, 93 % del gasto y 63 % de las conversiones.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Correo: promoción 0.60 % de clic contra 2.74 % del aviso. Push: 1.26 % contra 6.17 %.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0 a nuevos registrados: 34.9 M correos con 0.28 % de clic, debajo de casi todos los avisos.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753391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753391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332904" cy="458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promociones salen a listas grandes sin que la persona haya hecho nada; el aviso sale porque pagó o firmó, y lo espera.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7116778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mejora está en las promociones; avisos y cobranza quedan fuera del límite de mensajes por persona.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11099657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comunicación, mes y canal, enero a septiembre 2026. Tipo por regla del Sheets: Collections = cobranza; "Transaccional" o sin ticket = aviso; lo demás, promoción. Clic sobre entregados.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613277" y="6454684"/>
            <a:ext cx="86744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8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Después de junio mandamos menos, pero cada mil mensajes hoy traen 54 respuestas; en enero traían 84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706696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Junio: lanzamiento de BillPay y push de Mundial, Comercio del día y Anota y Gana.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556745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junio contra enero, Marketing sumó 28 M mensajes y Others 25 M.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393443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Casi toda la base: el correo de BillPay llegó a 16 M personas.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Septiembre mandó 66 M mensajes, casi como enero (59 M), pero trajo 54 respuestas por cada mil contra 84.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Junio fue el pico: 109 M mensajes. Después mandamos menos y la respuesta quedó en 61, 56 y 54 por mil.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472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WhatsApp, que sí se lee, bajó de 10 % a 5 % de los mensajes; push, que casi no se abre, subió de 27 % a 37 %.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448808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448808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509694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670650"/>
            <a:ext cx="3265534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Escribimos a toda la base por push y correo, sin límite de mensajes por persona ni calendario entre equipos.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666147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Mandar menos no basta: hay que escribir a quien responde, por su canal y con un límite semanal.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9652762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comunicación, mes y canal, enero a septiembre 2026. Respuesta = clic de correo, apertura de push, lectura de WhatsApp y clic in-app, por cada mil enviados.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619004" y="6454684"/>
            <a:ext cx="80845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8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promedio esconde a 339 mil personas que reciben casi dos mensajes al día, y son las que más convierten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100370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Sobre todo push: Comercio del día, rescates de Tasa 0, cuponeras y cobranza.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457553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y Product Growth repiten más mensajes a la misma persona en el mes.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496671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Personas activas: 62 % de las que reciben 321 o más tuvo una conversión.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1.7 % de las personas recibe 24 % de los mensajes: 482 cada una, en 210 de los 273 días.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57 % de las personas recibe de 1 a 5 mensajes; el promedio de 34 lo jalan los de arriba.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Ese 1.7 % entra a 220 campañas distintas y pone 18 % de las personas que convierten.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753391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753391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369538" cy="458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campaña decide sola a quién entra y no hay límite de mensajes por persona a la semana: al más activo le llegan todas.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7465734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Saturamos a los mejores clientes: un límite de 5 promociones a la semana los protege sin dejar de escribirles.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9250097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mensajes por persona (E3), enero a septiembre 2026: 19.5 M personas y 667 M mensajes (E3 suma 670 M). Bajas = eventos de baja de correo. E3 no trae equipo.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613428" y="6454684"/>
            <a:ext cx="86589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8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Junio casi duplicó los mensajes de enero por BillPay y el push de Marketing, y hundió el clic y la apertura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504587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Lanzamiento de BillPay y sus recordatorios; push de Mundial y Comercio del día.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497913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sumó 28 M mensajes y Others (BillPay) 25 M contra enero.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483321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Casi toda la base: varios push decían "Todos" en la audiencia.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Correo: la semana del 1 de junio llegó a 313 (enero = 100), con 16 M correos de lanzamiento de BillPay.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Push: Marketing pasó de 6.6 M push en enero a 26 M en junio; su respuesta en junio fue 65.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quedó en 92 e in-app en 108: el golpe fue en correo y push, los canales que se saturaron.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753391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753391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419832" cy="458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hay calendario común ni límite de mensajes por persona a la semana: tres equipos sumaron envíos a toda la base el mismo mes.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378041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calendario ni límite semanal, un lanzamiento grande hunde la respuesta de correo y push.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10118761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serie semanal por canal (E4a), 38 semanas completas del 5 de enero al 21 de septiembre 2026; equipos de E1. Respuesta: clic de correo y lectura de WhatsApp sobre entregados.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613277" y="6454684"/>
            <a:ext cx="86744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8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correo y push llegaran al estándar de la industria, tendríamos 5.5 M respuestas más con igual volumen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423402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 lo que sale por correo y push, sobre todo promociones.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560625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los equipos; Marketing y Product Growth ponen la mayor parte del volumen.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1737610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 la base: 19.5 M personas.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Correo: 44 de 272 campañas llegan a 1.5 % de clic; las que no llegan son 82 % de los correos.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Push: 29 de 322 llegan a 3 % de apertura; las que no llegan son 89 % de los push.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 estándar: 1.8 M clics y 3.7 M aperturas más, o los mismos clics con 127 M correos menos.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030361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Nadie revisa cada campaña contra un mínimo: la que responde poco sigue saliendo mes tras mes.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5590562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Hay margen sin gastar más: está en a quién y qué mandamos, no en mandar más.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9895697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E1, enero a septiembre 2026; campañas con 100 mil o más entregados. Estándar de la industria (METRICAS): clic 1.5 %, apertura 3 %. Lo que pasa de la escala va en el borde.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68517" y="6454684"/>
            <a:ext cx="132847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8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Siete de cada diez pesos van a WhatsApp, y la mitad de ese gasto se concentra en 15 campañas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166342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Promociones: Tasa 0, referidos, descuentos y ofertas de comercios de KPay.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665405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y Product Growth ponen 84 % del gasto de WhatsApp; Sales y Others el resto.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545102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 rezagados, ex clientes, leads recientes y clientes activos de KPay y KCash.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71 % del gasto (41.0 M MXN) por 8 % de los mensajes: un WhatsApp cuesta 20 veces un correo.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campañas suman la mitad del gasto y solo 33 % de las conversiones; 14 son de Marketing o Product Growth.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dos más caras son Tasa 0 a leads rezagados de Marketing: 7.3 M MXN en nueve meses.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753391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753391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257617" cy="458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equipo manda por WhatsApp sus promociones grandes porque se lee más, sin presupuesto con límite ni regla de a quién.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299495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gasto se decide en pocas campañas: revisar esas primero (siguiente lámina: a quién van).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9760337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campaña, mes y canal, enero a septiembre 2026. WhatsApp a 1.00 MXN por entregado, correo a 0.05 MXN por enviado. Conversión atribuida por Braze a 7 días.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92479" y="6454684"/>
            <a:ext cx="108166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8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Respaldo de la lámina 11: las 15 campañas que se llevan la mitad del gasto de WhatsApp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581683"/>
            <a:ext cx="215211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11956" y="1191837"/>
            <a:ext cx="164611" cy="364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</a:t>
            </a:r>
            <a:endParaRPr lang="en-US" sz="790" dirty="0"/>
          </a:p>
        </p:txBody>
      </p:sp>
      <p:sp>
        <p:nvSpPr>
          <p:cNvPr id="5" name="Shape 3"/>
          <p:cNvSpPr/>
          <p:nvPr/>
        </p:nvSpPr>
        <p:spPr>
          <a:xfrm>
            <a:off x="727167" y="1581683"/>
            <a:ext cx="2576056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7167" y="1191837"/>
            <a:ext cx="2596281" cy="364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CAMPAÑA</a:t>
            </a:r>
            <a:endParaRPr lang="en-US" sz="790" dirty="0"/>
          </a:p>
        </p:txBody>
      </p:sp>
      <p:sp>
        <p:nvSpPr>
          <p:cNvPr id="7" name="Shape 5"/>
          <p:cNvSpPr/>
          <p:nvPr/>
        </p:nvSpPr>
        <p:spPr>
          <a:xfrm>
            <a:off x="3303224" y="1581683"/>
            <a:ext cx="473073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03224" y="1191837"/>
            <a:ext cx="430209" cy="364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TICKET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3776297" y="1581683"/>
            <a:ext cx="884507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76297" y="1191837"/>
            <a:ext cx="853985" cy="364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EQUIPO</a:t>
            </a:r>
            <a:endParaRPr lang="en-US" sz="790" dirty="0"/>
          </a:p>
        </p:txBody>
      </p:sp>
      <p:sp>
        <p:nvSpPr>
          <p:cNvPr id="11" name="Shape 9"/>
          <p:cNvSpPr/>
          <p:nvPr/>
        </p:nvSpPr>
        <p:spPr>
          <a:xfrm>
            <a:off x="4660804" y="1581683"/>
            <a:ext cx="891590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0804" y="1191837"/>
            <a:ext cx="861281" cy="364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3" name="Shape 11"/>
          <p:cNvSpPr/>
          <p:nvPr/>
        </p:nvSpPr>
        <p:spPr>
          <a:xfrm>
            <a:off x="5552394" y="1581683"/>
            <a:ext cx="1310408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52394" y="1191837"/>
            <a:ext cx="1292664" cy="364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GASTO WHATSAPP = M ENTREGADOS (M MXN)</a:t>
            </a:r>
            <a:endParaRPr lang="en-US" sz="790" dirty="0"/>
          </a:p>
        </p:txBody>
      </p:sp>
      <p:sp>
        <p:nvSpPr>
          <p:cNvPr id="15" name="Shape 13"/>
          <p:cNvSpPr/>
          <p:nvPr/>
        </p:nvSpPr>
        <p:spPr>
          <a:xfrm>
            <a:off x="6862802" y="1581683"/>
            <a:ext cx="898071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62802" y="1191837"/>
            <a:ext cx="867956" cy="364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GASTO ACUMULADO</a:t>
            </a:r>
            <a:endParaRPr lang="en-US" sz="790" dirty="0"/>
          </a:p>
        </p:txBody>
      </p:sp>
      <p:sp>
        <p:nvSpPr>
          <p:cNvPr id="17" name="Shape 15"/>
          <p:cNvSpPr/>
          <p:nvPr/>
        </p:nvSpPr>
        <p:spPr>
          <a:xfrm>
            <a:off x="7760872" y="1581683"/>
            <a:ext cx="674872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60872" y="1191837"/>
            <a:ext cx="638061" cy="364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LEÍDOS DE CADA 100</a:t>
            </a:r>
            <a:endParaRPr lang="en-US" sz="790" dirty="0"/>
          </a:p>
        </p:txBody>
      </p:sp>
      <p:sp>
        <p:nvSpPr>
          <p:cNvPr id="19" name="Shape 17"/>
          <p:cNvSpPr/>
          <p:nvPr/>
        </p:nvSpPr>
        <p:spPr>
          <a:xfrm>
            <a:off x="8435744" y="1581683"/>
            <a:ext cx="922636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35744" y="1191837"/>
            <a:ext cx="893258" cy="364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CRÉDITOS OTORGADOS</a:t>
            </a:r>
            <a:endParaRPr lang="en-US" sz="790" dirty="0"/>
          </a:p>
        </p:txBody>
      </p:sp>
      <p:sp>
        <p:nvSpPr>
          <p:cNvPr id="21" name="Shape 19"/>
          <p:cNvSpPr/>
          <p:nvPr/>
        </p:nvSpPr>
        <p:spPr>
          <a:xfrm>
            <a:off x="9358380" y="1581683"/>
            <a:ext cx="702451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58380" y="1191837"/>
            <a:ext cx="666468" cy="364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MXN POR CRÉDITO</a:t>
            </a:r>
            <a:endParaRPr lang="en-US" sz="790" dirty="0"/>
          </a:p>
        </p:txBody>
      </p:sp>
      <p:sp>
        <p:nvSpPr>
          <p:cNvPr id="23" name="Shape 21"/>
          <p:cNvSpPr/>
          <p:nvPr/>
        </p:nvSpPr>
        <p:spPr>
          <a:xfrm>
            <a:off x="10060831" y="1581683"/>
            <a:ext cx="803576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60831" y="1191837"/>
            <a:ext cx="770627" cy="364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SOLICITUDES</a:t>
            </a:r>
            <a:endParaRPr lang="en-US" sz="790" dirty="0"/>
          </a:p>
        </p:txBody>
      </p:sp>
      <p:sp>
        <p:nvSpPr>
          <p:cNvPr id="25" name="Shape 23"/>
          <p:cNvSpPr/>
          <p:nvPr/>
        </p:nvSpPr>
        <p:spPr>
          <a:xfrm>
            <a:off x="10864408" y="1581683"/>
            <a:ext cx="815030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864408" y="1191837"/>
            <a:ext cx="782424" cy="364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MXN POR SOLICITUD</a:t>
            </a:r>
            <a:endParaRPr lang="en-US" sz="790" dirty="0"/>
          </a:p>
        </p:txBody>
      </p:sp>
      <p:sp>
        <p:nvSpPr>
          <p:cNvPr id="27" name="Shape 25"/>
          <p:cNvSpPr/>
          <p:nvPr/>
        </p:nvSpPr>
        <p:spPr>
          <a:xfrm>
            <a:off x="511956" y="1761780"/>
            <a:ext cx="21521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11956" y="1606013"/>
            <a:ext cx="16461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727167" y="1761780"/>
            <a:ext cx="257605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27167" y="1606013"/>
            <a:ext cx="259628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Narrativa Tasa 0 a leads rezagados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3303224" y="1761780"/>
            <a:ext cx="473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303224" y="1606013"/>
            <a:ext cx="430209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B0171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3776297" y="1761780"/>
            <a:ext cx="88450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776297" y="1606013"/>
            <a:ext cx="853985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4660804" y="1761780"/>
            <a:ext cx="89159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660804" y="1606013"/>
            <a:ext cx="86128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fría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5552394" y="1761780"/>
            <a:ext cx="131040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552394" y="1606013"/>
            <a:ext cx="1292664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4.03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6862802" y="1761780"/>
            <a:ext cx="89807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62802" y="1606013"/>
            <a:ext cx="867956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10 %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7760872" y="1761780"/>
            <a:ext cx="67487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760872" y="1606013"/>
            <a:ext cx="63806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8435744" y="1761780"/>
            <a:ext cx="92263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435744" y="1606013"/>
            <a:ext cx="893258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5,811</a:t>
            </a:r>
            <a:endParaRPr lang="en-US" sz="860" dirty="0"/>
          </a:p>
        </p:txBody>
      </p:sp>
      <p:sp>
        <p:nvSpPr>
          <p:cNvPr id="45" name="Shape 43"/>
          <p:cNvSpPr/>
          <p:nvPr/>
        </p:nvSpPr>
        <p:spPr>
          <a:xfrm>
            <a:off x="9358380" y="1761780"/>
            <a:ext cx="70245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358380" y="1606013"/>
            <a:ext cx="666468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694</a:t>
            </a:r>
            <a:endParaRPr lang="en-US" sz="860" dirty="0"/>
          </a:p>
        </p:txBody>
      </p:sp>
      <p:sp>
        <p:nvSpPr>
          <p:cNvPr id="47" name="Shape 45"/>
          <p:cNvSpPr/>
          <p:nvPr/>
        </p:nvSpPr>
        <p:spPr>
          <a:xfrm>
            <a:off x="10060831" y="1761780"/>
            <a:ext cx="80357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060831" y="1606013"/>
            <a:ext cx="770627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68,312</a:t>
            </a:r>
            <a:endParaRPr lang="en-US" sz="860" dirty="0"/>
          </a:p>
        </p:txBody>
      </p:sp>
      <p:sp>
        <p:nvSpPr>
          <p:cNvPr id="49" name="Shape 47"/>
          <p:cNvSpPr/>
          <p:nvPr/>
        </p:nvSpPr>
        <p:spPr>
          <a:xfrm>
            <a:off x="10864408" y="1761780"/>
            <a:ext cx="81503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864408" y="1606013"/>
            <a:ext cx="782424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</a:t>
            </a:r>
            <a:endParaRPr lang="en-US" sz="860" dirty="0"/>
          </a:p>
        </p:txBody>
      </p:sp>
      <p:sp>
        <p:nvSpPr>
          <p:cNvPr id="51" name="Shape 49"/>
          <p:cNvSpPr/>
          <p:nvPr/>
        </p:nvSpPr>
        <p:spPr>
          <a:xfrm>
            <a:off x="511956" y="1941876"/>
            <a:ext cx="21521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11956" y="1786109"/>
            <a:ext cx="16461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60" dirty="0"/>
          </a:p>
        </p:txBody>
      </p:sp>
      <p:sp>
        <p:nvSpPr>
          <p:cNvPr id="53" name="Shape 51"/>
          <p:cNvSpPr/>
          <p:nvPr/>
        </p:nvSpPr>
        <p:spPr>
          <a:xfrm>
            <a:off x="727167" y="1941876"/>
            <a:ext cx="257605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27167" y="1786109"/>
            <a:ext cx="259628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Rescate Tasa 0 a leads rezagados</a:t>
            </a:r>
            <a:endParaRPr lang="en-US" sz="860" dirty="0"/>
          </a:p>
        </p:txBody>
      </p:sp>
      <p:sp>
        <p:nvSpPr>
          <p:cNvPr id="55" name="Shape 53"/>
          <p:cNvSpPr/>
          <p:nvPr/>
        </p:nvSpPr>
        <p:spPr>
          <a:xfrm>
            <a:off x="3303224" y="1941876"/>
            <a:ext cx="473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303224" y="1786109"/>
            <a:ext cx="430209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B0171</a:t>
            </a:r>
            <a:endParaRPr lang="en-US" sz="860" dirty="0"/>
          </a:p>
        </p:txBody>
      </p:sp>
      <p:sp>
        <p:nvSpPr>
          <p:cNvPr id="57" name="Shape 55"/>
          <p:cNvSpPr/>
          <p:nvPr/>
        </p:nvSpPr>
        <p:spPr>
          <a:xfrm>
            <a:off x="3776297" y="1941876"/>
            <a:ext cx="88450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776297" y="1786109"/>
            <a:ext cx="853985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</a:t>
            </a:r>
            <a:endParaRPr lang="en-US" sz="860" dirty="0"/>
          </a:p>
        </p:txBody>
      </p:sp>
      <p:sp>
        <p:nvSpPr>
          <p:cNvPr id="59" name="Shape 57"/>
          <p:cNvSpPr/>
          <p:nvPr/>
        </p:nvSpPr>
        <p:spPr>
          <a:xfrm>
            <a:off x="4660804" y="1941876"/>
            <a:ext cx="89159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660804" y="1786109"/>
            <a:ext cx="86128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fría</a:t>
            </a:r>
            <a:endParaRPr lang="en-US" sz="860" dirty="0"/>
          </a:p>
        </p:txBody>
      </p:sp>
      <p:sp>
        <p:nvSpPr>
          <p:cNvPr id="61" name="Shape 59"/>
          <p:cNvSpPr/>
          <p:nvPr/>
        </p:nvSpPr>
        <p:spPr>
          <a:xfrm>
            <a:off x="5552394" y="1941876"/>
            <a:ext cx="131040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552394" y="1786109"/>
            <a:ext cx="1292664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3.29</a:t>
            </a:r>
            <a:endParaRPr lang="en-US" sz="860" dirty="0"/>
          </a:p>
        </p:txBody>
      </p:sp>
      <p:sp>
        <p:nvSpPr>
          <p:cNvPr id="63" name="Shape 61"/>
          <p:cNvSpPr/>
          <p:nvPr/>
        </p:nvSpPr>
        <p:spPr>
          <a:xfrm>
            <a:off x="6862802" y="1941876"/>
            <a:ext cx="89807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862802" y="1786109"/>
            <a:ext cx="867956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18 %</a:t>
            </a:r>
            <a:endParaRPr lang="en-US" sz="860" dirty="0"/>
          </a:p>
        </p:txBody>
      </p:sp>
      <p:sp>
        <p:nvSpPr>
          <p:cNvPr id="65" name="Shape 63"/>
          <p:cNvSpPr/>
          <p:nvPr/>
        </p:nvSpPr>
        <p:spPr>
          <a:xfrm>
            <a:off x="7760872" y="1941876"/>
            <a:ext cx="67487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7760872" y="1786109"/>
            <a:ext cx="63806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</a:t>
            </a:r>
            <a:endParaRPr lang="en-US" sz="860" dirty="0"/>
          </a:p>
        </p:txBody>
      </p:sp>
      <p:sp>
        <p:nvSpPr>
          <p:cNvPr id="67" name="Shape 65"/>
          <p:cNvSpPr/>
          <p:nvPr/>
        </p:nvSpPr>
        <p:spPr>
          <a:xfrm>
            <a:off x="8435744" y="1941876"/>
            <a:ext cx="92263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435744" y="1786109"/>
            <a:ext cx="893258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3,893</a:t>
            </a:r>
            <a:endParaRPr lang="en-US" sz="860" dirty="0"/>
          </a:p>
        </p:txBody>
      </p:sp>
      <p:sp>
        <p:nvSpPr>
          <p:cNvPr id="69" name="Shape 67"/>
          <p:cNvSpPr/>
          <p:nvPr/>
        </p:nvSpPr>
        <p:spPr>
          <a:xfrm>
            <a:off x="9358380" y="1941876"/>
            <a:ext cx="70245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9358380" y="1786109"/>
            <a:ext cx="666468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844</a:t>
            </a:r>
            <a:endParaRPr lang="en-US" sz="860" dirty="0"/>
          </a:p>
        </p:txBody>
      </p:sp>
      <p:sp>
        <p:nvSpPr>
          <p:cNvPr id="71" name="Shape 69"/>
          <p:cNvSpPr/>
          <p:nvPr/>
        </p:nvSpPr>
        <p:spPr>
          <a:xfrm>
            <a:off x="10060831" y="1941876"/>
            <a:ext cx="80357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0060831" y="1786109"/>
            <a:ext cx="770627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51,532</a:t>
            </a:r>
            <a:endParaRPr lang="en-US" sz="860" dirty="0"/>
          </a:p>
        </p:txBody>
      </p:sp>
      <p:sp>
        <p:nvSpPr>
          <p:cNvPr id="73" name="Shape 71"/>
          <p:cNvSpPr/>
          <p:nvPr/>
        </p:nvSpPr>
        <p:spPr>
          <a:xfrm>
            <a:off x="10864408" y="1941876"/>
            <a:ext cx="81503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10864408" y="1786109"/>
            <a:ext cx="782424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</a:t>
            </a:r>
            <a:endParaRPr lang="en-US" sz="860" dirty="0"/>
          </a:p>
        </p:txBody>
      </p:sp>
      <p:sp>
        <p:nvSpPr>
          <p:cNvPr id="75" name="Shape 73"/>
          <p:cNvSpPr/>
          <p:nvPr/>
        </p:nvSpPr>
        <p:spPr>
          <a:xfrm>
            <a:off x="511956" y="2121972"/>
            <a:ext cx="21521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511956" y="1966205"/>
            <a:ext cx="16461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60" dirty="0"/>
          </a:p>
        </p:txBody>
      </p:sp>
      <p:sp>
        <p:nvSpPr>
          <p:cNvPr id="77" name="Shape 75"/>
          <p:cNvSpPr/>
          <p:nvPr/>
        </p:nvSpPr>
        <p:spPr>
          <a:xfrm>
            <a:off x="727167" y="2121972"/>
            <a:ext cx="257605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727167" y="1966205"/>
            <a:ext cx="259628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 clientes KPay con 12 meses sin uso</a:t>
            </a:r>
            <a:endParaRPr lang="en-US" sz="860" dirty="0"/>
          </a:p>
        </p:txBody>
      </p:sp>
      <p:sp>
        <p:nvSpPr>
          <p:cNvPr id="79" name="Shape 77"/>
          <p:cNvSpPr/>
          <p:nvPr/>
        </p:nvSpPr>
        <p:spPr>
          <a:xfrm>
            <a:off x="3303224" y="2121972"/>
            <a:ext cx="473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3303224" y="1966205"/>
            <a:ext cx="430209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B0333</a:t>
            </a:r>
            <a:endParaRPr lang="en-US" sz="860" dirty="0"/>
          </a:p>
        </p:txBody>
      </p:sp>
      <p:sp>
        <p:nvSpPr>
          <p:cNvPr id="81" name="Shape 79"/>
          <p:cNvSpPr/>
          <p:nvPr/>
        </p:nvSpPr>
        <p:spPr>
          <a:xfrm>
            <a:off x="3776297" y="2121972"/>
            <a:ext cx="88450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3776297" y="1966205"/>
            <a:ext cx="853985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</a:t>
            </a:r>
            <a:endParaRPr lang="en-US" sz="860" dirty="0"/>
          </a:p>
        </p:txBody>
      </p:sp>
      <p:sp>
        <p:nvSpPr>
          <p:cNvPr id="83" name="Shape 81"/>
          <p:cNvSpPr/>
          <p:nvPr/>
        </p:nvSpPr>
        <p:spPr>
          <a:xfrm>
            <a:off x="4660804" y="2121972"/>
            <a:ext cx="89159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4660804" y="1966205"/>
            <a:ext cx="86128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fría</a:t>
            </a:r>
            <a:endParaRPr lang="en-US" sz="860" dirty="0"/>
          </a:p>
        </p:txBody>
      </p:sp>
      <p:sp>
        <p:nvSpPr>
          <p:cNvPr id="85" name="Shape 83"/>
          <p:cNvSpPr/>
          <p:nvPr/>
        </p:nvSpPr>
        <p:spPr>
          <a:xfrm>
            <a:off x="5552394" y="2121972"/>
            <a:ext cx="131040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5552394" y="1966205"/>
            <a:ext cx="1292664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1.71</a:t>
            </a:r>
            <a:endParaRPr lang="en-US" sz="860" dirty="0"/>
          </a:p>
        </p:txBody>
      </p:sp>
      <p:sp>
        <p:nvSpPr>
          <p:cNvPr id="87" name="Shape 85"/>
          <p:cNvSpPr/>
          <p:nvPr/>
        </p:nvSpPr>
        <p:spPr>
          <a:xfrm>
            <a:off x="6862802" y="2121972"/>
            <a:ext cx="89807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6862802" y="1966205"/>
            <a:ext cx="867956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22 %</a:t>
            </a:r>
            <a:endParaRPr lang="en-US" sz="860" dirty="0"/>
          </a:p>
        </p:txBody>
      </p:sp>
      <p:sp>
        <p:nvSpPr>
          <p:cNvPr id="89" name="Shape 87"/>
          <p:cNvSpPr/>
          <p:nvPr/>
        </p:nvSpPr>
        <p:spPr>
          <a:xfrm>
            <a:off x="7760872" y="2121972"/>
            <a:ext cx="67487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7760872" y="1966205"/>
            <a:ext cx="63806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</a:t>
            </a:r>
            <a:endParaRPr lang="en-US" sz="860" dirty="0"/>
          </a:p>
        </p:txBody>
      </p:sp>
      <p:sp>
        <p:nvSpPr>
          <p:cNvPr id="91" name="Shape 89"/>
          <p:cNvSpPr/>
          <p:nvPr/>
        </p:nvSpPr>
        <p:spPr>
          <a:xfrm>
            <a:off x="8435744" y="2121972"/>
            <a:ext cx="92263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8435744" y="1966205"/>
            <a:ext cx="893258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759</a:t>
            </a:r>
            <a:endParaRPr lang="en-US" sz="860" dirty="0"/>
          </a:p>
        </p:txBody>
      </p:sp>
      <p:sp>
        <p:nvSpPr>
          <p:cNvPr id="93" name="Shape 91"/>
          <p:cNvSpPr/>
          <p:nvPr/>
        </p:nvSpPr>
        <p:spPr>
          <a:xfrm>
            <a:off x="9358380" y="2121972"/>
            <a:ext cx="70245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9358380" y="1966205"/>
            <a:ext cx="666468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2,255</a:t>
            </a:r>
            <a:endParaRPr lang="en-US" sz="860" dirty="0"/>
          </a:p>
        </p:txBody>
      </p:sp>
      <p:sp>
        <p:nvSpPr>
          <p:cNvPr id="95" name="Shape 93"/>
          <p:cNvSpPr/>
          <p:nvPr/>
        </p:nvSpPr>
        <p:spPr>
          <a:xfrm>
            <a:off x="10060831" y="2121972"/>
            <a:ext cx="80357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10060831" y="1966205"/>
            <a:ext cx="770627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4,116</a:t>
            </a:r>
            <a:endParaRPr lang="en-US" sz="860" dirty="0"/>
          </a:p>
        </p:txBody>
      </p:sp>
      <p:sp>
        <p:nvSpPr>
          <p:cNvPr id="97" name="Shape 95"/>
          <p:cNvSpPr/>
          <p:nvPr/>
        </p:nvSpPr>
        <p:spPr>
          <a:xfrm>
            <a:off x="10864408" y="2121972"/>
            <a:ext cx="81503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10864408" y="1966205"/>
            <a:ext cx="782424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416</a:t>
            </a:r>
            <a:endParaRPr lang="en-US" sz="860" dirty="0"/>
          </a:p>
        </p:txBody>
      </p:sp>
      <p:sp>
        <p:nvSpPr>
          <p:cNvPr id="99" name="Shape 97"/>
          <p:cNvSpPr/>
          <p:nvPr/>
        </p:nvSpPr>
        <p:spPr>
          <a:xfrm>
            <a:off x="511956" y="2302069"/>
            <a:ext cx="21521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511956" y="2146302"/>
            <a:ext cx="16461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860" dirty="0"/>
          </a:p>
        </p:txBody>
      </p:sp>
      <p:sp>
        <p:nvSpPr>
          <p:cNvPr id="101" name="Shape 99"/>
          <p:cNvSpPr/>
          <p:nvPr/>
        </p:nvSpPr>
        <p:spPr>
          <a:xfrm>
            <a:off x="727167" y="2302069"/>
            <a:ext cx="257605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727167" y="2146302"/>
            <a:ext cx="259628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Referidos a clientes KCash</a:t>
            </a:r>
            <a:endParaRPr lang="en-US" sz="860" dirty="0"/>
          </a:p>
        </p:txBody>
      </p:sp>
      <p:sp>
        <p:nvSpPr>
          <p:cNvPr id="103" name="Shape 101"/>
          <p:cNvSpPr/>
          <p:nvPr/>
        </p:nvSpPr>
        <p:spPr>
          <a:xfrm>
            <a:off x="3303224" y="2302069"/>
            <a:ext cx="473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3303224" y="2146302"/>
            <a:ext cx="430209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B0326</a:t>
            </a:r>
            <a:endParaRPr lang="en-US" sz="860" dirty="0"/>
          </a:p>
        </p:txBody>
      </p:sp>
      <p:sp>
        <p:nvSpPr>
          <p:cNvPr id="105" name="Shape 103"/>
          <p:cNvSpPr/>
          <p:nvPr/>
        </p:nvSpPr>
        <p:spPr>
          <a:xfrm>
            <a:off x="3776297" y="2302069"/>
            <a:ext cx="88450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3776297" y="2146302"/>
            <a:ext cx="853985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</a:t>
            </a:r>
            <a:endParaRPr lang="en-US" sz="860" dirty="0"/>
          </a:p>
        </p:txBody>
      </p:sp>
      <p:sp>
        <p:nvSpPr>
          <p:cNvPr id="107" name="Shape 105"/>
          <p:cNvSpPr/>
          <p:nvPr/>
        </p:nvSpPr>
        <p:spPr>
          <a:xfrm>
            <a:off x="4660804" y="2302069"/>
            <a:ext cx="89159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4660804" y="2146302"/>
            <a:ext cx="86128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Clientes activos</a:t>
            </a:r>
            <a:endParaRPr lang="en-US" sz="860" dirty="0"/>
          </a:p>
        </p:txBody>
      </p:sp>
      <p:sp>
        <p:nvSpPr>
          <p:cNvPr id="109" name="Shape 107"/>
          <p:cNvSpPr/>
          <p:nvPr/>
        </p:nvSpPr>
        <p:spPr>
          <a:xfrm>
            <a:off x="5552394" y="2302069"/>
            <a:ext cx="131040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5552394" y="2146302"/>
            <a:ext cx="1292664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1.52</a:t>
            </a:r>
            <a:endParaRPr lang="en-US" sz="860" dirty="0"/>
          </a:p>
        </p:txBody>
      </p:sp>
      <p:sp>
        <p:nvSpPr>
          <p:cNvPr id="111" name="Shape 109"/>
          <p:cNvSpPr/>
          <p:nvPr/>
        </p:nvSpPr>
        <p:spPr>
          <a:xfrm>
            <a:off x="6862802" y="2302069"/>
            <a:ext cx="89807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6862802" y="2146302"/>
            <a:ext cx="867956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26 %</a:t>
            </a:r>
            <a:endParaRPr lang="en-US" sz="860" dirty="0"/>
          </a:p>
        </p:txBody>
      </p:sp>
      <p:sp>
        <p:nvSpPr>
          <p:cNvPr id="113" name="Shape 111"/>
          <p:cNvSpPr/>
          <p:nvPr/>
        </p:nvSpPr>
        <p:spPr>
          <a:xfrm>
            <a:off x="7760872" y="2302069"/>
            <a:ext cx="67487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7760872" y="2146302"/>
            <a:ext cx="63806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</a:t>
            </a:r>
            <a:endParaRPr lang="en-US" sz="860" dirty="0"/>
          </a:p>
        </p:txBody>
      </p:sp>
      <p:sp>
        <p:nvSpPr>
          <p:cNvPr id="115" name="Shape 113"/>
          <p:cNvSpPr/>
          <p:nvPr/>
        </p:nvSpPr>
        <p:spPr>
          <a:xfrm>
            <a:off x="8435744" y="2302069"/>
            <a:ext cx="92263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8435744" y="2146302"/>
            <a:ext cx="893258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35,342</a:t>
            </a:r>
            <a:endParaRPr lang="en-US" sz="860" dirty="0"/>
          </a:p>
        </p:txBody>
      </p:sp>
      <p:sp>
        <p:nvSpPr>
          <p:cNvPr id="117" name="Shape 115"/>
          <p:cNvSpPr/>
          <p:nvPr/>
        </p:nvSpPr>
        <p:spPr>
          <a:xfrm>
            <a:off x="9358380" y="2302069"/>
            <a:ext cx="70245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9358380" y="2146302"/>
            <a:ext cx="666468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</a:t>
            </a:r>
            <a:endParaRPr lang="en-US" sz="860" dirty="0"/>
          </a:p>
        </p:txBody>
      </p:sp>
      <p:sp>
        <p:nvSpPr>
          <p:cNvPr id="119" name="Shape 117"/>
          <p:cNvSpPr/>
          <p:nvPr/>
        </p:nvSpPr>
        <p:spPr>
          <a:xfrm>
            <a:off x="10060831" y="2302069"/>
            <a:ext cx="80357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10060831" y="2146302"/>
            <a:ext cx="770627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84,556</a:t>
            </a:r>
            <a:endParaRPr lang="en-US" sz="860" dirty="0"/>
          </a:p>
        </p:txBody>
      </p:sp>
      <p:sp>
        <p:nvSpPr>
          <p:cNvPr id="121" name="Shape 119"/>
          <p:cNvSpPr/>
          <p:nvPr/>
        </p:nvSpPr>
        <p:spPr>
          <a:xfrm>
            <a:off x="10864408" y="2302069"/>
            <a:ext cx="81503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10864408" y="2146302"/>
            <a:ext cx="782424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860" dirty="0"/>
          </a:p>
        </p:txBody>
      </p:sp>
      <p:sp>
        <p:nvSpPr>
          <p:cNvPr id="123" name="Shape 121"/>
          <p:cNvSpPr/>
          <p:nvPr/>
        </p:nvSpPr>
        <p:spPr>
          <a:xfrm>
            <a:off x="511956" y="2482165"/>
            <a:ext cx="21521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511956" y="2326398"/>
            <a:ext cx="16461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860" dirty="0"/>
          </a:p>
        </p:txBody>
      </p:sp>
      <p:sp>
        <p:nvSpPr>
          <p:cNvPr id="125" name="Shape 123"/>
          <p:cNvSpPr/>
          <p:nvPr/>
        </p:nvSpPr>
        <p:spPr>
          <a:xfrm>
            <a:off x="727167" y="2482165"/>
            <a:ext cx="257605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727167" y="2326398"/>
            <a:ext cx="259628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Descuento directo a clientes inactivos</a:t>
            </a:r>
            <a:endParaRPr lang="en-US" sz="860" dirty="0"/>
          </a:p>
        </p:txBody>
      </p:sp>
      <p:sp>
        <p:nvSpPr>
          <p:cNvPr id="127" name="Shape 125"/>
          <p:cNvSpPr/>
          <p:nvPr/>
        </p:nvSpPr>
        <p:spPr>
          <a:xfrm>
            <a:off x="3303224" y="2482165"/>
            <a:ext cx="473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3303224" y="2326398"/>
            <a:ext cx="430209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B0209</a:t>
            </a:r>
            <a:endParaRPr lang="en-US" sz="860" dirty="0"/>
          </a:p>
        </p:txBody>
      </p:sp>
      <p:sp>
        <p:nvSpPr>
          <p:cNvPr id="129" name="Shape 127"/>
          <p:cNvSpPr/>
          <p:nvPr/>
        </p:nvSpPr>
        <p:spPr>
          <a:xfrm>
            <a:off x="3776297" y="2482165"/>
            <a:ext cx="88450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3776297" y="2326398"/>
            <a:ext cx="853985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</a:t>
            </a:r>
            <a:endParaRPr lang="en-US" sz="860" dirty="0"/>
          </a:p>
        </p:txBody>
      </p:sp>
      <p:sp>
        <p:nvSpPr>
          <p:cNvPr id="131" name="Shape 129"/>
          <p:cNvSpPr/>
          <p:nvPr/>
        </p:nvSpPr>
        <p:spPr>
          <a:xfrm>
            <a:off x="4660804" y="2482165"/>
            <a:ext cx="89159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4660804" y="2326398"/>
            <a:ext cx="86128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fría</a:t>
            </a:r>
            <a:endParaRPr lang="en-US" sz="860" dirty="0"/>
          </a:p>
        </p:txBody>
      </p:sp>
      <p:sp>
        <p:nvSpPr>
          <p:cNvPr id="133" name="Shape 131"/>
          <p:cNvSpPr/>
          <p:nvPr/>
        </p:nvSpPr>
        <p:spPr>
          <a:xfrm>
            <a:off x="5552394" y="2482165"/>
            <a:ext cx="131040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5552394" y="2326398"/>
            <a:ext cx="1292664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1.48</a:t>
            </a:r>
            <a:endParaRPr lang="en-US" sz="860" dirty="0"/>
          </a:p>
        </p:txBody>
      </p:sp>
      <p:sp>
        <p:nvSpPr>
          <p:cNvPr id="135" name="Shape 133"/>
          <p:cNvSpPr/>
          <p:nvPr/>
        </p:nvSpPr>
        <p:spPr>
          <a:xfrm>
            <a:off x="6862802" y="2482165"/>
            <a:ext cx="89807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6" name="Text 134"/>
          <p:cNvSpPr txBox="1"/>
          <p:nvPr/>
        </p:nvSpPr>
        <p:spPr>
          <a:xfrm>
            <a:off x="6862802" y="2326398"/>
            <a:ext cx="867956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29 %</a:t>
            </a:r>
            <a:endParaRPr lang="en-US" sz="860" dirty="0"/>
          </a:p>
        </p:txBody>
      </p:sp>
      <p:sp>
        <p:nvSpPr>
          <p:cNvPr id="137" name="Shape 135"/>
          <p:cNvSpPr/>
          <p:nvPr/>
        </p:nvSpPr>
        <p:spPr>
          <a:xfrm>
            <a:off x="7760872" y="2482165"/>
            <a:ext cx="67487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8" name="Text 136"/>
          <p:cNvSpPr txBox="1"/>
          <p:nvPr/>
        </p:nvSpPr>
        <p:spPr>
          <a:xfrm>
            <a:off x="7760872" y="2326398"/>
            <a:ext cx="63806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</a:t>
            </a:r>
            <a:endParaRPr lang="en-US" sz="860" dirty="0"/>
          </a:p>
        </p:txBody>
      </p:sp>
      <p:sp>
        <p:nvSpPr>
          <p:cNvPr id="139" name="Shape 137"/>
          <p:cNvSpPr/>
          <p:nvPr/>
        </p:nvSpPr>
        <p:spPr>
          <a:xfrm>
            <a:off x="8435744" y="2482165"/>
            <a:ext cx="92263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0" name="Text 138"/>
          <p:cNvSpPr txBox="1"/>
          <p:nvPr/>
        </p:nvSpPr>
        <p:spPr>
          <a:xfrm>
            <a:off x="8435744" y="2326398"/>
            <a:ext cx="893258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4,983</a:t>
            </a:r>
            <a:endParaRPr lang="en-US" sz="860" dirty="0"/>
          </a:p>
        </p:txBody>
      </p:sp>
      <p:sp>
        <p:nvSpPr>
          <p:cNvPr id="141" name="Shape 139"/>
          <p:cNvSpPr/>
          <p:nvPr/>
        </p:nvSpPr>
        <p:spPr>
          <a:xfrm>
            <a:off x="9358380" y="2482165"/>
            <a:ext cx="70245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2" name="Text 140"/>
          <p:cNvSpPr txBox="1"/>
          <p:nvPr/>
        </p:nvSpPr>
        <p:spPr>
          <a:xfrm>
            <a:off x="9358380" y="2326398"/>
            <a:ext cx="666468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297</a:t>
            </a:r>
            <a:endParaRPr lang="en-US" sz="860" dirty="0"/>
          </a:p>
        </p:txBody>
      </p:sp>
      <p:sp>
        <p:nvSpPr>
          <p:cNvPr id="143" name="Shape 141"/>
          <p:cNvSpPr/>
          <p:nvPr/>
        </p:nvSpPr>
        <p:spPr>
          <a:xfrm>
            <a:off x="10060831" y="2482165"/>
            <a:ext cx="80357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4" name="Text 142"/>
          <p:cNvSpPr txBox="1"/>
          <p:nvPr/>
        </p:nvSpPr>
        <p:spPr>
          <a:xfrm>
            <a:off x="10060831" y="2326398"/>
            <a:ext cx="770627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39,917</a:t>
            </a:r>
            <a:endParaRPr lang="en-US" sz="860" dirty="0"/>
          </a:p>
        </p:txBody>
      </p:sp>
      <p:sp>
        <p:nvSpPr>
          <p:cNvPr id="145" name="Shape 143"/>
          <p:cNvSpPr/>
          <p:nvPr/>
        </p:nvSpPr>
        <p:spPr>
          <a:xfrm>
            <a:off x="10864408" y="2482165"/>
            <a:ext cx="81503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6" name="Text 144"/>
          <p:cNvSpPr txBox="1"/>
          <p:nvPr/>
        </p:nvSpPr>
        <p:spPr>
          <a:xfrm>
            <a:off x="10864408" y="2326398"/>
            <a:ext cx="782424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</a:t>
            </a:r>
            <a:endParaRPr lang="en-US" sz="860" dirty="0"/>
          </a:p>
        </p:txBody>
      </p:sp>
      <p:sp>
        <p:nvSpPr>
          <p:cNvPr id="147" name="Shape 145"/>
          <p:cNvSpPr/>
          <p:nvPr/>
        </p:nvSpPr>
        <p:spPr>
          <a:xfrm>
            <a:off x="511956" y="2662261"/>
            <a:ext cx="21521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8" name="Text 146"/>
          <p:cNvSpPr txBox="1"/>
          <p:nvPr/>
        </p:nvSpPr>
        <p:spPr>
          <a:xfrm>
            <a:off x="511956" y="2506494"/>
            <a:ext cx="16461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860" dirty="0"/>
          </a:p>
        </p:txBody>
      </p:sp>
      <p:sp>
        <p:nvSpPr>
          <p:cNvPr id="149" name="Shape 147"/>
          <p:cNvSpPr/>
          <p:nvPr/>
        </p:nvSpPr>
        <p:spPr>
          <a:xfrm>
            <a:off x="727167" y="2662261"/>
            <a:ext cx="257605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50" name="Text 148"/>
          <p:cNvSpPr txBox="1"/>
          <p:nvPr/>
        </p:nvSpPr>
        <p:spPr>
          <a:xfrm>
            <a:off x="727167" y="2506494"/>
            <a:ext cx="259628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Rescate Tasa 0 a leads recientes</a:t>
            </a:r>
            <a:endParaRPr lang="en-US" sz="860" dirty="0"/>
          </a:p>
        </p:txBody>
      </p:sp>
      <p:sp>
        <p:nvSpPr>
          <p:cNvPr id="151" name="Shape 149"/>
          <p:cNvSpPr/>
          <p:nvPr/>
        </p:nvSpPr>
        <p:spPr>
          <a:xfrm>
            <a:off x="3303224" y="2662261"/>
            <a:ext cx="473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52" name="Text 150"/>
          <p:cNvSpPr txBox="1"/>
          <p:nvPr/>
        </p:nvSpPr>
        <p:spPr>
          <a:xfrm>
            <a:off x="3303224" y="2506494"/>
            <a:ext cx="430209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B0171</a:t>
            </a:r>
            <a:endParaRPr lang="en-US" sz="860" dirty="0"/>
          </a:p>
        </p:txBody>
      </p:sp>
      <p:sp>
        <p:nvSpPr>
          <p:cNvPr id="153" name="Shape 151"/>
          <p:cNvSpPr/>
          <p:nvPr/>
        </p:nvSpPr>
        <p:spPr>
          <a:xfrm>
            <a:off x="3776297" y="2662261"/>
            <a:ext cx="88450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54" name="Text 152"/>
          <p:cNvSpPr txBox="1"/>
          <p:nvPr/>
        </p:nvSpPr>
        <p:spPr>
          <a:xfrm>
            <a:off x="3776297" y="2506494"/>
            <a:ext cx="853985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</a:t>
            </a:r>
            <a:endParaRPr lang="en-US" sz="860" dirty="0"/>
          </a:p>
        </p:txBody>
      </p:sp>
      <p:sp>
        <p:nvSpPr>
          <p:cNvPr id="155" name="Shape 153"/>
          <p:cNvSpPr/>
          <p:nvPr/>
        </p:nvSpPr>
        <p:spPr>
          <a:xfrm>
            <a:off x="4660804" y="2662261"/>
            <a:ext cx="89159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56" name="Text 154"/>
          <p:cNvSpPr txBox="1"/>
          <p:nvPr/>
        </p:nvSpPr>
        <p:spPr>
          <a:xfrm>
            <a:off x="4660804" y="2506494"/>
            <a:ext cx="86128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</a:t>
            </a:r>
            <a:endParaRPr lang="en-US" sz="860" dirty="0"/>
          </a:p>
        </p:txBody>
      </p:sp>
      <p:sp>
        <p:nvSpPr>
          <p:cNvPr id="157" name="Shape 155"/>
          <p:cNvSpPr/>
          <p:nvPr/>
        </p:nvSpPr>
        <p:spPr>
          <a:xfrm>
            <a:off x="5552394" y="2662261"/>
            <a:ext cx="131040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58" name="Text 156"/>
          <p:cNvSpPr txBox="1"/>
          <p:nvPr/>
        </p:nvSpPr>
        <p:spPr>
          <a:xfrm>
            <a:off x="5552394" y="2506494"/>
            <a:ext cx="1292664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1.31</a:t>
            </a:r>
            <a:endParaRPr lang="en-US" sz="860" dirty="0"/>
          </a:p>
        </p:txBody>
      </p:sp>
      <p:sp>
        <p:nvSpPr>
          <p:cNvPr id="159" name="Shape 157"/>
          <p:cNvSpPr/>
          <p:nvPr/>
        </p:nvSpPr>
        <p:spPr>
          <a:xfrm>
            <a:off x="6862802" y="2662261"/>
            <a:ext cx="89807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60" name="Text 158"/>
          <p:cNvSpPr txBox="1"/>
          <p:nvPr/>
        </p:nvSpPr>
        <p:spPr>
          <a:xfrm>
            <a:off x="6862802" y="2506494"/>
            <a:ext cx="867956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33 %</a:t>
            </a:r>
            <a:endParaRPr lang="en-US" sz="860" dirty="0"/>
          </a:p>
        </p:txBody>
      </p:sp>
      <p:sp>
        <p:nvSpPr>
          <p:cNvPr id="161" name="Shape 159"/>
          <p:cNvSpPr/>
          <p:nvPr/>
        </p:nvSpPr>
        <p:spPr>
          <a:xfrm>
            <a:off x="7760872" y="2662261"/>
            <a:ext cx="67487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62" name="Text 160"/>
          <p:cNvSpPr txBox="1"/>
          <p:nvPr/>
        </p:nvSpPr>
        <p:spPr>
          <a:xfrm>
            <a:off x="7760872" y="2506494"/>
            <a:ext cx="63806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</a:t>
            </a:r>
            <a:endParaRPr lang="en-US" sz="860" dirty="0"/>
          </a:p>
        </p:txBody>
      </p:sp>
      <p:sp>
        <p:nvSpPr>
          <p:cNvPr id="163" name="Shape 161"/>
          <p:cNvSpPr/>
          <p:nvPr/>
        </p:nvSpPr>
        <p:spPr>
          <a:xfrm>
            <a:off x="8435744" y="2662261"/>
            <a:ext cx="92263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64" name="Text 162"/>
          <p:cNvSpPr txBox="1"/>
          <p:nvPr/>
        </p:nvSpPr>
        <p:spPr>
          <a:xfrm>
            <a:off x="8435744" y="2506494"/>
            <a:ext cx="893258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3,362</a:t>
            </a:r>
            <a:endParaRPr lang="en-US" sz="860" dirty="0"/>
          </a:p>
        </p:txBody>
      </p:sp>
      <p:sp>
        <p:nvSpPr>
          <p:cNvPr id="165" name="Shape 163"/>
          <p:cNvSpPr/>
          <p:nvPr/>
        </p:nvSpPr>
        <p:spPr>
          <a:xfrm>
            <a:off x="9358380" y="2662261"/>
            <a:ext cx="70245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66" name="Text 164"/>
          <p:cNvSpPr txBox="1"/>
          <p:nvPr/>
        </p:nvSpPr>
        <p:spPr>
          <a:xfrm>
            <a:off x="9358380" y="2506494"/>
            <a:ext cx="666468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390</a:t>
            </a:r>
            <a:endParaRPr lang="en-US" sz="860" dirty="0"/>
          </a:p>
        </p:txBody>
      </p:sp>
      <p:sp>
        <p:nvSpPr>
          <p:cNvPr id="167" name="Shape 165"/>
          <p:cNvSpPr/>
          <p:nvPr/>
        </p:nvSpPr>
        <p:spPr>
          <a:xfrm>
            <a:off x="10060831" y="2662261"/>
            <a:ext cx="80357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68" name="Text 166"/>
          <p:cNvSpPr txBox="1"/>
          <p:nvPr/>
        </p:nvSpPr>
        <p:spPr>
          <a:xfrm>
            <a:off x="10060831" y="2506494"/>
            <a:ext cx="770627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52,561</a:t>
            </a:r>
            <a:endParaRPr lang="en-US" sz="860" dirty="0"/>
          </a:p>
        </p:txBody>
      </p:sp>
      <p:sp>
        <p:nvSpPr>
          <p:cNvPr id="169" name="Shape 167"/>
          <p:cNvSpPr/>
          <p:nvPr/>
        </p:nvSpPr>
        <p:spPr>
          <a:xfrm>
            <a:off x="10864408" y="2662261"/>
            <a:ext cx="81503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70" name="Text 168"/>
          <p:cNvSpPr txBox="1"/>
          <p:nvPr/>
        </p:nvSpPr>
        <p:spPr>
          <a:xfrm>
            <a:off x="10864408" y="2506494"/>
            <a:ext cx="782424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860" dirty="0"/>
          </a:p>
        </p:txBody>
      </p:sp>
      <p:sp>
        <p:nvSpPr>
          <p:cNvPr id="171" name="Shape 169"/>
          <p:cNvSpPr/>
          <p:nvPr/>
        </p:nvSpPr>
        <p:spPr>
          <a:xfrm>
            <a:off x="511956" y="2842358"/>
            <a:ext cx="21521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72" name="Text 170"/>
          <p:cNvSpPr txBox="1"/>
          <p:nvPr/>
        </p:nvSpPr>
        <p:spPr>
          <a:xfrm>
            <a:off x="511956" y="2686591"/>
            <a:ext cx="16461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860" dirty="0"/>
          </a:p>
        </p:txBody>
      </p:sp>
      <p:sp>
        <p:nvSpPr>
          <p:cNvPr id="173" name="Shape 171"/>
          <p:cNvSpPr/>
          <p:nvPr/>
        </p:nvSpPr>
        <p:spPr>
          <a:xfrm>
            <a:off x="727167" y="2842358"/>
            <a:ext cx="257605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74" name="Text 172"/>
          <p:cNvSpPr txBox="1"/>
          <p:nvPr/>
        </p:nvSpPr>
        <p:spPr>
          <a:xfrm>
            <a:off x="727167" y="2686591"/>
            <a:ext cx="259628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Referidos a leads</a:t>
            </a:r>
            <a:endParaRPr lang="en-US" sz="860" dirty="0"/>
          </a:p>
        </p:txBody>
      </p:sp>
      <p:sp>
        <p:nvSpPr>
          <p:cNvPr id="175" name="Shape 173"/>
          <p:cNvSpPr/>
          <p:nvPr/>
        </p:nvSpPr>
        <p:spPr>
          <a:xfrm>
            <a:off x="3303224" y="2842358"/>
            <a:ext cx="473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76" name="Text 174"/>
          <p:cNvSpPr txBox="1"/>
          <p:nvPr/>
        </p:nvSpPr>
        <p:spPr>
          <a:xfrm>
            <a:off x="3303224" y="2686591"/>
            <a:ext cx="430209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B0326</a:t>
            </a:r>
            <a:endParaRPr lang="en-US" sz="860" dirty="0"/>
          </a:p>
        </p:txBody>
      </p:sp>
      <p:sp>
        <p:nvSpPr>
          <p:cNvPr id="177" name="Shape 175"/>
          <p:cNvSpPr/>
          <p:nvPr/>
        </p:nvSpPr>
        <p:spPr>
          <a:xfrm>
            <a:off x="3776297" y="2842358"/>
            <a:ext cx="88450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78" name="Text 176"/>
          <p:cNvSpPr txBox="1"/>
          <p:nvPr/>
        </p:nvSpPr>
        <p:spPr>
          <a:xfrm>
            <a:off x="3776297" y="2686591"/>
            <a:ext cx="853985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</a:t>
            </a:r>
            <a:endParaRPr lang="en-US" sz="860" dirty="0"/>
          </a:p>
        </p:txBody>
      </p:sp>
      <p:sp>
        <p:nvSpPr>
          <p:cNvPr id="179" name="Shape 177"/>
          <p:cNvSpPr/>
          <p:nvPr/>
        </p:nvSpPr>
        <p:spPr>
          <a:xfrm>
            <a:off x="4660804" y="2842358"/>
            <a:ext cx="89159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80" name="Text 178"/>
          <p:cNvSpPr txBox="1"/>
          <p:nvPr/>
        </p:nvSpPr>
        <p:spPr>
          <a:xfrm>
            <a:off x="4660804" y="2686591"/>
            <a:ext cx="86128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</a:t>
            </a:r>
            <a:endParaRPr lang="en-US" sz="860" dirty="0"/>
          </a:p>
        </p:txBody>
      </p:sp>
      <p:sp>
        <p:nvSpPr>
          <p:cNvPr id="181" name="Shape 179"/>
          <p:cNvSpPr/>
          <p:nvPr/>
        </p:nvSpPr>
        <p:spPr>
          <a:xfrm>
            <a:off x="5552394" y="2842358"/>
            <a:ext cx="131040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82" name="Text 180"/>
          <p:cNvSpPr txBox="1"/>
          <p:nvPr/>
        </p:nvSpPr>
        <p:spPr>
          <a:xfrm>
            <a:off x="5552394" y="2686591"/>
            <a:ext cx="1292664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1.30</a:t>
            </a:r>
            <a:endParaRPr lang="en-US" sz="860" dirty="0"/>
          </a:p>
        </p:txBody>
      </p:sp>
      <p:sp>
        <p:nvSpPr>
          <p:cNvPr id="183" name="Shape 181"/>
          <p:cNvSpPr/>
          <p:nvPr/>
        </p:nvSpPr>
        <p:spPr>
          <a:xfrm>
            <a:off x="6862802" y="2842358"/>
            <a:ext cx="89807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84" name="Text 182"/>
          <p:cNvSpPr txBox="1"/>
          <p:nvPr/>
        </p:nvSpPr>
        <p:spPr>
          <a:xfrm>
            <a:off x="6862802" y="2686591"/>
            <a:ext cx="867956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36 %</a:t>
            </a:r>
            <a:endParaRPr lang="en-US" sz="860" dirty="0"/>
          </a:p>
        </p:txBody>
      </p:sp>
      <p:sp>
        <p:nvSpPr>
          <p:cNvPr id="185" name="Shape 183"/>
          <p:cNvSpPr/>
          <p:nvPr/>
        </p:nvSpPr>
        <p:spPr>
          <a:xfrm>
            <a:off x="7760872" y="2842358"/>
            <a:ext cx="67487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86" name="Text 184"/>
          <p:cNvSpPr txBox="1"/>
          <p:nvPr/>
        </p:nvSpPr>
        <p:spPr>
          <a:xfrm>
            <a:off x="7760872" y="2686591"/>
            <a:ext cx="63806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87</a:t>
            </a:r>
            <a:endParaRPr lang="en-US" sz="860" dirty="0"/>
          </a:p>
        </p:txBody>
      </p:sp>
      <p:sp>
        <p:nvSpPr>
          <p:cNvPr id="187" name="Shape 185"/>
          <p:cNvSpPr/>
          <p:nvPr/>
        </p:nvSpPr>
        <p:spPr>
          <a:xfrm>
            <a:off x="8435744" y="2842358"/>
            <a:ext cx="92263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88" name="Text 186"/>
          <p:cNvSpPr txBox="1"/>
          <p:nvPr/>
        </p:nvSpPr>
        <p:spPr>
          <a:xfrm>
            <a:off x="8435744" y="2686591"/>
            <a:ext cx="893258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1,744</a:t>
            </a:r>
            <a:endParaRPr lang="en-US" sz="860" dirty="0"/>
          </a:p>
        </p:txBody>
      </p:sp>
      <p:sp>
        <p:nvSpPr>
          <p:cNvPr id="189" name="Shape 187"/>
          <p:cNvSpPr/>
          <p:nvPr/>
        </p:nvSpPr>
        <p:spPr>
          <a:xfrm>
            <a:off x="9358380" y="2842358"/>
            <a:ext cx="70245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90" name="Text 188"/>
          <p:cNvSpPr txBox="1"/>
          <p:nvPr/>
        </p:nvSpPr>
        <p:spPr>
          <a:xfrm>
            <a:off x="9358380" y="2686591"/>
            <a:ext cx="666468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745</a:t>
            </a:r>
            <a:endParaRPr lang="en-US" sz="860" dirty="0"/>
          </a:p>
        </p:txBody>
      </p:sp>
      <p:sp>
        <p:nvSpPr>
          <p:cNvPr id="191" name="Shape 189"/>
          <p:cNvSpPr/>
          <p:nvPr/>
        </p:nvSpPr>
        <p:spPr>
          <a:xfrm>
            <a:off x="10060831" y="2842358"/>
            <a:ext cx="80357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92" name="Text 190"/>
          <p:cNvSpPr txBox="1"/>
          <p:nvPr/>
        </p:nvSpPr>
        <p:spPr>
          <a:xfrm>
            <a:off x="10060831" y="2686591"/>
            <a:ext cx="770627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14,239</a:t>
            </a:r>
            <a:endParaRPr lang="en-US" sz="860" dirty="0"/>
          </a:p>
        </p:txBody>
      </p:sp>
      <p:sp>
        <p:nvSpPr>
          <p:cNvPr id="193" name="Shape 191"/>
          <p:cNvSpPr/>
          <p:nvPr/>
        </p:nvSpPr>
        <p:spPr>
          <a:xfrm>
            <a:off x="10864408" y="2842358"/>
            <a:ext cx="81503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94" name="Text 192"/>
          <p:cNvSpPr txBox="1"/>
          <p:nvPr/>
        </p:nvSpPr>
        <p:spPr>
          <a:xfrm>
            <a:off x="10864408" y="2686591"/>
            <a:ext cx="782424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91</a:t>
            </a:r>
            <a:endParaRPr lang="en-US" sz="860" dirty="0"/>
          </a:p>
        </p:txBody>
      </p:sp>
      <p:sp>
        <p:nvSpPr>
          <p:cNvPr id="195" name="Shape 193"/>
          <p:cNvSpPr/>
          <p:nvPr/>
        </p:nvSpPr>
        <p:spPr>
          <a:xfrm>
            <a:off x="511956" y="3022454"/>
            <a:ext cx="21521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96" name="Text 194"/>
          <p:cNvSpPr txBox="1"/>
          <p:nvPr/>
        </p:nvSpPr>
        <p:spPr>
          <a:xfrm>
            <a:off x="511956" y="2866687"/>
            <a:ext cx="16461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860" dirty="0"/>
          </a:p>
        </p:txBody>
      </p:sp>
      <p:sp>
        <p:nvSpPr>
          <p:cNvPr id="197" name="Shape 195"/>
          <p:cNvSpPr/>
          <p:nvPr/>
        </p:nvSpPr>
        <p:spPr>
          <a:xfrm>
            <a:off x="727167" y="3022454"/>
            <a:ext cx="257605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98" name="Text 196"/>
          <p:cNvSpPr txBox="1"/>
          <p:nvPr/>
        </p:nvSpPr>
        <p:spPr>
          <a:xfrm>
            <a:off x="727167" y="2866687"/>
            <a:ext cx="259628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Rescate Tasa 0 a leads recientes (otro nombre)</a:t>
            </a:r>
            <a:endParaRPr lang="en-US" sz="860" dirty="0"/>
          </a:p>
        </p:txBody>
      </p:sp>
      <p:sp>
        <p:nvSpPr>
          <p:cNvPr id="199" name="Shape 197"/>
          <p:cNvSpPr/>
          <p:nvPr/>
        </p:nvSpPr>
        <p:spPr>
          <a:xfrm>
            <a:off x="3303224" y="3022454"/>
            <a:ext cx="473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00" name="Text 198"/>
          <p:cNvSpPr txBox="1"/>
          <p:nvPr/>
        </p:nvSpPr>
        <p:spPr>
          <a:xfrm>
            <a:off x="3303224" y="2866687"/>
            <a:ext cx="430209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B0171</a:t>
            </a:r>
            <a:endParaRPr lang="en-US" sz="860" dirty="0"/>
          </a:p>
        </p:txBody>
      </p:sp>
      <p:sp>
        <p:nvSpPr>
          <p:cNvPr id="201" name="Shape 199"/>
          <p:cNvSpPr/>
          <p:nvPr/>
        </p:nvSpPr>
        <p:spPr>
          <a:xfrm>
            <a:off x="3776297" y="3022454"/>
            <a:ext cx="88450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02" name="Text 200"/>
          <p:cNvSpPr txBox="1"/>
          <p:nvPr/>
        </p:nvSpPr>
        <p:spPr>
          <a:xfrm>
            <a:off x="3776297" y="2866687"/>
            <a:ext cx="853985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</a:t>
            </a:r>
            <a:endParaRPr lang="en-US" sz="860" dirty="0"/>
          </a:p>
        </p:txBody>
      </p:sp>
      <p:sp>
        <p:nvSpPr>
          <p:cNvPr id="203" name="Shape 201"/>
          <p:cNvSpPr/>
          <p:nvPr/>
        </p:nvSpPr>
        <p:spPr>
          <a:xfrm>
            <a:off x="4660804" y="3022454"/>
            <a:ext cx="89159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04" name="Text 202"/>
          <p:cNvSpPr txBox="1"/>
          <p:nvPr/>
        </p:nvSpPr>
        <p:spPr>
          <a:xfrm>
            <a:off x="4660804" y="2866687"/>
            <a:ext cx="86128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</a:t>
            </a:r>
            <a:endParaRPr lang="en-US" sz="860" dirty="0"/>
          </a:p>
        </p:txBody>
      </p:sp>
      <p:sp>
        <p:nvSpPr>
          <p:cNvPr id="205" name="Shape 203"/>
          <p:cNvSpPr/>
          <p:nvPr/>
        </p:nvSpPr>
        <p:spPr>
          <a:xfrm>
            <a:off x="5552394" y="3022454"/>
            <a:ext cx="131040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06" name="Text 204"/>
          <p:cNvSpPr txBox="1"/>
          <p:nvPr/>
        </p:nvSpPr>
        <p:spPr>
          <a:xfrm>
            <a:off x="5552394" y="2866687"/>
            <a:ext cx="1292664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1.29</a:t>
            </a:r>
            <a:endParaRPr lang="en-US" sz="860" dirty="0"/>
          </a:p>
        </p:txBody>
      </p:sp>
      <p:sp>
        <p:nvSpPr>
          <p:cNvPr id="207" name="Shape 205"/>
          <p:cNvSpPr/>
          <p:nvPr/>
        </p:nvSpPr>
        <p:spPr>
          <a:xfrm>
            <a:off x="6862802" y="3022454"/>
            <a:ext cx="89807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08" name="Text 206"/>
          <p:cNvSpPr txBox="1"/>
          <p:nvPr/>
        </p:nvSpPr>
        <p:spPr>
          <a:xfrm>
            <a:off x="6862802" y="2866687"/>
            <a:ext cx="867956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39 %</a:t>
            </a:r>
            <a:endParaRPr lang="en-US" sz="860" dirty="0"/>
          </a:p>
        </p:txBody>
      </p:sp>
      <p:sp>
        <p:nvSpPr>
          <p:cNvPr id="209" name="Shape 207"/>
          <p:cNvSpPr/>
          <p:nvPr/>
        </p:nvSpPr>
        <p:spPr>
          <a:xfrm>
            <a:off x="7760872" y="3022454"/>
            <a:ext cx="67487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10" name="Text 208"/>
          <p:cNvSpPr txBox="1"/>
          <p:nvPr/>
        </p:nvSpPr>
        <p:spPr>
          <a:xfrm>
            <a:off x="7760872" y="2866687"/>
            <a:ext cx="63806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</a:t>
            </a:r>
            <a:endParaRPr lang="en-US" sz="860" dirty="0"/>
          </a:p>
        </p:txBody>
      </p:sp>
      <p:sp>
        <p:nvSpPr>
          <p:cNvPr id="211" name="Shape 209"/>
          <p:cNvSpPr/>
          <p:nvPr/>
        </p:nvSpPr>
        <p:spPr>
          <a:xfrm>
            <a:off x="8435744" y="3022454"/>
            <a:ext cx="92263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12" name="Text 210"/>
          <p:cNvSpPr txBox="1"/>
          <p:nvPr/>
        </p:nvSpPr>
        <p:spPr>
          <a:xfrm>
            <a:off x="8435744" y="2866687"/>
            <a:ext cx="893258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3,898</a:t>
            </a:r>
            <a:endParaRPr lang="en-US" sz="860" dirty="0"/>
          </a:p>
        </p:txBody>
      </p:sp>
      <p:sp>
        <p:nvSpPr>
          <p:cNvPr id="213" name="Shape 211"/>
          <p:cNvSpPr/>
          <p:nvPr/>
        </p:nvSpPr>
        <p:spPr>
          <a:xfrm>
            <a:off x="9358380" y="3022454"/>
            <a:ext cx="70245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14" name="Text 212"/>
          <p:cNvSpPr txBox="1"/>
          <p:nvPr/>
        </p:nvSpPr>
        <p:spPr>
          <a:xfrm>
            <a:off x="9358380" y="2866687"/>
            <a:ext cx="666468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331</a:t>
            </a:r>
            <a:endParaRPr lang="en-US" sz="860" dirty="0"/>
          </a:p>
        </p:txBody>
      </p:sp>
      <p:sp>
        <p:nvSpPr>
          <p:cNvPr id="215" name="Shape 213"/>
          <p:cNvSpPr/>
          <p:nvPr/>
        </p:nvSpPr>
        <p:spPr>
          <a:xfrm>
            <a:off x="10060831" y="3022454"/>
            <a:ext cx="80357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16" name="Text 214"/>
          <p:cNvSpPr txBox="1"/>
          <p:nvPr/>
        </p:nvSpPr>
        <p:spPr>
          <a:xfrm>
            <a:off x="10060831" y="2866687"/>
            <a:ext cx="770627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63,469</a:t>
            </a:r>
            <a:endParaRPr lang="en-US" sz="860" dirty="0"/>
          </a:p>
        </p:txBody>
      </p:sp>
      <p:sp>
        <p:nvSpPr>
          <p:cNvPr id="217" name="Shape 215"/>
          <p:cNvSpPr/>
          <p:nvPr/>
        </p:nvSpPr>
        <p:spPr>
          <a:xfrm>
            <a:off x="10864408" y="3022454"/>
            <a:ext cx="81503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18" name="Text 216"/>
          <p:cNvSpPr txBox="1"/>
          <p:nvPr/>
        </p:nvSpPr>
        <p:spPr>
          <a:xfrm>
            <a:off x="10864408" y="2866687"/>
            <a:ext cx="782424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860" dirty="0"/>
          </a:p>
        </p:txBody>
      </p:sp>
      <p:sp>
        <p:nvSpPr>
          <p:cNvPr id="219" name="Shape 217"/>
          <p:cNvSpPr/>
          <p:nvPr/>
        </p:nvSpPr>
        <p:spPr>
          <a:xfrm>
            <a:off x="511956" y="3202550"/>
            <a:ext cx="21521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20" name="Text 218"/>
          <p:cNvSpPr txBox="1"/>
          <p:nvPr/>
        </p:nvSpPr>
        <p:spPr>
          <a:xfrm>
            <a:off x="511956" y="3046783"/>
            <a:ext cx="16461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860" dirty="0"/>
          </a:p>
        </p:txBody>
      </p:sp>
      <p:sp>
        <p:nvSpPr>
          <p:cNvPr id="221" name="Shape 219"/>
          <p:cNvSpPr/>
          <p:nvPr/>
        </p:nvSpPr>
        <p:spPr>
          <a:xfrm>
            <a:off x="727167" y="3202550"/>
            <a:ext cx="257605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22" name="Text 220"/>
          <p:cNvSpPr txBox="1"/>
          <p:nvPr/>
        </p:nvSpPr>
        <p:spPr>
          <a:xfrm>
            <a:off x="727167" y="3046783"/>
            <a:ext cx="259628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Referidos a clientes KPay</a:t>
            </a:r>
            <a:endParaRPr lang="en-US" sz="860" dirty="0"/>
          </a:p>
        </p:txBody>
      </p:sp>
      <p:sp>
        <p:nvSpPr>
          <p:cNvPr id="223" name="Shape 221"/>
          <p:cNvSpPr/>
          <p:nvPr/>
        </p:nvSpPr>
        <p:spPr>
          <a:xfrm>
            <a:off x="3303224" y="3202550"/>
            <a:ext cx="473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24" name="Text 222"/>
          <p:cNvSpPr txBox="1"/>
          <p:nvPr/>
        </p:nvSpPr>
        <p:spPr>
          <a:xfrm>
            <a:off x="3303224" y="3046783"/>
            <a:ext cx="430209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B0326</a:t>
            </a:r>
            <a:endParaRPr lang="en-US" sz="860" dirty="0"/>
          </a:p>
        </p:txBody>
      </p:sp>
      <p:sp>
        <p:nvSpPr>
          <p:cNvPr id="225" name="Shape 223"/>
          <p:cNvSpPr/>
          <p:nvPr/>
        </p:nvSpPr>
        <p:spPr>
          <a:xfrm>
            <a:off x="3776297" y="3202550"/>
            <a:ext cx="88450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26" name="Text 224"/>
          <p:cNvSpPr txBox="1"/>
          <p:nvPr/>
        </p:nvSpPr>
        <p:spPr>
          <a:xfrm>
            <a:off x="3776297" y="3046783"/>
            <a:ext cx="853985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</a:t>
            </a:r>
            <a:endParaRPr lang="en-US" sz="860" dirty="0"/>
          </a:p>
        </p:txBody>
      </p:sp>
      <p:sp>
        <p:nvSpPr>
          <p:cNvPr id="227" name="Shape 225"/>
          <p:cNvSpPr/>
          <p:nvPr/>
        </p:nvSpPr>
        <p:spPr>
          <a:xfrm>
            <a:off x="4660804" y="3202550"/>
            <a:ext cx="89159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28" name="Text 226"/>
          <p:cNvSpPr txBox="1"/>
          <p:nvPr/>
        </p:nvSpPr>
        <p:spPr>
          <a:xfrm>
            <a:off x="4660804" y="3046783"/>
            <a:ext cx="86128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Clientes activos</a:t>
            </a:r>
            <a:endParaRPr lang="en-US" sz="860" dirty="0"/>
          </a:p>
        </p:txBody>
      </p:sp>
      <p:sp>
        <p:nvSpPr>
          <p:cNvPr id="229" name="Shape 227"/>
          <p:cNvSpPr/>
          <p:nvPr/>
        </p:nvSpPr>
        <p:spPr>
          <a:xfrm>
            <a:off x="5552394" y="3202550"/>
            <a:ext cx="131040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30" name="Text 228"/>
          <p:cNvSpPr txBox="1"/>
          <p:nvPr/>
        </p:nvSpPr>
        <p:spPr>
          <a:xfrm>
            <a:off x="5552394" y="3046783"/>
            <a:ext cx="1292664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0.99</a:t>
            </a:r>
            <a:endParaRPr lang="en-US" sz="860" dirty="0"/>
          </a:p>
        </p:txBody>
      </p:sp>
      <p:sp>
        <p:nvSpPr>
          <p:cNvPr id="231" name="Shape 229"/>
          <p:cNvSpPr/>
          <p:nvPr/>
        </p:nvSpPr>
        <p:spPr>
          <a:xfrm>
            <a:off x="6862802" y="3202550"/>
            <a:ext cx="89807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32" name="Text 230"/>
          <p:cNvSpPr txBox="1"/>
          <p:nvPr/>
        </p:nvSpPr>
        <p:spPr>
          <a:xfrm>
            <a:off x="6862802" y="3046783"/>
            <a:ext cx="867956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41 %</a:t>
            </a:r>
            <a:endParaRPr lang="en-US" sz="860" dirty="0"/>
          </a:p>
        </p:txBody>
      </p:sp>
      <p:sp>
        <p:nvSpPr>
          <p:cNvPr id="233" name="Shape 231"/>
          <p:cNvSpPr/>
          <p:nvPr/>
        </p:nvSpPr>
        <p:spPr>
          <a:xfrm>
            <a:off x="7760872" y="3202550"/>
            <a:ext cx="67487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34" name="Text 232"/>
          <p:cNvSpPr txBox="1"/>
          <p:nvPr/>
        </p:nvSpPr>
        <p:spPr>
          <a:xfrm>
            <a:off x="7760872" y="3046783"/>
            <a:ext cx="63806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</a:t>
            </a:r>
            <a:endParaRPr lang="en-US" sz="860" dirty="0"/>
          </a:p>
        </p:txBody>
      </p:sp>
      <p:sp>
        <p:nvSpPr>
          <p:cNvPr id="235" name="Shape 233"/>
          <p:cNvSpPr/>
          <p:nvPr/>
        </p:nvSpPr>
        <p:spPr>
          <a:xfrm>
            <a:off x="8435744" y="3202550"/>
            <a:ext cx="92263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36" name="Text 234"/>
          <p:cNvSpPr txBox="1"/>
          <p:nvPr/>
        </p:nvSpPr>
        <p:spPr>
          <a:xfrm>
            <a:off x="8435744" y="3046783"/>
            <a:ext cx="893258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36,409</a:t>
            </a:r>
            <a:endParaRPr lang="en-US" sz="860" dirty="0"/>
          </a:p>
        </p:txBody>
      </p:sp>
      <p:sp>
        <p:nvSpPr>
          <p:cNvPr id="237" name="Shape 235"/>
          <p:cNvSpPr/>
          <p:nvPr/>
        </p:nvSpPr>
        <p:spPr>
          <a:xfrm>
            <a:off x="9358380" y="3202550"/>
            <a:ext cx="70245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38" name="Text 236"/>
          <p:cNvSpPr txBox="1"/>
          <p:nvPr/>
        </p:nvSpPr>
        <p:spPr>
          <a:xfrm>
            <a:off x="9358380" y="3046783"/>
            <a:ext cx="666468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860" dirty="0"/>
          </a:p>
        </p:txBody>
      </p:sp>
      <p:sp>
        <p:nvSpPr>
          <p:cNvPr id="239" name="Shape 237"/>
          <p:cNvSpPr/>
          <p:nvPr/>
        </p:nvSpPr>
        <p:spPr>
          <a:xfrm>
            <a:off x="10060831" y="3202550"/>
            <a:ext cx="80357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40" name="Text 238"/>
          <p:cNvSpPr txBox="1"/>
          <p:nvPr/>
        </p:nvSpPr>
        <p:spPr>
          <a:xfrm>
            <a:off x="10060831" y="3046783"/>
            <a:ext cx="770627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128,659</a:t>
            </a:r>
            <a:endParaRPr lang="en-US" sz="860" dirty="0"/>
          </a:p>
        </p:txBody>
      </p:sp>
      <p:sp>
        <p:nvSpPr>
          <p:cNvPr id="241" name="Shape 239"/>
          <p:cNvSpPr/>
          <p:nvPr/>
        </p:nvSpPr>
        <p:spPr>
          <a:xfrm>
            <a:off x="10864408" y="3202550"/>
            <a:ext cx="81503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42" name="Text 240"/>
          <p:cNvSpPr txBox="1"/>
          <p:nvPr/>
        </p:nvSpPr>
        <p:spPr>
          <a:xfrm>
            <a:off x="10864408" y="3046783"/>
            <a:ext cx="782424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860" dirty="0"/>
          </a:p>
        </p:txBody>
      </p:sp>
      <p:sp>
        <p:nvSpPr>
          <p:cNvPr id="243" name="Shape 241"/>
          <p:cNvSpPr/>
          <p:nvPr/>
        </p:nvSpPr>
        <p:spPr>
          <a:xfrm>
            <a:off x="511956" y="3382647"/>
            <a:ext cx="21521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44" name="Text 242"/>
          <p:cNvSpPr txBox="1"/>
          <p:nvPr/>
        </p:nvSpPr>
        <p:spPr>
          <a:xfrm>
            <a:off x="511956" y="3226880"/>
            <a:ext cx="16461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860" dirty="0"/>
          </a:p>
        </p:txBody>
      </p:sp>
      <p:sp>
        <p:nvSpPr>
          <p:cNvPr id="245" name="Shape 243"/>
          <p:cNvSpPr/>
          <p:nvPr/>
        </p:nvSpPr>
        <p:spPr>
          <a:xfrm>
            <a:off x="727167" y="3382647"/>
            <a:ext cx="257605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46" name="Text 244"/>
          <p:cNvSpPr txBox="1"/>
          <p:nvPr/>
        </p:nvSpPr>
        <p:spPr>
          <a:xfrm>
            <a:off x="727167" y="3226880"/>
            <a:ext cx="259628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Installments a quien nunca activó</a:t>
            </a:r>
            <a:endParaRPr lang="en-US" sz="860" dirty="0"/>
          </a:p>
        </p:txBody>
      </p:sp>
      <p:sp>
        <p:nvSpPr>
          <p:cNvPr id="247" name="Shape 245"/>
          <p:cNvSpPr/>
          <p:nvPr/>
        </p:nvSpPr>
        <p:spPr>
          <a:xfrm>
            <a:off x="3303224" y="3382647"/>
            <a:ext cx="473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48" name="Text 246"/>
          <p:cNvSpPr txBox="1"/>
          <p:nvPr/>
        </p:nvSpPr>
        <p:spPr>
          <a:xfrm>
            <a:off x="3303224" y="3226880"/>
            <a:ext cx="430209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B0223</a:t>
            </a:r>
            <a:endParaRPr lang="en-US" sz="860" dirty="0"/>
          </a:p>
        </p:txBody>
      </p:sp>
      <p:sp>
        <p:nvSpPr>
          <p:cNvPr id="249" name="Shape 247"/>
          <p:cNvSpPr/>
          <p:nvPr/>
        </p:nvSpPr>
        <p:spPr>
          <a:xfrm>
            <a:off x="3776297" y="3382647"/>
            <a:ext cx="88450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50" name="Text 248"/>
          <p:cNvSpPr txBox="1"/>
          <p:nvPr/>
        </p:nvSpPr>
        <p:spPr>
          <a:xfrm>
            <a:off x="3776297" y="3226880"/>
            <a:ext cx="853985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</a:t>
            </a:r>
            <a:endParaRPr lang="en-US" sz="860" dirty="0"/>
          </a:p>
        </p:txBody>
      </p:sp>
      <p:sp>
        <p:nvSpPr>
          <p:cNvPr id="251" name="Shape 249"/>
          <p:cNvSpPr/>
          <p:nvPr/>
        </p:nvSpPr>
        <p:spPr>
          <a:xfrm>
            <a:off x="4660804" y="3382647"/>
            <a:ext cx="89159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52" name="Text 250"/>
          <p:cNvSpPr txBox="1"/>
          <p:nvPr/>
        </p:nvSpPr>
        <p:spPr>
          <a:xfrm>
            <a:off x="4660804" y="3226880"/>
            <a:ext cx="86128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fría</a:t>
            </a:r>
            <a:endParaRPr lang="en-US" sz="860" dirty="0"/>
          </a:p>
        </p:txBody>
      </p:sp>
      <p:sp>
        <p:nvSpPr>
          <p:cNvPr id="253" name="Shape 251"/>
          <p:cNvSpPr/>
          <p:nvPr/>
        </p:nvSpPr>
        <p:spPr>
          <a:xfrm>
            <a:off x="5552394" y="3382647"/>
            <a:ext cx="131040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54" name="Text 252"/>
          <p:cNvSpPr txBox="1"/>
          <p:nvPr/>
        </p:nvSpPr>
        <p:spPr>
          <a:xfrm>
            <a:off x="5552394" y="3226880"/>
            <a:ext cx="1292664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0.97</a:t>
            </a:r>
            <a:endParaRPr lang="en-US" sz="860" dirty="0"/>
          </a:p>
        </p:txBody>
      </p:sp>
      <p:sp>
        <p:nvSpPr>
          <p:cNvPr id="255" name="Shape 253"/>
          <p:cNvSpPr/>
          <p:nvPr/>
        </p:nvSpPr>
        <p:spPr>
          <a:xfrm>
            <a:off x="6862802" y="3382647"/>
            <a:ext cx="89807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56" name="Text 254"/>
          <p:cNvSpPr txBox="1"/>
          <p:nvPr/>
        </p:nvSpPr>
        <p:spPr>
          <a:xfrm>
            <a:off x="6862802" y="3226880"/>
            <a:ext cx="867956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44 %</a:t>
            </a:r>
            <a:endParaRPr lang="en-US" sz="860" dirty="0"/>
          </a:p>
        </p:txBody>
      </p:sp>
      <p:sp>
        <p:nvSpPr>
          <p:cNvPr id="257" name="Shape 255"/>
          <p:cNvSpPr/>
          <p:nvPr/>
        </p:nvSpPr>
        <p:spPr>
          <a:xfrm>
            <a:off x="7760872" y="3382647"/>
            <a:ext cx="67487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58" name="Text 256"/>
          <p:cNvSpPr txBox="1"/>
          <p:nvPr/>
        </p:nvSpPr>
        <p:spPr>
          <a:xfrm>
            <a:off x="7760872" y="3226880"/>
            <a:ext cx="63806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</a:t>
            </a:r>
            <a:endParaRPr lang="en-US" sz="860" dirty="0"/>
          </a:p>
        </p:txBody>
      </p:sp>
      <p:sp>
        <p:nvSpPr>
          <p:cNvPr id="259" name="Shape 257"/>
          <p:cNvSpPr/>
          <p:nvPr/>
        </p:nvSpPr>
        <p:spPr>
          <a:xfrm>
            <a:off x="8435744" y="3382647"/>
            <a:ext cx="92263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60" name="Text 258"/>
          <p:cNvSpPr txBox="1"/>
          <p:nvPr/>
        </p:nvSpPr>
        <p:spPr>
          <a:xfrm>
            <a:off x="8435744" y="3226880"/>
            <a:ext cx="893258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140</a:t>
            </a:r>
            <a:endParaRPr lang="en-US" sz="860" dirty="0"/>
          </a:p>
        </p:txBody>
      </p:sp>
      <p:sp>
        <p:nvSpPr>
          <p:cNvPr id="261" name="Shape 259"/>
          <p:cNvSpPr/>
          <p:nvPr/>
        </p:nvSpPr>
        <p:spPr>
          <a:xfrm>
            <a:off x="9358380" y="3382647"/>
            <a:ext cx="70245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62" name="Text 260"/>
          <p:cNvSpPr txBox="1"/>
          <p:nvPr/>
        </p:nvSpPr>
        <p:spPr>
          <a:xfrm>
            <a:off x="9358380" y="3226880"/>
            <a:ext cx="666468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6,920</a:t>
            </a:r>
            <a:endParaRPr lang="en-US" sz="860" dirty="0"/>
          </a:p>
        </p:txBody>
      </p:sp>
      <p:sp>
        <p:nvSpPr>
          <p:cNvPr id="263" name="Shape 261"/>
          <p:cNvSpPr/>
          <p:nvPr/>
        </p:nvSpPr>
        <p:spPr>
          <a:xfrm>
            <a:off x="10060831" y="3382647"/>
            <a:ext cx="80357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64" name="Text 262"/>
          <p:cNvSpPr txBox="1"/>
          <p:nvPr/>
        </p:nvSpPr>
        <p:spPr>
          <a:xfrm>
            <a:off x="10060831" y="3226880"/>
            <a:ext cx="770627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1,193</a:t>
            </a:r>
            <a:endParaRPr lang="en-US" sz="860" dirty="0"/>
          </a:p>
        </p:txBody>
      </p:sp>
      <p:sp>
        <p:nvSpPr>
          <p:cNvPr id="265" name="Shape 263"/>
          <p:cNvSpPr/>
          <p:nvPr/>
        </p:nvSpPr>
        <p:spPr>
          <a:xfrm>
            <a:off x="10864408" y="3382647"/>
            <a:ext cx="81503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66" name="Text 264"/>
          <p:cNvSpPr txBox="1"/>
          <p:nvPr/>
        </p:nvSpPr>
        <p:spPr>
          <a:xfrm>
            <a:off x="10864408" y="3226880"/>
            <a:ext cx="782424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813</a:t>
            </a:r>
            <a:endParaRPr lang="en-US" sz="860" dirty="0"/>
          </a:p>
        </p:txBody>
      </p:sp>
      <p:sp>
        <p:nvSpPr>
          <p:cNvPr id="267" name="Shape 265"/>
          <p:cNvSpPr/>
          <p:nvPr/>
        </p:nvSpPr>
        <p:spPr>
          <a:xfrm>
            <a:off x="511956" y="3562743"/>
            <a:ext cx="21521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68" name="Text 266"/>
          <p:cNvSpPr txBox="1"/>
          <p:nvPr/>
        </p:nvSpPr>
        <p:spPr>
          <a:xfrm>
            <a:off x="511956" y="3406976"/>
            <a:ext cx="16461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860" dirty="0"/>
          </a:p>
        </p:txBody>
      </p:sp>
      <p:sp>
        <p:nvSpPr>
          <p:cNvPr id="269" name="Shape 267"/>
          <p:cNvSpPr/>
          <p:nvPr/>
        </p:nvSpPr>
        <p:spPr>
          <a:xfrm>
            <a:off x="727167" y="3562743"/>
            <a:ext cx="257605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70" name="Text 268"/>
          <p:cNvSpPr txBox="1"/>
          <p:nvPr/>
        </p:nvSpPr>
        <p:spPr>
          <a:xfrm>
            <a:off x="727167" y="3406976"/>
            <a:ext cx="259628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Installments a clientes activos</a:t>
            </a:r>
            <a:endParaRPr lang="en-US" sz="860" dirty="0"/>
          </a:p>
        </p:txBody>
      </p:sp>
      <p:sp>
        <p:nvSpPr>
          <p:cNvPr id="271" name="Shape 269"/>
          <p:cNvSpPr/>
          <p:nvPr/>
        </p:nvSpPr>
        <p:spPr>
          <a:xfrm>
            <a:off x="3303224" y="3562743"/>
            <a:ext cx="473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72" name="Text 270"/>
          <p:cNvSpPr txBox="1"/>
          <p:nvPr/>
        </p:nvSpPr>
        <p:spPr>
          <a:xfrm>
            <a:off x="3303224" y="3406976"/>
            <a:ext cx="430209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B0301</a:t>
            </a:r>
            <a:endParaRPr lang="en-US" sz="860" dirty="0"/>
          </a:p>
        </p:txBody>
      </p:sp>
      <p:sp>
        <p:nvSpPr>
          <p:cNvPr id="273" name="Shape 271"/>
          <p:cNvSpPr/>
          <p:nvPr/>
        </p:nvSpPr>
        <p:spPr>
          <a:xfrm>
            <a:off x="3776297" y="3562743"/>
            <a:ext cx="88450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74" name="Text 272"/>
          <p:cNvSpPr txBox="1"/>
          <p:nvPr/>
        </p:nvSpPr>
        <p:spPr>
          <a:xfrm>
            <a:off x="3776297" y="3406976"/>
            <a:ext cx="853985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</a:t>
            </a:r>
            <a:endParaRPr lang="en-US" sz="860" dirty="0"/>
          </a:p>
        </p:txBody>
      </p:sp>
      <p:sp>
        <p:nvSpPr>
          <p:cNvPr id="275" name="Shape 273"/>
          <p:cNvSpPr/>
          <p:nvPr/>
        </p:nvSpPr>
        <p:spPr>
          <a:xfrm>
            <a:off x="4660804" y="3562743"/>
            <a:ext cx="89159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76" name="Text 274"/>
          <p:cNvSpPr txBox="1"/>
          <p:nvPr/>
        </p:nvSpPr>
        <p:spPr>
          <a:xfrm>
            <a:off x="4660804" y="3406976"/>
            <a:ext cx="86128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Clientes activos</a:t>
            </a:r>
            <a:endParaRPr lang="en-US" sz="860" dirty="0"/>
          </a:p>
        </p:txBody>
      </p:sp>
      <p:sp>
        <p:nvSpPr>
          <p:cNvPr id="277" name="Shape 275"/>
          <p:cNvSpPr/>
          <p:nvPr/>
        </p:nvSpPr>
        <p:spPr>
          <a:xfrm>
            <a:off x="5552394" y="3562743"/>
            <a:ext cx="131040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78" name="Text 276"/>
          <p:cNvSpPr txBox="1"/>
          <p:nvPr/>
        </p:nvSpPr>
        <p:spPr>
          <a:xfrm>
            <a:off x="5552394" y="3406976"/>
            <a:ext cx="1292664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0.76</a:t>
            </a:r>
            <a:endParaRPr lang="en-US" sz="860" dirty="0"/>
          </a:p>
        </p:txBody>
      </p:sp>
      <p:sp>
        <p:nvSpPr>
          <p:cNvPr id="279" name="Shape 277"/>
          <p:cNvSpPr/>
          <p:nvPr/>
        </p:nvSpPr>
        <p:spPr>
          <a:xfrm>
            <a:off x="6862802" y="3562743"/>
            <a:ext cx="89807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80" name="Text 278"/>
          <p:cNvSpPr txBox="1"/>
          <p:nvPr/>
        </p:nvSpPr>
        <p:spPr>
          <a:xfrm>
            <a:off x="6862802" y="3406976"/>
            <a:ext cx="867956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45 %</a:t>
            </a:r>
            <a:endParaRPr lang="en-US" sz="860" dirty="0"/>
          </a:p>
        </p:txBody>
      </p:sp>
      <p:sp>
        <p:nvSpPr>
          <p:cNvPr id="281" name="Shape 279"/>
          <p:cNvSpPr/>
          <p:nvPr/>
        </p:nvSpPr>
        <p:spPr>
          <a:xfrm>
            <a:off x="7760872" y="3562743"/>
            <a:ext cx="67487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82" name="Text 280"/>
          <p:cNvSpPr txBox="1"/>
          <p:nvPr/>
        </p:nvSpPr>
        <p:spPr>
          <a:xfrm>
            <a:off x="7760872" y="3406976"/>
            <a:ext cx="63806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</a:t>
            </a:r>
            <a:endParaRPr lang="en-US" sz="860" dirty="0"/>
          </a:p>
        </p:txBody>
      </p:sp>
      <p:sp>
        <p:nvSpPr>
          <p:cNvPr id="283" name="Shape 281"/>
          <p:cNvSpPr/>
          <p:nvPr/>
        </p:nvSpPr>
        <p:spPr>
          <a:xfrm>
            <a:off x="8435744" y="3562743"/>
            <a:ext cx="92263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84" name="Text 282"/>
          <p:cNvSpPr txBox="1"/>
          <p:nvPr/>
        </p:nvSpPr>
        <p:spPr>
          <a:xfrm>
            <a:off x="8435744" y="3406976"/>
            <a:ext cx="893258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4,993</a:t>
            </a:r>
            <a:endParaRPr lang="en-US" sz="860" dirty="0"/>
          </a:p>
        </p:txBody>
      </p:sp>
      <p:sp>
        <p:nvSpPr>
          <p:cNvPr id="285" name="Shape 283"/>
          <p:cNvSpPr/>
          <p:nvPr/>
        </p:nvSpPr>
        <p:spPr>
          <a:xfrm>
            <a:off x="9358380" y="3562743"/>
            <a:ext cx="70245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86" name="Text 284"/>
          <p:cNvSpPr txBox="1"/>
          <p:nvPr/>
        </p:nvSpPr>
        <p:spPr>
          <a:xfrm>
            <a:off x="9358380" y="3406976"/>
            <a:ext cx="666468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152</a:t>
            </a:r>
            <a:endParaRPr lang="en-US" sz="860" dirty="0"/>
          </a:p>
        </p:txBody>
      </p:sp>
      <p:sp>
        <p:nvSpPr>
          <p:cNvPr id="287" name="Shape 285"/>
          <p:cNvSpPr/>
          <p:nvPr/>
        </p:nvSpPr>
        <p:spPr>
          <a:xfrm>
            <a:off x="10060831" y="3562743"/>
            <a:ext cx="80357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88" name="Text 286"/>
          <p:cNvSpPr txBox="1"/>
          <p:nvPr/>
        </p:nvSpPr>
        <p:spPr>
          <a:xfrm>
            <a:off x="10060831" y="3406976"/>
            <a:ext cx="770627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26,913</a:t>
            </a:r>
            <a:endParaRPr lang="en-US" sz="860" dirty="0"/>
          </a:p>
        </p:txBody>
      </p:sp>
      <p:sp>
        <p:nvSpPr>
          <p:cNvPr id="289" name="Shape 287"/>
          <p:cNvSpPr/>
          <p:nvPr/>
        </p:nvSpPr>
        <p:spPr>
          <a:xfrm>
            <a:off x="10864408" y="3562743"/>
            <a:ext cx="81503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90" name="Text 288"/>
          <p:cNvSpPr txBox="1"/>
          <p:nvPr/>
        </p:nvSpPr>
        <p:spPr>
          <a:xfrm>
            <a:off x="10864408" y="3406976"/>
            <a:ext cx="782424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860" dirty="0"/>
          </a:p>
        </p:txBody>
      </p:sp>
      <p:sp>
        <p:nvSpPr>
          <p:cNvPr id="291" name="Shape 289"/>
          <p:cNvSpPr/>
          <p:nvPr/>
        </p:nvSpPr>
        <p:spPr>
          <a:xfrm>
            <a:off x="511956" y="3742840"/>
            <a:ext cx="21521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92" name="Text 290"/>
          <p:cNvSpPr txBox="1"/>
          <p:nvPr/>
        </p:nvSpPr>
        <p:spPr>
          <a:xfrm>
            <a:off x="511956" y="3587073"/>
            <a:ext cx="16461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860" dirty="0"/>
          </a:p>
        </p:txBody>
      </p:sp>
      <p:sp>
        <p:nvSpPr>
          <p:cNvPr id="293" name="Shape 291"/>
          <p:cNvSpPr/>
          <p:nvPr/>
        </p:nvSpPr>
        <p:spPr>
          <a:xfrm>
            <a:off x="727167" y="3742840"/>
            <a:ext cx="257605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94" name="Text 292"/>
          <p:cNvSpPr txBox="1"/>
          <p:nvPr/>
        </p:nvSpPr>
        <p:spPr>
          <a:xfrm>
            <a:off x="727167" y="3587073"/>
            <a:ext cx="259628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Temu en febrero a clientes KPay</a:t>
            </a:r>
            <a:endParaRPr lang="en-US" sz="860" dirty="0"/>
          </a:p>
        </p:txBody>
      </p:sp>
      <p:sp>
        <p:nvSpPr>
          <p:cNvPr id="295" name="Shape 293"/>
          <p:cNvSpPr/>
          <p:nvPr/>
        </p:nvSpPr>
        <p:spPr>
          <a:xfrm>
            <a:off x="3303224" y="3742840"/>
            <a:ext cx="473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96" name="Text 294"/>
          <p:cNvSpPr txBox="1"/>
          <p:nvPr/>
        </p:nvSpPr>
        <p:spPr>
          <a:xfrm>
            <a:off x="3303224" y="3587073"/>
            <a:ext cx="430209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B0368</a:t>
            </a:r>
            <a:endParaRPr lang="en-US" sz="860" dirty="0"/>
          </a:p>
        </p:txBody>
      </p:sp>
      <p:sp>
        <p:nvSpPr>
          <p:cNvPr id="297" name="Shape 295"/>
          <p:cNvSpPr/>
          <p:nvPr/>
        </p:nvSpPr>
        <p:spPr>
          <a:xfrm>
            <a:off x="3776297" y="3742840"/>
            <a:ext cx="88450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98" name="Text 296"/>
          <p:cNvSpPr txBox="1"/>
          <p:nvPr/>
        </p:nvSpPr>
        <p:spPr>
          <a:xfrm>
            <a:off x="3776297" y="3587073"/>
            <a:ext cx="853985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</a:t>
            </a:r>
            <a:endParaRPr lang="en-US" sz="860" dirty="0"/>
          </a:p>
        </p:txBody>
      </p:sp>
      <p:sp>
        <p:nvSpPr>
          <p:cNvPr id="299" name="Shape 297"/>
          <p:cNvSpPr/>
          <p:nvPr/>
        </p:nvSpPr>
        <p:spPr>
          <a:xfrm>
            <a:off x="4660804" y="3742840"/>
            <a:ext cx="89159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00" name="Text 298"/>
          <p:cNvSpPr txBox="1"/>
          <p:nvPr/>
        </p:nvSpPr>
        <p:spPr>
          <a:xfrm>
            <a:off x="4660804" y="3587073"/>
            <a:ext cx="86128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Clientes activos</a:t>
            </a:r>
            <a:endParaRPr lang="en-US" sz="860" dirty="0"/>
          </a:p>
        </p:txBody>
      </p:sp>
      <p:sp>
        <p:nvSpPr>
          <p:cNvPr id="301" name="Shape 299"/>
          <p:cNvSpPr/>
          <p:nvPr/>
        </p:nvSpPr>
        <p:spPr>
          <a:xfrm>
            <a:off x="5552394" y="3742840"/>
            <a:ext cx="131040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02" name="Text 300"/>
          <p:cNvSpPr txBox="1"/>
          <p:nvPr/>
        </p:nvSpPr>
        <p:spPr>
          <a:xfrm>
            <a:off x="5552394" y="3587073"/>
            <a:ext cx="1292664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0.62</a:t>
            </a:r>
            <a:endParaRPr lang="en-US" sz="860" dirty="0"/>
          </a:p>
        </p:txBody>
      </p:sp>
      <p:sp>
        <p:nvSpPr>
          <p:cNvPr id="303" name="Shape 301"/>
          <p:cNvSpPr/>
          <p:nvPr/>
        </p:nvSpPr>
        <p:spPr>
          <a:xfrm>
            <a:off x="6862802" y="3742840"/>
            <a:ext cx="89807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04" name="Text 302"/>
          <p:cNvSpPr txBox="1"/>
          <p:nvPr/>
        </p:nvSpPr>
        <p:spPr>
          <a:xfrm>
            <a:off x="6862802" y="3587073"/>
            <a:ext cx="867956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47 %</a:t>
            </a:r>
            <a:endParaRPr lang="en-US" sz="860" dirty="0"/>
          </a:p>
        </p:txBody>
      </p:sp>
      <p:sp>
        <p:nvSpPr>
          <p:cNvPr id="305" name="Shape 303"/>
          <p:cNvSpPr/>
          <p:nvPr/>
        </p:nvSpPr>
        <p:spPr>
          <a:xfrm>
            <a:off x="7760872" y="3742840"/>
            <a:ext cx="67487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06" name="Text 304"/>
          <p:cNvSpPr txBox="1"/>
          <p:nvPr/>
        </p:nvSpPr>
        <p:spPr>
          <a:xfrm>
            <a:off x="7760872" y="3587073"/>
            <a:ext cx="63806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</a:t>
            </a:r>
            <a:endParaRPr lang="en-US" sz="860" dirty="0"/>
          </a:p>
        </p:txBody>
      </p:sp>
      <p:sp>
        <p:nvSpPr>
          <p:cNvPr id="307" name="Shape 305"/>
          <p:cNvSpPr/>
          <p:nvPr/>
        </p:nvSpPr>
        <p:spPr>
          <a:xfrm>
            <a:off x="8435744" y="3742840"/>
            <a:ext cx="92263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08" name="Text 306"/>
          <p:cNvSpPr txBox="1"/>
          <p:nvPr/>
        </p:nvSpPr>
        <p:spPr>
          <a:xfrm>
            <a:off x="8435744" y="3587073"/>
            <a:ext cx="893258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6,709</a:t>
            </a:r>
            <a:endParaRPr lang="en-US" sz="860" dirty="0"/>
          </a:p>
        </p:txBody>
      </p:sp>
      <p:sp>
        <p:nvSpPr>
          <p:cNvPr id="309" name="Shape 307"/>
          <p:cNvSpPr/>
          <p:nvPr/>
        </p:nvSpPr>
        <p:spPr>
          <a:xfrm>
            <a:off x="9358380" y="3742840"/>
            <a:ext cx="70245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10" name="Text 308"/>
          <p:cNvSpPr txBox="1"/>
          <p:nvPr/>
        </p:nvSpPr>
        <p:spPr>
          <a:xfrm>
            <a:off x="9358380" y="3587073"/>
            <a:ext cx="666468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</a:t>
            </a:r>
            <a:endParaRPr lang="en-US" sz="860" dirty="0"/>
          </a:p>
        </p:txBody>
      </p:sp>
      <p:sp>
        <p:nvSpPr>
          <p:cNvPr id="311" name="Shape 309"/>
          <p:cNvSpPr/>
          <p:nvPr/>
        </p:nvSpPr>
        <p:spPr>
          <a:xfrm>
            <a:off x="10060831" y="3742840"/>
            <a:ext cx="80357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12" name="Text 310"/>
          <p:cNvSpPr txBox="1"/>
          <p:nvPr/>
        </p:nvSpPr>
        <p:spPr>
          <a:xfrm>
            <a:off x="10060831" y="3587073"/>
            <a:ext cx="770627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31,805</a:t>
            </a:r>
            <a:endParaRPr lang="en-US" sz="860" dirty="0"/>
          </a:p>
        </p:txBody>
      </p:sp>
      <p:sp>
        <p:nvSpPr>
          <p:cNvPr id="313" name="Shape 311"/>
          <p:cNvSpPr/>
          <p:nvPr/>
        </p:nvSpPr>
        <p:spPr>
          <a:xfrm>
            <a:off x="10864408" y="3742840"/>
            <a:ext cx="81503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14" name="Text 312"/>
          <p:cNvSpPr txBox="1"/>
          <p:nvPr/>
        </p:nvSpPr>
        <p:spPr>
          <a:xfrm>
            <a:off x="10864408" y="3587073"/>
            <a:ext cx="782424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860" dirty="0"/>
          </a:p>
        </p:txBody>
      </p:sp>
      <p:sp>
        <p:nvSpPr>
          <p:cNvPr id="315" name="Shape 313"/>
          <p:cNvSpPr/>
          <p:nvPr/>
        </p:nvSpPr>
        <p:spPr>
          <a:xfrm>
            <a:off x="511956" y="3922936"/>
            <a:ext cx="21521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16" name="Text 314"/>
          <p:cNvSpPr txBox="1"/>
          <p:nvPr/>
        </p:nvSpPr>
        <p:spPr>
          <a:xfrm>
            <a:off x="511956" y="3767169"/>
            <a:ext cx="16461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860" dirty="0"/>
          </a:p>
        </p:txBody>
      </p:sp>
      <p:sp>
        <p:nvSpPr>
          <p:cNvPr id="317" name="Shape 315"/>
          <p:cNvSpPr/>
          <p:nvPr/>
        </p:nvSpPr>
        <p:spPr>
          <a:xfrm>
            <a:off x="727167" y="3922936"/>
            <a:ext cx="257605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18" name="Text 316"/>
          <p:cNvSpPr txBox="1"/>
          <p:nvPr/>
        </p:nvSpPr>
        <p:spPr>
          <a:xfrm>
            <a:off x="727167" y="3767169"/>
            <a:ext cx="259628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Referidos a ex clientes KCash</a:t>
            </a:r>
            <a:endParaRPr lang="en-US" sz="860" dirty="0"/>
          </a:p>
        </p:txBody>
      </p:sp>
      <p:sp>
        <p:nvSpPr>
          <p:cNvPr id="319" name="Shape 317"/>
          <p:cNvSpPr/>
          <p:nvPr/>
        </p:nvSpPr>
        <p:spPr>
          <a:xfrm>
            <a:off x="3303224" y="3922936"/>
            <a:ext cx="473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20" name="Text 318"/>
          <p:cNvSpPr txBox="1"/>
          <p:nvPr/>
        </p:nvSpPr>
        <p:spPr>
          <a:xfrm>
            <a:off x="3303224" y="3767169"/>
            <a:ext cx="430209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B0326</a:t>
            </a:r>
            <a:endParaRPr lang="en-US" sz="860" dirty="0"/>
          </a:p>
        </p:txBody>
      </p:sp>
      <p:sp>
        <p:nvSpPr>
          <p:cNvPr id="321" name="Shape 319"/>
          <p:cNvSpPr/>
          <p:nvPr/>
        </p:nvSpPr>
        <p:spPr>
          <a:xfrm>
            <a:off x="3776297" y="3922936"/>
            <a:ext cx="88450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22" name="Text 320"/>
          <p:cNvSpPr txBox="1"/>
          <p:nvPr/>
        </p:nvSpPr>
        <p:spPr>
          <a:xfrm>
            <a:off x="3776297" y="3767169"/>
            <a:ext cx="853985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</a:t>
            </a:r>
            <a:endParaRPr lang="en-US" sz="860" dirty="0"/>
          </a:p>
        </p:txBody>
      </p:sp>
      <p:sp>
        <p:nvSpPr>
          <p:cNvPr id="323" name="Shape 321"/>
          <p:cNvSpPr/>
          <p:nvPr/>
        </p:nvSpPr>
        <p:spPr>
          <a:xfrm>
            <a:off x="4660804" y="3922936"/>
            <a:ext cx="89159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24" name="Text 322"/>
          <p:cNvSpPr txBox="1"/>
          <p:nvPr/>
        </p:nvSpPr>
        <p:spPr>
          <a:xfrm>
            <a:off x="4660804" y="3767169"/>
            <a:ext cx="86128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fría</a:t>
            </a:r>
            <a:endParaRPr lang="en-US" sz="860" dirty="0"/>
          </a:p>
        </p:txBody>
      </p:sp>
      <p:sp>
        <p:nvSpPr>
          <p:cNvPr id="325" name="Shape 323"/>
          <p:cNvSpPr/>
          <p:nvPr/>
        </p:nvSpPr>
        <p:spPr>
          <a:xfrm>
            <a:off x="5552394" y="3922936"/>
            <a:ext cx="131040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26" name="Text 324"/>
          <p:cNvSpPr txBox="1"/>
          <p:nvPr/>
        </p:nvSpPr>
        <p:spPr>
          <a:xfrm>
            <a:off x="5552394" y="3767169"/>
            <a:ext cx="1292664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0.55</a:t>
            </a:r>
            <a:endParaRPr lang="en-US" sz="860" dirty="0"/>
          </a:p>
        </p:txBody>
      </p:sp>
      <p:sp>
        <p:nvSpPr>
          <p:cNvPr id="327" name="Shape 325"/>
          <p:cNvSpPr/>
          <p:nvPr/>
        </p:nvSpPr>
        <p:spPr>
          <a:xfrm>
            <a:off x="6862802" y="3922936"/>
            <a:ext cx="89807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28" name="Text 326"/>
          <p:cNvSpPr txBox="1"/>
          <p:nvPr/>
        </p:nvSpPr>
        <p:spPr>
          <a:xfrm>
            <a:off x="6862802" y="3767169"/>
            <a:ext cx="867956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48 %</a:t>
            </a:r>
            <a:endParaRPr lang="en-US" sz="860" dirty="0"/>
          </a:p>
        </p:txBody>
      </p:sp>
      <p:sp>
        <p:nvSpPr>
          <p:cNvPr id="329" name="Shape 327"/>
          <p:cNvSpPr/>
          <p:nvPr/>
        </p:nvSpPr>
        <p:spPr>
          <a:xfrm>
            <a:off x="7760872" y="3922936"/>
            <a:ext cx="67487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30" name="Text 328"/>
          <p:cNvSpPr txBox="1"/>
          <p:nvPr/>
        </p:nvSpPr>
        <p:spPr>
          <a:xfrm>
            <a:off x="7760872" y="3767169"/>
            <a:ext cx="63806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</a:t>
            </a:r>
            <a:endParaRPr lang="en-US" sz="860" dirty="0"/>
          </a:p>
        </p:txBody>
      </p:sp>
      <p:sp>
        <p:nvSpPr>
          <p:cNvPr id="331" name="Shape 329"/>
          <p:cNvSpPr/>
          <p:nvPr/>
        </p:nvSpPr>
        <p:spPr>
          <a:xfrm>
            <a:off x="8435744" y="3922936"/>
            <a:ext cx="92263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32" name="Text 330"/>
          <p:cNvSpPr txBox="1"/>
          <p:nvPr/>
        </p:nvSpPr>
        <p:spPr>
          <a:xfrm>
            <a:off x="8435744" y="3767169"/>
            <a:ext cx="893258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2,460</a:t>
            </a:r>
            <a:endParaRPr lang="en-US" sz="860" dirty="0"/>
          </a:p>
        </p:txBody>
      </p:sp>
      <p:sp>
        <p:nvSpPr>
          <p:cNvPr id="333" name="Shape 331"/>
          <p:cNvSpPr/>
          <p:nvPr/>
        </p:nvSpPr>
        <p:spPr>
          <a:xfrm>
            <a:off x="9358380" y="3922936"/>
            <a:ext cx="70245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34" name="Text 332"/>
          <p:cNvSpPr txBox="1"/>
          <p:nvPr/>
        </p:nvSpPr>
        <p:spPr>
          <a:xfrm>
            <a:off x="9358380" y="3767169"/>
            <a:ext cx="666468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223</a:t>
            </a:r>
            <a:endParaRPr lang="en-US" sz="860" dirty="0"/>
          </a:p>
        </p:txBody>
      </p:sp>
      <p:sp>
        <p:nvSpPr>
          <p:cNvPr id="335" name="Shape 333"/>
          <p:cNvSpPr/>
          <p:nvPr/>
        </p:nvSpPr>
        <p:spPr>
          <a:xfrm>
            <a:off x="10060831" y="3922936"/>
            <a:ext cx="80357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36" name="Text 334"/>
          <p:cNvSpPr txBox="1"/>
          <p:nvPr/>
        </p:nvSpPr>
        <p:spPr>
          <a:xfrm>
            <a:off x="10060831" y="3767169"/>
            <a:ext cx="770627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12,228</a:t>
            </a:r>
            <a:endParaRPr lang="en-US" sz="860" dirty="0"/>
          </a:p>
        </p:txBody>
      </p:sp>
      <p:sp>
        <p:nvSpPr>
          <p:cNvPr id="337" name="Shape 335"/>
          <p:cNvSpPr/>
          <p:nvPr/>
        </p:nvSpPr>
        <p:spPr>
          <a:xfrm>
            <a:off x="10864408" y="3922936"/>
            <a:ext cx="81503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38" name="Text 336"/>
          <p:cNvSpPr txBox="1"/>
          <p:nvPr/>
        </p:nvSpPr>
        <p:spPr>
          <a:xfrm>
            <a:off x="10864408" y="3767169"/>
            <a:ext cx="782424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</a:t>
            </a:r>
            <a:endParaRPr lang="en-US" sz="860" dirty="0"/>
          </a:p>
        </p:txBody>
      </p:sp>
      <p:sp>
        <p:nvSpPr>
          <p:cNvPr id="339" name="Shape 337"/>
          <p:cNvSpPr/>
          <p:nvPr/>
        </p:nvSpPr>
        <p:spPr>
          <a:xfrm>
            <a:off x="511956" y="4103032"/>
            <a:ext cx="21521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40" name="Text 338"/>
          <p:cNvSpPr txBox="1"/>
          <p:nvPr/>
        </p:nvSpPr>
        <p:spPr>
          <a:xfrm>
            <a:off x="511956" y="3947265"/>
            <a:ext cx="16461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860" dirty="0"/>
          </a:p>
        </p:txBody>
      </p:sp>
      <p:sp>
        <p:nvSpPr>
          <p:cNvPr id="341" name="Shape 339"/>
          <p:cNvSpPr/>
          <p:nvPr/>
        </p:nvSpPr>
        <p:spPr>
          <a:xfrm>
            <a:off x="727167" y="4103032"/>
            <a:ext cx="257605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42" name="Text 340"/>
          <p:cNvSpPr txBox="1"/>
          <p:nvPr/>
        </p:nvSpPr>
        <p:spPr>
          <a:xfrm>
            <a:off x="727167" y="3947265"/>
            <a:ext cx="259628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 clientes KPay con 6 meses sin uso</a:t>
            </a:r>
            <a:endParaRPr lang="en-US" sz="860" dirty="0"/>
          </a:p>
        </p:txBody>
      </p:sp>
      <p:sp>
        <p:nvSpPr>
          <p:cNvPr id="343" name="Shape 341"/>
          <p:cNvSpPr/>
          <p:nvPr/>
        </p:nvSpPr>
        <p:spPr>
          <a:xfrm>
            <a:off x="3303224" y="4103032"/>
            <a:ext cx="473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44" name="Text 342"/>
          <p:cNvSpPr txBox="1"/>
          <p:nvPr/>
        </p:nvSpPr>
        <p:spPr>
          <a:xfrm>
            <a:off x="3303224" y="3947265"/>
            <a:ext cx="430209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B0332</a:t>
            </a:r>
            <a:endParaRPr lang="en-US" sz="860" dirty="0"/>
          </a:p>
        </p:txBody>
      </p:sp>
      <p:sp>
        <p:nvSpPr>
          <p:cNvPr id="345" name="Shape 343"/>
          <p:cNvSpPr/>
          <p:nvPr/>
        </p:nvSpPr>
        <p:spPr>
          <a:xfrm>
            <a:off x="3776297" y="4103032"/>
            <a:ext cx="88450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46" name="Text 344"/>
          <p:cNvSpPr txBox="1"/>
          <p:nvPr/>
        </p:nvSpPr>
        <p:spPr>
          <a:xfrm>
            <a:off x="3776297" y="3947265"/>
            <a:ext cx="853985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</a:t>
            </a:r>
            <a:endParaRPr lang="en-US" sz="860" dirty="0"/>
          </a:p>
        </p:txBody>
      </p:sp>
      <p:sp>
        <p:nvSpPr>
          <p:cNvPr id="347" name="Shape 345"/>
          <p:cNvSpPr/>
          <p:nvPr/>
        </p:nvSpPr>
        <p:spPr>
          <a:xfrm>
            <a:off x="4660804" y="4103032"/>
            <a:ext cx="89159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48" name="Text 346"/>
          <p:cNvSpPr txBox="1"/>
          <p:nvPr/>
        </p:nvSpPr>
        <p:spPr>
          <a:xfrm>
            <a:off x="4660804" y="3947265"/>
            <a:ext cx="86128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fría</a:t>
            </a:r>
            <a:endParaRPr lang="en-US" sz="860" dirty="0"/>
          </a:p>
        </p:txBody>
      </p:sp>
      <p:sp>
        <p:nvSpPr>
          <p:cNvPr id="349" name="Shape 347"/>
          <p:cNvSpPr/>
          <p:nvPr/>
        </p:nvSpPr>
        <p:spPr>
          <a:xfrm>
            <a:off x="5552394" y="4103032"/>
            <a:ext cx="131040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50" name="Text 348"/>
          <p:cNvSpPr txBox="1"/>
          <p:nvPr/>
        </p:nvSpPr>
        <p:spPr>
          <a:xfrm>
            <a:off x="5552394" y="3947265"/>
            <a:ext cx="1292664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0.52</a:t>
            </a:r>
            <a:endParaRPr lang="en-US" sz="860" dirty="0"/>
          </a:p>
        </p:txBody>
      </p:sp>
      <p:sp>
        <p:nvSpPr>
          <p:cNvPr id="351" name="Shape 349"/>
          <p:cNvSpPr/>
          <p:nvPr/>
        </p:nvSpPr>
        <p:spPr>
          <a:xfrm>
            <a:off x="6862802" y="4103032"/>
            <a:ext cx="89807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52" name="Text 350"/>
          <p:cNvSpPr txBox="1"/>
          <p:nvPr/>
        </p:nvSpPr>
        <p:spPr>
          <a:xfrm>
            <a:off x="6862802" y="3947265"/>
            <a:ext cx="867956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50 %</a:t>
            </a:r>
            <a:endParaRPr lang="en-US" sz="860" dirty="0"/>
          </a:p>
        </p:txBody>
      </p:sp>
      <p:sp>
        <p:nvSpPr>
          <p:cNvPr id="353" name="Shape 351"/>
          <p:cNvSpPr/>
          <p:nvPr/>
        </p:nvSpPr>
        <p:spPr>
          <a:xfrm>
            <a:off x="7760872" y="4103032"/>
            <a:ext cx="67487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54" name="Text 352"/>
          <p:cNvSpPr txBox="1"/>
          <p:nvPr/>
        </p:nvSpPr>
        <p:spPr>
          <a:xfrm>
            <a:off x="7760872" y="3947265"/>
            <a:ext cx="63806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</a:t>
            </a:r>
            <a:endParaRPr lang="en-US" sz="860" dirty="0"/>
          </a:p>
        </p:txBody>
      </p:sp>
      <p:sp>
        <p:nvSpPr>
          <p:cNvPr id="355" name="Shape 353"/>
          <p:cNvSpPr/>
          <p:nvPr/>
        </p:nvSpPr>
        <p:spPr>
          <a:xfrm>
            <a:off x="8435744" y="4103032"/>
            <a:ext cx="92263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56" name="Text 354"/>
          <p:cNvSpPr txBox="1"/>
          <p:nvPr/>
        </p:nvSpPr>
        <p:spPr>
          <a:xfrm>
            <a:off x="8435744" y="3947265"/>
            <a:ext cx="893258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1,322</a:t>
            </a:r>
            <a:endParaRPr lang="en-US" sz="860" dirty="0"/>
          </a:p>
        </p:txBody>
      </p:sp>
      <p:sp>
        <p:nvSpPr>
          <p:cNvPr id="357" name="Shape 355"/>
          <p:cNvSpPr/>
          <p:nvPr/>
        </p:nvSpPr>
        <p:spPr>
          <a:xfrm>
            <a:off x="9358380" y="4103032"/>
            <a:ext cx="70245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58" name="Text 356"/>
          <p:cNvSpPr txBox="1"/>
          <p:nvPr/>
        </p:nvSpPr>
        <p:spPr>
          <a:xfrm>
            <a:off x="9358380" y="3947265"/>
            <a:ext cx="666468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392</a:t>
            </a:r>
            <a:endParaRPr lang="en-US" sz="860" dirty="0"/>
          </a:p>
        </p:txBody>
      </p:sp>
      <p:sp>
        <p:nvSpPr>
          <p:cNvPr id="359" name="Shape 357"/>
          <p:cNvSpPr/>
          <p:nvPr/>
        </p:nvSpPr>
        <p:spPr>
          <a:xfrm>
            <a:off x="10060831" y="4103032"/>
            <a:ext cx="80357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60" name="Text 358"/>
          <p:cNvSpPr txBox="1"/>
          <p:nvPr/>
        </p:nvSpPr>
        <p:spPr>
          <a:xfrm>
            <a:off x="10060831" y="3947265"/>
            <a:ext cx="770627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7,348</a:t>
            </a:r>
            <a:endParaRPr lang="en-US" sz="860" dirty="0"/>
          </a:p>
        </p:txBody>
      </p:sp>
      <p:sp>
        <p:nvSpPr>
          <p:cNvPr id="361" name="Shape 359"/>
          <p:cNvSpPr/>
          <p:nvPr/>
        </p:nvSpPr>
        <p:spPr>
          <a:xfrm>
            <a:off x="10864408" y="4103032"/>
            <a:ext cx="81503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62" name="Text 360"/>
          <p:cNvSpPr txBox="1"/>
          <p:nvPr/>
        </p:nvSpPr>
        <p:spPr>
          <a:xfrm>
            <a:off x="10864408" y="3947265"/>
            <a:ext cx="782424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</a:t>
            </a:r>
            <a:endParaRPr lang="en-US" sz="860" dirty="0"/>
          </a:p>
        </p:txBody>
      </p:sp>
      <p:sp>
        <p:nvSpPr>
          <p:cNvPr id="363" name="Shape 361"/>
          <p:cNvSpPr/>
          <p:nvPr/>
        </p:nvSpPr>
        <p:spPr>
          <a:xfrm>
            <a:off x="511956" y="4283129"/>
            <a:ext cx="21521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64" name="Text 362"/>
          <p:cNvSpPr txBox="1"/>
          <p:nvPr/>
        </p:nvSpPr>
        <p:spPr>
          <a:xfrm>
            <a:off x="511956" y="4127362"/>
            <a:ext cx="16461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860" dirty="0"/>
          </a:p>
        </p:txBody>
      </p:sp>
      <p:sp>
        <p:nvSpPr>
          <p:cNvPr id="365" name="Shape 363"/>
          <p:cNvSpPr/>
          <p:nvPr/>
        </p:nvSpPr>
        <p:spPr>
          <a:xfrm>
            <a:off x="727167" y="4283129"/>
            <a:ext cx="257605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66" name="Text 364"/>
          <p:cNvSpPr txBox="1"/>
          <p:nvPr/>
        </p:nvSpPr>
        <p:spPr>
          <a:xfrm>
            <a:off x="727167" y="4127362"/>
            <a:ext cx="259628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Palacio de Hierro a clientes KPay</a:t>
            </a:r>
            <a:endParaRPr lang="en-US" sz="860" dirty="0"/>
          </a:p>
        </p:txBody>
      </p:sp>
      <p:sp>
        <p:nvSpPr>
          <p:cNvPr id="367" name="Shape 365"/>
          <p:cNvSpPr/>
          <p:nvPr/>
        </p:nvSpPr>
        <p:spPr>
          <a:xfrm>
            <a:off x="3303224" y="4283129"/>
            <a:ext cx="473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68" name="Text 366"/>
          <p:cNvSpPr txBox="1"/>
          <p:nvPr/>
        </p:nvSpPr>
        <p:spPr>
          <a:xfrm>
            <a:off x="3303224" y="4127362"/>
            <a:ext cx="430209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B0252</a:t>
            </a:r>
            <a:endParaRPr lang="en-US" sz="860" dirty="0"/>
          </a:p>
        </p:txBody>
      </p:sp>
      <p:sp>
        <p:nvSpPr>
          <p:cNvPr id="369" name="Shape 367"/>
          <p:cNvSpPr/>
          <p:nvPr/>
        </p:nvSpPr>
        <p:spPr>
          <a:xfrm>
            <a:off x="3776297" y="4283129"/>
            <a:ext cx="88450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70" name="Text 368"/>
          <p:cNvSpPr txBox="1"/>
          <p:nvPr/>
        </p:nvSpPr>
        <p:spPr>
          <a:xfrm>
            <a:off x="3776297" y="4127362"/>
            <a:ext cx="853985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</a:t>
            </a:r>
            <a:endParaRPr lang="en-US" sz="860" dirty="0"/>
          </a:p>
        </p:txBody>
      </p:sp>
      <p:sp>
        <p:nvSpPr>
          <p:cNvPr id="371" name="Shape 369"/>
          <p:cNvSpPr/>
          <p:nvPr/>
        </p:nvSpPr>
        <p:spPr>
          <a:xfrm>
            <a:off x="4660804" y="4283129"/>
            <a:ext cx="89159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72" name="Text 370"/>
          <p:cNvSpPr txBox="1"/>
          <p:nvPr/>
        </p:nvSpPr>
        <p:spPr>
          <a:xfrm>
            <a:off x="4660804" y="4127362"/>
            <a:ext cx="86128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Clientes activos</a:t>
            </a:r>
            <a:endParaRPr lang="en-US" sz="860" dirty="0"/>
          </a:p>
        </p:txBody>
      </p:sp>
      <p:sp>
        <p:nvSpPr>
          <p:cNvPr id="373" name="Shape 371"/>
          <p:cNvSpPr/>
          <p:nvPr/>
        </p:nvSpPr>
        <p:spPr>
          <a:xfrm>
            <a:off x="5552394" y="4283129"/>
            <a:ext cx="131040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74" name="Text 372"/>
          <p:cNvSpPr txBox="1"/>
          <p:nvPr/>
        </p:nvSpPr>
        <p:spPr>
          <a:xfrm>
            <a:off x="5552394" y="4127362"/>
            <a:ext cx="1292664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0.48</a:t>
            </a:r>
            <a:endParaRPr lang="en-US" sz="860" dirty="0"/>
          </a:p>
        </p:txBody>
      </p:sp>
      <p:sp>
        <p:nvSpPr>
          <p:cNvPr id="375" name="Shape 373"/>
          <p:cNvSpPr/>
          <p:nvPr/>
        </p:nvSpPr>
        <p:spPr>
          <a:xfrm>
            <a:off x="6862802" y="4283129"/>
            <a:ext cx="89807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76" name="Text 374"/>
          <p:cNvSpPr txBox="1"/>
          <p:nvPr/>
        </p:nvSpPr>
        <p:spPr>
          <a:xfrm>
            <a:off x="6862802" y="4127362"/>
            <a:ext cx="867956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51 %</a:t>
            </a:r>
            <a:endParaRPr lang="en-US" sz="860" dirty="0"/>
          </a:p>
        </p:txBody>
      </p:sp>
      <p:sp>
        <p:nvSpPr>
          <p:cNvPr id="377" name="Shape 375"/>
          <p:cNvSpPr/>
          <p:nvPr/>
        </p:nvSpPr>
        <p:spPr>
          <a:xfrm>
            <a:off x="7760872" y="4283129"/>
            <a:ext cx="67487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78" name="Text 376"/>
          <p:cNvSpPr txBox="1"/>
          <p:nvPr/>
        </p:nvSpPr>
        <p:spPr>
          <a:xfrm>
            <a:off x="7760872" y="4127362"/>
            <a:ext cx="63806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</a:t>
            </a:r>
            <a:endParaRPr lang="en-US" sz="860" dirty="0"/>
          </a:p>
        </p:txBody>
      </p:sp>
      <p:sp>
        <p:nvSpPr>
          <p:cNvPr id="379" name="Shape 377"/>
          <p:cNvSpPr/>
          <p:nvPr/>
        </p:nvSpPr>
        <p:spPr>
          <a:xfrm>
            <a:off x="8435744" y="4283129"/>
            <a:ext cx="92263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80" name="Text 378"/>
          <p:cNvSpPr txBox="1"/>
          <p:nvPr/>
        </p:nvSpPr>
        <p:spPr>
          <a:xfrm>
            <a:off x="8435744" y="4127362"/>
            <a:ext cx="893258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5,220</a:t>
            </a:r>
            <a:endParaRPr lang="en-US" sz="860" dirty="0"/>
          </a:p>
        </p:txBody>
      </p:sp>
      <p:sp>
        <p:nvSpPr>
          <p:cNvPr id="381" name="Shape 379"/>
          <p:cNvSpPr/>
          <p:nvPr/>
        </p:nvSpPr>
        <p:spPr>
          <a:xfrm>
            <a:off x="9358380" y="4283129"/>
            <a:ext cx="70245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82" name="Text 380"/>
          <p:cNvSpPr txBox="1"/>
          <p:nvPr/>
        </p:nvSpPr>
        <p:spPr>
          <a:xfrm>
            <a:off x="9358380" y="4127362"/>
            <a:ext cx="666468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</a:t>
            </a:r>
            <a:endParaRPr lang="en-US" sz="860" dirty="0"/>
          </a:p>
        </p:txBody>
      </p:sp>
      <p:sp>
        <p:nvSpPr>
          <p:cNvPr id="383" name="Shape 381"/>
          <p:cNvSpPr/>
          <p:nvPr/>
        </p:nvSpPr>
        <p:spPr>
          <a:xfrm>
            <a:off x="10060831" y="4283129"/>
            <a:ext cx="80357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84" name="Text 382"/>
          <p:cNvSpPr txBox="1"/>
          <p:nvPr/>
        </p:nvSpPr>
        <p:spPr>
          <a:xfrm>
            <a:off x="10060831" y="4127362"/>
            <a:ext cx="770627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17,692</a:t>
            </a:r>
            <a:endParaRPr lang="en-US" sz="860" dirty="0"/>
          </a:p>
        </p:txBody>
      </p:sp>
      <p:sp>
        <p:nvSpPr>
          <p:cNvPr id="385" name="Shape 383"/>
          <p:cNvSpPr/>
          <p:nvPr/>
        </p:nvSpPr>
        <p:spPr>
          <a:xfrm>
            <a:off x="10864408" y="4283129"/>
            <a:ext cx="81503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86" name="Text 384"/>
          <p:cNvSpPr txBox="1"/>
          <p:nvPr/>
        </p:nvSpPr>
        <p:spPr>
          <a:xfrm>
            <a:off x="10864408" y="4127362"/>
            <a:ext cx="782424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860" dirty="0"/>
          </a:p>
        </p:txBody>
      </p:sp>
      <p:sp>
        <p:nvSpPr>
          <p:cNvPr id="387" name="Shape 385"/>
          <p:cNvSpPr/>
          <p:nvPr/>
        </p:nvSpPr>
        <p:spPr>
          <a:xfrm>
            <a:off x="511956" y="4292774"/>
            <a:ext cx="215211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511956" y="4463225"/>
            <a:ext cx="21521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727167" y="4292774"/>
            <a:ext cx="2576056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727167" y="4463225"/>
            <a:ext cx="257605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91" name="Text 389"/>
          <p:cNvSpPr txBox="1"/>
          <p:nvPr/>
        </p:nvSpPr>
        <p:spPr>
          <a:xfrm>
            <a:off x="727167" y="4307458"/>
            <a:ext cx="259628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15 campañas</a:t>
            </a:r>
            <a:endParaRPr lang="en-US" sz="860" dirty="0"/>
          </a:p>
        </p:txBody>
      </p:sp>
      <p:sp>
        <p:nvSpPr>
          <p:cNvPr id="392" name="Shape 390"/>
          <p:cNvSpPr/>
          <p:nvPr/>
        </p:nvSpPr>
        <p:spPr>
          <a:xfrm>
            <a:off x="3303224" y="4292774"/>
            <a:ext cx="473073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3303224" y="4463225"/>
            <a:ext cx="473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3776297" y="4292774"/>
            <a:ext cx="884507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3776297" y="4463225"/>
            <a:ext cx="88450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4660804" y="4292774"/>
            <a:ext cx="891590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4660804" y="4463225"/>
            <a:ext cx="89159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5552394" y="4292774"/>
            <a:ext cx="1310408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5552394" y="4463225"/>
            <a:ext cx="131040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00" name="Text 398"/>
          <p:cNvSpPr txBox="1"/>
          <p:nvPr/>
        </p:nvSpPr>
        <p:spPr>
          <a:xfrm>
            <a:off x="5552394" y="4307458"/>
            <a:ext cx="1292664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20.81</a:t>
            </a:r>
            <a:endParaRPr lang="en-US" sz="860" dirty="0"/>
          </a:p>
        </p:txBody>
      </p:sp>
      <p:sp>
        <p:nvSpPr>
          <p:cNvPr id="401" name="Shape 399"/>
          <p:cNvSpPr/>
          <p:nvPr/>
        </p:nvSpPr>
        <p:spPr>
          <a:xfrm>
            <a:off x="6862802" y="4292774"/>
            <a:ext cx="898071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6862802" y="4463225"/>
            <a:ext cx="89807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03" name="Text 401"/>
          <p:cNvSpPr txBox="1"/>
          <p:nvPr/>
        </p:nvSpPr>
        <p:spPr>
          <a:xfrm>
            <a:off x="6862802" y="4307458"/>
            <a:ext cx="867956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51 %</a:t>
            </a:r>
            <a:endParaRPr lang="en-US" sz="860" dirty="0"/>
          </a:p>
        </p:txBody>
      </p:sp>
      <p:sp>
        <p:nvSpPr>
          <p:cNvPr id="404" name="Shape 402"/>
          <p:cNvSpPr/>
          <p:nvPr/>
        </p:nvSpPr>
        <p:spPr>
          <a:xfrm>
            <a:off x="7760872" y="4292774"/>
            <a:ext cx="674872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7760872" y="4463225"/>
            <a:ext cx="67487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06" name="Text 404"/>
          <p:cNvSpPr txBox="1"/>
          <p:nvPr/>
        </p:nvSpPr>
        <p:spPr>
          <a:xfrm>
            <a:off x="7760872" y="4307458"/>
            <a:ext cx="638061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</a:t>
            </a:r>
            <a:endParaRPr lang="en-US" sz="860" dirty="0"/>
          </a:p>
        </p:txBody>
      </p:sp>
      <p:sp>
        <p:nvSpPr>
          <p:cNvPr id="407" name="Shape 405"/>
          <p:cNvSpPr/>
          <p:nvPr/>
        </p:nvSpPr>
        <p:spPr>
          <a:xfrm>
            <a:off x="8435744" y="4292774"/>
            <a:ext cx="922636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8435744" y="4463225"/>
            <a:ext cx="92263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09" name="Text 407"/>
          <p:cNvSpPr txBox="1"/>
          <p:nvPr/>
        </p:nvSpPr>
        <p:spPr>
          <a:xfrm>
            <a:off x="8435744" y="4307458"/>
            <a:ext cx="893258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117,047</a:t>
            </a:r>
            <a:endParaRPr lang="en-US" sz="860" dirty="0"/>
          </a:p>
        </p:txBody>
      </p:sp>
      <p:sp>
        <p:nvSpPr>
          <p:cNvPr id="410" name="Shape 408"/>
          <p:cNvSpPr/>
          <p:nvPr/>
        </p:nvSpPr>
        <p:spPr>
          <a:xfrm>
            <a:off x="9358380" y="4292774"/>
            <a:ext cx="702451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>
            <a:off x="9358380" y="4463225"/>
            <a:ext cx="70245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12" name="Text 410"/>
          <p:cNvSpPr txBox="1"/>
          <p:nvPr/>
        </p:nvSpPr>
        <p:spPr>
          <a:xfrm>
            <a:off x="9358380" y="4307458"/>
            <a:ext cx="666468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178</a:t>
            </a:r>
            <a:endParaRPr lang="en-US" sz="860" dirty="0"/>
          </a:p>
        </p:txBody>
      </p:sp>
      <p:sp>
        <p:nvSpPr>
          <p:cNvPr id="413" name="Shape 411"/>
          <p:cNvSpPr/>
          <p:nvPr/>
        </p:nvSpPr>
        <p:spPr>
          <a:xfrm>
            <a:off x="10060831" y="4292774"/>
            <a:ext cx="803576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10060831" y="4463225"/>
            <a:ext cx="80357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15" name="Text 413"/>
          <p:cNvSpPr txBox="1"/>
          <p:nvPr/>
        </p:nvSpPr>
        <p:spPr>
          <a:xfrm>
            <a:off x="10060831" y="4307458"/>
            <a:ext cx="770627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604,540</a:t>
            </a:r>
            <a:endParaRPr lang="en-US" sz="860" dirty="0"/>
          </a:p>
        </p:txBody>
      </p:sp>
      <p:sp>
        <p:nvSpPr>
          <p:cNvPr id="416" name="Shape 414"/>
          <p:cNvSpPr/>
          <p:nvPr/>
        </p:nvSpPr>
        <p:spPr>
          <a:xfrm>
            <a:off x="10864408" y="4292774"/>
            <a:ext cx="815030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>
            <a:off x="10864408" y="4463225"/>
            <a:ext cx="81503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18" name="Text 416"/>
          <p:cNvSpPr txBox="1"/>
          <p:nvPr/>
        </p:nvSpPr>
        <p:spPr>
          <a:xfrm>
            <a:off x="10864408" y="4307458"/>
            <a:ext cx="782424" cy="14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99000"/>
              </a:lnSpc>
              <a:buNone/>
            </a:pPr>
            <a:r>
              <a:rPr lang="en-US" sz="8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</a:t>
            </a:r>
            <a:endParaRPr lang="en-US" sz="860" dirty="0"/>
          </a:p>
        </p:txBody>
      </p:sp>
      <p:sp>
        <p:nvSpPr>
          <p:cNvPr id="419" name="Shape 417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420" name="Text 418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421" name="Text 419"/>
          <p:cNvSpPr txBox="1"/>
          <p:nvPr/>
        </p:nvSpPr>
        <p:spPr>
          <a:xfrm>
            <a:off x="1409876" y="6077461"/>
            <a:ext cx="6287076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de las 15 van a bases frías: 12.5 M MXN a 648 MXN por crédito; a activos sale en 49 MXN.</a:t>
            </a:r>
            <a:endParaRPr lang="en-US" sz="1100" dirty="0"/>
          </a:p>
        </p:txBody>
      </p:sp>
      <p:sp>
        <p:nvSpPr>
          <p:cNvPr id="422" name="Text 420"/>
          <p:cNvSpPr txBox="1"/>
          <p:nvPr/>
        </p:nvSpPr>
        <p:spPr>
          <a:xfrm>
            <a:off x="511956" y="6454684"/>
            <a:ext cx="9294182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E1, enero a septiembre 2026, solo WhatsApp. Campaña = nombre sin fecha. 1.00 MXN por entregado. Crédito otorgado en 7 días, repartido; solicitudes sin repartir.</a:t>
            </a:r>
            <a:endParaRPr lang="en-US" sz="840" dirty="0"/>
          </a:p>
        </p:txBody>
      </p:sp>
      <p:sp>
        <p:nvSpPr>
          <p:cNvPr id="423" name="Text 421"/>
          <p:cNvSpPr txBox="1"/>
          <p:nvPr/>
        </p:nvSpPr>
        <p:spPr>
          <a:xfrm>
            <a:off x="10769461" y="6454684"/>
            <a:ext cx="955874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11a · lámina oculta</a:t>
            </a:r>
            <a:endParaRPr lang="en-US" sz="8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paga con clientes activos y referidos; con bases frías cada conversión cuesta 13 veces más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214464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Referidos y recordatorios a clientes; rescates de Tasa 0 y descuentos a bases frías.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332127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y Product Growth en las dos puntas; Sales solo a clientes y leads de KPay.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572268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Bases frías: ex clientes (dormants, inactivos, churn) y leads que nunca activaron.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121417" cy="3834621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472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 MXN por conversión con activos y 629 con bases frías (11 y 69 por solicitud); ahí va 48 % del WhatsApp (19.7 M MXN).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672042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672042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659850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ex clientes el correo sale más barato: 74 contra 468 MXN por conversión y 13 contra 74 por solicitud.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3060417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3060417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3048225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julio a septiembre, 2.2 M MXN de WhatsApp llegaron a quien no leyó ninguno en 90 días.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448808"/>
            <a:ext cx="3585349" cy="753391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448808"/>
            <a:ext cx="0" cy="753391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509694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670650"/>
            <a:ext cx="3353394" cy="458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se usa para buscar en volumen a quien ya no lo lee: no hay regla de lectura reciente ni presupuesto con límite.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857126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5981008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5942427"/>
            <a:ext cx="7284892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ex clientes, primero correo y app; WhatsApp solo a quien lo leyó en 90 días, con límite y grupo sin envío.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319649"/>
            <a:ext cx="11157868" cy="27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campaña, mes y canal, ene a sep 2026; E9b. 132 campañas con 50 mil MXN o más. Conversión: préstamo otorgado en 7 días, repartido; solicitud: solicitudes registradas. 19.7 M MXN: lámina 50.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70777" y="6319649"/>
            <a:ext cx="130519" cy="27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8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la misma campaña de Cash, la conversión por WhatsApp cuesta más que por correo en 50 de 50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640103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0, referidos, descuentos y recordatorios de Cash (préstamo personal).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695830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pone 73 % del WhatsApp de Cash y Product Growth 27 %.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172707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 rezagados y recientes, ex clientes, registrados sin préstamo y clientes activos.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121417" cy="3834621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 Cash: 146 MXN por conversión en WhatsApp y 19 en correo (7.6 veces); 23 y 4.1 MXN por solicitud.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Campaña por campaña la mitad cuesta más de 5 veces; Tasa 0 a rezagados: 694 contra 262 MXN.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recordatorio de Installments a activos: 56 veces; ahí el correo basta.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753391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753391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395616" cy="458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es el canal por defecto para Cash aun con quien responde al correo; nadie compara costo por conversión entre canales.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857126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5981008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5942427"/>
            <a:ext cx="7005323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Cash, primero correo, push e in-app; WhatsApp solo donde esos no llegan o el préstamo lo paga.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319649"/>
            <a:ext cx="11156936" cy="27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campaña, mes y canal, ene a sep 2026; producto Cash. Campañas con 30 mil o más mensajes en cada canal. Conversión a 7 días repartida; solicitud: solicitudes registradas. No prueba causa.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69873" y="6319649"/>
            <a:ext cx="131450" cy="27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8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In-app trae 8 veces más conversiones por mensaje que el correo o el push, y casi no se usa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330109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Referidos, lanzamientos, recordatorios de algo empezado y descuentos.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703747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y Product Growth hacen 79 % de las vistas, con 5 % de sus mensajes.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256686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quien abre la app: sobre todo clientes activos y leads recientes.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Mediana por campaña: in-app 15.3 conversiones por cada mil mensajes; WhatsApp 2.9, correo 1.8, push 1.8.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peor campaña de in-app (7.8) supera a la mitad de las de correo, push y WhatsApp.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Lanzamiento de BillPay: 12.7 por mil en in-app y 0.1 por correo. In-app solo llega a quien abre la app.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753391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753391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426507" cy="458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In-app no es el canal de costumbre de ningún equipo y solo llega a quien abre la app; las campañas se arman para push y correo.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265810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quien usa la app, in-app primero y push de respaldo; quien no tiene la app, por correo.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9924259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campaña, mes y canal, enero a septiembre 2026. Mensajes: enviados o vistas de in-app. Conversión a 7 días repartida entre los mensajes del día; no prueba causa.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66859" y="6454684"/>
            <a:ext cx="134555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8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correo se abre pero no se usa: de cada cien personas que abren una promoción, menos de tres hacen clic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204684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Referidos, Tasa 0, descuentos, lanzamientos y ofertas de comercios.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442496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Clics por cada cien que abren: Sales 0.9, Product Growth 2.9, Marketing 3.1.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441409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Leads, registrados sin crédito, ex clientes y toda la cartera de KPay.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259 M correos de promoción: abre 21 % y de cada cien que abren, 2.9 hacen clic.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Recordar algo que la persona empezó: 14 clics por cada cien que abren; invitar a un amigo: 0.7.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Mientras más grande el envío, menos clic: 7.2 con 10 a 100 mil personas, 1.2 con más de 1 M.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328557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manda la misma oferta a listas enormes que no la pidieron: el asunto atrae la apertura, el contenido no sirve.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7120659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es el asunto ni la entrega: es lo que ofrece el correo y a quién. Más recordatorios, menos promoción.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9536806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campaña, mes y canal, enero a septiembre 2026; 58 campañas con 1 M o más de correos. La apertura incluye aperturas automáticas; la de 75 % es dudosa.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72435" y="6454684"/>
            <a:ext cx="128811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8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mitad del push va en campañas que casi nadie abre, y dos terceras partes de ese push son de Marketing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392667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0, lanzamientos, rescates de fin de semana y referidos.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593534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pone 92 M de los 141 M push que abre menos de 1 de cada 100.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694744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 (83 % de su push abre menos de 1 %) y bases frías (75 %).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141 M de 251 M push (56 %) van en campañas que abre menos de 1 de cada 100 personas.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Rescate de fin de semana a leads de Marketing: 13.4 M push y 0.76 % de apertura.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 se abren los que la persona espera: pago recibido 14 %, Installments a activos 11 %.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424955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push se usa para mandar ofertas a toda la lista porque no cuesta, sin ver si esa persona abrió uno en meses.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751678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solo a quien abrió uno en 60 días y con una razón para esa persona; para el resto, otro canal.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8658052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campaña, mes y canal, enero a septiembre 2026. Apertura directa sobre enviados. 322 campañas con 100 mil o más push (97 % del canal).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69572" y="6454684"/>
            <a:ext cx="131761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8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Uno de cada cuatro WhatsApp no llega, y la mitad de los que no llegan iban a bases frías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150664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0, descuentos y referidos: 67 % de lo que no llegó.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337405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y Product Growth: 87 % de los WhatsApp que no llegaron.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659351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Bases frías: ex clientes y leads viejos; les llega 69 % contra 82 % a activos.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14.2 M de 55.2 M WhatsApp no llegaron (26 %); 51 % iban a bases frías.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Diez campañas explican 53 %; la mayor, rescate Tasa 0 a rezagados: 1.9 M sin llegar.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472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quien nunca responde por ningún canal le llega 34 %. No cuesta (Meta cobra lo entregado), pero la base está sucia.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448808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448808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509694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670650"/>
            <a:ext cx="3320796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listas de ex clientes y leads viejos no se limpian: se manda a números que ya no existen o no usan WhatsApp.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627495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Limpiar la base de WhatsApp antes de mandar más: quitar a quien no recibió ninguno en 90 días.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10028728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campaña, mes y canal, enero a septiembre 2026; E7b. No llegó = enviado menos entregado. El motivo (número inválido, sin WhatsApp, bloqueo) no está en los datos.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75449" y="6454684"/>
            <a:ext cx="125707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8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Seis de cada diez mensajes van por un canal al que esa persona nunca ha respondido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2474019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Sobre todo correo y push con promociones.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159667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los equipos; el dato por persona no trae equipo ni campaña.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561557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5.3 M personas que responden por algún canal y 14.2 M que no responden por ninguno.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394 M de 670 M mensajes (59 %) por un canal sin respuesta: 18.7 M MXN.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Quien solo lee WhatsApp recibió 58 M correos y 21 M push que nunca abrió.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472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Mandar solo por el canal de los últimos 90 días quita 75 M mensajes por trimestre; en el plan vale 0.34 M MXN al mes.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448808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448808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509694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670650"/>
            <a:ext cx="3379472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Braze no guarda por qué canal responde cada persona, así que cada equipo manda por el canal que acostumbra.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5948676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Guardar en Braze el canal al que cada persona respondió en 90 días y mandar por ese.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9662852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mensajes y respuesta por persona, enero a septiembre y julio a septiembre 2026. Mensajes enviados (E7b suma 670 M; E1, 667 M); WhatsApp a 1.00 MXN por entregado.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69722" y="6454684"/>
            <a:ext cx="131606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8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Cuatro de cada diez mensajes salen de campañas que no responden lo mínimo, y casi dos tercios son correos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650193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Comercios de KPay, Tasa 0, referidos y el lanzamiento de BillPay.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713371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103 M mensajes y Product Growth 101 M; Others 37 M y Sales 29 M.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703281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Leads, registrados sin crédito, ex clientes inactivos y toda la base.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282 M mensajes (42 % del año) y 16.0 M MXN en campañas que no responden lo mínimo.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Correo: 116 campañas y 178 M mensajes, 63 % de ese volumen.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 campañas de promoción seguían en septiembre: 27 M mensajes y 1.8 M MXN ese mes.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354791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Nadie mide cada campaña contra un mínimo común: sigue saliendo mes tras mes aunque casi nadie le responda.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7227612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Revisar cada mes contra el mínimo: rehacer o quitar; a ex clientes, primero probar con un grupo sin envío.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8908903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campaña, ene a sep 2026; misma regla que la lámina 66 (WhatsApp leído con el mes siguiente, por entregado). Puntos: 100 mil o más mensajes.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69572" y="6454684"/>
            <a:ext cx="131761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84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qué pasa: el canal lo elige cada equipo por costumbre, no por quién responde ni por lo que cuesta</a:t>
            </a:r>
            <a:endParaRPr lang="en-US" sz="2210" dirty="0"/>
          </a:p>
        </p:txBody>
      </p:sp>
      <p:sp>
        <p:nvSpPr>
          <p:cNvPr id="3" name="Text 1"/>
          <p:cNvSpPr txBox="1"/>
          <p:nvPr/>
        </p:nvSpPr>
        <p:spPr>
          <a:xfrm>
            <a:off x="511956" y="1161358"/>
            <a:ext cx="3788037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QUÉ PASA, DE LO VISIBLE A LA CAUSA</a:t>
            </a:r>
            <a:endParaRPr lang="en-US" sz="790" dirty="0"/>
          </a:p>
        </p:txBody>
      </p:sp>
      <p:sp>
        <p:nvSpPr>
          <p:cNvPr id="4" name="Shape 2"/>
          <p:cNvSpPr/>
          <p:nvPr/>
        </p:nvSpPr>
        <p:spPr>
          <a:xfrm>
            <a:off x="511956" y="1350180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1956" y="1350180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6" name="Text 4"/>
          <p:cNvSpPr txBox="1"/>
          <p:nvPr/>
        </p:nvSpPr>
        <p:spPr>
          <a:xfrm>
            <a:off x="743598" y="1337988"/>
            <a:ext cx="354944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WhatsApp: 71 % del gasto; mitad a bases frías: 629 MXN por conversión, 69 por solicitud.</a:t>
            </a:r>
            <a:endParaRPr lang="en-US" sz="940" dirty="0"/>
          </a:p>
        </p:txBody>
      </p:sp>
      <p:sp>
        <p:nvSpPr>
          <p:cNvPr id="7" name="Shape 5"/>
          <p:cNvSpPr/>
          <p:nvPr/>
        </p:nvSpPr>
        <p:spPr>
          <a:xfrm>
            <a:off x="511956" y="17323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1956" y="17323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9" name="Text 7"/>
          <p:cNvSpPr txBox="1"/>
          <p:nvPr/>
        </p:nvSpPr>
        <p:spPr>
          <a:xfrm>
            <a:off x="743598" y="1720184"/>
            <a:ext cx="354944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59 % de los mensajes van por un canal al que esa persona nunca respondió.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511956" y="2114572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1956" y="2114572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12" name="Text 10"/>
          <p:cNvSpPr txBox="1"/>
          <p:nvPr/>
        </p:nvSpPr>
        <p:spPr>
          <a:xfrm>
            <a:off x="743598" y="2102380"/>
            <a:ext cx="354944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In-app es el que más convierte y ningún equipo le da más de 5 % de sus mensajes.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511956" y="2496768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1956" y="2496768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768" dirty="0"/>
          </a:p>
        </p:txBody>
      </p:sp>
      <p:sp>
        <p:nvSpPr>
          <p:cNvPr id="15" name="Text 13"/>
          <p:cNvSpPr txBox="1"/>
          <p:nvPr/>
        </p:nvSpPr>
        <p:spPr>
          <a:xfrm>
            <a:off x="743598" y="2484576"/>
            <a:ext cx="354944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Nadie compara costo por conversión entre canales ni mide cada campaña contra un mínimo.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511956" y="2878964"/>
            <a:ext cx="164573" cy="164573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11956" y="2878964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768" dirty="0"/>
          </a:p>
        </p:txBody>
      </p:sp>
      <p:sp>
        <p:nvSpPr>
          <p:cNvPr id="18" name="Text 16"/>
          <p:cNvSpPr txBox="1"/>
          <p:nvPr/>
        </p:nvSpPr>
        <p:spPr>
          <a:xfrm>
            <a:off x="743598" y="2866772"/>
            <a:ext cx="354944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raíz: Braze no guarda el canal al que responde cada persona ni hay regla por costo.</a:t>
            </a:r>
            <a:endParaRPr lang="en-US" sz="940" dirty="0"/>
          </a:p>
        </p:txBody>
      </p:sp>
      <p:sp>
        <p:nvSpPr>
          <p:cNvPr id="19" name="Text 17"/>
          <p:cNvSpPr txBox="1"/>
          <p:nvPr/>
        </p:nvSpPr>
        <p:spPr>
          <a:xfrm>
            <a:off x="4440016" y="1161358"/>
            <a:ext cx="3608591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HIPÓTESIS: A ANALÍTICA, O OPERATIVA, G GOBIERNO</a:t>
            </a:r>
            <a:endParaRPr lang="en-US" sz="790" dirty="0"/>
          </a:p>
        </p:txBody>
      </p:sp>
      <p:sp>
        <p:nvSpPr>
          <p:cNvPr id="20" name="Shape 18"/>
          <p:cNvSpPr/>
          <p:nvPr/>
        </p:nvSpPr>
        <p:spPr>
          <a:xfrm>
            <a:off x="4440016" y="1344016"/>
            <a:ext cx="158244" cy="128705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482687" y="1344016"/>
            <a:ext cx="93377" cy="12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7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770" dirty="0"/>
          </a:p>
        </p:txBody>
      </p:sp>
      <p:sp>
        <p:nvSpPr>
          <p:cNvPr id="22" name="Text 20"/>
          <p:cNvSpPr txBox="1"/>
          <p:nvPr/>
        </p:nvSpPr>
        <p:spPr>
          <a:xfrm>
            <a:off x="4732541" y="1337988"/>
            <a:ext cx="3220673" cy="30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Mandar por el canal al que cada quien respondió en 90 días sube la respuesta y baja el gasto.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4440016" y="1726212"/>
            <a:ext cx="160504" cy="128705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482687" y="1726212"/>
            <a:ext cx="95705" cy="12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7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</a:t>
            </a:r>
            <a:endParaRPr lang="en-US" sz="770" dirty="0"/>
          </a:p>
        </p:txBody>
      </p:sp>
      <p:sp>
        <p:nvSpPr>
          <p:cNvPr id="25" name="Text 23"/>
          <p:cNvSpPr txBox="1"/>
          <p:nvPr/>
        </p:nvSpPr>
        <p:spPr>
          <a:xfrm>
            <a:off x="4732541" y="1720184"/>
            <a:ext cx="3294407" cy="30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solo a quien lo leyó en 90 días y push a quien abrió en 60 dejan de pagar lo que nadie lee.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4440016" y="2108409"/>
            <a:ext cx="158545" cy="128705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482687" y="2108409"/>
            <a:ext cx="93687" cy="12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7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</a:t>
            </a:r>
            <a:endParaRPr lang="en-US" sz="770" dirty="0"/>
          </a:p>
        </p:txBody>
      </p:sp>
      <p:sp>
        <p:nvSpPr>
          <p:cNvPr id="28" name="Text 26"/>
          <p:cNvSpPr txBox="1"/>
          <p:nvPr/>
        </p:nvSpPr>
        <p:spPr>
          <a:xfrm>
            <a:off x="4732541" y="2102380"/>
            <a:ext cx="3086865" cy="30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responsable revisa cada mes campañas contra el mínimo y costo por conversión.</a:t>
            </a:r>
            <a:endParaRPr lang="en-US" sz="940" dirty="0"/>
          </a:p>
        </p:txBody>
      </p:sp>
      <p:sp>
        <p:nvSpPr>
          <p:cNvPr id="29" name="Text 27"/>
          <p:cNvSpPr txBox="1"/>
          <p:nvPr/>
        </p:nvSpPr>
        <p:spPr>
          <a:xfrm>
            <a:off x="8193857" y="1161358"/>
            <a:ext cx="3608746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LO RESOLVEMOS</a:t>
            </a:r>
            <a:endParaRPr lang="en-US" sz="790" dirty="0"/>
          </a:p>
        </p:txBody>
      </p:sp>
      <p:sp>
        <p:nvSpPr>
          <p:cNvPr id="30" name="Shape 28"/>
          <p:cNvSpPr/>
          <p:nvPr/>
        </p:nvSpPr>
        <p:spPr>
          <a:xfrm>
            <a:off x="8230432" y="1405042"/>
            <a:ext cx="73093" cy="73093"/>
          </a:xfrm>
          <a:prstGeom prst="rect">
            <a:avLst/>
          </a:prstGeom>
          <a:solidFill>
            <a:srgbClr val="127A5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25499" y="1337988"/>
            <a:ext cx="337015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Semanas 1 y 2: atributo de canal preferido y segmentos por lectura reciente en Braze; Marketing.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8230432" y="1787238"/>
            <a:ext cx="73093" cy="73093"/>
          </a:xfrm>
          <a:prstGeom prst="rect">
            <a:avLst/>
          </a:prstGeom>
          <a:solidFill>
            <a:srgbClr val="127A5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425499" y="1720184"/>
            <a:ext cx="337015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 3: en los Canvas, WhatsApp solo a ese segmento, con límite y 10 % sin envío.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8230432" y="2169435"/>
            <a:ext cx="73093" cy="73093"/>
          </a:xfrm>
          <a:prstGeom prst="rect">
            <a:avLst/>
          </a:prstGeom>
          <a:solidFill>
            <a:srgbClr val="127A5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425499" y="2102380"/>
            <a:ext cx="337015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 4: quitar números de WhatsApp sin entrega en 90 días; meta de entrega 80 % (hoy 74 %).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8230432" y="2551631"/>
            <a:ext cx="73093" cy="73093"/>
          </a:xfrm>
          <a:prstGeom prst="rect">
            <a:avLst/>
          </a:prstGeom>
          <a:solidFill>
            <a:srgbClr val="127A5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425499" y="2484576"/>
            <a:ext cx="337015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mes: rehacer o quitar campañas debajo del mínimo; hoy son 4 de cada 10 mensajes del año.</a:t>
            </a:r>
            <a:endParaRPr lang="en-US" sz="940" dirty="0"/>
          </a:p>
        </p:txBody>
      </p:sp>
      <p:sp>
        <p:nvSpPr>
          <p:cNvPr id="38" name="Shape 36"/>
          <p:cNvSpPr/>
          <p:nvPr/>
        </p:nvSpPr>
        <p:spPr>
          <a:xfrm>
            <a:off x="8193857" y="2909574"/>
            <a:ext cx="3485882" cy="614438"/>
          </a:xfrm>
          <a:prstGeom prst="rect">
            <a:avLst/>
          </a:prstGeom>
          <a:solidFill>
            <a:srgbClr val="E4F2E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303573" y="2982667"/>
            <a:ext cx="3382732" cy="12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70" b="1" spc="80" kern="0" dirty="0">
                <a:solidFill>
                  <a:srgbClr val="12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LO RESOLVEMOS</a:t>
            </a:r>
            <a:endParaRPr lang="en-US" sz="770" dirty="0"/>
          </a:p>
        </p:txBody>
      </p:sp>
      <p:sp>
        <p:nvSpPr>
          <p:cNvPr id="40" name="Text 38"/>
          <p:cNvSpPr txBox="1"/>
          <p:nvPr/>
        </p:nvSpPr>
        <p:spPr>
          <a:xfrm>
            <a:off x="8303573" y="3135636"/>
            <a:ext cx="3341596" cy="30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Canal por persona: 75 M mensajes menos por trimestre y 0.34 M MXN al mes, parte de los 2.34 M MXN del plan.</a:t>
            </a:r>
            <a:endParaRPr lang="en-US" sz="940" dirty="0"/>
          </a:p>
        </p:txBody>
      </p:sp>
      <p:sp>
        <p:nvSpPr>
          <p:cNvPr id="41" name="Shape 39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43" name="Text 41"/>
          <p:cNvSpPr txBox="1"/>
          <p:nvPr/>
        </p:nvSpPr>
        <p:spPr>
          <a:xfrm>
            <a:off x="1409876" y="6077461"/>
            <a:ext cx="6058734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Elegir el canal por persona y por costo baja el gasto sin dejar de buscar a los ex clientes.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511956" y="6454684"/>
            <a:ext cx="9270898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láminas 11 a 19; Braze, envíos por campaña y respuesta por persona, enero a septiembre 2026. Solicitud: solicitudes registradas. Los ahorros se traslapan y no se suman.</a:t>
            </a:r>
            <a:endParaRPr lang="en-US" sz="840" dirty="0"/>
          </a:p>
        </p:txBody>
      </p:sp>
      <p:sp>
        <p:nvSpPr>
          <p:cNvPr id="45" name="Text 43"/>
          <p:cNvSpPr txBox="1"/>
          <p:nvPr/>
        </p:nvSpPr>
        <p:spPr>
          <a:xfrm>
            <a:off x="11546664" y="6454684"/>
            <a:ext cx="155356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84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y Product Growth ponen dos de cada tres mensajes, y la mayoría a gente que no ha hecho nada reciente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525388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0, referidos, promociones de KPay, crédito e Installments, concursos.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605797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y Product Growth (Lending en Braze): 77 % del gasto, 44.5 M MXN.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607970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Leads, leads fríos, registrados sin crédito, ex clientes inactivos y toda la base.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432 M de 657 M mensajes son de Marketing y Product Growth; 70 % va a gente que no ha hecho nada reciente.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472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 campañas más grandes son de ese tipo: Tasa 0 a registrados, 34.9 M correos; rescate de fin de semana, 13.4 M push.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3060417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3060417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3048225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Collections y Sales escriben casi siempre a quien hizo algo hace poco: 0 % y 25 % va a gente que no ha hecho nada.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448808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448808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509694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670650"/>
            <a:ext cx="3395306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equipo arma ofertas para su lista completa y nadie es dueño de la gente que no ha hecho nada.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831156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volumen está en dos equipos que ofrecen lo mismo a las mismas personas: ahí empieza el ajuste.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9251339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campaña, mes y canal, enero a septiembre 2026; campañas con 50 mil o más entregados (657 M mensajes). A quién, según el nombre de la campaña.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70777" y="6454684"/>
            <a:ext cx="130519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84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 y Marketing mandan 173 M mensajes a gente que no ha hecho nada en meses y que no les responde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418435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quien no ha hecho nada: Tasa 0, rescates, promociones de KPay. A quien sí: avisos.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478043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cinco equipos; Others es BillPay, avisos de KPay y KCash, Shopping y pruebas de QA.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612472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Hizo algo: registro a medias, cliente activo, pago por vencer. No: leads fríos, inactivos.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Growth: 88 M de sus 173 M mensajes (51 %) van a quien no ha hecho nada y no responde.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Marketing: 85 M en esa situación; el mayor es el rescate de Tasa 0 por push a anónimos (8.9 M).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el mensaje sale porque la persona hizo algo, responde lo mínimo 8 de cada 10 veces; si no, 4 de 10.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412226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campañas se arman para listas grandes y no a partir de algo que la persona acaba de hacer.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794056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Dejar de mandar esos 173 M mensajes a quien no responde y escribir cuando la persona hace algo.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9251339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campaña, mes y canal, enero a septiembre 2026; campañas con 50 mil o más entregados (657 M mensajes). A quién, según el nombre de la campaña.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8924" y="6454684"/>
            <a:ext cx="153027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84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Dentro de cada equipo, a quién y por qué canal se manda hace que el mismo producto responda hasta 32 veces más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439857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mismo producto a otra gente o por otro canal: Installments, cobranza, BillPay.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1066863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cinco equipos.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659662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que responde va a quien ya empezó algo o llega por in-app; la otra, a toda la base.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Installments: 2.78 % de clic a quien ya lo empezó y 0.10 % a quien nunca activó, en el mismo correo.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BillPay: 85 % de clic por in-app y 1 clic por cada mil correos. Anota y Gana: 76 % y 0.19 %.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 va explica 54 % de la diferencia de respuesta entre correos; el equipo que lo manda, 12 %.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313345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equipo usa la misma lista y el mismo canal para casi todo; el resultado lo decide a quién y por dónde.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7292964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hace falta cambiar de dueño las campañas: hay que llevar cada tema a quien y por donde ya responde.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9823049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campaña, mes y canal, enero a septiembre 2026; campañas con 50 mil o más entregados. Diferencia explicada: varianza ponderada en 303 campañas de correo.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8171" y="6454684"/>
            <a:ext cx="153803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84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pierde a los usuarios nuevos en días; Product Growth pierde a la base vieja en meses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652521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Nuevos: recordatorio de registro, Tasa 0, BillPay. Base vieja: Tasa 0, referidos.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690242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y Product Growth; Others por un solo correo de BillPay.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687137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Nuevos: primer correo desde febrero (158.5 mil bajas). Base vieja: enero (242.3 mil).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Nuevos: Marketing pierde 70 mil en 5 días con 10 correos; la mitad con el recordatorio de registro.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vieja: Product Growth pierde 87.5 mil en 128 días con 31 correos, unos dos por semana.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lanzamiento de BillPay se llevó 49 mil nuevos con un solo correo: casi un tercio de sus bajas.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753391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753391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270501" cy="458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junta recordatorios diarios sobre el recién llegado; Product Growth repite ofertas de crédito durante meses.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716441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Nuevo: un correo al día y tres la primera semana. Base vieja: menos ofertas de crédito no pedidas.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8349300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días y correos hasta la baja (E8 v3) por campaña que llegó ese día; 400.8 mil bajas, enero a septiembre 2026. Días: mediana; correos: promedio.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6815" y="6454684"/>
            <a:ext cx="155200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8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que más explica las bajas es a quién le escribimos y con qué oferta, no cuántas veces llega la campaña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433337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Más bajas: recordatorio de registro, Tasa 0, BillPay, referidos. Menos: avisos y cobranza.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377610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(5.9 bajas por mil correos) y Product Growth (3.2) suman 77 % de las bajas.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412071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a medias y leads fríos se van más; clientes, avisos y cobranza, menos.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 se escribe explica 48 % de la diferencia en bajas entre campañas; el tema 39 %.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veces que la misma campaña llega en el mes explican solo 8 %, y el equipo 26 %.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a medias: 4.1 bajas por mil correos; cobranza: 0.25, aunque recibe muchos correos.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215395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Mandamos ofertas a gente sin relación reciente o recién registrada, que no las pidió.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863599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perder menos gente hay que cambiar a quién y qué se manda; el límite ayuda en el primer mes.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11036789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correo por campaña y mes (E1), 866 campañas por mes con 20 mil o más entregados, enero a septiembre 2026. Diferencia explicada: varianza ponderada. Bajas por equipo: E1, totales del periodo.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50733" y="6454684"/>
            <a:ext cx="151164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8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 equipos mandan la misma oferta a la misma persona el mismo día: Tasa 0, descuentos y promociones de KPay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694744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0 de dos equipos, descuento y referidos al mismo ex cliente, promociones de KPay.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102698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con Sales y con Product Growth, sobre todo.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073670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Registrados y anónimos, ex clientes dormidos, clientes recurrentes de KPay.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45 % de las veces que alguien recibe dos promociones el mismo día vienen de dos equipos distintos.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y Sales: 14.3 M personas por día, 52 % con promociones de KPay en las dos campañas.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una campaña al día se dan de baja 0.36 por cada mil personas por día; con ocho o más, 0.70.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383353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Nadie es dueño de la gente que no ha hecho nada ni de las promociones de KPay, y no hay calendario común.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7195324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dueño por oferta y por grupo de personas, y un calendario que impida dos promociones el mismo día.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8851157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pares de campañas que coinciden el mismo día (E6b, los mil pares con más coincidencias) y campañas por persona y día (E6a), enero a septiembre 2026.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7870" y="6454684"/>
            <a:ext cx="154114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84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 acierta al recordar Installments a quien lo empezó y no al ofrecer crédito a quien no lo pidió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666337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Crédito e Installments, Tasa 0 a registrados, recuperar ex clientes y concursos.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683101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 (Lending en Braze): 236 campañas por canal, 173 M mensajes, 17.3 M MXN.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639327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Registrados sin crédito 38 %, clientes 29 %, ex clientes inactivos 16 %, todos 12 %.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121417" cy="3834621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472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Recordatorio de Installments a activos: 11 % de apertura en push y 2.78 % en correo, a 2.7 MXN por préstamo otorgado.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672042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672042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659850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0 a registrados: 34.9 M correos con 0.28 % de clic, 1.75 M MXN y 656 MXN por préstamo de Cash otorgado.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3060417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3060417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3048225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Churn de KPay: lee el WhatsApp (52 %) pero solo 74 % se entrega; 1.71 M MXN en nueve meses.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448808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448808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509694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670650"/>
            <a:ext cx="3318002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ofertas de crédito salen por correo a listas completas, no a partir de algo que la persona hizo.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857126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5981008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5942427"/>
            <a:ext cx="7025658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Sacar del correo la Tasa 0 a registrados y ampliar el recordatorio de Installments a quien ya lo empezó.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319649"/>
            <a:ext cx="11140327" cy="27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campaña, mes y canal, enero a septiembre 2026; campañas con 50 mil o más entregados. Costo por préstamo de Cash otorgado en 7 días, repartido entre los mensajes del día: referencia.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53747" y="6319649"/>
            <a:ext cx="148060" cy="27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84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gana con el recordatorio de registro y gasta la mitad de su dinero en Tasa 0 que casi no convierte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324521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0 y rescate de leads, referidos, promociones de KPay, recordatorio de registro.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694278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Marketing: 351 campañas por canal, 259 M mensajes (39 %), 27.2 M MXN (47 %).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336008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 28 %, leads fríos 25 %, clientes 19 %, dormidos 7 %, registro a medias 7 %.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121417" cy="3834621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472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Recordatorio de Veriff: 3.04 % de clic en 9.7 M correos y 5.83 % en push, a 21 MXN por préstamo de Cash otorgado.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672042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672042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659850"/>
            <a:ext cx="3460049" cy="472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0 a leads: 51 % de su gasto (13.6 M MXN). Su WhatsApp se lee, pero cuesta 694 a 844 MXN por préstamo.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3218058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3218058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3205866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Pierde suscriptores: 5.9 bajas por cada mil correos, más del doble que el resto de los equipos (2.6).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606449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606449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667335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828291"/>
            <a:ext cx="3411139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Mide si el mensaje se lee, no cuánto cuesta cada préstamo: el WhatsApp a leads fríos se lee y sigue saliendo.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857126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5981008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5942427"/>
            <a:ext cx="6818737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Mover el gasto de WhatsApp a leads fríos hacia el recordatorio de registro y los referidos a clientes.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319649"/>
            <a:ext cx="11134428" cy="27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campaña, mes y canal, enero a septiembre 2026; campañas con 50 mil o más entregados. Costo por préstamo de Cash otorgado en 7 días, repartido entre los mensajes del día; no mide KPay.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8020" y="6319649"/>
            <a:ext cx="153959" cy="27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84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manda promociones de comercios de KPay a sus clientes: funcionan por push y WhatsApp y no por correo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462986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Comercio del día, Hot Sale y códigos KUESKI, Amazon, Temu, lanzamientos de tiendas.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605797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(incluye B2B): 211 campañas por canal, 83 M mensajes (13 %), 7.1 M MXN (12 %).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286024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Clientes recurrentes de KPay 74 %, leads 15 %, ex clientes inactivos 8 %.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472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 a recurrentes abre 5.5 % en push; su WhatsApp es el que más se lee (78 %) y entrega (80 %) de los cinco equipos.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672042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672042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659850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 correo tiene 0.21 % de clic en 23.8 M correos, el más bajo de los cinco; Temu, 0.09 %.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3060417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3060417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3048225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Comercio del día llega 7 a 9 veces por persona al mes por push, y Marketing manda el mismo.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448808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448808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509694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670650"/>
            <a:ext cx="3352152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correo sigue como canal por defecto y Comercio del día sale casi a diario sin límite por persona.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5553462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ya sabe a quién escribir: le sobra el correo y le falta un límite al push diario.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7820589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campaña, mes y canal, enero a septiembre 2026; campañas con 50 mil o más entregados. No medimos compras con KPay.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7870" y="6454684"/>
            <a:ext cx="154114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84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Collections enseña a escribir con una razón y una fecha; puede mejorar la cobranza avanzada por correo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374195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Precobranza antes del vencimiento y cobranza por etapa de atraso (BKT1 a BKT6).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621010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Collections: 35 campañas por canal, 45 M mensajes (7 %), 1.6 M MXN. No usa WhatsApp.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346874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Personas con un préstamo y un pago por vencer o vencido.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Precobranza de KCash: 4.3 % de clic en correo y 5.3 % de apertura en push, con millones de envíos.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BKT2 a BKT6 de KCash: 12.1 M correos con 1.1 a 1.8 clics por cada mil, 4 a 6 por persona al mes.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mismo BKT1 responde casi ocho veces más por push (3.1 %) que por correo (0.41 %).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413157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Funciona porque cada mensaje tiene una razón con fecha y va a la persona exacta; en atraso mayor repite el correo.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7333634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 regla (razón, fecha, persona exacta) sirve a las ofertas; su ajuste es pasar la cobranza avanzada a push.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7970540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campaña, mes y canal, enero a septiembre 2026; campañas con 50 mil o más entregados. El pago por canal no está en Braze.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5910" y="6454684"/>
            <a:ext cx="156132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84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Others, el mismo lanzamiento de BillPay tuvo 85 % de clic por in-app y casi ninguno por correo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359914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Avisos de pago y cuenta, lanzamiento de BillPay y recargas, Shopping, pruebas QA.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594621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BillPay (NewProducts), avisos de KPay y KCash, Shopping, CX y QA: 98 M mensajes.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565903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Avisos por algo que la persona hizo 52 %, envíos a toda la base 35 %.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BillPay: 85 % de clic en in-app y 1 por cada mil en 16.1 M correos; 58 mil personas se dieron de baja ese día.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 avisos responden lo mínimo en 92 % de los mensajes: el rechazo de KPay tiene 18.6 % de clic.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Recomendaciones de Shopping: 7.0 M correos con 0.12 % de clic; una prueba QA llegó a 1.9 M clientes.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449947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Lanzamientos y recomendaciones salen por correo a toda la base sin probar antes con un grupo chico.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879587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Avisos sin cambios; lanzamientos primero por in-app y por correo solo a quien abrió algo en 90 días.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8152159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campaña, mes y canal, enero a septiembre 2026; campañas con 50 mil o más entregados. Bajas de BillPay por día de la baja (E8).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69873" y="6454684"/>
            <a:ext cx="131450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84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lo explica: cada equipo persigue su meta con su canal, sin ver el costo ni lo que mandan los demás</a:t>
            </a:r>
            <a:endParaRPr lang="en-US" sz="2210" dirty="0"/>
          </a:p>
        </p:txBody>
      </p:sp>
      <p:sp>
        <p:nvSpPr>
          <p:cNvPr id="3" name="Text 1"/>
          <p:cNvSpPr txBox="1"/>
          <p:nvPr/>
        </p:nvSpPr>
        <p:spPr>
          <a:xfrm>
            <a:off x="511956" y="1161358"/>
            <a:ext cx="3788037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QUÉ PASA, DE LO VISIBLE A LA CAUSA</a:t>
            </a:r>
            <a:endParaRPr lang="en-US" sz="790" dirty="0"/>
          </a:p>
        </p:txBody>
      </p:sp>
      <p:sp>
        <p:nvSpPr>
          <p:cNvPr id="4" name="Shape 2"/>
          <p:cNvSpPr/>
          <p:nvPr/>
        </p:nvSpPr>
        <p:spPr>
          <a:xfrm>
            <a:off x="511956" y="1350180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1956" y="1350180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6" name="Text 4"/>
          <p:cNvSpPr txBox="1"/>
          <p:nvPr/>
        </p:nvSpPr>
        <p:spPr>
          <a:xfrm>
            <a:off x="743598" y="1337988"/>
            <a:ext cx="354944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y Product Growth mandan dos de cada tres mensajes, casi todos ofertas.</a:t>
            </a:r>
            <a:endParaRPr lang="en-US" sz="940" dirty="0"/>
          </a:p>
        </p:txBody>
      </p:sp>
      <p:sp>
        <p:nvSpPr>
          <p:cNvPr id="7" name="Shape 5"/>
          <p:cNvSpPr/>
          <p:nvPr/>
        </p:nvSpPr>
        <p:spPr>
          <a:xfrm>
            <a:off x="511956" y="17323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1956" y="17323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9" name="Text 7"/>
          <p:cNvSpPr txBox="1"/>
          <p:nvPr/>
        </p:nvSpPr>
        <p:spPr>
          <a:xfrm>
            <a:off x="743598" y="1720184"/>
            <a:ext cx="354944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quien no ha hecho nada le responde lo mínimo 39 % de los mensajes; a quien sí, 79 %.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511956" y="2114572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1956" y="2114572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12" name="Text 10"/>
          <p:cNvSpPr txBox="1"/>
          <p:nvPr/>
        </p:nvSpPr>
        <p:spPr>
          <a:xfrm>
            <a:off x="743598" y="2102380"/>
            <a:ext cx="354944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 equipos mandan la misma oferta a la misma persona el mismo día.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511956" y="2496768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1956" y="2496768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768" dirty="0"/>
          </a:p>
        </p:txBody>
      </p:sp>
      <p:sp>
        <p:nvSpPr>
          <p:cNvPr id="15" name="Text 13"/>
          <p:cNvSpPr txBox="1"/>
          <p:nvPr/>
        </p:nvSpPr>
        <p:spPr>
          <a:xfrm>
            <a:off x="743598" y="2484576"/>
            <a:ext cx="354944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equipo mide su meta en su canal, no el costo por resultado ni las bajas.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511956" y="2878964"/>
            <a:ext cx="164573" cy="164573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11956" y="2878964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768" dirty="0"/>
          </a:p>
        </p:txBody>
      </p:sp>
      <p:sp>
        <p:nvSpPr>
          <p:cNvPr id="18" name="Text 16"/>
          <p:cNvSpPr txBox="1"/>
          <p:nvPr/>
        </p:nvSpPr>
        <p:spPr>
          <a:xfrm>
            <a:off x="743598" y="2866772"/>
            <a:ext cx="354944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raíz: la gente que no ha hecho nada y las promociones de KPay no tienen dueño.</a:t>
            </a:r>
            <a:endParaRPr lang="en-US" sz="940" dirty="0"/>
          </a:p>
        </p:txBody>
      </p:sp>
      <p:sp>
        <p:nvSpPr>
          <p:cNvPr id="19" name="Text 17"/>
          <p:cNvSpPr txBox="1"/>
          <p:nvPr/>
        </p:nvSpPr>
        <p:spPr>
          <a:xfrm>
            <a:off x="4440016" y="1161358"/>
            <a:ext cx="3608591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HIPÓTESIS: A ANALÍTICA, O OPERATIVA, G GOBIERNO</a:t>
            </a:r>
            <a:endParaRPr lang="en-US" sz="790" dirty="0"/>
          </a:p>
        </p:txBody>
      </p:sp>
      <p:sp>
        <p:nvSpPr>
          <p:cNvPr id="20" name="Shape 18"/>
          <p:cNvSpPr/>
          <p:nvPr/>
        </p:nvSpPr>
        <p:spPr>
          <a:xfrm>
            <a:off x="4440016" y="1344016"/>
            <a:ext cx="158244" cy="128705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482687" y="1344016"/>
            <a:ext cx="93377" cy="12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7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770" dirty="0"/>
          </a:p>
        </p:txBody>
      </p:sp>
      <p:sp>
        <p:nvSpPr>
          <p:cNvPr id="22" name="Text 20"/>
          <p:cNvSpPr txBox="1"/>
          <p:nvPr/>
        </p:nvSpPr>
        <p:spPr>
          <a:xfrm>
            <a:off x="4732541" y="1337988"/>
            <a:ext cx="3158115" cy="30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resultado depende de a quién se manda: explica 54 % de la diferencia; el equipo, 12 %.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4440016" y="1726212"/>
            <a:ext cx="160504" cy="128705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482687" y="1726212"/>
            <a:ext cx="95705" cy="12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7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</a:t>
            </a:r>
            <a:endParaRPr lang="en-US" sz="770" dirty="0"/>
          </a:p>
        </p:txBody>
      </p:sp>
      <p:sp>
        <p:nvSpPr>
          <p:cNvPr id="25" name="Text 23"/>
          <p:cNvSpPr txBox="1"/>
          <p:nvPr/>
        </p:nvSpPr>
        <p:spPr>
          <a:xfrm>
            <a:off x="4732541" y="1720184"/>
            <a:ext cx="3230918" cy="30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 equipos arman la misma oferta para la misma base y la mandan por correo a toda la lista.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4440016" y="2108409"/>
            <a:ext cx="158545" cy="128705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482687" y="2108409"/>
            <a:ext cx="93687" cy="12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7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</a:t>
            </a:r>
            <a:endParaRPr lang="en-US" sz="770" dirty="0"/>
          </a:p>
        </p:txBody>
      </p:sp>
      <p:sp>
        <p:nvSpPr>
          <p:cNvPr id="28" name="Text 26"/>
          <p:cNvSpPr txBox="1"/>
          <p:nvPr/>
        </p:nvSpPr>
        <p:spPr>
          <a:xfrm>
            <a:off x="4732541" y="2102380"/>
            <a:ext cx="3302634" cy="30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hay dueño por grupo de personas, calendario común ni límite de gasto por equipo.</a:t>
            </a:r>
            <a:endParaRPr lang="en-US" sz="940" dirty="0"/>
          </a:p>
        </p:txBody>
      </p:sp>
      <p:sp>
        <p:nvSpPr>
          <p:cNvPr id="29" name="Text 27"/>
          <p:cNvSpPr txBox="1"/>
          <p:nvPr/>
        </p:nvSpPr>
        <p:spPr>
          <a:xfrm>
            <a:off x="8193857" y="1161358"/>
            <a:ext cx="3608746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LO RESOLVEMOS</a:t>
            </a:r>
            <a:endParaRPr lang="en-US" sz="790" dirty="0"/>
          </a:p>
        </p:txBody>
      </p:sp>
      <p:sp>
        <p:nvSpPr>
          <p:cNvPr id="30" name="Shape 28"/>
          <p:cNvSpPr/>
          <p:nvPr/>
        </p:nvSpPr>
        <p:spPr>
          <a:xfrm>
            <a:off x="8230432" y="1405042"/>
            <a:ext cx="73093" cy="73093"/>
          </a:xfrm>
          <a:prstGeom prst="rect">
            <a:avLst/>
          </a:prstGeom>
          <a:solidFill>
            <a:srgbClr val="127A5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25499" y="1337988"/>
            <a:ext cx="337015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Semanas 1 y 2: tablero por equipo con costo por respuesta, bajas y préstamos por campaña.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8230432" y="1787238"/>
            <a:ext cx="73093" cy="73093"/>
          </a:xfrm>
          <a:prstGeom prst="rect">
            <a:avLst/>
          </a:prstGeom>
          <a:solidFill>
            <a:srgbClr val="127A5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425499" y="1720184"/>
            <a:ext cx="337015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Semanas 3 y 4: Product Growth dueño de ex clientes; un dueño de promociones de KPay.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8230432" y="2169435"/>
            <a:ext cx="73093" cy="73093"/>
          </a:xfrm>
          <a:prstGeom prst="rect">
            <a:avLst/>
          </a:prstGeom>
          <a:solidFill>
            <a:srgbClr val="127A5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425499" y="2102380"/>
            <a:ext cx="337015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Braze: límite mensual de WhatsApp por equipo y calendario para envíos a más de 1 M.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8230432" y="2551631"/>
            <a:ext cx="73093" cy="73093"/>
          </a:xfrm>
          <a:prstGeom prst="rect">
            <a:avLst/>
          </a:prstGeom>
          <a:solidFill>
            <a:srgbClr val="127A5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425499" y="2484576"/>
            <a:ext cx="337015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 semanal: parte de los mensajes que responde lo mínimo y bajas por mil correos.</a:t>
            </a:r>
            <a:endParaRPr lang="en-US" sz="940" dirty="0"/>
          </a:p>
        </p:txBody>
      </p:sp>
      <p:sp>
        <p:nvSpPr>
          <p:cNvPr id="38" name="Shape 36"/>
          <p:cNvSpPr/>
          <p:nvPr/>
        </p:nvSpPr>
        <p:spPr>
          <a:xfrm>
            <a:off x="8193857" y="2909574"/>
            <a:ext cx="3485882" cy="614438"/>
          </a:xfrm>
          <a:prstGeom prst="rect">
            <a:avLst/>
          </a:prstGeom>
          <a:solidFill>
            <a:srgbClr val="E4F2E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303573" y="2982667"/>
            <a:ext cx="3382732" cy="12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70" b="1" spc="80" kern="0" dirty="0">
                <a:solidFill>
                  <a:srgbClr val="12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LO RESOLVEMOS</a:t>
            </a:r>
            <a:endParaRPr lang="en-US" sz="770" dirty="0"/>
          </a:p>
        </p:txBody>
      </p:sp>
      <p:sp>
        <p:nvSpPr>
          <p:cNvPr id="40" name="Text 38"/>
          <p:cNvSpPr txBox="1"/>
          <p:nvPr/>
        </p:nvSpPr>
        <p:spPr>
          <a:xfrm>
            <a:off x="8303573" y="3135636"/>
            <a:ext cx="3344856" cy="30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Hasta 2.34 M MXN al mes menos en mensajes: 1.57 M de Product Growth y 0.50 M de Marketing.</a:t>
            </a:r>
            <a:endParaRPr lang="en-US" sz="940" dirty="0"/>
          </a:p>
        </p:txBody>
      </p:sp>
      <p:sp>
        <p:nvSpPr>
          <p:cNvPr id="41" name="Shape 39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43" name="Text 41"/>
          <p:cNvSpPr txBox="1"/>
          <p:nvPr/>
        </p:nvSpPr>
        <p:spPr>
          <a:xfrm>
            <a:off x="1409876" y="6077461"/>
            <a:ext cx="6869032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 dueño, calendario y límite de gasto a la gente que no ha hecho nada corrige a los cinco equipos.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511956" y="6454684"/>
            <a:ext cx="6393098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láminas 21 a 31 (Braze, enero a septiembre 2026) y caso de negocio (ahorro por equipo al mes, septiembre 2026).</a:t>
            </a:r>
            <a:endParaRPr lang="en-US" sz="840" dirty="0"/>
          </a:p>
        </p:txBody>
      </p:sp>
      <p:sp>
        <p:nvSpPr>
          <p:cNvPr id="45" name="Text 43"/>
          <p:cNvSpPr txBox="1"/>
          <p:nvPr/>
        </p:nvSpPr>
        <p:spPr>
          <a:xfrm>
            <a:off x="11548171" y="6454684"/>
            <a:ext cx="153803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84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cuarta parte de la base recibe 86 % de los mensajes; sobra lo que ignora, no la persona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716321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Cobranza, Comercio del día, recordatorio de registro, rescates por push y Tasa 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362863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Marketing, Product Growth, Collections y Others (Shopping)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512349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4.5 M personas con 41 o más mensajes en 9 meses, unos 14 al mes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23 % de las personas recibe 86 % de los mensajes y 84 % del gasto, y es 90 % de quienes compraron.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nueve meses se dan de baja menos: 1.7 por mil correos, contra 10.9 en quien recibió 1 a 5 mensajes.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472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de 31 campañas que mandan 4 o más al mes por persona no llegan al mínimo: Rescate Tasa 0, Tasa 0 a registrados.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448808"/>
            <a:ext cx="3585349" cy="753391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448808"/>
            <a:ext cx="0" cy="753391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509694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670650"/>
            <a:ext cx="3297201" cy="458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corta por lista y no por respuesta: la misma persona recibe campañas que abre y otras que ignora desde hace meses.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071928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cortar parejo a quien recibe mucho: quitar las campañas que esa persona ya no abre.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10743250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enero a septiembre 2026. Concentración y bajas: E3 (bajas en eventos). Puntos: E1, campañas con 500 mil o más mensajes; mensajes por persona al mes = enviados entre personas por mes.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7267" y="6454684"/>
            <a:ext cx="154735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84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bajas vienen del primer correo a quien no nos conoce y del día saturado, no del total de mensajes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672391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Correos promocionales: BillPay, recordatorio de registro, Tasa 0 y referidos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459571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NewProducts y Marketing en los nuevos; Marketing y Product Growth en la base antigua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670217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159 mil nuevos y 242 mil de la base antigua que se dieron de baja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33 % de los nuevos que se van recibió un solo correo; el lanzamiento de BillPay se llevó 49 mil así.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día: de julio a septiembre, 8 o más campañas traen 1.10 bajas por mil contra 0.32 con una.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el mes también: 3.0 bajas por mil correos con 1 a 5 mensajes al mes, 0.3 con 41 o más.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753391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753391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376834" cy="458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Escribimos igual a quien no nos conoce que al cliente, y en días de lanzamiento se juntan campañas sin que nadie lo vea.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978624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límite con datos es por día y para el nuevo: dos promocionales al día y una sola serie de bienvenida.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8558860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enero a septiembre 2026. Campañas: E8 (campaña del día de la baja; nuevos = primer correo en el periodo). Día: E6a. Mes: E4b. Todas en personas.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4253" y="6454684"/>
            <a:ext cx="157839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</a:t>
            </a:r>
            <a:endParaRPr lang="en-US" sz="84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mes hasta 2.3 M personas reciben tres o más campañas el mismo día, casi siempre con Marketing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703281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 Sale, Comercio del día, BillPay, Anota y Gana, Mundial, Día del Padre y Tasa 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533150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Marketing, Sales, Product Growth y Others (NewProducts, QA); Collections no aparece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387079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Recurrentes y activos de KPay, leads y envíos a toda la base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2.26 M personas tuvieron en junio al menos un día con tres o más campañas; 1.30 M en enero.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Esos días son 9 % de las personas-día y llevan 24 % de los mensajes.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está en 63 % de los choques promocionales; Sales en 41 % y Product Growth en 25 %.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444824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Nadie administra el calendario y el límite global de mensajes por persona de Braze está apagado.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5340021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Hace falta un límite de mensajes por persona al día y un dueño del calendario.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10287962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enero a septiembre 2026. Personas por mes: E6a. Parejas: E6b, 1,000 pares más frecuentes (muestra, no universo); promocional = nombre con ticket y equipo distinto de Collections.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9979" y="6454684"/>
            <a:ext cx="151941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</a:t>
            </a:r>
            <a:endParaRPr lang="en-US" sz="84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Marketing, Sales y Product Growth le escriben a la misma gente, pero cada equipo nombra distinto la audiencia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707472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 Sale, Comercio del día, Tasa 0, descuentos, referidos, Anota y Gana y BillPay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433182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Marketing, Sales, Product Growth y NewProducts (en Others)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717407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Recurrentes de KPay; registrados, anónimos, inactivos y dormants de KCash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y Sales usan el mismo nombre en 58 % de sus choques: recurrentes de KPay.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y Product Growth, solo 12 %: "anónimos" de uno son "registrados" del otro.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Others casi nunca coincide el nombre: 1 % con Marketing y 0 % con Product Growth.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426817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equipo arma y nombra su audiencia por su cuenta y nadie excluye a quien ya recibió la campaña de otro equipo.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570060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dueño por audiencia y exclusiones entre equipos para no mandar la misma oferta dos veces.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8176375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E6b (1,000 pares más frecuentes el mismo día, enero a septiembre 2026; muestra). Audiencia tomada del nombre de la campaña y agrupada.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6965" y="6454684"/>
            <a:ext cx="155045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</a:t>
            </a:r>
            <a:endParaRPr lang="en-US" sz="84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misma campaña le llega dos veces el mismo día a la misma persona; el WhatsApp repetido costó 0.75 M MXN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375281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Rescate Tasa 0, Mundial y Referidos, Hot Sale, churn, nunca activos y aviso de desembolso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445600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(6 de cada 10), Product Growth, Sales y el aviso de desembolso de KCash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551156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 recientes y base rezagada, churn, recurrentes de KPay y clientes con préstamo nuevo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121417" cy="3834621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9.9 M personas-día con la misma campaña repetida; 7 de cada 10 en el mismo canal.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repetido: 1.06 M envíos de más, 0.75 M MXN en 9 meses; hoy, 0.02 M MXN al mes.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lanza la misma campaña por audiencia o por día sin excluir a quien ya la recibió.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286956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Braze no impide repetir la misma campaña el mismo día y nadie apaga la versión vieja al crear la nueva.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857126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5981008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5942427"/>
            <a:ext cx="6277297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regla de Braze (no repetir campaña el mismo día) y apagar versiones viejas lo resuelve.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319649"/>
            <a:ext cx="11139395" cy="27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E6b (1,000 pares más frecuentes, 2026; es un mínimo) y E1 (entrega real de esas campañas 70 %; la del canal, 74 %; 1.00 MXN por entregado). Misma campaña = mismo nombre sin fecha o mismo ticket.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52843" y="6319649"/>
            <a:ext cx="148991" cy="27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</a:t>
            </a:r>
            <a:endParaRPr lang="en-US" sz="84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Después del sexto mes casi nadie abre el push, y le seguimos mandando de 7 a 10 al mes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230763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promocional: Comercio del día, Hot Sale, referidos y rescates de fin de semana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515298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y Marketing a recurrentes de KPay; Marketing a leads de bases viejas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641189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Personas con más de 6 meses en la base: reciben 73 % del push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Push: 13 al mes y 3.4 % de apertura el primer mes; después del sexto, 7 a 10 al mes y 1.3 %.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 sí baja con la antigüedad: 9 al mes el primer mes, menos de 2 después del sexto.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bajas de correo son parecidas en todas las antigüedades: 3.0 a 3.6 por mil correos.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337716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push se manda por lista (recurrentes, bases viejas) y no según si la persona lo abrió hace poco.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3820014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push debe ir a quien abrió uno en los últimos 90 días.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9777567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E12 (antigüedad el día del envío), enero a septiembre 2026. Por mes = mensajes por persona entre los meses que dura la banda (1, 2, 3, 6, 9 y 9); respuesta sobre enviados.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7116" y="6454684"/>
            <a:ext cx="154890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84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lo explica: no hay un límite de mensajes por persona ni un calendario común entre equipos</a:t>
            </a:r>
            <a:endParaRPr lang="en-US" sz="2210" dirty="0"/>
          </a:p>
        </p:txBody>
      </p:sp>
      <p:sp>
        <p:nvSpPr>
          <p:cNvPr id="3" name="Text 1"/>
          <p:cNvSpPr txBox="1"/>
          <p:nvPr/>
        </p:nvSpPr>
        <p:spPr>
          <a:xfrm>
            <a:off x="511956" y="1161358"/>
            <a:ext cx="3788037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QUÉ PASA, DE LO VISIBLE A LA CAUSA</a:t>
            </a:r>
            <a:endParaRPr lang="en-US" sz="790" dirty="0"/>
          </a:p>
        </p:txBody>
      </p:sp>
      <p:sp>
        <p:nvSpPr>
          <p:cNvPr id="4" name="Shape 2"/>
          <p:cNvSpPr/>
          <p:nvPr/>
        </p:nvSpPr>
        <p:spPr>
          <a:xfrm>
            <a:off x="511956" y="1350180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1956" y="1350180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6" name="Text 4"/>
          <p:cNvSpPr txBox="1"/>
          <p:nvPr/>
        </p:nvSpPr>
        <p:spPr>
          <a:xfrm>
            <a:off x="743598" y="1337988"/>
            <a:ext cx="354944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cuarto de la base recibe 86 %; hasta 2.3 M al mes tienen días de 3 o más campañas.</a:t>
            </a:r>
            <a:endParaRPr lang="en-US" sz="940" dirty="0"/>
          </a:p>
        </p:txBody>
      </p:sp>
      <p:sp>
        <p:nvSpPr>
          <p:cNvPr id="7" name="Shape 5"/>
          <p:cNvSpPr/>
          <p:nvPr/>
        </p:nvSpPr>
        <p:spPr>
          <a:xfrm>
            <a:off x="511956" y="17323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1956" y="17323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9" name="Text 7"/>
          <p:cNvSpPr txBox="1"/>
          <p:nvPr/>
        </p:nvSpPr>
        <p:spPr>
          <a:xfrm>
            <a:off x="743598" y="1720184"/>
            <a:ext cx="354944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llegan promociones de dos o tres equipos el mismo día, y a veces la misma dos veces.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511956" y="2114572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1956" y="2114572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12" name="Text 10"/>
          <p:cNvSpPr txBox="1"/>
          <p:nvPr/>
        </p:nvSpPr>
        <p:spPr>
          <a:xfrm>
            <a:off x="743598" y="2102380"/>
            <a:ext cx="354944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equipo nombra su audiencia y nadie excluye a quien ya recibió la de otro equipo.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511956" y="2496768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1956" y="2496768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768" dirty="0"/>
          </a:p>
        </p:txBody>
      </p:sp>
      <p:sp>
        <p:nvSpPr>
          <p:cNvPr id="15" name="Text 13"/>
          <p:cNvSpPr txBox="1"/>
          <p:nvPr/>
        </p:nvSpPr>
        <p:spPr>
          <a:xfrm>
            <a:off x="743598" y="2484576"/>
            <a:ext cx="354944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versiones viejas siguen activas y el push sigue saliendo a quien ya no lo abre.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511956" y="2878964"/>
            <a:ext cx="164573" cy="164573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11956" y="2878964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768" dirty="0"/>
          </a:p>
        </p:txBody>
      </p:sp>
      <p:sp>
        <p:nvSpPr>
          <p:cNvPr id="18" name="Text 16"/>
          <p:cNvSpPr txBox="1"/>
          <p:nvPr/>
        </p:nvSpPr>
        <p:spPr>
          <a:xfrm>
            <a:off x="743598" y="2866772"/>
            <a:ext cx="354944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raíz: el límite global de Braze está apagado y nadie es dueño del calendario.</a:t>
            </a:r>
            <a:endParaRPr lang="en-US" sz="940" dirty="0"/>
          </a:p>
        </p:txBody>
      </p:sp>
      <p:sp>
        <p:nvSpPr>
          <p:cNvPr id="19" name="Text 17"/>
          <p:cNvSpPr txBox="1"/>
          <p:nvPr/>
        </p:nvSpPr>
        <p:spPr>
          <a:xfrm>
            <a:off x="4440016" y="1161358"/>
            <a:ext cx="3608591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HIPÓTESIS: A ANALÍTICA, O OPERATIVA, G GOBIERNO</a:t>
            </a:r>
            <a:endParaRPr lang="en-US" sz="790" dirty="0"/>
          </a:p>
        </p:txBody>
      </p:sp>
      <p:sp>
        <p:nvSpPr>
          <p:cNvPr id="20" name="Shape 18"/>
          <p:cNvSpPr/>
          <p:nvPr/>
        </p:nvSpPr>
        <p:spPr>
          <a:xfrm>
            <a:off x="4440016" y="1344016"/>
            <a:ext cx="158244" cy="128705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482687" y="1344016"/>
            <a:ext cx="93377" cy="12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7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770" dirty="0"/>
          </a:p>
        </p:txBody>
      </p:sp>
      <p:sp>
        <p:nvSpPr>
          <p:cNvPr id="22" name="Text 20"/>
          <p:cNvSpPr txBox="1"/>
          <p:nvPr/>
        </p:nvSpPr>
        <p:spPr>
          <a:xfrm>
            <a:off x="4732541" y="1337988"/>
            <a:ext cx="3048213" cy="30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2 promocionales al día, las bajas bajan de 1.10 a cerca de 0.32 por mil personas-día.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4440016" y="1726212"/>
            <a:ext cx="160504" cy="128705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482687" y="1726212"/>
            <a:ext cx="95705" cy="12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7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</a:t>
            </a:r>
            <a:endParaRPr lang="en-US" sz="770" dirty="0"/>
          </a:p>
        </p:txBody>
      </p:sp>
      <p:sp>
        <p:nvSpPr>
          <p:cNvPr id="25" name="Text 23"/>
          <p:cNvSpPr txBox="1"/>
          <p:nvPr/>
        </p:nvSpPr>
        <p:spPr>
          <a:xfrm>
            <a:off x="4732541" y="1720184"/>
            <a:ext cx="3252960" cy="30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repetir campaña el mismo día y sin versiones viejas, se van 9.9 M personas-día repetidas.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4440016" y="2108409"/>
            <a:ext cx="158545" cy="128705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482687" y="2108409"/>
            <a:ext cx="93687" cy="12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7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</a:t>
            </a:r>
            <a:endParaRPr lang="en-US" sz="770" dirty="0"/>
          </a:p>
        </p:txBody>
      </p:sp>
      <p:sp>
        <p:nvSpPr>
          <p:cNvPr id="28" name="Text 26"/>
          <p:cNvSpPr txBox="1"/>
          <p:nvPr/>
        </p:nvSpPr>
        <p:spPr>
          <a:xfrm>
            <a:off x="4732541" y="2102380"/>
            <a:ext cx="3189627" cy="30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un solo dueño del calendario, los lanzamientos de cuatro equipos no caen en la misma persona.</a:t>
            </a:r>
            <a:endParaRPr lang="en-US" sz="940" dirty="0"/>
          </a:p>
        </p:txBody>
      </p:sp>
      <p:sp>
        <p:nvSpPr>
          <p:cNvPr id="29" name="Text 27"/>
          <p:cNvSpPr txBox="1"/>
          <p:nvPr/>
        </p:nvSpPr>
        <p:spPr>
          <a:xfrm>
            <a:off x="8193857" y="1161358"/>
            <a:ext cx="3608746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LO RESOLVEMOS</a:t>
            </a:r>
            <a:endParaRPr lang="en-US" sz="790" dirty="0"/>
          </a:p>
        </p:txBody>
      </p:sp>
      <p:sp>
        <p:nvSpPr>
          <p:cNvPr id="30" name="Shape 28"/>
          <p:cNvSpPr/>
          <p:nvPr/>
        </p:nvSpPr>
        <p:spPr>
          <a:xfrm>
            <a:off x="8230432" y="1405042"/>
            <a:ext cx="73093" cy="73093"/>
          </a:xfrm>
          <a:prstGeom prst="rect">
            <a:avLst/>
          </a:prstGeom>
          <a:solidFill>
            <a:srgbClr val="127A5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25499" y="1337988"/>
            <a:ext cx="337015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Semanas 1 a 4, Braze: no repetir campaña el mismo día; apagar versiones viejas. Cada equipo.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8230432" y="1787238"/>
            <a:ext cx="73093" cy="73093"/>
          </a:xfrm>
          <a:prstGeom prst="rect">
            <a:avLst/>
          </a:prstGeom>
          <a:solidFill>
            <a:srgbClr val="127A5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425499" y="1720184"/>
            <a:ext cx="337015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Semanas 1 a 4: apagar el push que no se abre, con 10 % sin mensajes; una sola bienvenida.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8230432" y="2169435"/>
            <a:ext cx="73093" cy="73093"/>
          </a:xfrm>
          <a:prstGeom prst="rect">
            <a:avLst/>
          </a:prstGeom>
          <a:solidFill>
            <a:srgbClr val="127A5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425499" y="2102380"/>
            <a:ext cx="337015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 2, Braze: máximo 2 promocionales y 1 push promocional al día por persona. MarTech y Datos.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8230432" y="2551631"/>
            <a:ext cx="73093" cy="73093"/>
          </a:xfrm>
          <a:prstGeom prst="rect">
            <a:avLst/>
          </a:prstGeom>
          <a:solidFill>
            <a:srgbClr val="127A5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425499" y="2484576"/>
            <a:ext cx="337015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 2: calendario único para envíos de más de 1 M; medir personas con 3 o más campañas al día.</a:t>
            </a:r>
            <a:endParaRPr lang="en-US" sz="940" dirty="0"/>
          </a:p>
        </p:txBody>
      </p:sp>
      <p:sp>
        <p:nvSpPr>
          <p:cNvPr id="38" name="Shape 36"/>
          <p:cNvSpPr/>
          <p:nvPr/>
        </p:nvSpPr>
        <p:spPr>
          <a:xfrm>
            <a:off x="8193857" y="2909574"/>
            <a:ext cx="3485882" cy="614438"/>
          </a:xfrm>
          <a:prstGeom prst="rect">
            <a:avLst/>
          </a:prstGeom>
          <a:solidFill>
            <a:srgbClr val="E4F2E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303573" y="2982667"/>
            <a:ext cx="3382732" cy="12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70" b="1" spc="80" kern="0" dirty="0">
                <a:solidFill>
                  <a:srgbClr val="12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LO RESOLVEMOS</a:t>
            </a:r>
            <a:endParaRPr lang="en-US" sz="770" dirty="0"/>
          </a:p>
        </p:txBody>
      </p:sp>
      <p:sp>
        <p:nvSpPr>
          <p:cNvPr id="40" name="Text 38"/>
          <p:cNvSpPr txBox="1"/>
          <p:nvPr/>
        </p:nvSpPr>
        <p:spPr>
          <a:xfrm>
            <a:off x="8303573" y="3135636"/>
            <a:ext cx="3289595" cy="30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Unos 19 M mensajes menos al mes, 0.02 M MXN al mes de WhatsApp repetido y menos bajas en días saturados.</a:t>
            </a:r>
            <a:endParaRPr lang="en-US" sz="940" dirty="0"/>
          </a:p>
        </p:txBody>
      </p:sp>
      <p:sp>
        <p:nvSpPr>
          <p:cNvPr id="41" name="Shape 39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43" name="Text 41"/>
          <p:cNvSpPr txBox="1"/>
          <p:nvPr/>
        </p:nvSpPr>
        <p:spPr>
          <a:xfrm>
            <a:off x="1409876" y="6077461"/>
            <a:ext cx="5825424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corrige con reglas en Braze y un dueño del calendario, no campaña por campaña.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511956" y="6454684"/>
            <a:ext cx="9249011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enero a septiembre 2026: E3, E6a, E6b y E12. Mensajes menos al mes: campañas activas en septiembre marcadas para rehacer o bajar frecuencia (MUESTRA_C).</a:t>
            </a:r>
            <a:endParaRPr lang="en-US" sz="840" dirty="0"/>
          </a:p>
        </p:txBody>
      </p:sp>
      <p:sp>
        <p:nvSpPr>
          <p:cNvPr id="45" name="Text 43"/>
          <p:cNvSpPr txBox="1"/>
          <p:nvPr/>
        </p:nvSpPr>
        <p:spPr>
          <a:xfrm>
            <a:off x="11546965" y="6454684"/>
            <a:ext cx="155045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</a:t>
            </a:r>
            <a:endParaRPr lang="en-US" sz="84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semanas con más mensajes son semanas de lanzamientos, y en ellas la respuesta cae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614490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Lanzamientos a toda la base: BillPay, Hot Sale, Comercio del día, Mundial, Día del Padre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463762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en las cinco semanas pico; NewProducts en la más grande; Sales en Hot Sale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2832288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Envíos a toda la base, leads y recurrentes de KPay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millón de correos de más en la semana baja el clic 0.05 puntos (R² 0.60); sin junio, R² 0.65.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las 5 semanas de lanzamientos el push abrió 1.10 % contra 1.65 % el resto.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de junio: el correo de lanzamiento de BillPay a 16.1 M personas dejó la semana en 0.36 % de clic.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416728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equipo fija la fecha de su lanzamiento sin ver la de los demás.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5506582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volumen se acumula porque nadie ve el calendario completo de lanzamientos.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8976117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E4a por semana y canal, 38 semanas (5 de enero a 21 de septiembre 2026); clic sobre entregados, apertura sobre enviados. Es correlación, no experimento.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2896" y="6454684"/>
            <a:ext cx="159236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</a:t>
            </a:r>
            <a:endParaRPr lang="en-US" sz="84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330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Junio sumó 43 M push nuevos de cuatro equipos y casi nadie los abrió: 0.87 %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835376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467446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925499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079523"/>
            <a:ext cx="3565903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BillPay y sus recordatorios, TopUps, Anota y Gana, Mundial, Día del Padre, Hot Sale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925499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079523"/>
            <a:ext cx="2769576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Marketing, NewProducts, Product Growth y Sales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925499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079523"/>
            <a:ext cx="3714613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 la base y leads: cada push llegó a entre 1.2 y 3.2 M personas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581985"/>
            <a:ext cx="7289909" cy="430046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581985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179522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179522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178302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 del 15 de junio: push a 342 (3.4 veces enero) y apertura a 51.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18359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18359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171405"/>
            <a:ext cx="3460049" cy="157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push que ya existía abrió 3.11 %; el nuevo, 0.87 %.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41433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41433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40213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BillPay sumó 9.6 M push en junio entre NewProducts y Marketing.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2802721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2802721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2863608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024564"/>
            <a:ext cx="3273916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equipo lanzó su campaña de junio sin ver las de los demás; BillPay salió por dos equipos.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222811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lanzamiento debe tener un solo dueño y una sola secuencia, no cuatro push en un mes.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8197175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E4a por semana y canal (índice: semanas de enero = 100) y E1 por campaña y mes, 2026. Push nuevo = la campaña no mandó push en mayo.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68969" y="6454684"/>
            <a:ext cx="132382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</a:t>
            </a:r>
            <a:endParaRPr lang="en-US" sz="84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bajas suben con las temporadas de ofertas: Navidad y Tasa 0 en enero, el lanzamiento de BillPay en junio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399031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0, Navidad, Reyes, Cuesta de enero, BillPay, referidos y Anota y Gana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653453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y Product Growth en enero; NewProducts, Marketing y Product Growth en junio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601761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rezagada, anónimos, registrados y elegibles; en junio, toda la base con correo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Enero: 69 mil personas se dieron de baja; junio: 63 mil. El mes promedio, 51 mil.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Enero es la cola de diciembre: No Tasa 0 dejó 18 mil bajas en enero sin mandar correos ese mes.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correo de lanzamiento de BillPay salió una vez y siguió sumando bajas: 80 mil en total (37 mil en junio).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377765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temporadas y los lanzamientos salen a toda la base sin límite de audiencia ni de toques.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809734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temporadas y los lanzamientos necesitan un límite de audiencia y de toques, no solo una fecha.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9595328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enero a septiembre 2026. Bajas por campaña y mes: E1 (eventos; cuentan bajas que llegan después del envío). Personas por mes: E4a. Personas desde BillPay Intro: E8.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5157" y="6454684"/>
            <a:ext cx="156908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</a:t>
            </a:r>
            <a:endParaRPr lang="en-US" sz="84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solo correo hundió la semana: con BillPay Intro el clic cayó a un tercio y luego volvió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6493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423092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BillPay Intro: lanzamiento de BillPay por correo a toda la base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1431653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NewProducts (en Others)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337871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16.1 M personas, incluidas las que nunca habían respondido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763889"/>
            <a:ext cx="7289909" cy="411855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7638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19771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19771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19649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BillPay Intro fue 64 % del correo de la semana del 1 de junio, con 0.10 % de clic.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3655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3655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3533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Semana: 0.36 % con BillPay, 0.79 % sin él; la siguiente, 1.05 %.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7538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7538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741685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reporte mensual mostró 0.67 % en julio, cuatro semanas tarde.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1422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1422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2031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364110"/>
            <a:ext cx="3349358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hay lectura semanal por campaña ni regla que frene un envío a toda la base que no responde.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267362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un envío de más de 1 M no llega a 3 clics por mil correos en su primera semana, se frena.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8649048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E4a por semana y mes (correo) y E1 (BillPay Intro, junio 2026). Supone que BillPay Intro salió completo la semana del 1 de junio. Clic sobre entregados.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4253" y="6454684"/>
            <a:ext cx="157839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</a:t>
            </a:r>
            <a:endParaRPr lang="en-US" sz="84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lunes no responde peor por ser lunes: sin el correo de BillPay, su clic es igual al de cualquier día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603624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BillPay Intro y los correos más grandes de Product Growth (Tasa 0, inactivos)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615266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Growth, NewProducts (Others), Marketing, Collections y Sales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510176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Registrados sin crédito, inactivos, nunca activos y toda la base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Lunes: 0.65 % de clic; sin el lanzamiento de BillPay, 0.78 %, como el martes (0.82 %).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tamaño de cada envío explica 71 % del clic en Product Growth, Marketing y Sales.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 manda el lunes 40 mil por campaña y su clic baja a 0.29 %.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018874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que hunde al lunes es un envío a toda la base y el tamaño de los envíos, no el día.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5883324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regla no es "no mandar en lunes" sino "no mandar a toda la base sin probar antes".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9307843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E10 (correo por día y equipo, enero a septiembre 2026) y E1. Recta sobre el log del tamaño, solo Product Growth, Marketing y Sales; con todos los equipos R² 0.02.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1238" y="6454684"/>
            <a:ext cx="160944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</a:t>
            </a:r>
            <a:endParaRPr lang="en-US" sz="84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parece leerse mejor en domingo, pero con 3 % de los envíos no alcanza para mover el calendario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603934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promocional: Tasa 0, referidos, churn, inactivos y Hot Sale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369227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(56 %), Product Growth (29 %) y Sales (13 %) del WhatsApp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2703758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 rezagados, churn, inactivos y recurrentes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Domingo: 89 % de lectura contra 66 % el lunes, pero con 1.6 M de 55 M WhatsApp.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tamaño del envío explica 34 % de la lectura: el domingo cada campaña manda menos de 5 mil WhatsApp.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marca 175 % el domingo: la lectura se registra el día en que ocurre y suma mensajes de días anteriores.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292233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domingo son envíos chicos y de seguimiento, y su tasa se infla con lecturas de otros días.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7656201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 de mover WhatsApp al domingo, probar la misma campaña en domingo y martes con grupo sin mensajes.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11094379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E10 (WhatsApp por día y equipo, enero a septiembre 2026). Lectura sobre entregados, por fecha del evento. Recta por mínimos cuadrados sobre el logaritmo del tamaño, sin celdas arriba de 100 %.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6815" y="6454684"/>
            <a:ext cx="155200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</a:t>
            </a:r>
            <a:endParaRPr lang="en-US" sz="84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lo explica: no hay límite semanal de mensajes ni revisión semanal, y los lanzamientos no se coordinan</a:t>
            </a:r>
            <a:endParaRPr lang="en-US" sz="2210" dirty="0"/>
          </a:p>
        </p:txBody>
      </p:sp>
      <p:sp>
        <p:nvSpPr>
          <p:cNvPr id="3" name="Text 1"/>
          <p:cNvSpPr txBox="1"/>
          <p:nvPr/>
        </p:nvSpPr>
        <p:spPr>
          <a:xfrm>
            <a:off x="511956" y="1161358"/>
            <a:ext cx="3788037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QUÉ PASA, DE LO VISIBLE A LA CAUSA</a:t>
            </a:r>
            <a:endParaRPr lang="en-US" sz="790" dirty="0"/>
          </a:p>
        </p:txBody>
      </p:sp>
      <p:sp>
        <p:nvSpPr>
          <p:cNvPr id="4" name="Shape 2"/>
          <p:cNvSpPr/>
          <p:nvPr/>
        </p:nvSpPr>
        <p:spPr>
          <a:xfrm>
            <a:off x="511956" y="1350180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1956" y="1350180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6" name="Text 4"/>
          <p:cNvSpPr txBox="1"/>
          <p:nvPr/>
        </p:nvSpPr>
        <p:spPr>
          <a:xfrm>
            <a:off x="743598" y="1337988"/>
            <a:ext cx="354944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1 de junio el clic cayó a 0.36 %; en junio salieron 43 M push nuevos.</a:t>
            </a:r>
            <a:endParaRPr lang="en-US" sz="940" dirty="0"/>
          </a:p>
        </p:txBody>
      </p:sp>
      <p:sp>
        <p:nvSpPr>
          <p:cNvPr id="7" name="Shape 5"/>
          <p:cNvSpPr/>
          <p:nvPr/>
        </p:nvSpPr>
        <p:spPr>
          <a:xfrm>
            <a:off x="511956" y="17323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1956" y="17323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9" name="Text 7"/>
          <p:cNvSpPr txBox="1"/>
          <p:nvPr/>
        </p:nvSpPr>
        <p:spPr>
          <a:xfrm>
            <a:off x="743598" y="1720184"/>
            <a:ext cx="354944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picos son lanzamientos y temporadas a toda la base que caen la misma semana.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511956" y="2114572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1956" y="2114572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12" name="Text 10"/>
          <p:cNvSpPr txBox="1"/>
          <p:nvPr/>
        </p:nvSpPr>
        <p:spPr>
          <a:xfrm>
            <a:off x="743598" y="2102380"/>
            <a:ext cx="354944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equipo fija su fecha sin ver las de los demás; BillPay salió por dos equipos.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511956" y="2496768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1956" y="2496768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768" dirty="0"/>
          </a:p>
        </p:txBody>
      </p:sp>
      <p:sp>
        <p:nvSpPr>
          <p:cNvPr id="15" name="Text 13"/>
          <p:cNvSpPr txBox="1"/>
          <p:nvPr/>
        </p:nvSpPr>
        <p:spPr>
          <a:xfrm>
            <a:off x="743598" y="2484576"/>
            <a:ext cx="354944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reporte es mensual: promedia el golpe y llega cuatro semanas tarde.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511956" y="2878964"/>
            <a:ext cx="164573" cy="164573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11956" y="2878964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768" dirty="0"/>
          </a:p>
        </p:txBody>
      </p:sp>
      <p:sp>
        <p:nvSpPr>
          <p:cNvPr id="18" name="Text 16"/>
          <p:cNvSpPr txBox="1"/>
          <p:nvPr/>
        </p:nvSpPr>
        <p:spPr>
          <a:xfrm>
            <a:off x="743598" y="2866772"/>
            <a:ext cx="354944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raíz: no hay calendario único ni límite semanal por canal con dueño.</a:t>
            </a:r>
            <a:endParaRPr lang="en-US" sz="940" dirty="0"/>
          </a:p>
        </p:txBody>
      </p:sp>
      <p:sp>
        <p:nvSpPr>
          <p:cNvPr id="19" name="Text 17"/>
          <p:cNvSpPr txBox="1"/>
          <p:nvPr/>
        </p:nvSpPr>
        <p:spPr>
          <a:xfrm>
            <a:off x="4440016" y="1161358"/>
            <a:ext cx="3608591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HIPÓTESIS: A ANALÍTICA, O OPERATIVA, G GOBIERNO</a:t>
            </a:r>
            <a:endParaRPr lang="en-US" sz="790" dirty="0"/>
          </a:p>
        </p:txBody>
      </p:sp>
      <p:sp>
        <p:nvSpPr>
          <p:cNvPr id="20" name="Shape 18"/>
          <p:cNvSpPr/>
          <p:nvPr/>
        </p:nvSpPr>
        <p:spPr>
          <a:xfrm>
            <a:off x="4440016" y="1344016"/>
            <a:ext cx="158244" cy="128705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482687" y="1344016"/>
            <a:ext cx="93377" cy="12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7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770" dirty="0"/>
          </a:p>
        </p:txBody>
      </p:sp>
      <p:sp>
        <p:nvSpPr>
          <p:cNvPr id="22" name="Text 20"/>
          <p:cNvSpPr txBox="1"/>
          <p:nvPr/>
        </p:nvSpPr>
        <p:spPr>
          <a:xfrm>
            <a:off x="4732541" y="1337988"/>
            <a:ext cx="3302789" cy="30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menos correos por semana sube el clic: cada millón de más lo baja 0.05 puntos.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4440016" y="1726212"/>
            <a:ext cx="160504" cy="128705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482687" y="1726212"/>
            <a:ext cx="95705" cy="12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7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</a:t>
            </a:r>
            <a:endParaRPr lang="en-US" sz="770" dirty="0"/>
          </a:p>
        </p:txBody>
      </p:sp>
      <p:sp>
        <p:nvSpPr>
          <p:cNvPr id="25" name="Text 23"/>
          <p:cNvSpPr txBox="1"/>
          <p:nvPr/>
        </p:nvSpPr>
        <p:spPr>
          <a:xfrm>
            <a:off x="4732541" y="1720184"/>
            <a:ext cx="3033311" cy="30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todo envío de más de 1 M sale primero a 10 %, un correo como BillPay Intro se frena a tiempo.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4440016" y="2108409"/>
            <a:ext cx="158545" cy="128705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482687" y="2108409"/>
            <a:ext cx="93687" cy="12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7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</a:t>
            </a:r>
            <a:endParaRPr lang="en-US" sz="770" dirty="0"/>
          </a:p>
        </p:txBody>
      </p:sp>
      <p:sp>
        <p:nvSpPr>
          <p:cNvPr id="28" name="Text 26"/>
          <p:cNvSpPr txBox="1"/>
          <p:nvPr/>
        </p:nvSpPr>
        <p:spPr>
          <a:xfrm>
            <a:off x="4732541" y="2102380"/>
            <a:ext cx="2723317" cy="30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un solo dueño del calendario no caen tres lanzamientos a toda la base la misma semana.</a:t>
            </a:r>
            <a:endParaRPr lang="en-US" sz="940" dirty="0"/>
          </a:p>
        </p:txBody>
      </p:sp>
      <p:sp>
        <p:nvSpPr>
          <p:cNvPr id="29" name="Text 27"/>
          <p:cNvSpPr txBox="1"/>
          <p:nvPr/>
        </p:nvSpPr>
        <p:spPr>
          <a:xfrm>
            <a:off x="8193857" y="1161358"/>
            <a:ext cx="3608746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LO RESOLVEMOS</a:t>
            </a:r>
            <a:endParaRPr lang="en-US" sz="790" dirty="0"/>
          </a:p>
        </p:txBody>
      </p:sp>
      <p:sp>
        <p:nvSpPr>
          <p:cNvPr id="30" name="Shape 28"/>
          <p:cNvSpPr/>
          <p:nvPr/>
        </p:nvSpPr>
        <p:spPr>
          <a:xfrm>
            <a:off x="8230432" y="1405042"/>
            <a:ext cx="73093" cy="73093"/>
          </a:xfrm>
          <a:prstGeom prst="rect">
            <a:avLst/>
          </a:prstGeom>
          <a:solidFill>
            <a:srgbClr val="127A5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25499" y="1337988"/>
            <a:ext cx="337015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 2: calendario único de lanzamientos de los cuatro equipos, con fecha aprobada. CRM.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8230432" y="1787238"/>
            <a:ext cx="73093" cy="73093"/>
          </a:xfrm>
          <a:prstGeom prst="rect">
            <a:avLst/>
          </a:prstGeom>
          <a:solidFill>
            <a:srgbClr val="127A5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425499" y="1720184"/>
            <a:ext cx="337015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 3, Braze: todo envío de más de 1 M sale primero a 10 % con grupo sin mensajes.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8230432" y="2169435"/>
            <a:ext cx="73093" cy="73093"/>
          </a:xfrm>
          <a:prstGeom prst="rect">
            <a:avLst/>
          </a:prstGeom>
          <a:solidFill>
            <a:srgbClr val="127A5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425499" y="2102380"/>
            <a:ext cx="337015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 4: lectura semanal por campaña con alerta; el día se cambia solo con prueba.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8230432" y="2551631"/>
            <a:ext cx="73093" cy="73093"/>
          </a:xfrm>
          <a:prstGeom prst="rect">
            <a:avLst/>
          </a:prstGeom>
          <a:solidFill>
            <a:srgbClr val="127A5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425499" y="2484576"/>
            <a:ext cx="337015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 2, Braze: límite semanal por canal y un solo envío a toda la base por semana. MarTech y Datos.</a:t>
            </a:r>
            <a:endParaRPr lang="en-US" sz="940" dirty="0"/>
          </a:p>
        </p:txBody>
      </p:sp>
      <p:sp>
        <p:nvSpPr>
          <p:cNvPr id="38" name="Shape 36"/>
          <p:cNvSpPr/>
          <p:nvPr/>
        </p:nvSpPr>
        <p:spPr>
          <a:xfrm>
            <a:off x="8193857" y="2909574"/>
            <a:ext cx="3485882" cy="772078"/>
          </a:xfrm>
          <a:prstGeom prst="rect">
            <a:avLst/>
          </a:prstGeom>
          <a:solidFill>
            <a:srgbClr val="E4F2E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303573" y="2982667"/>
            <a:ext cx="3382732" cy="12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70" b="1" spc="80" kern="0" dirty="0">
                <a:solidFill>
                  <a:srgbClr val="12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LO RESOLVEMOS</a:t>
            </a:r>
            <a:endParaRPr lang="en-US" sz="770" dirty="0"/>
          </a:p>
        </p:txBody>
      </p:sp>
      <p:sp>
        <p:nvSpPr>
          <p:cNvPr id="40" name="Text 38"/>
          <p:cNvSpPr txBox="1"/>
          <p:nvPr/>
        </p:nvSpPr>
        <p:spPr>
          <a:xfrm>
            <a:off x="8303573" y="3135636"/>
            <a:ext cx="3362242" cy="45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Evitar semanas como la del 1 de junio: un correo de 0.8 M MXN; 58 mil personas se dieron de baja el día que les llegó.</a:t>
            </a:r>
            <a:endParaRPr lang="en-US" sz="940" dirty="0"/>
          </a:p>
        </p:txBody>
      </p:sp>
      <p:sp>
        <p:nvSpPr>
          <p:cNvPr id="41" name="Shape 39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43" name="Text 41"/>
          <p:cNvSpPr txBox="1"/>
          <p:nvPr/>
        </p:nvSpPr>
        <p:spPr>
          <a:xfrm>
            <a:off x="1409876" y="6077461"/>
            <a:ext cx="3233557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Coordinar las fechas vale más que elegir el día.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511956" y="6454684"/>
            <a:ext cx="7396967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enero a septiembre 2026: E4a (serie semanal), E1 (campañas por mes), E8 (bajas desde BillPay Intro) y E10 (día de la semana).</a:t>
            </a:r>
            <a:endParaRPr lang="en-US" sz="840" dirty="0"/>
          </a:p>
        </p:txBody>
      </p:sp>
      <p:sp>
        <p:nvSpPr>
          <p:cNvPr id="45" name="Text 43"/>
          <p:cNvSpPr txBox="1"/>
          <p:nvPr/>
        </p:nvSpPr>
        <p:spPr>
          <a:xfrm>
            <a:off x="11543951" y="6454684"/>
            <a:ext cx="158150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</a:t>
            </a:r>
            <a:endParaRPr lang="en-US" sz="84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F4F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1906309"/>
            <a:ext cx="11521105" cy="18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150" b="1" spc="18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ACTO 2 · POR QUÉ PASA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11956" y="2284586"/>
            <a:ext cx="10064121" cy="1474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460" b="1" spc="-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causas: escribimos por lo que queremos vender, no por quién es la persona ni por lo que hizo</a:t>
            </a:r>
            <a:endParaRPr lang="en-US" sz="3460" dirty="0"/>
          </a:p>
        </p:txBody>
      </p:sp>
      <p:sp>
        <p:nvSpPr>
          <p:cNvPr id="4" name="Text 2"/>
          <p:cNvSpPr txBox="1"/>
          <p:nvPr/>
        </p:nvSpPr>
        <p:spPr>
          <a:xfrm>
            <a:off x="511956" y="3953982"/>
            <a:ext cx="8808469" cy="789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4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Cuatro causas de fondo: le escribimos igual a todos, diseñamos por lo que queremos vender, nadie compara volumen contra respuesta y Braze no tiene dueño ni reglas comunes.</a:t>
            </a:r>
            <a:endParaRPr lang="en-US" sz="1540" dirty="0"/>
          </a:p>
        </p:txBody>
      </p:sp>
      <p:sp>
        <p:nvSpPr>
          <p:cNvPr id="5" name="Text 3"/>
          <p:cNvSpPr txBox="1"/>
          <p:nvPr/>
        </p:nvSpPr>
        <p:spPr>
          <a:xfrm>
            <a:off x="11549829" y="4938408"/>
            <a:ext cx="152096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</a:t>
            </a:r>
            <a:endParaRPr lang="en-US" sz="84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Tres de cada cuatro personas no respondieron en nueve meses, y no sabemos cuántas son ex clientes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426507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0, referidos, descuentos y lanzamientos, sobre todo por correo y push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407879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los equipos; ningún dato liga a quien no responde con quien le escribe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573975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el nombre de la campaña: leads, activos, ex clientes y leads que nunca activaron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14.2 M de 19.5 M personas no respondieron: recibieron 160 M mensajes y 8.0 M MXN.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Mediana por campaña: activos 5.3 conversiones por mil mensajes; ex clientes 1.4; leads que nunca activaron 0.6.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Ningún dato liga a la persona que no responde con su segmento: no sabemos cuántos son ex clientes.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113720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Braze no guarda el segmento de cada persona: solo el nombre de la campaña dice a quién se le escribe.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7475048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recuperar hay que saber a quién: ex cliente y lead que nunca activó piden canal y presupuesto distintos.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10537726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 E7b (respuesta por persona) y E1 (campaña, canal y mes), enero a septiembre 2026. Campañas con 100 mil o más mensajes; cobranza y avisos fuera. Conversión del mismo día, repartida.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4102" y="6454684"/>
            <a:ext cx="157995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</a:t>
            </a:r>
            <a:endParaRPr lang="en-US" sz="84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Recuperar sale barato si llegamos pronto: mientras más fría la base, más cara cada conversión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440478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Descuento directo, descuento escalonado, "con o sin oferta", referidos y Tasa 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567611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 (ex clientes) y Marketing (referidos a dormants, rescate Tasa 0 a leads)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566524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 clientes con 1 a 12 meses sin usar KCash o KPay, dormants y leads que nunca activaron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Inactivos 30 a 90 días: 26 % vuelve aunque no abra; por correo, 11 MXN por conversión y 2.7 por solicitud.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Churn 12 meses: 2 % vuelve sin abrir; su WhatsApp cuesta 2,255 MXN por conversión y 416 por solicitud.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grupo sin mensajes no sabemos cuánto recupera el mensaje: de 698 Canvas, ninguno tiene uno de verdad.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446221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recuperación se arma por oferta, no por meses sin uso, y ningún programa de ex clientes deja un grupo sin mensajes.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7284736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Ordenar, no dejar de buscar: primero quien se fue hace poco, con límite de gasto y un grupo sin mensajes.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9240007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 E1 y E9a (conversión a 90 días de quien abre y quien no), E13 (control), enero a septiembre 2026. Solicitud: solicitudes registradas. Recta sobre log10; n = 40 y 30.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3951" y="6454684"/>
            <a:ext cx="158150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</a:t>
            </a:r>
            <a:endParaRPr lang="en-US" sz="84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Casi la mitad del WhatsApp se gasta en recuperar a quien ya no nos usa, donde cada conversión cuesta más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523836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Rescate con Tasa 0, "con o sin oferta", descuento a inactivos y referidos a dormants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624425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(rescate Tasa 0 a leads) y Product Growth (inactivos y churn)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709025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 clientes que dejaron KCash o KPay y leads que se registraron y nunca tomaron crédito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121417" cy="3834621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Mediana por campaña: 453 MXN por conversión en bases frías y 50 en activos; 47 y 15 por solicitud.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Rescate Tasa 0 a rezagados (Marketing): 3.3 M WhatsApp entregados a 844 MXN por conversión.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 clientes: 74 MXN por conversión por correo contra 468 por WhatsApp; 13 contra 74 por solicitud.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213377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es lo que más se lee y se usa para insistir; en bases frías la lectura casi no se vuelve préstamo.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857126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5981008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5942427"/>
            <a:ext cx="6197354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para recuperar solo a quien leyó uno en 90 días; al resto, correo, push o in-app.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319649"/>
            <a:ext cx="11134894" cy="27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 E1 (campaña, canal y mes), ene a sep 2026. WhatsApp a 1.00 MXN por entregado. Solicitud: solicitudes registradas. Campañas con 50 mil o más entregados. Ex clientes sin Sales B0335 (promos a todos).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8472" y="6319649"/>
            <a:ext cx="153493" cy="27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84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mandamos promociones a quien no puede comprar con KPay y a quien pidió no recibir publicidad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652055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Descuentos, referidos, Comercio del día, Hot Sale y promociones de comercios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560315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Marketing, Sales y Product Growth; Others es Shopping, BillPay de NewProducts y QA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664008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Línea KPay congelada, REUS o ARCO (pidió no recibir publicidad) y lista negra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43.3 M promociones a personas con KPay congelado; 30.1 M ofrecen justo KPay.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Referidos KPay a dormants (Marketing) mandó 2.8 M; promos de comercios (Sales), 1.3 M.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 o ARCO: 249 mil promociones, 34 mil por WhatsApp; lista negra: 146 mil.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354170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hay exclusiones de cuenta en Braze: cada equipo arma su segmento y nadie quita a los bloqueados.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492445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Excluir una vez en Braze: quita 30.5 M promociones sin tocar campañas; Riesgo decide KCash.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9610851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 E7a (campaña, canal y etapa del golden dataset) y E3, enero a septiembre 2026. La etapa cubre 37 % de los envíos: es lo mínimo. Toda promoción a bloqueados: 43.7 M.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72435" y="6454684"/>
            <a:ext cx="128811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</a:t>
            </a:r>
            <a:endParaRPr lang="en-US" sz="84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quien se dio de baja le siguen llegando promociones de Tasa 0 y referidos, casi todas de Marketing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486891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 promocional: Tasa 0, newsletters, referidos, cupones y recordatorio de registro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195836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(58 de 79 mil), Product Growth, Sales y Others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246130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 mil personas que ya se habían dado de baja del correo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94 % de lo que llega tras la baja es cobranza y avisos de pago: eso sí procede.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 mil promociones; la mayor, rescate con Tasa 0 a leads rezagados (Marketing), 13.9 mil.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recordatorio de Veriff siguió llegando nueve meses seguidos a quien ya se había dado de baja.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452120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filtro de suscripción está en la entrada del Canvas y no en cada paso de correo (lo más probable).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946026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Ajuste de configuración, no de negocio: filtro de suscripción en cada paso de correo, en una semana.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8943364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 E5b (correos después de la baja), enero a septiembre 2026; tipo de mensaje del catálogo de campañas (muestra C). Cada punto es un Canvas con su fecha.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50733" y="6454684"/>
            <a:ext cx="151164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</a:t>
            </a:r>
            <a:endParaRPr lang="en-US" sz="84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 clientes y leads fríos responden casi como los activos, pero convierten 14 veces menos por correo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520731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Promociones y recordatorios por correo, push, WhatsApp e in-app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148025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y Product Growth a leads y ex clientes; Sales, Marketing y PG a activos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279815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Activos y recurrentes contra ex clientes y leads que nunca activaron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Correo: mediana de 5.3 conversiones por mil mensajes en activos y 0.4 en ex clientes y leads fríos.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WhatsApp: los fríos lo leen igual, pero convierten 2.0 por mil contra 9.5 de los activos.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In-app: los fríos convierten casi igual (15.5 contra 16.5 por mil), pero solo lo ve quien tiene la app.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440322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equipo usa su canal de costumbre; Braze no guarda la última respuesta por canal ni si la persona tiene la app.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7014637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canal se elige por grupo: a los fríos, in-app y push si tienen app; correo si no; WhatsApp casi nunca.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9212376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 E1 (campaña, canal y mes), enero a septiembre 2026. Mínimo: 3 clics por mil correos, 7.5 aperturas por mil push, 6 de 10 WhatsApp leídos, 1 de 10 in-app con clic.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9979" y="6454684"/>
            <a:ext cx="151941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</a:t>
            </a:r>
            <a:endParaRPr lang="en-US" sz="84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una de cada seis personas abrió un push o un in-app en nueve meses: al menos ellas tienen la app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707317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e in-app de recuperación y promociones: los canales que no cuestan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378541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los equipos; Marketing manda los push de oferta más grandes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708869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Activos, leads, ex clientes y leads que nunca activaron; sin app no hay push ni in-app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 M personas es lo mínimo con app; a lo más, el push llega a 1.5 a 2.3 M al mes.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 clientes: de cada 100 con correo, a 33 les llega el push y 9 ven el in-app (mediana por campaña).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157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 que nunca activaron: 19 y 5; activos: 67 y 31.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133526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133526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194412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355369"/>
            <a:ext cx="3387389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existe el dato de app instalada; la bandera de app desinstalada no sirve: ese push abre 1.52 %, como el resto.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772169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Crear en Braze el atributo de app con esta regla: abrió un push o un in-app; hoy ese dato no existe.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9418832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 E7b (respuesta por persona), E4a (personas por canal al mes), E1 (personas por campaña y mes, sumadas: es proporción, no conteo) y E17, enero a septiembre 2026.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6815" y="6454684"/>
            <a:ext cx="155200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</a:t>
            </a:r>
            <a:endParaRPr lang="en-US" sz="84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qué pasa: Braze no sabe quién es cada persona ni qué hizo, y nadie mide si recuperar recupera</a:t>
            </a:r>
            <a:endParaRPr lang="en-US" sz="2210" dirty="0"/>
          </a:p>
        </p:txBody>
      </p:sp>
      <p:sp>
        <p:nvSpPr>
          <p:cNvPr id="3" name="Text 1"/>
          <p:cNvSpPr txBox="1"/>
          <p:nvPr/>
        </p:nvSpPr>
        <p:spPr>
          <a:xfrm>
            <a:off x="511956" y="1161358"/>
            <a:ext cx="3788037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QUÉ PASA, DE LO VISIBLE A LA CAUSA</a:t>
            </a:r>
            <a:endParaRPr lang="en-US" sz="790" dirty="0"/>
          </a:p>
        </p:txBody>
      </p:sp>
      <p:sp>
        <p:nvSpPr>
          <p:cNvPr id="4" name="Shape 2"/>
          <p:cNvSpPr/>
          <p:nvPr/>
        </p:nvSpPr>
        <p:spPr>
          <a:xfrm>
            <a:off x="511956" y="1350180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1956" y="1350180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6" name="Text 4"/>
          <p:cNvSpPr txBox="1"/>
          <p:nvPr/>
        </p:nvSpPr>
        <p:spPr>
          <a:xfrm>
            <a:off x="743598" y="1337988"/>
            <a:ext cx="354944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73 % no respondió en nueve meses; 48 % del WhatsApp va a ex clientes y leads fríos.</a:t>
            </a:r>
            <a:endParaRPr lang="en-US" sz="940" dirty="0"/>
          </a:p>
        </p:txBody>
      </p:sp>
      <p:sp>
        <p:nvSpPr>
          <p:cNvPr id="7" name="Shape 5"/>
          <p:cNvSpPr/>
          <p:nvPr/>
        </p:nvSpPr>
        <p:spPr>
          <a:xfrm>
            <a:off x="511956" y="17323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1956" y="17323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9" name="Text 7"/>
          <p:cNvSpPr txBox="1"/>
          <p:nvPr/>
        </p:nvSpPr>
        <p:spPr>
          <a:xfrm>
            <a:off x="743598" y="1720184"/>
            <a:ext cx="354944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todos les llegan las mismas promociones, y 19.7 M MXN de WhatsApp a quien ya no compra.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511956" y="2114572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1956" y="2114572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12" name="Text 10"/>
          <p:cNvSpPr txBox="1"/>
          <p:nvPr/>
        </p:nvSpPr>
        <p:spPr>
          <a:xfrm>
            <a:off x="743598" y="2102380"/>
            <a:ext cx="354944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equipo arma su lista por nombre de campaña y nadie quita a los bloqueados.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511956" y="2496768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1956" y="2496768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768" dirty="0"/>
          </a:p>
        </p:txBody>
      </p:sp>
      <p:sp>
        <p:nvSpPr>
          <p:cNvPr id="15" name="Text 13"/>
          <p:cNvSpPr txBox="1"/>
          <p:nvPr/>
        </p:nvSpPr>
        <p:spPr>
          <a:xfrm>
            <a:off x="743598" y="2484576"/>
            <a:ext cx="354944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698 Canvas de recuperación, ninguno deja un grupo sin mensajes de verdad.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511956" y="2878964"/>
            <a:ext cx="164573" cy="164573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11956" y="2878964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768" dirty="0"/>
          </a:p>
        </p:txBody>
      </p:sp>
      <p:sp>
        <p:nvSpPr>
          <p:cNvPr id="18" name="Text 16"/>
          <p:cNvSpPr txBox="1"/>
          <p:nvPr/>
        </p:nvSpPr>
        <p:spPr>
          <a:xfrm>
            <a:off x="743598" y="2866772"/>
            <a:ext cx="354944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raíz: Braze no tiene etapa, meses sin uso, última respuesta ni app de cada persona.</a:t>
            </a:r>
            <a:endParaRPr lang="en-US" sz="940" dirty="0"/>
          </a:p>
        </p:txBody>
      </p:sp>
      <p:sp>
        <p:nvSpPr>
          <p:cNvPr id="19" name="Text 17"/>
          <p:cNvSpPr txBox="1"/>
          <p:nvPr/>
        </p:nvSpPr>
        <p:spPr>
          <a:xfrm>
            <a:off x="4440016" y="1161358"/>
            <a:ext cx="3608591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HIPÓTESIS: A ANALÍTICA, O OPERATIVA, G GOBIERNO</a:t>
            </a:r>
            <a:endParaRPr lang="en-US" sz="790" dirty="0"/>
          </a:p>
        </p:txBody>
      </p:sp>
      <p:sp>
        <p:nvSpPr>
          <p:cNvPr id="20" name="Shape 18"/>
          <p:cNvSpPr/>
          <p:nvPr/>
        </p:nvSpPr>
        <p:spPr>
          <a:xfrm>
            <a:off x="4440016" y="1344016"/>
            <a:ext cx="158244" cy="128705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482687" y="1344016"/>
            <a:ext cx="93377" cy="12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7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770" dirty="0"/>
          </a:p>
        </p:txBody>
      </p:sp>
      <p:sp>
        <p:nvSpPr>
          <p:cNvPr id="22" name="Text 20"/>
          <p:cNvSpPr txBox="1"/>
          <p:nvPr/>
        </p:nvSpPr>
        <p:spPr>
          <a:xfrm>
            <a:off x="4732541" y="1337988"/>
            <a:ext cx="3098352" cy="30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meses sin uso: 11 MXN por conversión a 30 a 90 días y 2,255 a 12 meses; 2.7 y 416 por solicitud.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4440016" y="1726212"/>
            <a:ext cx="160504" cy="128705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482687" y="1726212"/>
            <a:ext cx="95705" cy="12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7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</a:t>
            </a:r>
            <a:endParaRPr lang="en-US" sz="770" dirty="0"/>
          </a:p>
        </p:txBody>
      </p:sp>
      <p:sp>
        <p:nvSpPr>
          <p:cNvPr id="25" name="Text 23"/>
          <p:cNvSpPr txBox="1"/>
          <p:nvPr/>
        </p:nvSpPr>
        <p:spPr>
          <a:xfrm>
            <a:off x="4732541" y="1720184"/>
            <a:ext cx="2976341" cy="30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solo a quien leyó uno en 90 días: baja el gasto y la conversión sigue por correo e in-app.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4440016" y="2108409"/>
            <a:ext cx="158545" cy="128705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482687" y="2108409"/>
            <a:ext cx="93687" cy="12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7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</a:t>
            </a:r>
            <a:endParaRPr lang="en-US" sz="770" dirty="0"/>
          </a:p>
        </p:txBody>
      </p:sp>
      <p:sp>
        <p:nvSpPr>
          <p:cNvPr id="28" name="Text 26"/>
          <p:cNvSpPr txBox="1"/>
          <p:nvPr/>
        </p:nvSpPr>
        <p:spPr>
          <a:xfrm>
            <a:off x="4732541" y="2102380"/>
            <a:ext cx="3243647" cy="30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dueño, límite de gasto y 10 % sin mensajes, en dos meses sabemos qué programa recupera.</a:t>
            </a:r>
            <a:endParaRPr lang="en-US" sz="940" dirty="0"/>
          </a:p>
        </p:txBody>
      </p:sp>
      <p:sp>
        <p:nvSpPr>
          <p:cNvPr id="29" name="Text 27"/>
          <p:cNvSpPr txBox="1"/>
          <p:nvPr/>
        </p:nvSpPr>
        <p:spPr>
          <a:xfrm>
            <a:off x="8193857" y="1161358"/>
            <a:ext cx="3608746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LO RESOLVEMOS</a:t>
            </a:r>
            <a:endParaRPr lang="en-US" sz="790" dirty="0"/>
          </a:p>
        </p:txBody>
      </p:sp>
      <p:sp>
        <p:nvSpPr>
          <p:cNvPr id="30" name="Shape 28"/>
          <p:cNvSpPr/>
          <p:nvPr/>
        </p:nvSpPr>
        <p:spPr>
          <a:xfrm>
            <a:off x="8230432" y="1405042"/>
            <a:ext cx="73093" cy="73093"/>
          </a:xfrm>
          <a:prstGeom prst="rect">
            <a:avLst/>
          </a:prstGeom>
          <a:solidFill>
            <a:srgbClr val="127A5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25499" y="1337988"/>
            <a:ext cx="337015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 1, MarTech con Legal y Riesgo: exclusiones de cuenta en Braze (30.5 M promociones menos).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8230432" y="1787238"/>
            <a:ext cx="73093" cy="73093"/>
          </a:xfrm>
          <a:prstGeom prst="rect">
            <a:avLst/>
          </a:prstGeom>
          <a:solidFill>
            <a:srgbClr val="127A5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425499" y="1720184"/>
            <a:ext cx="337015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Semanas 2 a 4, Datos: etapa, meses sin uso, última respuesta y uso de app (push o in-app), en Braze.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8230432" y="2169435"/>
            <a:ext cx="73093" cy="73093"/>
          </a:xfrm>
          <a:prstGeom prst="rect">
            <a:avLst/>
          </a:prstGeom>
          <a:solidFill>
            <a:srgbClr val="127A5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425499" y="2102380"/>
            <a:ext cx="337015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 4, Product Growth y Marketing: recuperar por meses sin uso, máximo tres mensajes en 30 días.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8230432" y="2551631"/>
            <a:ext cx="73093" cy="73093"/>
          </a:xfrm>
          <a:prstGeom prst="rect">
            <a:avLst/>
          </a:prstGeom>
          <a:solidFill>
            <a:srgbClr val="127A5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425499" y="2484576"/>
            <a:ext cx="337015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Desde la semana 3, por 8 semanas: 10 % sin mensajes en cada programa; mes 3: decidir qué se quita.</a:t>
            </a:r>
            <a:endParaRPr lang="en-US" sz="940" dirty="0"/>
          </a:p>
        </p:txBody>
      </p:sp>
      <p:sp>
        <p:nvSpPr>
          <p:cNvPr id="38" name="Shape 36"/>
          <p:cNvSpPr/>
          <p:nvPr/>
        </p:nvSpPr>
        <p:spPr>
          <a:xfrm>
            <a:off x="8193857" y="2909574"/>
            <a:ext cx="3485882" cy="614438"/>
          </a:xfrm>
          <a:prstGeom prst="rect">
            <a:avLst/>
          </a:prstGeom>
          <a:solidFill>
            <a:srgbClr val="E4F2E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303573" y="2982667"/>
            <a:ext cx="3382732" cy="12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70" b="1" spc="80" kern="0" dirty="0">
                <a:solidFill>
                  <a:srgbClr val="12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LO RESOLVEMOS</a:t>
            </a:r>
            <a:endParaRPr lang="en-US" sz="770" dirty="0"/>
          </a:p>
        </p:txBody>
      </p:sp>
      <p:sp>
        <p:nvSpPr>
          <p:cNvPr id="40" name="Text 38"/>
          <p:cNvSpPr txBox="1"/>
          <p:nvPr/>
        </p:nvSpPr>
        <p:spPr>
          <a:xfrm>
            <a:off x="8303573" y="3135636"/>
            <a:ext cx="3310706" cy="30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Hasta 0.85 M MXN al mes, solo si el grupo sin mensajes muestra que no recupera, y 30.5 M promociones menos.</a:t>
            </a:r>
            <a:endParaRPr lang="en-US" sz="940" dirty="0"/>
          </a:p>
        </p:txBody>
      </p:sp>
      <p:sp>
        <p:nvSpPr>
          <p:cNvPr id="41" name="Shape 39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43" name="Text 41"/>
          <p:cNvSpPr txBox="1"/>
          <p:nvPr/>
        </p:nvSpPr>
        <p:spPr>
          <a:xfrm>
            <a:off x="1409876" y="6077461"/>
            <a:ext cx="6447894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Recuperar sí, sabiendo quién es la persona, por el canal que usa y con un grupo sin mensajes.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511956" y="6454684"/>
            <a:ext cx="9079655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láminas 48 a 54 (Braze E1, E3, E5b, E7a, E7b, E9a, E13 y E17, enero a septiembre 2026). 0.85 M MXN al mes: caso de negocio oficial. Solicitud: solicitudes registradas.</a:t>
            </a:r>
            <a:endParaRPr lang="en-US" sz="840" dirty="0"/>
          </a:p>
        </p:txBody>
      </p:sp>
      <p:sp>
        <p:nvSpPr>
          <p:cNvPr id="45" name="Text 43"/>
          <p:cNvSpPr txBox="1"/>
          <p:nvPr/>
        </p:nvSpPr>
        <p:spPr>
          <a:xfrm>
            <a:off x="11552541" y="6454684"/>
            <a:ext cx="149302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</a:t>
            </a:r>
            <a:endParaRPr lang="en-US" sz="84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Quien responde por varios canales es el cliente activo; quien solo lee el correo es el que más se da de baja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008784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 lo que mandamos; el multicanal abre sobre todo recordatorios y avisos de pago.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1067795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los equipos.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2896553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19.5 M personas según por qué canales responden.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 o más canales: 11 % de las personas, 86 % de quienes convirtieron y 52 % de los mensajes.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correo: 365 mil personas, 15.8 % se dio de baja con 33 mensajes cada una.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WhatsApp: 1.6 M personas, 2 % convirtió y 34 % del gasto.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133123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Mandamos lo mismo por todos los canales a todos, sin mirar por cuál responde cada persona.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958910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 multicanal, pocos mensajes; al lector de correo, menos correos; al de WhatsApp, push si tiene app.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9083225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patrón de respuesta por persona (E7b), enero a septiembre 2026: 19.5 M personas, 439 mil se dieron de baja del correo. WhatsApp a 1.00 MXN por entregado.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9678" y="6454684"/>
            <a:ext cx="152251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</a:t>
            </a:r>
            <a:endParaRPr lang="en-US" sz="84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Quien abre compra antes, pero no siempre más: a 90 días su ventaja se reduce a la mitad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485339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Recordatorios de registro y de pago a meses, promociones de comercios y referidos.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409432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(26 % de su volumen solo adelanta), Marketing (14 %), Product Growth (8 %).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378386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Clientes y registrados que ya iban a comprar o a terminar su registro.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correo la ventaja baja de 2.3 a 1.6 veces; en push, de 3.0 a 1.9; en WhatsApp, de 2.1 a 1.5.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Quien no abre también compra después: su conversión crece 4.1 a 4.7 veces de 7 a 90 días.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199 de 779 campañas solo adelantan; en recordatorios, 44 % del volumen.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396548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Juzgamos cada campaña por cuánto compra quien la abre, sin un grupo que no reciba nada.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094281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un grupo sin mensajes dice cuánto suma; lo que solo adelanta va por push e in-app.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8676058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quien abre contra quien no abre a 7, 30 y 90 días por campaña y canal (E9a), enero a septiembre 2026. 69 M de 525 M envíos medidos solo adelantan.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55405" y="6454684"/>
            <a:ext cx="146352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</a:t>
            </a:r>
            <a:endParaRPr lang="en-US" sz="84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push funciona cuando recuerda algo que la persona empezó; como oferta, casi nadie lo abre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319243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Ofertas: Tasa 0, referidos, Comercio del día. Recordatorios: registro, pago a meses.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322038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(B0171, B0326, B0000) y Product Growth (B0211, B0301).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322348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Ofertas a leads y registrados; recordatorios a quien está en registro o paga a meses.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Mismo grupo, otro mensaje: en leads el recordatorio abre 6.0 % y la Tasa 0 0.48 %.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app no hay push: de cada 100 leads que nunca activaron con correo, 19 reciben push; en activos, 67.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Tasa 0 a registrados mueve a quien la abre (convierte 6.0 % contra 0.33 %); la abre 1 de cada 200.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336784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Usamos el push para ofertas a listas enteras, aunque muchos no tienen la app, y no para recordar lo empezado.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366709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solo a quien tiene la app y como recordatorio de lo empezado, no como oferta repetida.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7521927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campaña, mes y canal (E1) y quien abre contra quien no (E7c), enero a septiembre 2026. Grupo y tema por el nombre.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9829" y="6454684"/>
            <a:ext cx="152096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</a:t>
            </a:r>
            <a:endParaRPr lang="en-US" sz="84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nuevo se va pronto y por dos golpes: BillPay enviado a toda la base y el recordatorio diario de registro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411139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Lanzamiento de BillPay, recordatorios de terminar el registro, rescate con Tasa 0.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512038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(registro), Others (BillPay de NewProducts), Product Growth y Acquisition.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693657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159 mil personas con primer correo de febrero en adelante que se dieron de baja.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31 % se va en la primera semana; la mitad recibió 5 correos antes de irse.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33 % se fue con un solo correo recibido, casi siempre BillPay: 49 mil personas nuevas.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Verificar identidad, datos y NIP: 34 mil personas nuevas, una de cada cinco, a los 3 o 4 días.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311637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equipo le escribe al nuevo por su lado: antes de irse ya recibió correos de 4.2 campañas.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5078615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sola bienvenida, máximo un correo al día y tres en la primera semana.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7754306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días y correos hasta la baja del email por persona (E8), primer correo de febrero a septiembre 2026. Campañas con 500 bajas o más.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9678" y="6454684"/>
            <a:ext cx="152251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</a:t>
            </a:r>
            <a:endParaRPr lang="en-US" sz="84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base vieja se cansa despacio: aguanta meses de Tasa 0 y referidos hasta que se da de baja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440478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0, referidos, descuentos, lanzamientos y ofertas a quien nunca pidió crédito.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673632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y Product Growth; Others (BillPay, recomendaciones) y Sales.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614800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242 mil personas que ya recibían correo en enero y se dieron de baja.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mitad aguantó 86 días y 17 correos; 21 % más de 180 días.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157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0 explica 25 % de las bajas y los referidos 18 %.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745135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745135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73294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Recuperar ex clientes también cuesta: 16 mil bajas con descuento a inactivos y referidos a dormants.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133526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133526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194412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355369"/>
            <a:ext cx="3171310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campañas por calendario no tienen fin: siguen escribiendo aunque la persona no abra nada en meses.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146283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Límite mensual de promociones por persona y salida de la campaña si no abre en 90 días.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7172971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días y correos hasta la baja del email por persona (E8), quienes ya recibían correo en enero de 2026. Tema por el nombre.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5609" y="6454684"/>
            <a:ext cx="156442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</a:t>
            </a:r>
            <a:endParaRPr lang="en-US" sz="84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Nueve de cada diez bajas llegan con un correo promocional; los avisos de pago casi no causan bajas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216637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Lanzamiento de BillPay, recordatorios de registro, Tasa 0, referidos y descuentos.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661059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y Product Growth; Others con BillPay de NewProducts.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455069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 persona que recibe correo; 439 mil se dieron de baja en nueve meses.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89 % de las bajas de nuevos y 87 % de la base vieja llegan el día de una promoción.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Mediana por campaña: 3.5 bajas por cada mil correos en promociones; 0.6 en avisos y cobranza.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lanzamiento de BillPay a toda la base sumó 80 mil bajas; la confirmación de pago, con 9 M correos, 3 mil.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279970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promociones salen a listas completas y se repiten sin límite; los avisos llegan solo a quien hizo algo.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797626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baja se decide en las promociones: ahí van el límite por persona y la salida si no abre en 90 días.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7916210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campaña, mes y canal (E1) y campaña del día de la baja (E8), enero a septiembre 2026. Tipo según el catálogo de campañas.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69572" y="6454684"/>
            <a:ext cx="131761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</a:t>
            </a:r>
            <a:endParaRPr lang="en-US" sz="84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gente responde cuando le recordamos lo que dejó a medias, no cuando le ofrecemos algo nuevo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424955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Recordatorios: terminar el registro, pagar la compra a meses. Ofertas: Tasa 0, referidos.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716010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Recordatorios de Marketing, Acquisition y Product Growth; ofertas de todos los equipos.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655471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Recordatorios a quien empezó algo; ofertas a listas completas de leads y clientes.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correo, mediana por campaña: el recordatorio tiene 2.93 % de clic y la oferta 0.30 %.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push, la mediana del recordatorio abre 1.5 % y la de la oferta 0.9 %.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Referidos no funciona por correo (promedio 0.22 %) pero sí en la app: 43 % de clic en in-app.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402912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campañas nacen de lo que queremos vender este mes, no de lo que cada persona dejó a medias.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056250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gancho es lo que la persona dejó a medias; Tasa 0 y novedades solo a un grupo claro.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7720776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campaña, mes y canal (E1), enero a septiembre 2026, sin cobranza ni avisos. Tema por el nombre (regla de la muestra G).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7870" y="6454684"/>
            <a:ext cx="154114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</a:t>
            </a:r>
            <a:endParaRPr lang="en-US" sz="84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Repetir una oferta en el mes no sube el clic, pero con cinco o más correos las bajas por persona se triplican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680462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Promociones repetidas en el mes: Tasa 0, referidos, Comercio del día, rescates.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458329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y Product Growth en correo; Sales y Marketing con Comercio del día en push.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2814903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Leads, registrados y clientes recurrentes de KPay.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 mediano de la oferta: 0.38 % con un correo al mes, 0.44 % con dos y 0.27 % con cinco o más.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Bajas por cada mil personas: 1.8 con un correo, 2.8 con dos y 5.3 con cinco o más.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recordatorio de verificar identidad llega 5.8 veces al mes: 27 bajas por cada mil personas.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362552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hay límite de mensajes por persona por campaña: cada equipo repite su oferta sin ver si abrió la anterior.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147525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Máximo dos mensajes por campaña al mes, y el segundo solo a quien no abrió el primero.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7979854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campaña, mes y canal (E1), enero a septiembre 2026; campañas promocionales de correo con más de mil personas en el mes.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6965" y="6454684"/>
            <a:ext cx="155045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</a:t>
            </a:r>
            <a:endParaRPr lang="en-US" sz="84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nuevos son los que más responden y los que más rápido se van: el quiebre está en las campañas de registro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636377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Recordatorios de terminar el registro de KCash y de crear cuenta de KPay; bienvenida.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466401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(registro de KCash) y Acquisition (cuenta de KPay), cada uno por su lado.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2975100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Personas que acaban de registrarse y no terminaron.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nuevos: 1.25 % de clic y 6.9 bajas por cada mil correos; a activos, 0.66 % y 3.2.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472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de 9 campañas de registro responden y pierden más que la mediana; Veriff, datos y NIP: 1 de cada 5 bajas de nuevos.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3060417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3060417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3048225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antigüedad la baja es pareja (3.0 a 3.6 por mil): pesa la campaña de registro, no ser nuevo.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448808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448808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509694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670650"/>
            <a:ext cx="3263516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y Acquisition tienen cada uno su secuencia de registro, con uno o dos correos al día.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308032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sola secuencia de registro para KCash y KPay, con un dueño y máximo un correo al día.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7523790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campaña, mes y canal (E1), días hasta la baja (E8) y antigüedad (E12), enero a septiembre 2026. Grupo por el nombre.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3951" y="6454684"/>
            <a:ext cx="158150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</a:t>
            </a:r>
            <a:endParaRPr lang="en-US" sz="84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qué pasa: diseñamos los mensajes por lo que queremos vender, no por lo que la persona hizo</a:t>
            </a:r>
            <a:endParaRPr lang="en-US" sz="2210" dirty="0"/>
          </a:p>
        </p:txBody>
      </p:sp>
      <p:sp>
        <p:nvSpPr>
          <p:cNvPr id="3" name="Text 1"/>
          <p:cNvSpPr txBox="1"/>
          <p:nvPr/>
        </p:nvSpPr>
        <p:spPr>
          <a:xfrm>
            <a:off x="511956" y="1161358"/>
            <a:ext cx="3788037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QUÉ PASA, DE LO VISIBLE A LA CAUSA</a:t>
            </a:r>
            <a:endParaRPr lang="en-US" sz="790" dirty="0"/>
          </a:p>
        </p:txBody>
      </p:sp>
      <p:sp>
        <p:nvSpPr>
          <p:cNvPr id="4" name="Shape 2"/>
          <p:cNvSpPr/>
          <p:nvPr/>
        </p:nvSpPr>
        <p:spPr>
          <a:xfrm>
            <a:off x="511956" y="1350180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1956" y="1350180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6" name="Text 4"/>
          <p:cNvSpPr txBox="1"/>
          <p:nvPr/>
        </p:nvSpPr>
        <p:spPr>
          <a:xfrm>
            <a:off x="743598" y="1337988"/>
            <a:ext cx="354944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439 mil personas dejaron el correo; nueve de cada diez, con una promoción.</a:t>
            </a:r>
            <a:endParaRPr lang="en-US" sz="940" dirty="0"/>
          </a:p>
        </p:txBody>
      </p:sp>
      <p:sp>
        <p:nvSpPr>
          <p:cNvPr id="7" name="Shape 5"/>
          <p:cNvSpPr/>
          <p:nvPr/>
        </p:nvSpPr>
        <p:spPr>
          <a:xfrm>
            <a:off x="511956" y="17323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1956" y="17323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9" name="Text 7"/>
          <p:cNvSpPr txBox="1"/>
          <p:nvPr/>
        </p:nvSpPr>
        <p:spPr>
          <a:xfrm>
            <a:off x="743598" y="1720184"/>
            <a:ext cx="354944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persona recibe ofertas de varios equipos: el nuevo, de 4.2 campañas.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511956" y="2114572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1956" y="2114572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12" name="Text 10"/>
          <p:cNvSpPr txBox="1"/>
          <p:nvPr/>
        </p:nvSpPr>
        <p:spPr>
          <a:xfrm>
            <a:off x="743598" y="2102380"/>
            <a:ext cx="354944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campaña nace de lo que queremos vender: recordatorio 2.9 %, oferta 0.3 % de clic.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511956" y="2496768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1956" y="2496768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768" dirty="0"/>
          </a:p>
        </p:txBody>
      </p:sp>
      <p:sp>
        <p:nvSpPr>
          <p:cNvPr id="15" name="Text 13"/>
          <p:cNvSpPr txBox="1"/>
          <p:nvPr/>
        </p:nvSpPr>
        <p:spPr>
          <a:xfrm>
            <a:off x="743598" y="2484576"/>
            <a:ext cx="354944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Braze no sabe qué empezó la persona ni si tiene la app, y no hay límite por persona.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511956" y="2878964"/>
            <a:ext cx="164573" cy="164573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11956" y="2878964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768" dirty="0"/>
          </a:p>
        </p:txBody>
      </p:sp>
      <p:sp>
        <p:nvSpPr>
          <p:cNvPr id="18" name="Text 16"/>
          <p:cNvSpPr txBox="1"/>
          <p:nvPr/>
        </p:nvSpPr>
        <p:spPr>
          <a:xfrm>
            <a:off x="743598" y="2866772"/>
            <a:ext cx="354944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raíz: nadie es dueño del recorrido completo ni mide con un grupo sin mensajes.</a:t>
            </a:r>
            <a:endParaRPr lang="en-US" sz="940" dirty="0"/>
          </a:p>
        </p:txBody>
      </p:sp>
      <p:sp>
        <p:nvSpPr>
          <p:cNvPr id="19" name="Text 17"/>
          <p:cNvSpPr txBox="1"/>
          <p:nvPr/>
        </p:nvSpPr>
        <p:spPr>
          <a:xfrm>
            <a:off x="4440016" y="1161358"/>
            <a:ext cx="3608591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HIPÓTESIS: A ANALÍTICA, O OPERATIVA, G GOBIERNO</a:t>
            </a:r>
            <a:endParaRPr lang="en-US" sz="790" dirty="0"/>
          </a:p>
        </p:txBody>
      </p:sp>
      <p:sp>
        <p:nvSpPr>
          <p:cNvPr id="20" name="Shape 18"/>
          <p:cNvSpPr/>
          <p:nvPr/>
        </p:nvSpPr>
        <p:spPr>
          <a:xfrm>
            <a:off x="4440016" y="1344016"/>
            <a:ext cx="158244" cy="128705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482687" y="1344016"/>
            <a:ext cx="93377" cy="12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7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770" dirty="0"/>
          </a:p>
        </p:txBody>
      </p:sp>
      <p:sp>
        <p:nvSpPr>
          <p:cNvPr id="22" name="Text 20"/>
          <p:cNvSpPr txBox="1"/>
          <p:nvPr/>
        </p:nvSpPr>
        <p:spPr>
          <a:xfrm>
            <a:off x="4732541" y="1337988"/>
            <a:ext cx="3228279" cy="30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cada promoción sale por algo que hizo la persona, el clic se acerca al del recordatorio (2.9 %).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4440016" y="1726212"/>
            <a:ext cx="160504" cy="128705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482687" y="1726212"/>
            <a:ext cx="95705" cy="12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7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</a:t>
            </a:r>
            <a:endParaRPr lang="en-US" sz="770" dirty="0"/>
          </a:p>
        </p:txBody>
      </p:sp>
      <p:sp>
        <p:nvSpPr>
          <p:cNvPr id="25" name="Text 23"/>
          <p:cNvSpPr txBox="1"/>
          <p:nvPr/>
        </p:nvSpPr>
        <p:spPr>
          <a:xfrm>
            <a:off x="4732541" y="1720184"/>
            <a:ext cx="3135452" cy="30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sola bienvenida, un correo al día y salida a los 90 días sin abrir bajan las bajas de nuevos.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4440016" y="2108409"/>
            <a:ext cx="158545" cy="128705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482687" y="2108409"/>
            <a:ext cx="93687" cy="12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7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</a:t>
            </a:r>
            <a:endParaRPr lang="en-US" sz="770" dirty="0"/>
          </a:p>
        </p:txBody>
      </p:sp>
      <p:sp>
        <p:nvSpPr>
          <p:cNvPr id="28" name="Text 26"/>
          <p:cNvSpPr txBox="1"/>
          <p:nvPr/>
        </p:nvSpPr>
        <p:spPr>
          <a:xfrm>
            <a:off x="4732541" y="2102380"/>
            <a:ext cx="3207478" cy="30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dueño del recorrido, con calendario común y grupo sin mensajes, evita apilar ofertas.</a:t>
            </a:r>
            <a:endParaRPr lang="en-US" sz="940" dirty="0"/>
          </a:p>
        </p:txBody>
      </p:sp>
      <p:sp>
        <p:nvSpPr>
          <p:cNvPr id="29" name="Text 27"/>
          <p:cNvSpPr txBox="1"/>
          <p:nvPr/>
        </p:nvSpPr>
        <p:spPr>
          <a:xfrm>
            <a:off x="8193857" y="1161358"/>
            <a:ext cx="3608746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LO RESOLVEMOS</a:t>
            </a:r>
            <a:endParaRPr lang="en-US" sz="790" dirty="0"/>
          </a:p>
        </p:txBody>
      </p:sp>
      <p:sp>
        <p:nvSpPr>
          <p:cNvPr id="30" name="Shape 28"/>
          <p:cNvSpPr/>
          <p:nvPr/>
        </p:nvSpPr>
        <p:spPr>
          <a:xfrm>
            <a:off x="8230432" y="1405042"/>
            <a:ext cx="73093" cy="73093"/>
          </a:xfrm>
          <a:prstGeom prst="rect">
            <a:avLst/>
          </a:prstGeom>
          <a:solidFill>
            <a:srgbClr val="127A5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25499" y="1337988"/>
            <a:ext cx="337015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Semanas 1 a 4: un solo Canvas de registro (Marketing y Acquisition), con 10 % sin mensajes.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8230432" y="1787238"/>
            <a:ext cx="73093" cy="73093"/>
          </a:xfrm>
          <a:prstGeom prst="rect">
            <a:avLst/>
          </a:prstGeom>
          <a:solidFill>
            <a:srgbClr val="127A5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425499" y="1720184"/>
            <a:ext cx="337015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 2: MarTech y Datos ponen límites de mensajes por persona, canal preferido y horas de silencio.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8230432" y="2169435"/>
            <a:ext cx="73093" cy="73093"/>
          </a:xfrm>
          <a:prstGeom prst="rect">
            <a:avLst/>
          </a:prstGeom>
          <a:solidFill>
            <a:srgbClr val="127A5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425499" y="2102380"/>
            <a:ext cx="337015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Desde la semana 3 y por 8 semanas: medir la recuperación de ex clientes con 10 % sin mensajes.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8230432" y="2551631"/>
            <a:ext cx="73093" cy="73093"/>
          </a:xfrm>
          <a:prstGeom prst="rect">
            <a:avLst/>
          </a:prstGeom>
          <a:solidFill>
            <a:srgbClr val="127A5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425499" y="2484576"/>
            <a:ext cx="337015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 3: decidir con la conversión contra el grupo sin mensajes y las bajas de nuevos por mes.</a:t>
            </a:r>
            <a:endParaRPr lang="en-US" sz="940" dirty="0"/>
          </a:p>
        </p:txBody>
      </p:sp>
      <p:sp>
        <p:nvSpPr>
          <p:cNvPr id="38" name="Shape 36"/>
          <p:cNvSpPr/>
          <p:nvPr/>
        </p:nvSpPr>
        <p:spPr>
          <a:xfrm>
            <a:off x="8193857" y="2909574"/>
            <a:ext cx="3485882" cy="614438"/>
          </a:xfrm>
          <a:prstGeom prst="rect">
            <a:avLst/>
          </a:prstGeom>
          <a:solidFill>
            <a:srgbClr val="E4F2E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303573" y="2982667"/>
            <a:ext cx="3382732" cy="12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70" b="1" spc="80" kern="0" dirty="0">
                <a:solidFill>
                  <a:srgbClr val="12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LO RESOLVEMOS</a:t>
            </a:r>
            <a:endParaRPr lang="en-US" sz="770" dirty="0"/>
          </a:p>
        </p:txBody>
      </p:sp>
      <p:sp>
        <p:nvSpPr>
          <p:cNvPr id="40" name="Text 38"/>
          <p:cNvSpPr txBox="1"/>
          <p:nvPr/>
        </p:nvSpPr>
        <p:spPr>
          <a:xfrm>
            <a:off x="8303573" y="3135636"/>
            <a:ext cx="3275313" cy="30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mil nuevos al mes se dan de baja, 53 % con BillPay o el registro; 69 M envíos solo adelantan compras.</a:t>
            </a:r>
            <a:endParaRPr lang="en-US" sz="940" dirty="0"/>
          </a:p>
        </p:txBody>
      </p:sp>
      <p:sp>
        <p:nvSpPr>
          <p:cNvPr id="41" name="Shape 39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43" name="Text 41"/>
          <p:cNvSpPr txBox="1"/>
          <p:nvPr/>
        </p:nvSpPr>
        <p:spPr>
          <a:xfrm>
            <a:off x="1409876" y="6077461"/>
            <a:ext cx="7393242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Escribir por lo que la persona hizo, por su canal y con pocos mensajes; medir contra un grupo sin mensajes.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511956" y="6454684"/>
            <a:ext cx="7941823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E7b (patrón de respuesta), E8 (días hasta la baja), E1 (envíos por campaña) y E9a (quien abre contra quien no), enero a septiembre 2026.</a:t>
            </a:r>
            <a:endParaRPr lang="en-US" sz="840" dirty="0"/>
          </a:p>
        </p:txBody>
      </p:sp>
      <p:sp>
        <p:nvSpPr>
          <p:cNvPr id="45" name="Text 43"/>
          <p:cNvSpPr txBox="1"/>
          <p:nvPr/>
        </p:nvSpPr>
        <p:spPr>
          <a:xfrm>
            <a:off x="11549678" y="6454684"/>
            <a:ext cx="152251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</a:t>
            </a:r>
            <a:endParaRPr lang="en-US" sz="84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Cuatro de cada diez mensajes salieron de campañas que no responden lo mínimo: comercios, Tasa 0 y referidos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674098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Promociones: Tasa 0, comercios KPay, referidos, BillPay y ofertas para volver.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449947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 (65 % del gasto) y Marketing; Others y Sales, menos.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703281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Leads, registrados sin crédito, ex clientes inactivos y toda la base.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121417" cy="3834621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Debajo de lo mínimo: comercios KPay 63 M mensajes, Tasa 0 62 M y referidos 35 M.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 de estas campañas seguían en septiembre: 27 M mensajes y 1.8 M MXN ese mes.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 pone 65 % del gasto, por el WhatsApp a ex clientes y registrados.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204839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promociones salen a listas grandes y nadie revisa si responden; se detienen cuando acaba la promoción.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857126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5981008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5942427"/>
            <a:ext cx="5889844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desperdicio está en pocas campañas grandes a quien aún no es cliente o ya se fue.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319649"/>
            <a:ext cx="11133186" cy="27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campaña, ene a sep 2026; campañas de 100 mil mensajes o más; WhatsApp leído con el mes siguiente. Mínimo: 3 clics por mil correos, 7.5 aperturas por mil push, 60 % WhatsApp leído, 10 % in-app.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6815" y="6319649"/>
            <a:ext cx="155200" cy="27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</a:t>
            </a:r>
            <a:endParaRPr lang="en-US" sz="84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Siete de los diez correos más grandes son promociones a listas: 28 % del email y solo 7 % de los clics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156718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0, BillPay, crédito en plazos, referidos, descuentos, AnotayGana y Shopping.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662456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 4 de las 10, Others 3, Marketing 2 y Collections 1.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167584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Registrados sin crédito, leads, ex clientes y toda la base.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0 a registrados de KPay: 10 % del email, 3 % de los clics y 2.8 clics por mil.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Veriff (30 clics por mil) y la confirmación de pago (38) van a quien acaba de hacer algo.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push, las diez más grandes son 25 % del volumen y 15 % de las aperturas; 6 son de Marketing.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337716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campañas grandes salen a listas, no por algo que hizo la persona, y nadie limita su tamaño.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481268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tercio del email se va en siete promociones que casi nadie toca: son las primeras a rehacer.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8706483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campaña y canal, ene a sep 2026; 1,250 campañas de email y 708 de push. Clics sobre correos entregados; aperturas sobre push enviados.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52541" y="6454684"/>
            <a:ext cx="149302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</a:t>
            </a:r>
            <a:endParaRPr lang="en-US" sz="84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Cuatro campañas son 37 % del gasto que no responde, y tres son de Product Growth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660593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0, crédito en plazos, oferta a ex clientes KPay y lanzamiento de BillPay.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2392834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 (cuatro) y Others (BillPay).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718649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Registrados sin crédito, ex clientes KPay con 12 meses sin compra y toda la base.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121417" cy="3834621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septiembre estas cuatro gastaron 0.87 M MXN de 1.76 M (50 %) entre 85 campañas activas.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472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 clientes KPay: 2,255 MXN por conversión por WhatsApp contra 254 por email; 416 contra 43 por solicitud.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3060417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3060417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3048225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Rescate Tasa 0 (62 % leído) y descuento a inactivos (63 %) sí llegan al mínimo de WhatsApp.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448808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448808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509694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670650"/>
            <a:ext cx="3288508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promueve a listas grandes por correo y WhatsApp, sin límite de gasto ni grupo sin mensajes.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857126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5981008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5942427"/>
            <a:ext cx="6401791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Rehacer estas cinco primero: a ex clientes por email o in-app, y WhatsApp solo a quien lo lee.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319649"/>
            <a:ext cx="11133341" cy="27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campaña y canal, ene a sep 2026; 338 campañas por canal bajo lo mínimo. WhatsApp leído con el mes siguiente. Conversión: crédito de Cash otorgado en 7 días, repartido; solicitudes registradas.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6965" y="6319649"/>
            <a:ext cx="155045" cy="27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</a:t>
            </a:r>
            <a:endParaRPr lang="en-US" sz="84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Recuperar sí vale, con medida: a 12 meses sin compra se convierte 11 veces menos que a 3, con o sin oferta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520110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Recuperación de KPay: mismo Canvas con y sin oferta (cupón, descuento, plazos).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2329966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 (B0331, B0332 y B0333).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2758244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 clientes KPay con 3, 6 y 12 meses sin compra.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157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3 meses convierten 6.7 de cada mil; a 6, 3.5; a 12, 0.6.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356760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356760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344568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Mediana por paso a 3 meses: 6.6 por mil con oferta y 5.1 sin oferta.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745135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745135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73294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WhatsApp, una conversión cuesta 48 MXN con activos y 468 MXN con ex clientes.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133526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133526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194412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355369"/>
            <a:ext cx="3297511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manda la misma secuencia sin importar cuánto lleva la persona sin comprar, y sin grupo sin mensajes.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5976307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Más esfuerzo a 3 meses; a 6 y 12, canal barato, pocos toques y presupuesto con límite.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9530442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embudo por paso de Canvas (B0331 a B0333) y envíos por canal, ene a sep 2026. Por paso: solicitud o préstamo. Costo: crédito de Cash otorgado en 7 días, repartido.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6815" y="6454684"/>
            <a:ext cx="155200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</a:t>
            </a:r>
            <a:endParaRPr lang="en-US" sz="84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Ocho campañas de email causan un tercio de las bajas del correo, y seis casi no reciben clics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576614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BillPay, Tasa 0, referidos, AnotayGana, Cuesta de Enero, crédito en plazos y Veriff.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453206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 4 campañas, Marketing 3 y Others 1 (BillPay).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424179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 la base, leads y registrados que nunca tomaron crédito.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ocho suman 379 mil de 1.09 M bajas (35 %); seis reciben menos de 10 clics por mil.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0 contada como historia a rezagados: 9 bajas por mil correos; la mediana, 3.3.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lanzamiento de BillPay salió una vez y sumó 80 mil bajas registradas (37 mil en junio).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191955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manda la misma promoción a listas enteras sin ver si abren; a quien no le interesa, se da de baja.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083570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Quien se da de baja ya no recibe correos: achicar estos ocho envíos protege el contacto.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8750879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campaña y canal, ene a sep 2026; 169 campañas de email con 300 mil correos o más. Bajas = eventos atribuidos a la campaña, no personas.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53144" y="6454684"/>
            <a:ext cx="148681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</a:t>
            </a:r>
            <a:endParaRPr lang="en-US" sz="84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Hay correos que la gente sí toca pero causan muchas bajas: la mitad viene de recordatorios repetidos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714458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Recordatorios de registro, Tasa 0 contada como historia, boletines y avisos.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408035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22 de 33 campañas, Others 8 y Product Growth 3.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005680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Sobre todo leads que acaban de empezar su registro.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 campañas reciben 22 clics por mil correos y causan 2.5 bajas por mil o más; la mediana, 1.7.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10 que llegan dos o más veces al mes a la misma persona causan 49 % de esas bajas.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Veriff: hasta 5.8 correos al mes por persona, 30 clics y 3.9 bajas por mil.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256531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paso pendiente manda su correo y no hay límite de mensajes por persona a la semana.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135107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mensaje sirve; lo que molesta es la repetición: dos correos al mes y no a quien no abre.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8262527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campaña y canal, ene a sep 2026; 273 campañas de email con 100 mil correos o más. Bajas en los meses en que la campaña envió.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75449" y="6454684"/>
            <a:ext cx="125707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</a:t>
            </a:r>
            <a:endParaRPr lang="en-US" sz="84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uno de cada ocho correos grandes responde bien, y los hay de todos los tamaños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2992175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308 correos y 314 push con 200 mil mensajes o más.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529424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Responden bien sobre todo los de Others (avisos), Marketing y Collections.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378696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buenos van a quien empezó su registro, tiene un pago o acaba de pagar.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 de 308 correos llegan a 15 clics por mil; en push, 26 de 314 llegan a 30 aperturas por mil.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buenos: avisos de pago (11), recordatorios (10), cobranza (4); de 89 de comercios KPay, ninguno.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153 correos no llegan a lo mínimo: 50 % de estos correos y 8 % de sus clics.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394995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gente responde a lo que tiene que ver con algo que está haciendo, no a la promoción de una lista.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768598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que un correo responda no hay que achicarlo: hay que mandarlo por una razón de la persona.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8097208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comunicación y canal, ene a sep 2026. Responde bien: 15 clics por mil correos o 30 aperturas por mil push. Tema por el nombre.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53747" y="6454684"/>
            <a:ext cx="148060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</a:t>
            </a:r>
            <a:endParaRPr lang="en-US" sz="84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Canvas para recuperar clientes KPay tienen hasta 120 mensajes y la mitad de su push no llega a lo mínimo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531597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Recuperación de KPay: 4 semanas, 4 canales y 5 ofertas, cada una también para Amazon.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174880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Growth: 44 de 45 Canvas con más de 20 pasos.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557986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 clientes KPay con 3, 6 y 12 meses sin compra; muchos sin la app.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87 de 180 pasos de push del programa abren menos de 7.5 por mil; en otros Canvas, 131 de 444.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Promedio: 9 aperturas por mil en el programa contra 31 en otros Canvas.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 del programa: 1.6 clics por mil (mínimo 3); WhatsApp leído 54 %.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294872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oferta nueva se agrega como otra rama del Canvas, sin quitar los pasos que nadie abre.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994302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Más pasos no recuperan más: dos o tres ofertas, el canal que la persona usa y un grupo sin mensajes.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8986052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embudo por paso de Canvas y envíos por canal de B0331 a B0333, ene a sep 2026; pasos de push con 5 mil personas o más. Posición del paso aproximada.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54651" y="6454684"/>
            <a:ext cx="147128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</a:t>
            </a:r>
            <a:endParaRPr lang="en-US" sz="84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vez de medir una campaña la copiamos cada mes: 74 campañas sacaron cinco o más versiones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6493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130174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0, ofertas para volver, comercios KPay y referidos.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575372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 31 campañas, Marketing 35, Sales 6 y Others 2.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133123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Registrados sin crédito, leads, ex clientes y recurrentes.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763889"/>
            <a:ext cx="7289909" cy="411855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7638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19771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19771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19649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Sacaron 667 versiones nuevas en 2026 y mandaron 266 M mensajes, 40 % del año.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3655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3655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3533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septiembre 43 campañas tenían dos o más versiones enviando a la vez (114 versiones).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7538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7538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741685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0 a quien nunca usó KCash sacó una o dos versiones cada mes; nadie compara la nueva con la anterior.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1422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1422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2031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364110"/>
            <a:ext cx="3410829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Duplicar un Canvas y cambiar la fecha es más fácil que leer cómo le fue al anterior.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5593356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sola versión viva por campaña, y comparar contra la anterior antes de copiar.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8615364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catálogo (primer envío en 2026) y envíos por comunicación y mes, ene a sep 2026. Campaña = nombre sin fecha; versión = cada copia con su fecha.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56008" y="6454684"/>
            <a:ext cx="145731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</a:t>
            </a:r>
            <a:endParaRPr lang="en-US" sz="84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Braze tiene 6,144 comunicaciones guardadas, pero en septiembre solo 341 mandaron algo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436442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Comunicación = cada Canvas o campaña suelta guardada en Braze.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413778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septiembre: Product Growth 101, Others 95, Marketing 88, Sales 35.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2014229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aplica: es el inventario de Braze.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1956" y="2044207"/>
            <a:ext cx="3111824" cy="0"/>
          </a:xfrm>
          <a:prstGeom prst="line">
            <a:avLst/>
          </a:prstGeom>
          <a:noFill/>
          <a:ln w="19291">
            <a:solidFill>
              <a:srgbClr val="0B12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1956" y="2151360"/>
            <a:ext cx="3223467" cy="487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840" b="1" spc="-8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6,144</a:t>
            </a:r>
            <a:endParaRPr lang="en-US" sz="3840" dirty="0"/>
          </a:p>
        </p:txBody>
      </p:sp>
      <p:sp>
        <p:nvSpPr>
          <p:cNvPr id="13" name="Text 11"/>
          <p:cNvSpPr txBox="1"/>
          <p:nvPr/>
        </p:nvSpPr>
        <p:spPr>
          <a:xfrm>
            <a:off x="511956" y="2687731"/>
            <a:ext cx="3223467" cy="189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comunicaciones guardadas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11956" y="2925549"/>
            <a:ext cx="3223467" cy="172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1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5,173 Canvas y 971 campañas sueltas</a:t>
            </a:r>
            <a:endParaRPr lang="en-US" sz="1010" dirty="0"/>
          </a:p>
        </p:txBody>
      </p:sp>
      <p:sp>
        <p:nvSpPr>
          <p:cNvPr id="15" name="Shape 13"/>
          <p:cNvSpPr/>
          <p:nvPr/>
        </p:nvSpPr>
        <p:spPr>
          <a:xfrm>
            <a:off x="3916305" y="2044207"/>
            <a:ext cx="3111824" cy="0"/>
          </a:xfrm>
          <a:prstGeom prst="line">
            <a:avLst/>
          </a:prstGeom>
          <a:noFill/>
          <a:ln w="19291">
            <a:solidFill>
              <a:srgbClr val="0B122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16305" y="2151360"/>
            <a:ext cx="3223467" cy="487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840" b="1" spc="-8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2,003</a:t>
            </a:r>
            <a:endParaRPr lang="en-US" sz="3840" dirty="0"/>
          </a:p>
        </p:txBody>
      </p:sp>
      <p:sp>
        <p:nvSpPr>
          <p:cNvPr id="17" name="Text 15"/>
          <p:cNvSpPr txBox="1"/>
          <p:nvPr/>
        </p:nvSpPr>
        <p:spPr>
          <a:xfrm>
            <a:off x="3916305" y="2687731"/>
            <a:ext cx="3223467" cy="189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mandaron algo en 2026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916305" y="2925549"/>
            <a:ext cx="3223467" cy="172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1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 1,064 campañas sin contar la fecha del nombre</a:t>
            </a:r>
            <a:endParaRPr lang="en-US" sz="1010" dirty="0"/>
          </a:p>
        </p:txBody>
      </p:sp>
      <p:sp>
        <p:nvSpPr>
          <p:cNvPr id="19" name="Shape 17"/>
          <p:cNvSpPr/>
          <p:nvPr/>
        </p:nvSpPr>
        <p:spPr>
          <a:xfrm>
            <a:off x="511956" y="3376016"/>
            <a:ext cx="3111824" cy="0"/>
          </a:xfrm>
          <a:prstGeom prst="line">
            <a:avLst/>
          </a:prstGeom>
          <a:noFill/>
          <a:ln w="19291">
            <a:solidFill>
              <a:srgbClr val="1F4F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1956" y="3483169"/>
            <a:ext cx="3223467" cy="487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840" b="1" spc="-8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341</a:t>
            </a:r>
            <a:endParaRPr lang="en-US" sz="3840" dirty="0"/>
          </a:p>
        </p:txBody>
      </p:sp>
      <p:sp>
        <p:nvSpPr>
          <p:cNvPr id="21" name="Text 19"/>
          <p:cNvSpPr txBox="1"/>
          <p:nvPr/>
        </p:nvSpPr>
        <p:spPr>
          <a:xfrm>
            <a:off x="511956" y="4019540"/>
            <a:ext cx="3223467" cy="189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mandaron algo en septiembre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11956" y="4257358"/>
            <a:ext cx="3223467" cy="172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1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270 campañas; una de cada 18 guardadas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3916305" y="3376016"/>
            <a:ext cx="3111824" cy="0"/>
          </a:xfrm>
          <a:prstGeom prst="line">
            <a:avLst/>
          </a:prstGeom>
          <a:noFill/>
          <a:ln w="19291">
            <a:solidFill>
              <a:srgbClr val="1F4F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916305" y="3483169"/>
            <a:ext cx="3223467" cy="487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840" b="1" spc="-8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229</a:t>
            </a:r>
            <a:endParaRPr lang="en-US" sz="3840" dirty="0"/>
          </a:p>
        </p:txBody>
      </p:sp>
      <p:sp>
        <p:nvSpPr>
          <p:cNvPr id="25" name="Text 23"/>
          <p:cNvSpPr txBox="1"/>
          <p:nvPr/>
        </p:nvSpPr>
        <p:spPr>
          <a:xfrm>
            <a:off x="3916305" y="4019540"/>
            <a:ext cx="3223467" cy="189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archivadas que siguen enviando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916305" y="4257358"/>
            <a:ext cx="3223467" cy="172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1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mandaron en septiembre aunque dicen archivada</a:t>
            </a:r>
            <a:endParaRPr lang="en-US" sz="1010" dirty="0"/>
          </a:p>
        </p:txBody>
      </p:sp>
      <p:sp>
        <p:nvSpPr>
          <p:cNvPr id="27" name="Text 25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28" name="Shape 26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30" name="Text 28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2,065 comunicaciones se estrenaron de enero a septiembre, unas 229 al mes.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33" name="Text 31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229 marcadas como archivadas mandaron en septiembre: el estado no dice qué sigue vivo.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36" name="Text 34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636 tienen nombre de prueba o copia; 163 mandaron mensajes reales en 2026.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8" name="Shape 36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40" name="Text 38"/>
          <p:cNvSpPr txBox="1"/>
          <p:nvPr/>
        </p:nvSpPr>
        <p:spPr>
          <a:xfrm>
            <a:off x="8233041" y="3513009"/>
            <a:ext cx="2991243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mes se copia en vez de editar, nadie depura el catálogo y el nombre no sigue una regla.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43" name="Text 41"/>
          <p:cNvSpPr txBox="1"/>
          <p:nvPr/>
        </p:nvSpPr>
        <p:spPr>
          <a:xfrm>
            <a:off x="1409876" y="6077461"/>
            <a:ext cx="6365778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Limpiar el catálogo, archivar lo que no manda y nombrar con una regla es trabajo de una vez.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511956" y="6454684"/>
            <a:ext cx="7459835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catálogo al 7 de octubre 2026 y envíos por comunicación y canal, ene a sep 2026. Mandó algo = al menos un mensaje enviado.</a:t>
            </a:r>
            <a:endParaRPr lang="en-US" sz="840" dirty="0"/>
          </a:p>
        </p:txBody>
      </p:sp>
      <p:sp>
        <p:nvSpPr>
          <p:cNvPr id="45" name="Text 43"/>
          <p:cNvSpPr txBox="1"/>
          <p:nvPr/>
        </p:nvSpPr>
        <p:spPr>
          <a:xfrm>
            <a:off x="11556460" y="6454684"/>
            <a:ext cx="145266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</a:t>
            </a:r>
            <a:endParaRPr lang="en-US" sz="84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qué pasa: nadie compara volumen contra respuesta, y copiar una campaña es más fácil que medirla</a:t>
            </a:r>
            <a:endParaRPr lang="en-US" sz="2210" dirty="0"/>
          </a:p>
        </p:txBody>
      </p:sp>
      <p:sp>
        <p:nvSpPr>
          <p:cNvPr id="3" name="Text 1"/>
          <p:cNvSpPr txBox="1"/>
          <p:nvPr/>
        </p:nvSpPr>
        <p:spPr>
          <a:xfrm>
            <a:off x="511956" y="1161358"/>
            <a:ext cx="3788037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QUÉ PASA, DE LO VISIBLE A LA CAUSA</a:t>
            </a:r>
            <a:endParaRPr lang="en-US" sz="790" dirty="0"/>
          </a:p>
        </p:txBody>
      </p:sp>
      <p:sp>
        <p:nvSpPr>
          <p:cNvPr id="4" name="Shape 2"/>
          <p:cNvSpPr/>
          <p:nvPr/>
        </p:nvSpPr>
        <p:spPr>
          <a:xfrm>
            <a:off x="511956" y="1350180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1956" y="1350180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6" name="Text 4"/>
          <p:cNvSpPr txBox="1"/>
          <p:nvPr/>
        </p:nvSpPr>
        <p:spPr>
          <a:xfrm>
            <a:off x="743598" y="1337988"/>
            <a:ext cx="354944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282 M mensajes, cuatro de cada diez, salieron de campañas que no responden lo mínimo.</a:t>
            </a:r>
            <a:endParaRPr lang="en-US" sz="940" dirty="0"/>
          </a:p>
        </p:txBody>
      </p:sp>
      <p:sp>
        <p:nvSpPr>
          <p:cNvPr id="7" name="Shape 5"/>
          <p:cNvSpPr/>
          <p:nvPr/>
        </p:nvSpPr>
        <p:spPr>
          <a:xfrm>
            <a:off x="511956" y="17323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1956" y="17323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9" name="Text 7"/>
          <p:cNvSpPr txBox="1"/>
          <p:nvPr/>
        </p:nvSpPr>
        <p:spPr>
          <a:xfrm>
            <a:off x="743598" y="1720184"/>
            <a:ext cx="354944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 promociones a listas grandes; Product Growth y Marketing ponen 77 % de ese volumen.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511956" y="2114572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1956" y="2114572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12" name="Text 10"/>
          <p:cNvSpPr txBox="1"/>
          <p:nvPr/>
        </p:nvSpPr>
        <p:spPr>
          <a:xfrm>
            <a:off x="743598" y="2102380"/>
            <a:ext cx="354944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campaña se detiene cuando acaba la promoción, no cuando deja de responder.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511956" y="2496768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1956" y="2496768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768" dirty="0"/>
          </a:p>
        </p:txBody>
      </p:sp>
      <p:sp>
        <p:nvSpPr>
          <p:cNvPr id="15" name="Text 13"/>
          <p:cNvSpPr txBox="1"/>
          <p:nvPr/>
        </p:nvSpPr>
        <p:spPr>
          <a:xfrm>
            <a:off x="743598" y="2484576"/>
            <a:ext cx="354944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no funciona, se copia con otra fecha: 74 campañas sacaron cinco o más versiones.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511956" y="2878964"/>
            <a:ext cx="164573" cy="164573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11956" y="2878964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768" dirty="0"/>
          </a:p>
        </p:txBody>
      </p:sp>
      <p:sp>
        <p:nvSpPr>
          <p:cNvPr id="18" name="Text 16"/>
          <p:cNvSpPr txBox="1"/>
          <p:nvPr/>
        </p:nvSpPr>
        <p:spPr>
          <a:xfrm>
            <a:off x="743598" y="2866772"/>
            <a:ext cx="354944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raíz: se juzga cuánto sale y no cuánto responde, y nadie es dueño de ese número.</a:t>
            </a:r>
            <a:endParaRPr lang="en-US" sz="940" dirty="0"/>
          </a:p>
        </p:txBody>
      </p:sp>
      <p:sp>
        <p:nvSpPr>
          <p:cNvPr id="19" name="Text 17"/>
          <p:cNvSpPr txBox="1"/>
          <p:nvPr/>
        </p:nvSpPr>
        <p:spPr>
          <a:xfrm>
            <a:off x="4440016" y="1161358"/>
            <a:ext cx="3608591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HIPÓTESIS: A ANALÍTICA, O OPERATIVA, G GOBIERNO</a:t>
            </a:r>
            <a:endParaRPr lang="en-US" sz="790" dirty="0"/>
          </a:p>
        </p:txBody>
      </p:sp>
      <p:sp>
        <p:nvSpPr>
          <p:cNvPr id="20" name="Shape 18"/>
          <p:cNvSpPr/>
          <p:nvPr/>
        </p:nvSpPr>
        <p:spPr>
          <a:xfrm>
            <a:off x="4440016" y="1344016"/>
            <a:ext cx="158244" cy="128705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482687" y="1344016"/>
            <a:ext cx="93377" cy="12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7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770" dirty="0"/>
          </a:p>
        </p:txBody>
      </p:sp>
      <p:sp>
        <p:nvSpPr>
          <p:cNvPr id="22" name="Text 20"/>
          <p:cNvSpPr txBox="1"/>
          <p:nvPr/>
        </p:nvSpPr>
        <p:spPr>
          <a:xfrm>
            <a:off x="4732541" y="1337988"/>
            <a:ext cx="3209962" cy="30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 campañas activas no responden lo mínimo y gastan 1.8 M MXN al mes.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4440016" y="1726212"/>
            <a:ext cx="160504" cy="128705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482687" y="1726212"/>
            <a:ext cx="95705" cy="12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7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</a:t>
            </a:r>
            <a:endParaRPr lang="en-US" sz="770" dirty="0"/>
          </a:p>
        </p:txBody>
      </p:sp>
      <p:sp>
        <p:nvSpPr>
          <p:cNvPr id="25" name="Text 23"/>
          <p:cNvSpPr txBox="1"/>
          <p:nvPr/>
        </p:nvSpPr>
        <p:spPr>
          <a:xfrm>
            <a:off x="4732541" y="1720184"/>
            <a:ext cx="3263361" cy="30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Duplicar un Canvas es más rápido que leer cómo le fue, y la versión vieja sigue encendida.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4440016" y="2108409"/>
            <a:ext cx="158545" cy="128705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482687" y="2108409"/>
            <a:ext cx="93687" cy="12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7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</a:t>
            </a:r>
            <a:endParaRPr lang="en-US" sz="770" dirty="0"/>
          </a:p>
        </p:txBody>
      </p:sp>
      <p:sp>
        <p:nvSpPr>
          <p:cNvPr id="28" name="Text 26"/>
          <p:cNvSpPr txBox="1"/>
          <p:nvPr/>
        </p:nvSpPr>
        <p:spPr>
          <a:xfrm>
            <a:off x="4732541" y="2102380"/>
            <a:ext cx="3195526" cy="30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hay revisión mensual de respuesta ni una regla que diga quién apaga.</a:t>
            </a:r>
            <a:endParaRPr lang="en-US" sz="940" dirty="0"/>
          </a:p>
        </p:txBody>
      </p:sp>
      <p:sp>
        <p:nvSpPr>
          <p:cNvPr id="29" name="Text 27"/>
          <p:cNvSpPr txBox="1"/>
          <p:nvPr/>
        </p:nvSpPr>
        <p:spPr>
          <a:xfrm>
            <a:off x="8193857" y="1161358"/>
            <a:ext cx="3608746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LO RESOLVEMOS</a:t>
            </a:r>
            <a:endParaRPr lang="en-US" sz="790" dirty="0"/>
          </a:p>
        </p:txBody>
      </p:sp>
      <p:sp>
        <p:nvSpPr>
          <p:cNvPr id="30" name="Shape 28"/>
          <p:cNvSpPr/>
          <p:nvPr/>
        </p:nvSpPr>
        <p:spPr>
          <a:xfrm>
            <a:off x="8230432" y="1405042"/>
            <a:ext cx="73093" cy="73093"/>
          </a:xfrm>
          <a:prstGeom prst="rect">
            <a:avLst/>
          </a:prstGeom>
          <a:solidFill>
            <a:srgbClr val="127A5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25499" y="1337988"/>
            <a:ext cx="337015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 1: CRM publica las 20 campañas más grandes contra lo mínimo de su canal, por equipo.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8230432" y="1787238"/>
            <a:ext cx="73093" cy="73093"/>
          </a:xfrm>
          <a:prstGeom prst="rect">
            <a:avLst/>
          </a:prstGeom>
          <a:solidFill>
            <a:srgbClr val="127A5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425499" y="1720184"/>
            <a:ext cx="337015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 2: Product Growth y Marketing rehacen o detienen las que llevan dos meses debajo.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8230432" y="2169435"/>
            <a:ext cx="73093" cy="73093"/>
          </a:xfrm>
          <a:prstGeom prst="rect">
            <a:avLst/>
          </a:prstGeom>
          <a:solidFill>
            <a:srgbClr val="127A5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425499" y="2102380"/>
            <a:ext cx="337015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 3: en Braze, al lanzar una versión nueva se archiva la anterior.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8230432" y="2551631"/>
            <a:ext cx="73093" cy="73093"/>
          </a:xfrm>
          <a:prstGeom prst="rect">
            <a:avLst/>
          </a:prstGeom>
          <a:solidFill>
            <a:srgbClr val="127A5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425499" y="2484576"/>
            <a:ext cx="337015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mes: revisión con dueños; dos meses debajo de lo mínimo, se rehace o se apaga.</a:t>
            </a:r>
            <a:endParaRPr lang="en-US" sz="940" dirty="0"/>
          </a:p>
        </p:txBody>
      </p:sp>
      <p:sp>
        <p:nvSpPr>
          <p:cNvPr id="38" name="Shape 36"/>
          <p:cNvSpPr/>
          <p:nvPr/>
        </p:nvSpPr>
        <p:spPr>
          <a:xfrm>
            <a:off x="8193857" y="2909574"/>
            <a:ext cx="3485882" cy="614438"/>
          </a:xfrm>
          <a:prstGeom prst="rect">
            <a:avLst/>
          </a:prstGeom>
          <a:solidFill>
            <a:srgbClr val="E4F2E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303573" y="2982667"/>
            <a:ext cx="3382732" cy="12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70" b="1" spc="80" kern="0" dirty="0">
                <a:solidFill>
                  <a:srgbClr val="12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LO RESOLVEMOS</a:t>
            </a:r>
            <a:endParaRPr lang="en-US" sz="770" dirty="0"/>
          </a:p>
        </p:txBody>
      </p:sp>
      <p:sp>
        <p:nvSpPr>
          <p:cNvPr id="40" name="Text 38"/>
          <p:cNvSpPr txBox="1"/>
          <p:nvPr/>
        </p:nvSpPr>
        <p:spPr>
          <a:xfrm>
            <a:off x="8303573" y="3135636"/>
            <a:ext cx="3315363" cy="30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85 campañas activas que no responden costaron 1.8 M MXN y 27 M mensajes en septiembre.</a:t>
            </a:r>
            <a:endParaRPr lang="en-US" sz="940" dirty="0"/>
          </a:p>
        </p:txBody>
      </p:sp>
      <p:sp>
        <p:nvSpPr>
          <p:cNvPr id="41" name="Shape 39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43" name="Text 41"/>
          <p:cNvSpPr txBox="1"/>
          <p:nvPr/>
        </p:nvSpPr>
        <p:spPr>
          <a:xfrm>
            <a:off x="1409876" y="6077461"/>
            <a:ext cx="6253857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Medir antes de copiar: revisión mensual, una versión viva por campaña y regla de apagado.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511956" y="6454684"/>
            <a:ext cx="6899457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láminas 66 a 75. Braze, envíos por campaña, mes y canal y catálogo, ene a sep 2026. WhatsApp a 1.00 MXN por entregado.</a:t>
            </a:r>
            <a:endParaRPr lang="en-US" sz="840" dirty="0"/>
          </a:p>
        </p:txBody>
      </p:sp>
      <p:sp>
        <p:nvSpPr>
          <p:cNvPr id="45" name="Text 43"/>
          <p:cNvSpPr txBox="1"/>
          <p:nvPr/>
        </p:nvSpPr>
        <p:spPr>
          <a:xfrm>
            <a:off x="11554199" y="6454684"/>
            <a:ext cx="147594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</a:t>
            </a:r>
            <a:endParaRPr lang="en-US" sz="84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Ocho hábitos cuestan dinero y clientes; Product Growth y Marketing encabezan cinco de ellos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711819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Promociones en las ocho prácticas; cobranza y avisos de pago no se cuentan.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550225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 y Marketing encabezan cinco; Others, las otras tres.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173949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Leads, registrados sin crédito, ex clientes, toda la base y bloqueados.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Seguir con lo que no responde: 138 M mensajes y 9.4 M MXN; Product Growth pone la mitad.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472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a quien no lo lee: 10 M mensajes pero 7.3 M MXN; ex clientes KPay, 416 MXN por solicitud contra 43 por email.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3060417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3060417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3048225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Others encabeza envíos a toda la base, pruebas y promociones sin ticket, sobre todo BillPay.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448808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448808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509694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670650"/>
            <a:ext cx="3351997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Nadie revisa respuesta contra volumen por campaña, y las reglas de envío no existen o no se cumplen.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313465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es una campaña mala: son hábitos que se repiten en los mismos equipos y tienen dueño.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10575136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envíos, catálogo, etapa (golden dataset) y pasos de Canvas, ene a sep 2026. Se traslapan: no se suman. Conversión: crédito de Cash otorgado en 7 días, repartido; solicitudes registradas.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56309" y="6454684"/>
            <a:ext cx="145421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</a:t>
            </a:r>
            <a:endParaRPr lang="en-US" sz="84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Uno de cada cinco mensajes salió de campañas que un mes antes ya respondían menos de lo mínimo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193197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0, referidos, ofertas para volver y crédito en plazos.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585928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 69 M mensajes, Marketing 57 M, Others y Sales menos.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2951194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Registrados sin crédito, leads y ex clientes inactivos.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138 M mensajes (21 % del año) y 9.4 M MXN salieron ya debajo de lo mínimo.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0 a registrados de KPay cayó debajo en febrero y siguió siete meses casi igual.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salida a los dos meses se evitaban 93 M mensajes y 6.2 M MXN.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289595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campañas se apagan cuando acaba la promoción, no cuando dejan de responder.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7021933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campaña que no responde no se detiene sola: dos meses debajo de lo mínimo y se rehace o apaga.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10207553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campaña, canal y mes, ene a sep 2026. Cae debajo: primer mes con 50 mil personas o más bajo lo mínimo. Sin cobranza ni avisos. WhatsApp a 1.00 MXN por entregado.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54199" y="6454684"/>
            <a:ext cx="147594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</a:t>
            </a:r>
            <a:endParaRPr lang="en-US" sz="84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recordatorio de registro sí funciona, pero llega tantas veces que causa una de cada cinco bajas de nuevos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543705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Recordatorios de terminar el registro: verificar identidad, datos, NIP, dirección.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319709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en KCash (17 M mensajes) y Acquisition en KPay (Others).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507382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Quien empezó a pedir su crédito o su cuenta y se quedó en un paso.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Veriff recibe 30 clics por mil correos y NIP 42; quien abre Veriff convierte 4.5 % contra 2.6 %.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KPay el correo de los 5 minutos lo abre 24 % y el del día 7 solo 6 %.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Veriff, datos y NIP causan 34 mil bajas de nuevos (21 %), a los 3 o 4 días.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332438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paso pendiente manda siete correos en 30 días y no hay límite de mensajes por persona.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567576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Dejar los dos primeros correos, pasar el resto a push o in-app y limitar a tres la primera semana.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9541308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embudo por paso de Canvas (Acquisition KPay), envíos por campaña y día de la baja de cada persona nueva, ene a sep 2026. Líneas con mil personas o más por paso.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53596" y="6454684"/>
            <a:ext cx="148215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</a:t>
            </a:r>
            <a:endParaRPr lang="en-US" sz="84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que parecían pruebas a clientes son sobre todo push que nadie abrió y campañas reales mal nombradas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570715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Comunicaciones con QA, Test, Prueba o 'Copy of' en el nombre que sí mandaron.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104716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Others (QA, Acquisition, Compliance) casi todo; Sales y Collections, poco.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2824682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Clientes reales: hasta 1.9 M push en un solo envío.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push mandaron 4.7 M mensajes con menos de 1 apertura por mil; varios son silenciosos.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campañas reales mal nombradas mandaron 2.0 M mensajes y responden como cualquier campaña.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pruebas de verdad son 131 envíos a menos de mil personas: 17 mil mensajes.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143679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 copiar un Canvas, Braze le pone 'Copy of' y nadie lo renombra antes de usarlo con clientes.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886417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problema no es probar con clientes: es que el nombre no dice qué es. Renombrar antes de activar.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10602146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comunicación y canal, ene a sep 2026; 163 comunicaciones con nombre de prueba o copia. Límite: los datos no traen el tipo de push, así que no se confirma cuál era silencioso.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5760" y="6454684"/>
            <a:ext cx="156287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</a:t>
            </a:r>
            <a:endParaRPr lang="en-US" sz="84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mensajes que salen porque la persona hizo algo responden siete veces más en correo que los de una lista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419677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Recordatorios, precobranza, ofertas tras comprar o cancelar, bienvenida y 45 días.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130019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Marketing, Product Growth y Collections (precobranza).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608591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Quien se registró, compró, tiene un pago, canceló o lleva tiempo sin volver.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157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 12 % de los mensajes y 57 % de los clics de correo.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356760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356760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344568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Correo, en promedio: 26 clics por mil contra 3.5; push: 49 aperturas por mil contra 10.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745135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745135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73294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todo motivo funciona igual: aniversario y compra en comercio responden poco por correo.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133526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133526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194412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355369"/>
            <a:ext cx="3242250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mayoría de las promociones nace de una lista y no de algo que hizo la persona.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5444646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promoción nueva debe nacer de algo que hizo la persona, no de una lista.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9797281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campaña y canal, ene a sep 2026. Motivo inferido del nombre de la campaña. Quien hizo algo ya es más activo: sin grupo sin mensajes no se sabe cuánto vende.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69722" y="6454684"/>
            <a:ext cx="131606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</a:t>
            </a:r>
            <a:endParaRPr lang="en-US" sz="84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Hay 150 campañas chicas que responden el doble de lo normal y valdría la pena ampliar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664784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 a quien canceló, regreso a los 45 días, bienvenida, Temu y aniversario.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034087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 68, Marketing 62, Others 17 y Sales 3.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371711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Clientes activos (56) y leads que acaban de hacer algo (52).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121417" cy="3834621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Suman 3.2 M mensajes, 0.5 % del año; 46 siguen activas en septiembre.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 a quien canceló: 95 aperturas por cada mil push, 9 veces el push típico.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Casi todas salen por algo que hizo la persona: cancelar, comprar, cumplir 45 días sin volver.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060165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que funciona nació chico y nadie lo escala: no hay revisión que busque a los mejores.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857126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5981008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5942427"/>
            <a:ext cx="7169246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Ampliar no es mandar a toda la base: es usar el mismo motivo en más productos, con 10 % sin mensajes.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319649"/>
            <a:ext cx="11134428" cy="27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campaña y canal, ene a sep 2026; promociones con mil mensajes o más. Chica: debajo de la mediana de mensajes de su canal. Típica: mediana del canal. La lámina 99 cuenta 154 (otro corte).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8020" y="6319649"/>
            <a:ext cx="153959" cy="27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</a:t>
            </a:r>
            <a:endParaRPr lang="en-US" sz="84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promociones de comercios a clientes KPay sí mueven a quien las abre, pero a 90 días la ventaja se achica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557365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Comercio del día, Hot Sale, Amazon, Cuponera, Privalia y Venta Azul Aeroméxico.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2696152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Sales: 85 M mensajes en el año, 59 % por push.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440633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Clientes recurrentes de KPay (75 % de los mensajes) y leads.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177 campañas de Sales, quien abre convierte 2.4 veces más a 7 días y 1.5 a 90 (mediana).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26 mantienen dos veces o más a 90 días; varias son de agosto y septiembre, aún sin ventana completa.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Pasa en todos los equipos: Marketing baja de 2.6 a 1.7; parte de esas compras iban a pasar igual.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404775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Quien abre ya era más activo; sin un grupo sin mensajes no se sabe cuánto vende la promoción.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383940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promoción a quien ya compra parece funcionar; un grupo sin mensajes dirá cuánto vende.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8504064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 y Databricks, conversión de quien abre y de quien no abre a 7 y 90 días, ene a sep 2026; campañas con mil o más de cada lado y 100 conversiones.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7116" y="6454684"/>
            <a:ext cx="154890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</a:t>
            </a:r>
            <a:endParaRPr lang="en-US" sz="84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 terminar los envíos de junio a toda la base, el push bajó a la mitad y su apertura se duplicó contra junio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249080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que se dejó de mandar: BillPay, Día del Padre, Mundial, AnotayGana y referidos.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333214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bajó de 26 M push en junio a 9 M en septiembre; Others de 10 M a 1.5 M.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130329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 la base y leads, que recibieron los envíos de junio.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Junio: 46.8 M push y 1.05 % de apertura; septiembre: 24.4 M y 2.11 %.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Abrieron 493 mil push en junio y 516 mil en septiembre: mandar menos no costó aperturas.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16 campañas que siguieron de junio a septiembre subieron de 1.65 % a 1.95 % de apertura.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753391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753391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375126" cy="458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fue decisión: acabaron los lanzamientos. Sugiere que menos volumen no cuesta aperturas, aunque el push sigue al doble de enero.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5863921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Mandar menos push no costó aperturas: un límite por persona a la semana es seguro.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7828040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serie semanal por canal y envíos por campaña y mes, ene a sep 2026. No es un experimento: también cambió la mezcla de campañas.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4102" y="6454684"/>
            <a:ext cx="157995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</a:t>
            </a:r>
            <a:endParaRPr lang="en-US" sz="84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330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 de lanzar una campaña: seis preguntas y una regla para apagarla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835376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467446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925499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079523"/>
            <a:ext cx="3435510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 promoción nueva o relanzada; no cobranza ni avisos de pago.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925499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079523"/>
            <a:ext cx="3120550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equipo dueño la llena; CRM la revisa antes de activar.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925499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079523"/>
            <a:ext cx="3508779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los segmentos; ex clientes con presupuesto con límite y grupo sin mensajes.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1956" y="1664723"/>
            <a:ext cx="3560030" cy="0"/>
          </a:xfrm>
          <a:prstGeom prst="line">
            <a:avLst/>
          </a:prstGeom>
          <a:noFill/>
          <a:ln w="19291">
            <a:solidFill>
              <a:srgbClr val="1F4F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1956" y="1747462"/>
            <a:ext cx="3685119" cy="184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¿Qué hizo la persona para recibirla?</a:t>
            </a:r>
            <a:endParaRPr lang="en-US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511956" y="1962222"/>
            <a:ext cx="3685119" cy="1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1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Registro, compra, pago, cancelación o días sin volver.</a:t>
            </a:r>
            <a:endParaRPr lang="en-US" sz="910" dirty="0"/>
          </a:p>
        </p:txBody>
      </p:sp>
      <p:sp>
        <p:nvSpPr>
          <p:cNvPr id="14" name="Text 12"/>
          <p:cNvSpPr txBox="1"/>
          <p:nvPr/>
        </p:nvSpPr>
        <p:spPr>
          <a:xfrm>
            <a:off x="511956" y="2179543"/>
            <a:ext cx="3685119" cy="280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1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 contra 3.5</a:t>
            </a:r>
            <a:endParaRPr lang="en-US" sz="2210" dirty="0"/>
          </a:p>
        </p:txBody>
      </p:sp>
      <p:sp>
        <p:nvSpPr>
          <p:cNvPr id="15" name="Text 13"/>
          <p:cNvSpPr txBox="1"/>
          <p:nvPr/>
        </p:nvSpPr>
        <p:spPr>
          <a:xfrm>
            <a:off x="511956" y="2484275"/>
            <a:ext cx="3685119" cy="144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clics por mil correos en promedio, con motivo y sin motivo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4315682" y="1664723"/>
            <a:ext cx="3560181" cy="0"/>
          </a:xfrm>
          <a:prstGeom prst="line">
            <a:avLst/>
          </a:prstGeom>
          <a:noFill/>
          <a:ln w="19291">
            <a:solidFill>
              <a:srgbClr val="1F4F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15682" y="1747462"/>
            <a:ext cx="3685275" cy="184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¿Va por el canal que usa y cuesta menos?</a:t>
            </a:r>
            <a:endParaRPr lang="en-US" sz="1080" dirty="0"/>
          </a:p>
        </p:txBody>
      </p:sp>
      <p:sp>
        <p:nvSpPr>
          <p:cNvPr id="18" name="Text 16"/>
          <p:cNvSpPr txBox="1"/>
          <p:nvPr/>
        </p:nvSpPr>
        <p:spPr>
          <a:xfrm>
            <a:off x="4315682" y="1962222"/>
            <a:ext cx="3685275" cy="1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1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solo a quien leyó uno en 90 días.</a:t>
            </a:r>
            <a:endParaRPr lang="en-US" sz="910" dirty="0"/>
          </a:p>
        </p:txBody>
      </p:sp>
      <p:sp>
        <p:nvSpPr>
          <p:cNvPr id="19" name="Text 17"/>
          <p:cNvSpPr txBox="1"/>
          <p:nvPr/>
        </p:nvSpPr>
        <p:spPr>
          <a:xfrm>
            <a:off x="4315682" y="2179543"/>
            <a:ext cx="3685275" cy="280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1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 contra 468</a:t>
            </a:r>
            <a:endParaRPr lang="en-US" sz="2210" dirty="0"/>
          </a:p>
        </p:txBody>
      </p:sp>
      <p:sp>
        <p:nvSpPr>
          <p:cNvPr id="20" name="Text 18"/>
          <p:cNvSpPr txBox="1"/>
          <p:nvPr/>
        </p:nvSpPr>
        <p:spPr>
          <a:xfrm>
            <a:off x="4315682" y="2484275"/>
            <a:ext cx="3685275" cy="289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MXN por conversión por WhatsApp, activos contra ex clientes; por solicitud, 12 contra 74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8119558" y="1664723"/>
            <a:ext cx="3560030" cy="0"/>
          </a:xfrm>
          <a:prstGeom prst="line">
            <a:avLst/>
          </a:prstGeom>
          <a:noFill/>
          <a:ln w="19291">
            <a:solidFill>
              <a:srgbClr val="1F4F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19558" y="1747462"/>
            <a:ext cx="3685119" cy="184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¿Cuántos mensajes le llegan?</a:t>
            </a:r>
            <a:endParaRPr lang="en-US" sz="1080" dirty="0"/>
          </a:p>
        </p:txBody>
      </p:sp>
      <p:sp>
        <p:nvSpPr>
          <p:cNvPr id="23" name="Text 21"/>
          <p:cNvSpPr txBox="1"/>
          <p:nvPr/>
        </p:nvSpPr>
        <p:spPr>
          <a:xfrm>
            <a:off x="8119558" y="1962222"/>
            <a:ext cx="3685119" cy="1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1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Máximo dos al mes; el segundo solo a quien no abrió.</a:t>
            </a:r>
            <a:endParaRPr lang="en-US" sz="910" dirty="0"/>
          </a:p>
        </p:txBody>
      </p:sp>
      <p:sp>
        <p:nvSpPr>
          <p:cNvPr id="24" name="Text 22"/>
          <p:cNvSpPr txBox="1"/>
          <p:nvPr/>
        </p:nvSpPr>
        <p:spPr>
          <a:xfrm>
            <a:off x="8119558" y="2179543"/>
            <a:ext cx="3685119" cy="280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1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1.8 contra 3.9</a:t>
            </a:r>
            <a:endParaRPr lang="en-US" sz="2210" dirty="0"/>
          </a:p>
        </p:txBody>
      </p:sp>
      <p:sp>
        <p:nvSpPr>
          <p:cNvPr id="25" name="Text 23"/>
          <p:cNvSpPr txBox="1"/>
          <p:nvPr/>
        </p:nvSpPr>
        <p:spPr>
          <a:xfrm>
            <a:off x="8119558" y="2484275"/>
            <a:ext cx="3685119" cy="144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bajas por mil personas con 1 correo al mes y con 3 o 4 (lámina 63)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511956" y="3100521"/>
            <a:ext cx="3560030" cy="0"/>
          </a:xfrm>
          <a:prstGeom prst="line">
            <a:avLst/>
          </a:prstGeom>
          <a:noFill/>
          <a:ln w="19291">
            <a:solidFill>
              <a:srgbClr val="1F4FD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1956" y="3183260"/>
            <a:ext cx="3685119" cy="184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¿Le llega otra versión o campaña el mismo día?</a:t>
            </a:r>
            <a:endParaRPr lang="en-US" sz="1080" dirty="0"/>
          </a:p>
        </p:txBody>
      </p:sp>
      <p:sp>
        <p:nvSpPr>
          <p:cNvPr id="28" name="Text 26"/>
          <p:cNvSpPr txBox="1"/>
          <p:nvPr/>
        </p:nvSpPr>
        <p:spPr>
          <a:xfrm>
            <a:off x="511956" y="3398019"/>
            <a:ext cx="3685119" cy="1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1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Revisar el calendario común antes de activar.</a:t>
            </a:r>
            <a:endParaRPr lang="en-US" sz="910" dirty="0"/>
          </a:p>
        </p:txBody>
      </p:sp>
      <p:sp>
        <p:nvSpPr>
          <p:cNvPr id="29" name="Text 27"/>
          <p:cNvSpPr txBox="1"/>
          <p:nvPr/>
        </p:nvSpPr>
        <p:spPr>
          <a:xfrm>
            <a:off x="511956" y="3615340"/>
            <a:ext cx="3685119" cy="280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1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</a:t>
            </a:r>
            <a:endParaRPr lang="en-US" sz="2210" dirty="0"/>
          </a:p>
        </p:txBody>
      </p:sp>
      <p:sp>
        <p:nvSpPr>
          <p:cNvPr id="30" name="Text 28"/>
          <p:cNvSpPr txBox="1"/>
          <p:nvPr/>
        </p:nvSpPr>
        <p:spPr>
          <a:xfrm>
            <a:off x="511956" y="3920072"/>
            <a:ext cx="3685119" cy="144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campañas con dos versiones a la vez en septiembre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4315682" y="3100521"/>
            <a:ext cx="3560181" cy="0"/>
          </a:xfrm>
          <a:prstGeom prst="line">
            <a:avLst/>
          </a:prstGeom>
          <a:noFill/>
          <a:ln w="19291">
            <a:solidFill>
              <a:srgbClr val="1F4F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315682" y="3183260"/>
            <a:ext cx="3685275" cy="184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¿Tiene un grupo sin mensajes?</a:t>
            </a:r>
            <a:endParaRPr lang="en-US" sz="1080" dirty="0"/>
          </a:p>
        </p:txBody>
      </p:sp>
      <p:sp>
        <p:nvSpPr>
          <p:cNvPr id="33" name="Text 31"/>
          <p:cNvSpPr txBox="1"/>
          <p:nvPr/>
        </p:nvSpPr>
        <p:spPr>
          <a:xfrm>
            <a:off x="4315682" y="3398019"/>
            <a:ext cx="3685275" cy="1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1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10 %; si va a más de un millón, prueba al 10 % antes.</a:t>
            </a:r>
            <a:endParaRPr lang="en-US" sz="910" dirty="0"/>
          </a:p>
        </p:txBody>
      </p:sp>
      <p:sp>
        <p:nvSpPr>
          <p:cNvPr id="34" name="Text 32"/>
          <p:cNvSpPr txBox="1"/>
          <p:nvPr/>
        </p:nvSpPr>
        <p:spPr>
          <a:xfrm>
            <a:off x="4315682" y="3615340"/>
            <a:ext cx="3685275" cy="280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1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de 3,228</a:t>
            </a:r>
            <a:endParaRPr lang="en-US" sz="2210" dirty="0"/>
          </a:p>
        </p:txBody>
      </p:sp>
      <p:sp>
        <p:nvSpPr>
          <p:cNvPr id="35" name="Text 33"/>
          <p:cNvSpPr txBox="1"/>
          <p:nvPr/>
        </p:nvSpPr>
        <p:spPr>
          <a:xfrm>
            <a:off x="4315682" y="3920072"/>
            <a:ext cx="3685275" cy="144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Canvas con grupo de control real (B0301, 71.6 mil personas)</a:t>
            </a:r>
            <a:endParaRPr lang="en-US" sz="840" dirty="0"/>
          </a:p>
        </p:txBody>
      </p:sp>
      <p:sp>
        <p:nvSpPr>
          <p:cNvPr id="36" name="Shape 34"/>
          <p:cNvSpPr/>
          <p:nvPr/>
        </p:nvSpPr>
        <p:spPr>
          <a:xfrm>
            <a:off x="8119558" y="3100521"/>
            <a:ext cx="3560030" cy="0"/>
          </a:xfrm>
          <a:prstGeom prst="line">
            <a:avLst/>
          </a:prstGeom>
          <a:noFill/>
          <a:ln w="19291">
            <a:solidFill>
              <a:srgbClr val="1F4FD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119558" y="3183260"/>
            <a:ext cx="3685119" cy="184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¿Tiene dueño, ticket y una sola versión viva?</a:t>
            </a:r>
            <a:endParaRPr lang="en-US" sz="1080" dirty="0"/>
          </a:p>
        </p:txBody>
      </p:sp>
      <p:sp>
        <p:nvSpPr>
          <p:cNvPr id="38" name="Text 36"/>
          <p:cNvSpPr txBox="1"/>
          <p:nvPr/>
        </p:nvSpPr>
        <p:spPr>
          <a:xfrm>
            <a:off x="8119558" y="3398019"/>
            <a:ext cx="3685119" cy="1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1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 lanzar la nueva se archiva la anterior.</a:t>
            </a:r>
            <a:endParaRPr lang="en-US" sz="910" dirty="0"/>
          </a:p>
        </p:txBody>
      </p:sp>
      <p:sp>
        <p:nvSpPr>
          <p:cNvPr id="39" name="Text 37"/>
          <p:cNvSpPr txBox="1"/>
          <p:nvPr/>
        </p:nvSpPr>
        <p:spPr>
          <a:xfrm>
            <a:off x="8119558" y="3615340"/>
            <a:ext cx="3685119" cy="280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21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 M</a:t>
            </a:r>
            <a:endParaRPr lang="en-US" sz="2210" dirty="0"/>
          </a:p>
        </p:txBody>
      </p:sp>
      <p:sp>
        <p:nvSpPr>
          <p:cNvPr id="40" name="Text 38"/>
          <p:cNvSpPr txBox="1"/>
          <p:nvPr/>
        </p:nvSpPr>
        <p:spPr>
          <a:xfrm>
            <a:off x="8119558" y="3920072"/>
            <a:ext cx="3685119" cy="144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mensajes de promociones sin equipo ni ticket en el año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511956" y="4235505"/>
            <a:ext cx="11167783" cy="506078"/>
          </a:xfrm>
          <a:prstGeom prst="rect">
            <a:avLst/>
          </a:prstGeom>
          <a:solidFill>
            <a:srgbClr val="E9F4E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33873" y="4320847"/>
            <a:ext cx="11269956" cy="335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2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Regla para apagarla:</a:t>
            </a:r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 en dos meses no llega a lo mínimo (3 clics por mil correos, 7.5 aperturas por mil push, 60 % de WhatsApp leídos o 10 % de in-app con clic) o causa más de 2.5 bajas por mil correos, se rehace o se apaga.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45" name="Text 43"/>
          <p:cNvSpPr txBox="1"/>
          <p:nvPr/>
        </p:nvSpPr>
        <p:spPr>
          <a:xfrm>
            <a:off x="1409876" y="6077461"/>
            <a:ext cx="5881772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Seis preguntas antes de activar y una regla para apagar evitan casi todo lo que vimos.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511956" y="6454684"/>
            <a:ext cx="8348524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láminas 63, 69, 74, 81 y 88; Braze, envíos por campaña, canal y mes, y grupos de control por Canvas, ene a sep 2026. Solicitud: solicitudes registradas.</a:t>
            </a:r>
            <a:endParaRPr lang="en-US" sz="840" dirty="0"/>
          </a:p>
        </p:txBody>
      </p:sp>
      <p:sp>
        <p:nvSpPr>
          <p:cNvPr id="47" name="Text 45"/>
          <p:cNvSpPr txBox="1"/>
          <p:nvPr/>
        </p:nvSpPr>
        <p:spPr>
          <a:xfrm>
            <a:off x="11549829" y="6454684"/>
            <a:ext cx="152096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</a:t>
            </a:r>
            <a:endParaRPr lang="en-US" sz="84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uno de 3,228 Canvas apartó un grupo de control de verdad: nadie puede decir cuánto vende Braze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240232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 la promoción: Tasa 0, referidos, recordatorios, venta cruzada, reactivación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446376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los equipos; el único control real es de Product Growth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266621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el único caso medido, clientes activos de Cash (B0301)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3,206 Canvas no apartaron a nadie; 21 marcaron de 1 a 743 personas por accidente.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B0301 apartó 71.6 mil personas: el control convirtió 35.7 % y quien recibió 27.0 %.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57.7 M MXN gastados en nueve meses sin poder decir cuántas ventas causaron.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451344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control no es obligatorio y nadie es dueño de medir; 84 % del control de B0301 abrió otros mensajes.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5990743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Prender el grupo de control nativo de Braze en toda promoción antes de atribuir ventas.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8201211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grupos de prueba y control (E13), 2026. 3,228 = Canvas con personas que entraron en 2026, aunque no hayan enviado mensaje. Gasto de E1.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6965" y="6454684"/>
            <a:ext cx="155045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</a:t>
            </a:r>
            <a:endParaRPr lang="en-US" sz="84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cifra de Veriff del equipo (22 % contra 17 %) no sale en los datos: cambia la definición, no el resultado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616508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Recordatorio de terminar la verificación de identidad (Veriff), por correo y push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373729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(B0000) y Acquisition (T2727, que cae en Others)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557521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 que dejaron el registro a medias; prospectos de KPay sin verificar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la campaña típica quien abre convierte 2.3 veces más por correo y 3.0 por push.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Veriff por correo: 4.5 % contra 2.6 % a 7 días; la cifra del equipo da 1.3 veces.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nivel cambia por la definición: aquí es crédito otorgado en 7 días por día de envío.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211514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hay una definición única de conversión: cada equipo mide otro paso u otra ventana.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7048167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Comparar campañas con una sola definición: crédito otorgado en 7 días, y mostrar también la solicitud.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9169067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abren contra no abren por campaña a 7 días (E9a), enero a septiembre 2026; campañas con 2 mil o más personas en cada grupo. 22 contra 17 viene del equipo.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52692" y="6454684"/>
            <a:ext cx="149146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87</a:t>
            </a:r>
            <a:endParaRPr lang="en-US" sz="84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Uno de cada ocho mensajes sale de comunicaciones sin equipo dueño ni ticket; casi la mitad es promoción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093850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Avisos de pago y desembolso, lanzamientos de BillPay, recomendaciones de Shopping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192266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Nadie: sin equipo (Not Tracked en Braze); por el nombre, NewProducts, Shopping, QA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518092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Clientes de KPay y Cash en avisos; casi toda la base en BillPay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748 comunicaciones no tienen equipo ni ticket; 210 mandaron 84.7 M mensajes en 2026.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Lanzamiento de BillPay: 16.1 M correos, 1 clic por mil y 80 mil bajas registradas (jun a sep).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avisos sin dueño (43.7 M mensajes) son un riesgo: nadie revisa si dejan de llegar.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392512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Activar una comunicación no exige equipo ni ticket, así que nadie responde por ella.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5368428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Equipo y ticket obligatorios para activar: sin ellos nadie apaga, corrige ni mide.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8138343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catálogo de Braze (E2: equipo y ticket) cruzado con E1, enero a septiembre 2026; comunicaciones con mil mensajes o más. Tema según el nombre.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7116" y="6454684"/>
            <a:ext cx="154890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</a:t>
            </a:r>
            <a:endParaRPr lang="en-US" sz="84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el correo registra quién se da de baja y por qué campaña; en push y WhatsApp no lo sabemos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289284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 lo que sale por push y WhatsApp: 251 M push y 55 M WhatsApp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1033799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los equipos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726445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 la base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1956" y="2139907"/>
            <a:ext cx="867929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1956" y="1961556"/>
            <a:ext cx="824353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CANAL</a:t>
            </a:r>
            <a:endParaRPr lang="en-US" sz="790" dirty="0"/>
          </a:p>
        </p:txBody>
      </p:sp>
      <p:sp>
        <p:nvSpPr>
          <p:cNvPr id="13" name="Shape 11"/>
          <p:cNvSpPr/>
          <p:nvPr/>
        </p:nvSpPr>
        <p:spPr>
          <a:xfrm>
            <a:off x="1379885" y="2139907"/>
            <a:ext cx="1487189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79885" y="1961556"/>
            <a:ext cx="1462191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MENSAJES, 9 MESES</a:t>
            </a:r>
            <a:endParaRPr lang="en-US" sz="790" dirty="0"/>
          </a:p>
        </p:txBody>
      </p:sp>
      <p:sp>
        <p:nvSpPr>
          <p:cNvPr id="15" name="Shape 13"/>
          <p:cNvSpPr/>
          <p:nvPr/>
        </p:nvSpPr>
        <p:spPr>
          <a:xfrm>
            <a:off x="2867074" y="2139907"/>
            <a:ext cx="1464734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67074" y="1961556"/>
            <a:ext cx="1439061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ENVÍO Y RESPUESTA</a:t>
            </a:r>
            <a:endParaRPr lang="en-US" sz="790" dirty="0"/>
          </a:p>
        </p:txBody>
      </p:sp>
      <p:sp>
        <p:nvSpPr>
          <p:cNvPr id="17" name="Shape 15"/>
          <p:cNvSpPr/>
          <p:nvPr/>
        </p:nvSpPr>
        <p:spPr>
          <a:xfrm>
            <a:off x="4331807" y="2139907"/>
            <a:ext cx="2124233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31807" y="1961556"/>
            <a:ext cx="2118346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BAJA CON FECHA Y CAMPAÑA</a:t>
            </a:r>
            <a:endParaRPr lang="en-US" sz="790" dirty="0"/>
          </a:p>
        </p:txBody>
      </p:sp>
      <p:sp>
        <p:nvSpPr>
          <p:cNvPr id="19" name="Shape 17"/>
          <p:cNvSpPr/>
          <p:nvPr/>
        </p:nvSpPr>
        <p:spPr>
          <a:xfrm>
            <a:off x="6456040" y="2139907"/>
            <a:ext cx="1345825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56040" y="1961556"/>
            <a:ext cx="1316585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SUSCRIPCIÓN HOY</a:t>
            </a:r>
            <a:endParaRPr lang="en-US" sz="790" dirty="0"/>
          </a:p>
        </p:txBody>
      </p:sp>
      <p:sp>
        <p:nvSpPr>
          <p:cNvPr id="21" name="Shape 19"/>
          <p:cNvSpPr/>
          <p:nvPr/>
        </p:nvSpPr>
        <p:spPr>
          <a:xfrm>
            <a:off x="511956" y="2410126"/>
            <a:ext cx="86792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1956" y="2195934"/>
            <a:ext cx="82435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1379885" y="2410126"/>
            <a:ext cx="148718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379885" y="2195934"/>
            <a:ext cx="146219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333.5 M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2867074" y="2410126"/>
            <a:ext cx="146473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867074" y="2195934"/>
            <a:ext cx="143906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12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4331807" y="2410126"/>
            <a:ext cx="21242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331807" y="2195934"/>
            <a:ext cx="2118346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12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6456040" y="2410126"/>
            <a:ext cx="134582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56040" y="2195934"/>
            <a:ext cx="1316585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12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511956" y="2680346"/>
            <a:ext cx="86792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11956" y="2466154"/>
            <a:ext cx="82435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1379885" y="2680346"/>
            <a:ext cx="148718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379885" y="2466154"/>
            <a:ext cx="146219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251.1 M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2867074" y="2680346"/>
            <a:ext cx="146473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867074" y="2466154"/>
            <a:ext cx="143906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12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4331807" y="2680346"/>
            <a:ext cx="21242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331807" y="2466154"/>
            <a:ext cx="2118346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6456040" y="2680346"/>
            <a:ext cx="134582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56040" y="2466154"/>
            <a:ext cx="1316585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bandera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511956" y="2950566"/>
            <a:ext cx="86792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11956" y="2736374"/>
            <a:ext cx="82435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</a:t>
            </a: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1379885" y="2950566"/>
            <a:ext cx="148718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379885" y="2736374"/>
            <a:ext cx="146219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55.2 M</a:t>
            </a:r>
            <a:endParaRPr lang="en-US" sz="960" dirty="0"/>
          </a:p>
        </p:txBody>
      </p:sp>
      <p:sp>
        <p:nvSpPr>
          <p:cNvPr id="45" name="Shape 43"/>
          <p:cNvSpPr/>
          <p:nvPr/>
        </p:nvSpPr>
        <p:spPr>
          <a:xfrm>
            <a:off x="2867074" y="2950566"/>
            <a:ext cx="146473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867074" y="2736374"/>
            <a:ext cx="143906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12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</a:t>
            </a:r>
            <a:endParaRPr lang="en-US" sz="960" dirty="0"/>
          </a:p>
        </p:txBody>
      </p:sp>
      <p:sp>
        <p:nvSpPr>
          <p:cNvPr id="47" name="Shape 45"/>
          <p:cNvSpPr/>
          <p:nvPr/>
        </p:nvSpPr>
        <p:spPr>
          <a:xfrm>
            <a:off x="4331807" y="2950566"/>
            <a:ext cx="21242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331807" y="2736374"/>
            <a:ext cx="2118346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960" dirty="0"/>
          </a:p>
        </p:txBody>
      </p:sp>
      <p:sp>
        <p:nvSpPr>
          <p:cNvPr id="49" name="Shape 47"/>
          <p:cNvSpPr/>
          <p:nvPr/>
        </p:nvSpPr>
        <p:spPr>
          <a:xfrm>
            <a:off x="6456040" y="2950566"/>
            <a:ext cx="134582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456040" y="2736374"/>
            <a:ext cx="1316585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bandera</a:t>
            </a:r>
            <a:endParaRPr lang="en-US" sz="960" dirty="0"/>
          </a:p>
        </p:txBody>
      </p:sp>
      <p:sp>
        <p:nvSpPr>
          <p:cNvPr id="51" name="Shape 49"/>
          <p:cNvSpPr/>
          <p:nvPr/>
        </p:nvSpPr>
        <p:spPr>
          <a:xfrm>
            <a:off x="511956" y="3220786"/>
            <a:ext cx="86792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11956" y="3006594"/>
            <a:ext cx="82435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In-app</a:t>
            </a:r>
            <a:endParaRPr lang="en-US" sz="960" dirty="0"/>
          </a:p>
        </p:txBody>
      </p:sp>
      <p:sp>
        <p:nvSpPr>
          <p:cNvPr id="53" name="Shape 51"/>
          <p:cNvSpPr/>
          <p:nvPr/>
        </p:nvSpPr>
        <p:spPr>
          <a:xfrm>
            <a:off x="1379885" y="3220786"/>
            <a:ext cx="148718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379885" y="3006594"/>
            <a:ext cx="146219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27.4 M</a:t>
            </a:r>
            <a:endParaRPr lang="en-US" sz="960" dirty="0"/>
          </a:p>
        </p:txBody>
      </p:sp>
      <p:sp>
        <p:nvSpPr>
          <p:cNvPr id="55" name="Shape 53"/>
          <p:cNvSpPr/>
          <p:nvPr/>
        </p:nvSpPr>
        <p:spPr>
          <a:xfrm>
            <a:off x="2867074" y="3220786"/>
            <a:ext cx="146473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2867074" y="3006594"/>
            <a:ext cx="143906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Impresión</a:t>
            </a:r>
            <a:endParaRPr lang="en-US" sz="960" dirty="0"/>
          </a:p>
        </p:txBody>
      </p:sp>
      <p:sp>
        <p:nvSpPr>
          <p:cNvPr id="57" name="Shape 55"/>
          <p:cNvSpPr/>
          <p:nvPr/>
        </p:nvSpPr>
        <p:spPr>
          <a:xfrm>
            <a:off x="4331807" y="3220786"/>
            <a:ext cx="21242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331807" y="3006594"/>
            <a:ext cx="2118346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960" dirty="0"/>
          </a:p>
        </p:txBody>
      </p:sp>
      <p:sp>
        <p:nvSpPr>
          <p:cNvPr id="59" name="Shape 57"/>
          <p:cNvSpPr/>
          <p:nvPr/>
        </p:nvSpPr>
        <p:spPr>
          <a:xfrm>
            <a:off x="6456040" y="3220786"/>
            <a:ext cx="134582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456040" y="3006594"/>
            <a:ext cx="1316585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aplica</a:t>
            </a:r>
            <a:endParaRPr lang="en-US" sz="960" dirty="0"/>
          </a:p>
        </p:txBody>
      </p:sp>
      <p:sp>
        <p:nvSpPr>
          <p:cNvPr id="61" name="Text 59"/>
          <p:cNvSpPr txBox="1"/>
          <p:nvPr/>
        </p:nvSpPr>
        <p:spPr>
          <a:xfrm>
            <a:off x="511956" y="3449863"/>
            <a:ext cx="2353716" cy="365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880" b="1" spc="-6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439 mil</a:t>
            </a:r>
            <a:endParaRPr lang="en-US" sz="2880" dirty="0"/>
          </a:p>
        </p:txBody>
      </p:sp>
      <p:sp>
        <p:nvSpPr>
          <p:cNvPr id="62" name="Text 60"/>
          <p:cNvSpPr txBox="1"/>
          <p:nvPr/>
        </p:nvSpPr>
        <p:spPr>
          <a:xfrm>
            <a:off x="511956" y="3864310"/>
            <a:ext cx="2353716" cy="345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1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personas con baja de correo: lo único que se cuenta</a:t>
            </a:r>
            <a:endParaRPr lang="en-US" sz="1010" dirty="0"/>
          </a:p>
        </p:txBody>
      </p:sp>
      <p:sp>
        <p:nvSpPr>
          <p:cNvPr id="63" name="Text 61"/>
          <p:cNvSpPr txBox="1"/>
          <p:nvPr/>
        </p:nvSpPr>
        <p:spPr>
          <a:xfrm>
            <a:off x="3023057" y="3449863"/>
            <a:ext cx="2353871" cy="365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880" b="1" spc="-6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9.8 M</a:t>
            </a:r>
            <a:endParaRPr lang="en-US" sz="2880" dirty="0"/>
          </a:p>
        </p:txBody>
      </p:sp>
      <p:sp>
        <p:nvSpPr>
          <p:cNvPr id="64" name="Text 62"/>
          <p:cNvSpPr txBox="1"/>
          <p:nvPr/>
        </p:nvSpPr>
        <p:spPr>
          <a:xfrm>
            <a:off x="3023057" y="3864310"/>
            <a:ext cx="2353871" cy="345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1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a personas marcadas como baja</a:t>
            </a:r>
            <a:endParaRPr lang="en-US" sz="1010" dirty="0"/>
          </a:p>
        </p:txBody>
      </p:sp>
      <p:sp>
        <p:nvSpPr>
          <p:cNvPr id="65" name="Text 63"/>
          <p:cNvSpPr txBox="1"/>
          <p:nvPr/>
        </p:nvSpPr>
        <p:spPr>
          <a:xfrm>
            <a:off x="5534309" y="3449863"/>
            <a:ext cx="2353871" cy="365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880" b="1" spc="-60" kern="0" dirty="0">
                <a:solidFill>
                  <a:srgbClr val="A3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dato</a:t>
            </a:r>
            <a:endParaRPr lang="en-US" sz="2880" dirty="0"/>
          </a:p>
        </p:txBody>
      </p:sp>
      <p:sp>
        <p:nvSpPr>
          <p:cNvPr id="66" name="Text 64"/>
          <p:cNvSpPr txBox="1"/>
          <p:nvPr/>
        </p:nvSpPr>
        <p:spPr>
          <a:xfrm>
            <a:off x="5534309" y="3864310"/>
            <a:ext cx="2353871" cy="345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1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 apagó notificaciones o bloqueó WhatsApp</a:t>
            </a:r>
            <a:endParaRPr lang="en-US" sz="1010" dirty="0"/>
          </a:p>
        </p:txBody>
      </p:sp>
      <p:sp>
        <p:nvSpPr>
          <p:cNvPr id="67" name="Text 65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68" name="Shape 66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70" name="Text 68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439 mil personas se dieron de baja del correo en nueve meses, con fecha y campaña.</a:t>
            </a:r>
            <a:endParaRPr lang="en-US" sz="940" dirty="0"/>
          </a:p>
        </p:txBody>
      </p:sp>
      <p:sp>
        <p:nvSpPr>
          <p:cNvPr id="71" name="Shape 69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73" name="Text 71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y WhatsApp solo tienen una bandera de hoy, sin fecha: 9.8 M WhatsApp fueron a marcados como baja.</a:t>
            </a:r>
            <a:endParaRPr lang="en-US" sz="940" dirty="0"/>
          </a:p>
        </p:txBody>
      </p:sp>
      <p:sp>
        <p:nvSpPr>
          <p:cNvPr id="74" name="Shape 72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76" name="Text 74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eso el push parece gratis: cuesta el permiso de notificaciones y no lo vemos.</a:t>
            </a:r>
            <a:endParaRPr lang="en-US" sz="940" dirty="0"/>
          </a:p>
        </p:txBody>
      </p:sp>
      <p:sp>
        <p:nvSpPr>
          <p:cNvPr id="77" name="Shape 75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78" name="Shape 76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80" name="Text 78"/>
          <p:cNvSpPr txBox="1"/>
          <p:nvPr/>
        </p:nvSpPr>
        <p:spPr>
          <a:xfrm>
            <a:off x="8233041" y="3513009"/>
            <a:ext cx="3429767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Braze solo manda a Databricks la baja de correo; la de push y la de WhatsApp no están configuradas.</a:t>
            </a:r>
            <a:endParaRPr lang="en-US" sz="920" dirty="0"/>
          </a:p>
        </p:txBody>
      </p:sp>
      <p:sp>
        <p:nvSpPr>
          <p:cNvPr id="81" name="Shape 79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83" name="Text 81"/>
          <p:cNvSpPr txBox="1"/>
          <p:nvPr/>
        </p:nvSpPr>
        <p:spPr>
          <a:xfrm>
            <a:off x="1409876" y="6077461"/>
            <a:ext cx="6435165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Prender Currents en Braze para que la baja de push y WhatsApp quede con fecha y campaña.</a:t>
            </a:r>
            <a:endParaRPr lang="en-US" sz="1100" dirty="0"/>
          </a:p>
        </p:txBody>
      </p:sp>
      <p:sp>
        <p:nvSpPr>
          <p:cNvPr id="84" name="Text 82"/>
          <p:cNvSpPr txBox="1"/>
          <p:nvPr/>
        </p:nvSpPr>
        <p:spPr>
          <a:xfrm>
            <a:off x="511956" y="6454684"/>
            <a:ext cx="9195922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canal (E1), personas con baja de correo (E5) y banderas del golden dataset (E17), enero a septiembre 2026. La bandera de WhatsApp no es confiable.</a:t>
            </a:r>
            <a:endParaRPr lang="en-US" sz="840" dirty="0"/>
          </a:p>
        </p:txBody>
      </p:sp>
      <p:sp>
        <p:nvSpPr>
          <p:cNvPr id="85" name="Text 83"/>
          <p:cNvSpPr txBox="1"/>
          <p:nvPr/>
        </p:nvSpPr>
        <p:spPr>
          <a:xfrm>
            <a:off x="11546965" y="6454684"/>
            <a:ext cx="155045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</a:t>
            </a:r>
            <a:endParaRPr lang="en-US" sz="84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qué pasa: Braze no tiene dueño ni reglas comunes, y cada equipo lo opera a su manera</a:t>
            </a:r>
            <a:endParaRPr lang="en-US" sz="2210" dirty="0"/>
          </a:p>
        </p:txBody>
      </p:sp>
      <p:sp>
        <p:nvSpPr>
          <p:cNvPr id="3" name="Text 1"/>
          <p:cNvSpPr txBox="1"/>
          <p:nvPr/>
        </p:nvSpPr>
        <p:spPr>
          <a:xfrm>
            <a:off x="511956" y="1161358"/>
            <a:ext cx="3788037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QUÉ PASA, DE LO VISIBLE A LA CAUSA</a:t>
            </a:r>
            <a:endParaRPr lang="en-US" sz="790" dirty="0"/>
          </a:p>
        </p:txBody>
      </p:sp>
      <p:sp>
        <p:nvSpPr>
          <p:cNvPr id="4" name="Shape 2"/>
          <p:cNvSpPr/>
          <p:nvPr/>
        </p:nvSpPr>
        <p:spPr>
          <a:xfrm>
            <a:off x="511956" y="1350180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1956" y="1350180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6" name="Text 4"/>
          <p:cNvSpPr txBox="1"/>
          <p:nvPr/>
        </p:nvSpPr>
        <p:spPr>
          <a:xfrm>
            <a:off x="743598" y="1337988"/>
            <a:ext cx="354944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sabemos cuánto vende Braze: solo 1 de 3,228 Canvas tuvo un grupo de control real.</a:t>
            </a:r>
            <a:endParaRPr lang="en-US" sz="940" dirty="0"/>
          </a:p>
        </p:txBody>
      </p:sp>
      <p:sp>
        <p:nvSpPr>
          <p:cNvPr id="7" name="Shape 5"/>
          <p:cNvSpPr/>
          <p:nvPr/>
        </p:nvSpPr>
        <p:spPr>
          <a:xfrm>
            <a:off x="511956" y="17323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1956" y="17323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9" name="Text 7"/>
          <p:cNvSpPr txBox="1"/>
          <p:nvPr/>
        </p:nvSpPr>
        <p:spPr>
          <a:xfrm>
            <a:off x="743598" y="1720184"/>
            <a:ext cx="354944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hay control porque no es obligatorio ni hay una sola definición de conversión.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511956" y="2114572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1956" y="2114572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12" name="Text 10"/>
          <p:cNvSpPr txBox="1"/>
          <p:nvPr/>
        </p:nvSpPr>
        <p:spPr>
          <a:xfrm>
            <a:off x="743598" y="2102380"/>
            <a:ext cx="354944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Nadie es dueño: activar no exige equipo ni ticket (748 comunicaciones sin ellos).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511956" y="2496768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1956" y="2496768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768" dirty="0"/>
          </a:p>
        </p:txBody>
      </p:sp>
      <p:sp>
        <p:nvSpPr>
          <p:cNvPr id="15" name="Text 13"/>
          <p:cNvSpPr txBox="1"/>
          <p:nvPr/>
        </p:nvSpPr>
        <p:spPr>
          <a:xfrm>
            <a:off x="743598" y="2484576"/>
            <a:ext cx="354944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el correo registra bajas: en push y WhatsApp no vemos a quién perdemos.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511956" y="2878964"/>
            <a:ext cx="164573" cy="164573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11956" y="2878964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768" dirty="0"/>
          </a:p>
        </p:txBody>
      </p:sp>
      <p:sp>
        <p:nvSpPr>
          <p:cNvPr id="18" name="Text 16"/>
          <p:cNvSpPr txBox="1"/>
          <p:nvPr/>
        </p:nvSpPr>
        <p:spPr>
          <a:xfrm>
            <a:off x="743598" y="2866772"/>
            <a:ext cx="354944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raíz: Braze se repartió por equipos sin un administrador ni reglas comunes.</a:t>
            </a:r>
            <a:endParaRPr lang="en-US" sz="940" dirty="0"/>
          </a:p>
        </p:txBody>
      </p:sp>
      <p:sp>
        <p:nvSpPr>
          <p:cNvPr id="19" name="Text 17"/>
          <p:cNvSpPr txBox="1"/>
          <p:nvPr/>
        </p:nvSpPr>
        <p:spPr>
          <a:xfrm>
            <a:off x="4440016" y="1161358"/>
            <a:ext cx="3608591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HIPÓTESIS: A ANALÍTICA, O OPERATIVA, G GOBIERNO</a:t>
            </a:r>
            <a:endParaRPr lang="en-US" sz="790" dirty="0"/>
          </a:p>
        </p:txBody>
      </p:sp>
      <p:sp>
        <p:nvSpPr>
          <p:cNvPr id="20" name="Shape 18"/>
          <p:cNvSpPr/>
          <p:nvPr/>
        </p:nvSpPr>
        <p:spPr>
          <a:xfrm>
            <a:off x="4440016" y="1344016"/>
            <a:ext cx="158244" cy="128705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482687" y="1344016"/>
            <a:ext cx="93377" cy="12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7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770" dirty="0"/>
          </a:p>
        </p:txBody>
      </p:sp>
      <p:sp>
        <p:nvSpPr>
          <p:cNvPr id="22" name="Text 20"/>
          <p:cNvSpPr txBox="1"/>
          <p:nvPr/>
        </p:nvSpPr>
        <p:spPr>
          <a:xfrm>
            <a:off x="4732541" y="1337988"/>
            <a:ext cx="3221759" cy="30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10 % de control y una definición de conversión, en 8 semanas sabremos qué vende.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4440016" y="1726212"/>
            <a:ext cx="160504" cy="128705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482687" y="1726212"/>
            <a:ext cx="95705" cy="12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7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</a:t>
            </a:r>
            <a:endParaRPr lang="en-US" sz="770" dirty="0"/>
          </a:p>
        </p:txBody>
      </p:sp>
      <p:sp>
        <p:nvSpPr>
          <p:cNvPr id="25" name="Text 23"/>
          <p:cNvSpPr txBox="1"/>
          <p:nvPr/>
        </p:nvSpPr>
        <p:spPr>
          <a:xfrm>
            <a:off x="4732541" y="1720184"/>
            <a:ext cx="3210583" cy="30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activar exige equipo y ticket, las comunicaciones sin dueño bajan de 748 a 0.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4440016" y="2108409"/>
            <a:ext cx="158545" cy="128705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482687" y="2108409"/>
            <a:ext cx="93687" cy="12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7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</a:t>
            </a:r>
            <a:endParaRPr lang="en-US" sz="770" dirty="0"/>
          </a:p>
        </p:txBody>
      </p:sp>
      <p:sp>
        <p:nvSpPr>
          <p:cNvPr id="28" name="Text 26"/>
          <p:cNvSpPr txBox="1"/>
          <p:nvPr/>
        </p:nvSpPr>
        <p:spPr>
          <a:xfrm>
            <a:off x="4732541" y="2102380"/>
            <a:ext cx="3211980" cy="30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comité quincenal de 30 minutos decide con datos y no con opiniones.</a:t>
            </a:r>
            <a:endParaRPr lang="en-US" sz="940" dirty="0"/>
          </a:p>
        </p:txBody>
      </p:sp>
      <p:sp>
        <p:nvSpPr>
          <p:cNvPr id="29" name="Text 27"/>
          <p:cNvSpPr txBox="1"/>
          <p:nvPr/>
        </p:nvSpPr>
        <p:spPr>
          <a:xfrm>
            <a:off x="8193857" y="1161358"/>
            <a:ext cx="3608746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LO RESOLVEMOS</a:t>
            </a:r>
            <a:endParaRPr lang="en-US" sz="790" dirty="0"/>
          </a:p>
        </p:txBody>
      </p:sp>
      <p:sp>
        <p:nvSpPr>
          <p:cNvPr id="30" name="Shape 28"/>
          <p:cNvSpPr/>
          <p:nvPr/>
        </p:nvSpPr>
        <p:spPr>
          <a:xfrm>
            <a:off x="8230432" y="1405042"/>
            <a:ext cx="73093" cy="73093"/>
          </a:xfrm>
          <a:prstGeom prst="rect">
            <a:avLst/>
          </a:prstGeom>
          <a:solidFill>
            <a:srgbClr val="127A5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25499" y="1337988"/>
            <a:ext cx="337015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 2: MarTech prende el control nativo (10 %) en toda promoción. Meta: 100 % en 90 días.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8230432" y="1787238"/>
            <a:ext cx="73093" cy="73093"/>
          </a:xfrm>
          <a:prstGeom prst="rect">
            <a:avLst/>
          </a:prstGeom>
          <a:solidFill>
            <a:srgbClr val="127A5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425499" y="1720184"/>
            <a:ext cx="337015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 2: Datos fija la definición de conversión: crédito otorgado en 7 días.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8230432" y="2169435"/>
            <a:ext cx="73093" cy="73093"/>
          </a:xfrm>
          <a:prstGeom prst="rect">
            <a:avLst/>
          </a:prstGeom>
          <a:solidFill>
            <a:srgbClr val="127A5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425499" y="2102380"/>
            <a:ext cx="337015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 2: MarTech bloquea activar sin equipo ni ticket. Meta: 0 comunicaciones sin dueño.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8230432" y="2551631"/>
            <a:ext cx="73093" cy="73093"/>
          </a:xfrm>
          <a:prstGeom prst="rect">
            <a:avLst/>
          </a:prstGeom>
          <a:solidFill>
            <a:srgbClr val="127A5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425499" y="2484576"/>
            <a:ext cx="3370155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 3: CRM arranca el comité quincenal con el calendario de todos los equipos.</a:t>
            </a:r>
            <a:endParaRPr lang="en-US" sz="940" dirty="0"/>
          </a:p>
        </p:txBody>
      </p:sp>
      <p:sp>
        <p:nvSpPr>
          <p:cNvPr id="38" name="Shape 36"/>
          <p:cNvSpPr/>
          <p:nvPr/>
        </p:nvSpPr>
        <p:spPr>
          <a:xfrm>
            <a:off x="8193857" y="2909574"/>
            <a:ext cx="3485882" cy="614438"/>
          </a:xfrm>
          <a:prstGeom prst="rect">
            <a:avLst/>
          </a:prstGeom>
          <a:solidFill>
            <a:srgbClr val="E4F2E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303573" y="2982667"/>
            <a:ext cx="3382732" cy="12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770" b="1" spc="80" kern="0" dirty="0">
                <a:solidFill>
                  <a:srgbClr val="127A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LO RESOLVEMOS</a:t>
            </a:r>
            <a:endParaRPr lang="en-US" sz="770" dirty="0"/>
          </a:p>
        </p:txBody>
      </p:sp>
      <p:sp>
        <p:nvSpPr>
          <p:cNvPr id="40" name="Text 38"/>
          <p:cNvSpPr txBox="1"/>
          <p:nvPr/>
        </p:nvSpPr>
        <p:spPr>
          <a:xfrm>
            <a:off x="8303573" y="3135636"/>
            <a:ext cx="3190403" cy="30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Decidir con datos 0.85 M MXN al mes y poner dueño a 84.7 M mensajes.</a:t>
            </a:r>
            <a:endParaRPr lang="en-US" sz="940" dirty="0"/>
          </a:p>
        </p:txBody>
      </p:sp>
      <p:sp>
        <p:nvSpPr>
          <p:cNvPr id="41" name="Shape 39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43" name="Text 41"/>
          <p:cNvSpPr txBox="1"/>
          <p:nvPr/>
        </p:nvSpPr>
        <p:spPr>
          <a:xfrm>
            <a:off x="1409876" y="6077461"/>
            <a:ext cx="6622838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dueño y grupo de control, en 90 días cada campaña tiene equipo, ticket y resultado medido.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511956" y="6454684"/>
            <a:ext cx="5087773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E13 (control), E2 y E1 (equipo, ticket y envíos), E5 y E17 (bajas), enero a septiembre 2026.</a:t>
            </a:r>
            <a:endParaRPr lang="en-US" sz="840" dirty="0"/>
          </a:p>
        </p:txBody>
      </p:sp>
      <p:sp>
        <p:nvSpPr>
          <p:cNvPr id="45" name="Text 43"/>
          <p:cNvSpPr txBox="1"/>
          <p:nvPr/>
        </p:nvSpPr>
        <p:spPr>
          <a:xfrm>
            <a:off x="11545609" y="6454684"/>
            <a:ext cx="156442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</a:t>
            </a:r>
            <a:endParaRPr lang="en-US" sz="84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F4F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2037877"/>
            <a:ext cx="11521105" cy="18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1150" b="1" spc="18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ACTO 3 · CÓMO LO RESOLVEMOS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11956" y="2416155"/>
            <a:ext cx="10064121" cy="1474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460" b="1" spc="-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Corregirlo vale hasta 2.34 M MXN al mes: limpiar en 30 días, configurar en 60 y medir en 90</a:t>
            </a:r>
            <a:endParaRPr lang="en-US" sz="3460" dirty="0"/>
          </a:p>
        </p:txBody>
      </p:sp>
      <p:sp>
        <p:nvSpPr>
          <p:cNvPr id="4" name="Text 2"/>
          <p:cNvSpPr txBox="1"/>
          <p:nvPr/>
        </p:nvSpPr>
        <p:spPr>
          <a:xfrm>
            <a:off x="511956" y="4085550"/>
            <a:ext cx="8808469" cy="526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4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1.48 M MXN al mes se quitan ya sin perder ventas. Los otros 0.85 M son ex clientes y personas sin respuesta: se quitan solo si un grupo sin mensajes muestra que no recuperan.</a:t>
            </a:r>
            <a:endParaRPr lang="en-US" sz="1540" dirty="0"/>
          </a:p>
        </p:txBody>
      </p:sp>
      <p:sp>
        <p:nvSpPr>
          <p:cNvPr id="5" name="Text 3"/>
          <p:cNvSpPr txBox="1"/>
          <p:nvPr/>
        </p:nvSpPr>
        <p:spPr>
          <a:xfrm>
            <a:off x="11569572" y="4806840"/>
            <a:ext cx="131761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91</a:t>
            </a:r>
            <a:endParaRPr lang="en-US" sz="84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Podemos gastar hasta 2.34 M MXN menos al mes en mensajes, y 1.48 M se quita ya sin perder ventas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407879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Mensajes a bloqueados, repetidos, pruebas y campañas que nadie responde; cobranza no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461899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 67 %, Marketing 21 %, Sales 8 %, Others 2 %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558142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 y registrados sin crédito, ex clientes, bloqueados y quien no responde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2.34 M MXN al mes: 55 % de lo que gastamos en septiembre (4.23 M) y 28 M MXN al año.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1.48 M se quita ya; lo más grande es apagar correo y WhatsApp a leads que no responden (0.76 M).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0.85 M son ex clientes y gente sin respuesta: se quita solo si un grupo sin mensajes compra igual.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396082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Nadie fija cuánto debe responder una campaña para seguir activa ni prueba si vende con un grupo sin mensajes.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447273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Aprobar hoy 1.48 M MXN al mes y decidir en dos meses los 0.85 M con el grupo sin mensajes.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7116778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E1 de septiembre 2026, acciones del Sheets v4, E9b, E7a y E6b; WhatsApp a 1.00 MXN por entregado, email a 0.05 por enviado.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7870" y="6454684"/>
            <a:ext cx="154114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</a:t>
            </a:r>
            <a:endParaRPr lang="en-US" sz="84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Casi dos tercios del ahorro se quita ya sin perder ventas, y diez campañas son más de la mitad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410674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Promoción de activación, ofertas a ex clientes y promoción a bloqueados o de prueba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616974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 en el corte y en la recuperación; Marketing en el canal preferido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496516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 y registrados sin crédito, contra ex clientes con historial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quita ya: 1.48 M MXN al mes; las 10 campañas más grandes son 58 % (Tasa 0 a registrados, la primera).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mide: 0.85 M; dos ofertas a ex clientes de KPay por WhatsApp son 52 %.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recuperación no se apaga: canal barato, 3 mensajes en 30 días y 10 % sin mensajes 8 semanas.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347495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Hoy se trata igual a quien nunca fue cliente que a quien ya compró: los dos reciben WhatsApp y correo.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6873533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Aprobar hoy 1.48 M MXN al mes empezando por 10 campañas; los 0.85 M se deciden en dos meses.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11015367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E1 de septiembre 2026, acciones del Sheets v4, E9b, E7a y E6b; WhatsApp a 1.00 MXN por entregado, email a 0.05 por enviado. Sin duplicados del mismo día (0.02 M), que no se asignan a una campaña.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6965" y="6454684"/>
            <a:ext cx="155045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</a:t>
            </a:r>
            <a:endParaRPr lang="en-US" sz="84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 de cada tres pesos del ahorro están en Product Growth, en pocas campañas grandes de correo y WhatsApp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175346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0 e Installments a registrados, ofertas a ex clientes, referidos, rescate a leads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505519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 1.57 M MXN al mes; Marketing 0.50 M; Sales y Others, el resto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470903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Registrados sin crédito, ex clientes de KPay, leads y dormants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Growth: sus 2 campañas más grandes valen 0.65 M de sus 1.57 M MXN al mes.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Marketing: 39 campañas medianas; su ahorro es sobre todo canal preferido y medir recuperación.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y Others: campañas de menos de 25 mil MXN al mes cada una; se rehacen, no se apagan.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753391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753391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082208" cy="458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 escribe en volumen a quien nunca respondió y a ex clientes por WhatsApp, sin grupo sin mensajes.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5964044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Empezar por Tasa 0 e Installments a registrados y por las ofertas a ex clientes de KPay.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9682567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E1 de septiembre 2026, acciones del Sheets v4, E9b, E7a y E6b; WhatsApp a 1.00 MXN por entregado, email a 0.05 por enviado. Campañas con mil MXN al mes de ahorro o más.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3951" y="6454684"/>
            <a:ext cx="158150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</a:t>
            </a:r>
            <a:endParaRPr lang="en-US" sz="84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Nunca respondieron 14.2 M de personas, y los segmentos de correo más grandes quedan debajo del mínimo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687603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Sobre todo correo: 68 de cada 100 mensajes que reciben quienes nunca responden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374505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Sobre todo Marketing y Product Growth; el cruce exacto por equipo no existe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2571969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Leads, nuevos registrados, Todos y anónimos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14.2 M de 19.5 M personas no respondieron por ningún canal en nueve meses.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55 % del correo por segmento va a segmentos debajo de 3 clics por mil, como Tasa 0 a nuevos.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escribimos 159.5 M mensajes (8.0 M MXN) y cuentan para el costo fijo de Braze.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296425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listas se arman por etapa (lead, registrado, todos), no por si la persona responde.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5754018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 ahorro (0.30 M MXN al mes) ya está en la lámina 92, como recuperación a medir.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7400382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personas por canal al que responden (E7b) y segmentos (E11), enero a septiembre 2026; segmentos con 100 mil envíos o más.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9678" y="6454684"/>
            <a:ext cx="152251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</a:t>
            </a:r>
            <a:endParaRPr lang="en-US" sz="84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KCash y KPay ahorran casi lo mismo por razones distintas: en KCash se corta, en KPay hay que medir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456156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KCash: Tasa 0 e Installments a registrados. KPay: ofertas a ex clientes, comercios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691484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 en los dos; Marketing pesa más en KCash y Sales solo en KPay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070566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KCash: leads y registrados. KPay: ex clientes y tarjetas congeladas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121417" cy="3834621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KCash: 0.66 M de su ahorro se quita en 30 días; lo mayor, Tasa 0 a registrados por correo.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KPay: 0.60 M es recuperación por WhatsApp a ex clientes; se mide antes de cortar.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KPay manda más promoción a bloqueados: 0.12 M contra 0.05 M MXN al mes en KCash.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449326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producto arma sus listas por su lado y ninguno mide si sus mensajes traen de vuelta al cliente.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857126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5981008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5942427"/>
            <a:ext cx="6926932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KCash, apagar lo que no responde; con KPay, probar con un grupo sin mensajes antes de cortar.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319649"/>
            <a:ext cx="11133186" cy="27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E1 de septiembre 2026, acciones del Sheets v4, E9b, E7a y E6b; WhatsApp a 1.00 MXN por entregado, email a 0.05 por enviado. Producto por el segundo campo del nombre; campañas con mil MXN o más de ahorro.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6815" y="6319649"/>
            <a:ext cx="155200" cy="27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</a:t>
            </a:r>
            <a:endParaRPr lang="en-US" sz="84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Esperar cuesta 2.34 M MXN al mes, y las 10 campañas con más bajas de correo están todas en el plan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505208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0, referidos, lanzamientos y el recordatorio de terminar el registro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2894070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Growth, Marketing y NewProducts (Others)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2689322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Registrados, leads y casi toda la base en BillPay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10 campañas con más bajas dejan 42 % de ellas con 33 % de los correos; el plan las apaga, modera o rehace.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439 mil personas se dieron de baja del correo en nueve meses; ya no podemos escribirles por ahí.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157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mes sin actuar son 2.34 M MXN: 28 M al año.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133526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133526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194412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355369"/>
            <a:ext cx="3330886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campañas que más bajas dejan siguen activas porque nadie revisa cada mes respuesta y bajas.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5496027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Corregir esas 10 campañas primero: frenan las bajas y el gasto al mismo tiempo.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6581702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E1 por campaña de correo, enero a septiembre 2026 (eventos de baja); E5 (personas únicas); acciones del Sheets v4.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54651" y="6454684"/>
            <a:ext cx="147128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</a:t>
            </a:r>
            <a:endParaRPr lang="en-US" sz="84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a 90 días: limpiar y cortar en 30, configurar en 60 y medir en 90, con un dueño por frente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676582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campañas promocionales que el plan toca; cobranza y avisos quedan fuera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702660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equipo; MarTech configura, CRM lleva el comité, Datos mide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017788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Bloqueados, registrados sin crédito, leads, ex clientes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912789"/>
            <a:ext cx="7289909" cy="396965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9127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21260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21260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21138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Semanas 1 a 4: 1.15 M MXN al mes. Se limpian bloqueados, pruebas y duplicados y se apaga lo que no responde.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5144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5144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5022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 2: 0.34 M más. MarTech y Datos configuran límites por persona, canal preferido y silencio.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9027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9027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89058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Desde la semana 3, 8 semanas midiendo ex clientes; en el mes 3 se decide hasta 0.85 M más.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2911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2911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3520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513009"/>
            <a:ext cx="3389718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Hoy cada equipo activa, mide y apaga por su cuenta; nadie coordina.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5898847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ahorro empieza en la semana 1; lo que arriesga clientes se decide con datos al final.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4969954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ahorro de la lámina 92 (E1 de septiembre 2026, Sheets v4, E9b, E7a, E6b). S = semana.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46965" y="6454684"/>
            <a:ext cx="155045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</a:t>
            </a:r>
            <a:endParaRPr lang="en-US" sz="84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campaña tiene una acción, y cuatro acciones concentran 3.1 M MXN del gasto de septiembre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6493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413157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1,913 campañas en un canal que mandaron algo en 2026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2301714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equipo recibe su lista con la acción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690863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Apagar quita solo el canal que no responde; los demás se quedan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1956" y="2120767"/>
            <a:ext cx="1563447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1956" y="1812656"/>
            <a:ext cx="1540737" cy="26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ACCIÓN</a:t>
            </a:r>
            <a:endParaRPr lang="en-US" sz="790" dirty="0"/>
          </a:p>
        </p:txBody>
      </p:sp>
      <p:sp>
        <p:nvSpPr>
          <p:cNvPr id="13" name="Shape 11"/>
          <p:cNvSpPr/>
          <p:nvPr/>
        </p:nvSpPr>
        <p:spPr>
          <a:xfrm>
            <a:off x="2075403" y="2120767"/>
            <a:ext cx="3015220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075403" y="1812656"/>
            <a:ext cx="3036063" cy="26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SIGNIFICA</a:t>
            </a:r>
            <a:endParaRPr lang="en-US" sz="790" dirty="0"/>
          </a:p>
        </p:txBody>
      </p:sp>
      <p:sp>
        <p:nvSpPr>
          <p:cNvPr id="15" name="Shape 13"/>
          <p:cNvSpPr/>
          <p:nvPr/>
        </p:nvSpPr>
        <p:spPr>
          <a:xfrm>
            <a:off x="5090624" y="2120767"/>
            <a:ext cx="893399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90624" y="1812656"/>
            <a:ext cx="850586" cy="26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CAMPAÑAS</a:t>
            </a:r>
            <a:endParaRPr lang="en-US" sz="790" dirty="0"/>
          </a:p>
        </p:txBody>
      </p:sp>
      <p:sp>
        <p:nvSpPr>
          <p:cNvPr id="17" name="Shape 15"/>
          <p:cNvSpPr/>
          <p:nvPr/>
        </p:nvSpPr>
        <p:spPr>
          <a:xfrm>
            <a:off x="5984022" y="2120767"/>
            <a:ext cx="1005073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84022" y="1812656"/>
            <a:ext cx="965611" cy="26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ACTIVAS EN SEPT.</a:t>
            </a:r>
            <a:endParaRPr lang="en-US" sz="790" dirty="0"/>
          </a:p>
        </p:txBody>
      </p:sp>
      <p:sp>
        <p:nvSpPr>
          <p:cNvPr id="19" name="Shape 17"/>
          <p:cNvSpPr/>
          <p:nvPr/>
        </p:nvSpPr>
        <p:spPr>
          <a:xfrm>
            <a:off x="6989095" y="2120767"/>
            <a:ext cx="1005073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89095" y="1812656"/>
            <a:ext cx="965611" cy="26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MENSAJES EN SEPT.</a:t>
            </a:r>
            <a:endParaRPr lang="en-US" sz="790" dirty="0"/>
          </a:p>
        </p:txBody>
      </p:sp>
      <p:sp>
        <p:nvSpPr>
          <p:cNvPr id="21" name="Shape 19"/>
          <p:cNvSpPr/>
          <p:nvPr/>
        </p:nvSpPr>
        <p:spPr>
          <a:xfrm>
            <a:off x="7994169" y="2120767"/>
            <a:ext cx="1116748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94169" y="1812656"/>
            <a:ext cx="1080637" cy="26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GASTO EN SEPT.</a:t>
            </a:r>
            <a:endParaRPr lang="en-US" sz="790" dirty="0"/>
          </a:p>
        </p:txBody>
      </p:sp>
      <p:sp>
        <p:nvSpPr>
          <p:cNvPr id="23" name="Shape 21"/>
          <p:cNvSpPr/>
          <p:nvPr/>
        </p:nvSpPr>
        <p:spPr>
          <a:xfrm>
            <a:off x="9110917" y="2120767"/>
            <a:ext cx="2568521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93792" y="1812656"/>
            <a:ext cx="2387601" cy="26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</a:t>
            </a:r>
            <a:endParaRPr lang="en-US" sz="790" dirty="0"/>
          </a:p>
        </p:txBody>
      </p:sp>
      <p:sp>
        <p:nvSpPr>
          <p:cNvPr id="25" name="Shape 23"/>
          <p:cNvSpPr/>
          <p:nvPr/>
        </p:nvSpPr>
        <p:spPr>
          <a:xfrm>
            <a:off x="511956" y="2390987"/>
            <a:ext cx="156344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1956" y="2176794"/>
            <a:ext cx="15407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Apagar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2075403" y="2390987"/>
            <a:ext cx="301522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075403" y="2176794"/>
            <a:ext cx="303606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Quitar el canal que no responde ni vende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5090624" y="2390987"/>
            <a:ext cx="89339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090624" y="2176794"/>
            <a:ext cx="850586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5984022" y="2390987"/>
            <a:ext cx="1005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84022" y="2176794"/>
            <a:ext cx="96561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6989095" y="2390987"/>
            <a:ext cx="1005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989095" y="2176794"/>
            <a:ext cx="96561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20.2 M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7994169" y="2390987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994169" y="2176794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1.39 M MXN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9110917" y="2390987"/>
            <a:ext cx="256852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293792" y="2176794"/>
            <a:ext cx="238760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0 a registrados, correo (B0211)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511956" y="2661206"/>
            <a:ext cx="156344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11956" y="2447014"/>
            <a:ext cx="15407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Limpiar WhatsApp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2075403" y="2661206"/>
            <a:ext cx="301522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075403" y="2447014"/>
            <a:ext cx="303606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Quitar números que no reciben o no leen</a:t>
            </a: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5090624" y="2661206"/>
            <a:ext cx="89339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090624" y="2447014"/>
            <a:ext cx="850586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</a:t>
            </a:r>
            <a:endParaRPr lang="en-US" sz="960" dirty="0"/>
          </a:p>
        </p:txBody>
      </p:sp>
      <p:sp>
        <p:nvSpPr>
          <p:cNvPr id="45" name="Shape 43"/>
          <p:cNvSpPr/>
          <p:nvPr/>
        </p:nvSpPr>
        <p:spPr>
          <a:xfrm>
            <a:off x="5984022" y="2661206"/>
            <a:ext cx="1005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984022" y="2447014"/>
            <a:ext cx="96561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960" dirty="0"/>
          </a:p>
        </p:txBody>
      </p:sp>
      <p:sp>
        <p:nvSpPr>
          <p:cNvPr id="47" name="Shape 45"/>
          <p:cNvSpPr/>
          <p:nvPr/>
        </p:nvSpPr>
        <p:spPr>
          <a:xfrm>
            <a:off x="6989095" y="2661206"/>
            <a:ext cx="1005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989095" y="2447014"/>
            <a:ext cx="96561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1.6 M</a:t>
            </a:r>
            <a:endParaRPr lang="en-US" sz="960" dirty="0"/>
          </a:p>
        </p:txBody>
      </p:sp>
      <p:sp>
        <p:nvSpPr>
          <p:cNvPr id="49" name="Shape 47"/>
          <p:cNvSpPr/>
          <p:nvPr/>
        </p:nvSpPr>
        <p:spPr>
          <a:xfrm>
            <a:off x="7994169" y="2661206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994169" y="2447014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1.23 M MXN</a:t>
            </a:r>
            <a:endParaRPr lang="en-US" sz="960" dirty="0"/>
          </a:p>
        </p:txBody>
      </p:sp>
      <p:sp>
        <p:nvSpPr>
          <p:cNvPr id="51" name="Shape 49"/>
          <p:cNvSpPr/>
          <p:nvPr/>
        </p:nvSpPr>
        <p:spPr>
          <a:xfrm>
            <a:off x="9110917" y="2661206"/>
            <a:ext cx="256852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293792" y="2447014"/>
            <a:ext cx="238760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 clientes KPay de 3 meses (B0331)</a:t>
            </a:r>
            <a:endParaRPr lang="en-US" sz="960" dirty="0"/>
          </a:p>
        </p:txBody>
      </p:sp>
      <p:sp>
        <p:nvSpPr>
          <p:cNvPr id="53" name="Shape 51"/>
          <p:cNvSpPr/>
          <p:nvPr/>
        </p:nvSpPr>
        <p:spPr>
          <a:xfrm>
            <a:off x="511956" y="2931426"/>
            <a:ext cx="156344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11956" y="2717234"/>
            <a:ext cx="15407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Rehacer</a:t>
            </a:r>
            <a:endParaRPr lang="en-US" sz="960" dirty="0"/>
          </a:p>
        </p:txBody>
      </p:sp>
      <p:sp>
        <p:nvSpPr>
          <p:cNvPr id="55" name="Shape 53"/>
          <p:cNvSpPr/>
          <p:nvPr/>
        </p:nvSpPr>
        <p:spPr>
          <a:xfrm>
            <a:off x="2075403" y="2931426"/>
            <a:ext cx="301522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2075403" y="2717234"/>
            <a:ext cx="303606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Otra audiencia o solo a quien respondió</a:t>
            </a:r>
            <a:endParaRPr lang="en-US" sz="960" dirty="0"/>
          </a:p>
        </p:txBody>
      </p:sp>
      <p:sp>
        <p:nvSpPr>
          <p:cNvPr id="57" name="Shape 55"/>
          <p:cNvSpPr/>
          <p:nvPr/>
        </p:nvSpPr>
        <p:spPr>
          <a:xfrm>
            <a:off x="5090624" y="2931426"/>
            <a:ext cx="89339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090624" y="2717234"/>
            <a:ext cx="850586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162</a:t>
            </a:r>
            <a:endParaRPr lang="en-US" sz="960" dirty="0"/>
          </a:p>
        </p:txBody>
      </p:sp>
      <p:sp>
        <p:nvSpPr>
          <p:cNvPr id="59" name="Shape 57"/>
          <p:cNvSpPr/>
          <p:nvPr/>
        </p:nvSpPr>
        <p:spPr>
          <a:xfrm>
            <a:off x="5984022" y="2931426"/>
            <a:ext cx="1005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984022" y="2717234"/>
            <a:ext cx="96561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</a:t>
            </a:r>
            <a:endParaRPr lang="en-US" sz="960" dirty="0"/>
          </a:p>
        </p:txBody>
      </p:sp>
      <p:sp>
        <p:nvSpPr>
          <p:cNvPr id="61" name="Shape 59"/>
          <p:cNvSpPr/>
          <p:nvPr/>
        </p:nvSpPr>
        <p:spPr>
          <a:xfrm>
            <a:off x="6989095" y="2931426"/>
            <a:ext cx="1005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989095" y="2717234"/>
            <a:ext cx="96561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13.5 M</a:t>
            </a:r>
            <a:endParaRPr lang="en-US" sz="960" dirty="0"/>
          </a:p>
        </p:txBody>
      </p:sp>
      <p:sp>
        <p:nvSpPr>
          <p:cNvPr id="63" name="Shape 61"/>
          <p:cNvSpPr/>
          <p:nvPr/>
        </p:nvSpPr>
        <p:spPr>
          <a:xfrm>
            <a:off x="7994169" y="2931426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994169" y="2717234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0.24 M MXN</a:t>
            </a:r>
            <a:endParaRPr lang="en-US" sz="960" dirty="0"/>
          </a:p>
        </p:txBody>
      </p:sp>
      <p:sp>
        <p:nvSpPr>
          <p:cNvPr id="65" name="Shape 63"/>
          <p:cNvSpPr/>
          <p:nvPr/>
        </p:nvSpPr>
        <p:spPr>
          <a:xfrm>
            <a:off x="9110917" y="2931426"/>
            <a:ext cx="256852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9293792" y="2717234"/>
            <a:ext cx="238760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Comercio del día por push (B0615)</a:t>
            </a:r>
            <a:endParaRPr lang="en-US" sz="960" dirty="0"/>
          </a:p>
        </p:txBody>
      </p:sp>
      <p:sp>
        <p:nvSpPr>
          <p:cNvPr id="67" name="Shape 65"/>
          <p:cNvSpPr/>
          <p:nvPr/>
        </p:nvSpPr>
        <p:spPr>
          <a:xfrm>
            <a:off x="511956" y="3360041"/>
            <a:ext cx="156344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511956" y="2987454"/>
            <a:ext cx="154073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Bajar frecuencia</a:t>
            </a:r>
            <a:endParaRPr lang="en-US" sz="960" dirty="0"/>
          </a:p>
        </p:txBody>
      </p:sp>
      <p:sp>
        <p:nvSpPr>
          <p:cNvPr id="69" name="Shape 67"/>
          <p:cNvSpPr/>
          <p:nvPr/>
        </p:nvSpPr>
        <p:spPr>
          <a:xfrm>
            <a:off x="2075403" y="3360041"/>
            <a:ext cx="301522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2075403" y="2987454"/>
            <a:ext cx="3036063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Menos mensajes por persona</a:t>
            </a:r>
            <a:endParaRPr lang="en-US" sz="960" dirty="0"/>
          </a:p>
        </p:txBody>
      </p:sp>
      <p:sp>
        <p:nvSpPr>
          <p:cNvPr id="71" name="Shape 69"/>
          <p:cNvSpPr/>
          <p:nvPr/>
        </p:nvSpPr>
        <p:spPr>
          <a:xfrm>
            <a:off x="5090624" y="3360041"/>
            <a:ext cx="89339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5090624" y="2987454"/>
            <a:ext cx="850586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</a:t>
            </a:r>
            <a:endParaRPr lang="en-US" sz="960" dirty="0"/>
          </a:p>
        </p:txBody>
      </p:sp>
      <p:sp>
        <p:nvSpPr>
          <p:cNvPr id="73" name="Shape 71"/>
          <p:cNvSpPr/>
          <p:nvPr/>
        </p:nvSpPr>
        <p:spPr>
          <a:xfrm>
            <a:off x="5984022" y="3360041"/>
            <a:ext cx="1005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5984022" y="2987454"/>
            <a:ext cx="96561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960" dirty="0"/>
          </a:p>
        </p:txBody>
      </p:sp>
      <p:sp>
        <p:nvSpPr>
          <p:cNvPr id="75" name="Shape 73"/>
          <p:cNvSpPr/>
          <p:nvPr/>
        </p:nvSpPr>
        <p:spPr>
          <a:xfrm>
            <a:off x="6989095" y="3360041"/>
            <a:ext cx="1005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989095" y="2987454"/>
            <a:ext cx="96561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4.7 M</a:t>
            </a:r>
            <a:endParaRPr lang="en-US" sz="960" dirty="0"/>
          </a:p>
        </p:txBody>
      </p:sp>
      <p:sp>
        <p:nvSpPr>
          <p:cNvPr id="77" name="Shape 75"/>
          <p:cNvSpPr/>
          <p:nvPr/>
        </p:nvSpPr>
        <p:spPr>
          <a:xfrm>
            <a:off x="7994169" y="3360041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7994169" y="2987454"/>
            <a:ext cx="108063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0.21 M MXN</a:t>
            </a:r>
            <a:endParaRPr lang="en-US" sz="960" dirty="0"/>
          </a:p>
        </p:txBody>
      </p:sp>
      <p:sp>
        <p:nvSpPr>
          <p:cNvPr id="79" name="Shape 77"/>
          <p:cNvSpPr/>
          <p:nvPr/>
        </p:nvSpPr>
        <p:spPr>
          <a:xfrm>
            <a:off x="9110917" y="3360041"/>
            <a:ext cx="256852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9293792" y="2987454"/>
            <a:ext cx="238760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Recordatorio de verificación, correo (B0000)</a:t>
            </a:r>
            <a:endParaRPr lang="en-US" sz="960" dirty="0"/>
          </a:p>
        </p:txBody>
      </p:sp>
      <p:sp>
        <p:nvSpPr>
          <p:cNvPr id="81" name="Shape 79"/>
          <p:cNvSpPr/>
          <p:nvPr/>
        </p:nvSpPr>
        <p:spPr>
          <a:xfrm>
            <a:off x="511956" y="3630261"/>
            <a:ext cx="156344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511956" y="3416068"/>
            <a:ext cx="15407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Confirmar apagada</a:t>
            </a:r>
            <a:endParaRPr lang="en-US" sz="960" dirty="0"/>
          </a:p>
        </p:txBody>
      </p:sp>
      <p:sp>
        <p:nvSpPr>
          <p:cNvPr id="83" name="Shape 81"/>
          <p:cNvSpPr/>
          <p:nvPr/>
        </p:nvSpPr>
        <p:spPr>
          <a:xfrm>
            <a:off x="2075403" y="3630261"/>
            <a:ext cx="301522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2075403" y="3416068"/>
            <a:ext cx="303606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 no manda; que no vuelva sin revisar</a:t>
            </a:r>
            <a:endParaRPr lang="en-US" sz="960" dirty="0"/>
          </a:p>
        </p:txBody>
      </p:sp>
      <p:sp>
        <p:nvSpPr>
          <p:cNvPr id="85" name="Shape 83"/>
          <p:cNvSpPr/>
          <p:nvPr/>
        </p:nvSpPr>
        <p:spPr>
          <a:xfrm>
            <a:off x="5090624" y="3630261"/>
            <a:ext cx="89339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5090624" y="3416068"/>
            <a:ext cx="850586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232</a:t>
            </a:r>
            <a:endParaRPr lang="en-US" sz="960" dirty="0"/>
          </a:p>
        </p:txBody>
      </p:sp>
      <p:sp>
        <p:nvSpPr>
          <p:cNvPr id="87" name="Shape 85"/>
          <p:cNvSpPr/>
          <p:nvPr/>
        </p:nvSpPr>
        <p:spPr>
          <a:xfrm>
            <a:off x="5984022" y="3630261"/>
            <a:ext cx="1005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5984022" y="3416068"/>
            <a:ext cx="96561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960" dirty="0"/>
          </a:p>
        </p:txBody>
      </p:sp>
      <p:sp>
        <p:nvSpPr>
          <p:cNvPr id="89" name="Shape 87"/>
          <p:cNvSpPr/>
          <p:nvPr/>
        </p:nvSpPr>
        <p:spPr>
          <a:xfrm>
            <a:off x="6989095" y="3630261"/>
            <a:ext cx="1005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6989095" y="3416068"/>
            <a:ext cx="96561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960" dirty="0"/>
          </a:p>
        </p:txBody>
      </p:sp>
      <p:sp>
        <p:nvSpPr>
          <p:cNvPr id="91" name="Shape 89"/>
          <p:cNvSpPr/>
          <p:nvPr/>
        </p:nvSpPr>
        <p:spPr>
          <a:xfrm>
            <a:off x="7994169" y="3630261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7994169" y="3416068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960" dirty="0"/>
          </a:p>
        </p:txBody>
      </p:sp>
      <p:sp>
        <p:nvSpPr>
          <p:cNvPr id="93" name="Shape 91"/>
          <p:cNvSpPr/>
          <p:nvPr/>
        </p:nvSpPr>
        <p:spPr>
          <a:xfrm>
            <a:off x="9110917" y="3630261"/>
            <a:ext cx="256852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9293792" y="3416068"/>
            <a:ext cx="238760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Lanzamiento de BillPay por correo</a:t>
            </a:r>
            <a:endParaRPr lang="en-US" sz="960" dirty="0"/>
          </a:p>
        </p:txBody>
      </p:sp>
      <p:sp>
        <p:nvSpPr>
          <p:cNvPr id="95" name="Shape 93"/>
          <p:cNvSpPr/>
          <p:nvPr/>
        </p:nvSpPr>
        <p:spPr>
          <a:xfrm>
            <a:off x="511956" y="3900480"/>
            <a:ext cx="156344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511956" y="3686288"/>
            <a:ext cx="15407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Proteger</a:t>
            </a:r>
            <a:endParaRPr lang="en-US" sz="960" dirty="0"/>
          </a:p>
        </p:txBody>
      </p:sp>
      <p:sp>
        <p:nvSpPr>
          <p:cNvPr id="97" name="Shape 95"/>
          <p:cNvSpPr/>
          <p:nvPr/>
        </p:nvSpPr>
        <p:spPr>
          <a:xfrm>
            <a:off x="2075403" y="3900480"/>
            <a:ext cx="301522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2075403" y="3686288"/>
            <a:ext cx="303606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Responde bien; no saturar</a:t>
            </a:r>
            <a:endParaRPr lang="en-US" sz="960" dirty="0"/>
          </a:p>
        </p:txBody>
      </p:sp>
      <p:sp>
        <p:nvSpPr>
          <p:cNvPr id="99" name="Shape 97"/>
          <p:cNvSpPr/>
          <p:nvPr/>
        </p:nvSpPr>
        <p:spPr>
          <a:xfrm>
            <a:off x="5090624" y="3900480"/>
            <a:ext cx="89339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5090624" y="3686288"/>
            <a:ext cx="850586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138</a:t>
            </a:r>
            <a:endParaRPr lang="en-US" sz="960" dirty="0"/>
          </a:p>
        </p:txBody>
      </p:sp>
      <p:sp>
        <p:nvSpPr>
          <p:cNvPr id="101" name="Shape 99"/>
          <p:cNvSpPr/>
          <p:nvPr/>
        </p:nvSpPr>
        <p:spPr>
          <a:xfrm>
            <a:off x="5984022" y="3900480"/>
            <a:ext cx="1005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5984022" y="3686288"/>
            <a:ext cx="96561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960" dirty="0"/>
          </a:p>
        </p:txBody>
      </p:sp>
      <p:sp>
        <p:nvSpPr>
          <p:cNvPr id="103" name="Shape 101"/>
          <p:cNvSpPr/>
          <p:nvPr/>
        </p:nvSpPr>
        <p:spPr>
          <a:xfrm>
            <a:off x="6989095" y="3900480"/>
            <a:ext cx="1005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6989095" y="3686288"/>
            <a:ext cx="96561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4.8 M</a:t>
            </a:r>
            <a:endParaRPr lang="en-US" sz="960" dirty="0"/>
          </a:p>
        </p:txBody>
      </p:sp>
      <p:sp>
        <p:nvSpPr>
          <p:cNvPr id="105" name="Shape 103"/>
          <p:cNvSpPr/>
          <p:nvPr/>
        </p:nvSpPr>
        <p:spPr>
          <a:xfrm>
            <a:off x="7994169" y="3900480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7994169" y="3686288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0.04 M MXN</a:t>
            </a:r>
            <a:endParaRPr lang="en-US" sz="960" dirty="0"/>
          </a:p>
        </p:txBody>
      </p:sp>
      <p:sp>
        <p:nvSpPr>
          <p:cNvPr id="107" name="Shape 105"/>
          <p:cNvSpPr/>
          <p:nvPr/>
        </p:nvSpPr>
        <p:spPr>
          <a:xfrm>
            <a:off x="9110917" y="3900480"/>
            <a:ext cx="256852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9293792" y="3686288"/>
            <a:ext cx="238760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de línea por in-app</a:t>
            </a:r>
            <a:endParaRPr lang="en-US" sz="960" dirty="0"/>
          </a:p>
        </p:txBody>
      </p:sp>
      <p:sp>
        <p:nvSpPr>
          <p:cNvPr id="109" name="Shape 107"/>
          <p:cNvSpPr/>
          <p:nvPr/>
        </p:nvSpPr>
        <p:spPr>
          <a:xfrm>
            <a:off x="511956" y="4170700"/>
            <a:ext cx="156344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511956" y="3956508"/>
            <a:ext cx="15407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Ampliar</a:t>
            </a:r>
            <a:endParaRPr lang="en-US" sz="960" dirty="0"/>
          </a:p>
        </p:txBody>
      </p:sp>
      <p:sp>
        <p:nvSpPr>
          <p:cNvPr id="111" name="Shape 109"/>
          <p:cNvSpPr/>
          <p:nvPr/>
        </p:nvSpPr>
        <p:spPr>
          <a:xfrm>
            <a:off x="2075403" y="4170700"/>
            <a:ext cx="301522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2075403" y="3956508"/>
            <a:ext cx="303606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Responde el doble con poco volumen</a:t>
            </a:r>
            <a:endParaRPr lang="en-US" sz="960" dirty="0"/>
          </a:p>
        </p:txBody>
      </p:sp>
      <p:sp>
        <p:nvSpPr>
          <p:cNvPr id="113" name="Shape 111"/>
          <p:cNvSpPr/>
          <p:nvPr/>
        </p:nvSpPr>
        <p:spPr>
          <a:xfrm>
            <a:off x="5090624" y="4170700"/>
            <a:ext cx="89339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5090624" y="3956508"/>
            <a:ext cx="850586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154</a:t>
            </a:r>
            <a:endParaRPr lang="en-US" sz="960" dirty="0"/>
          </a:p>
        </p:txBody>
      </p:sp>
      <p:sp>
        <p:nvSpPr>
          <p:cNvPr id="115" name="Shape 113"/>
          <p:cNvSpPr/>
          <p:nvPr/>
        </p:nvSpPr>
        <p:spPr>
          <a:xfrm>
            <a:off x="5984022" y="4170700"/>
            <a:ext cx="1005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5984022" y="3956508"/>
            <a:ext cx="96561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</a:t>
            </a:r>
            <a:endParaRPr lang="en-US" sz="960" dirty="0"/>
          </a:p>
        </p:txBody>
      </p:sp>
      <p:sp>
        <p:nvSpPr>
          <p:cNvPr id="117" name="Shape 115"/>
          <p:cNvSpPr/>
          <p:nvPr/>
        </p:nvSpPr>
        <p:spPr>
          <a:xfrm>
            <a:off x="6989095" y="4170700"/>
            <a:ext cx="1005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6989095" y="3956508"/>
            <a:ext cx="96561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0.4 M</a:t>
            </a:r>
            <a:endParaRPr lang="en-US" sz="960" dirty="0"/>
          </a:p>
        </p:txBody>
      </p:sp>
      <p:sp>
        <p:nvSpPr>
          <p:cNvPr id="119" name="Shape 117"/>
          <p:cNvSpPr/>
          <p:nvPr/>
        </p:nvSpPr>
        <p:spPr>
          <a:xfrm>
            <a:off x="7994169" y="4170700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7994169" y="3956508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0.01 M MXN</a:t>
            </a:r>
            <a:endParaRPr lang="en-US" sz="960" dirty="0"/>
          </a:p>
        </p:txBody>
      </p:sp>
      <p:sp>
        <p:nvSpPr>
          <p:cNvPr id="121" name="Shape 119"/>
          <p:cNvSpPr/>
          <p:nvPr/>
        </p:nvSpPr>
        <p:spPr>
          <a:xfrm>
            <a:off x="9110917" y="4170700"/>
            <a:ext cx="256852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9293792" y="3956508"/>
            <a:ext cx="238760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 a quien canceló, push (B0001)</a:t>
            </a:r>
            <a:endParaRPr lang="en-US" sz="960" dirty="0"/>
          </a:p>
        </p:txBody>
      </p:sp>
      <p:sp>
        <p:nvSpPr>
          <p:cNvPr id="123" name="Shape 121"/>
          <p:cNvSpPr/>
          <p:nvPr/>
        </p:nvSpPr>
        <p:spPr>
          <a:xfrm>
            <a:off x="511956" y="4440920"/>
            <a:ext cx="156344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511956" y="4226728"/>
            <a:ext cx="15407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tocar</a:t>
            </a:r>
            <a:endParaRPr lang="en-US" sz="960" dirty="0"/>
          </a:p>
        </p:txBody>
      </p:sp>
      <p:sp>
        <p:nvSpPr>
          <p:cNvPr id="125" name="Shape 123"/>
          <p:cNvSpPr/>
          <p:nvPr/>
        </p:nvSpPr>
        <p:spPr>
          <a:xfrm>
            <a:off x="2075403" y="4440920"/>
            <a:ext cx="301522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2075403" y="4226728"/>
            <a:ext cx="303606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Cobranza y avisos de servicio</a:t>
            </a:r>
            <a:endParaRPr lang="en-US" sz="960" dirty="0"/>
          </a:p>
        </p:txBody>
      </p:sp>
      <p:sp>
        <p:nvSpPr>
          <p:cNvPr id="127" name="Shape 125"/>
          <p:cNvSpPr/>
          <p:nvPr/>
        </p:nvSpPr>
        <p:spPr>
          <a:xfrm>
            <a:off x="5090624" y="4440920"/>
            <a:ext cx="89339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5090624" y="4226728"/>
            <a:ext cx="850586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288</a:t>
            </a:r>
            <a:endParaRPr lang="en-US" sz="960" dirty="0"/>
          </a:p>
        </p:txBody>
      </p:sp>
      <p:sp>
        <p:nvSpPr>
          <p:cNvPr id="129" name="Shape 127"/>
          <p:cNvSpPr/>
          <p:nvPr/>
        </p:nvSpPr>
        <p:spPr>
          <a:xfrm>
            <a:off x="5984022" y="4440920"/>
            <a:ext cx="1005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5984022" y="4226728"/>
            <a:ext cx="96561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117</a:t>
            </a:r>
            <a:endParaRPr lang="en-US" sz="960" dirty="0"/>
          </a:p>
        </p:txBody>
      </p:sp>
      <p:sp>
        <p:nvSpPr>
          <p:cNvPr id="131" name="Shape 129"/>
          <p:cNvSpPr/>
          <p:nvPr/>
        </p:nvSpPr>
        <p:spPr>
          <a:xfrm>
            <a:off x="6989095" y="4440920"/>
            <a:ext cx="1005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6989095" y="4226728"/>
            <a:ext cx="96561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14.9 M</a:t>
            </a:r>
            <a:endParaRPr lang="en-US" sz="960" dirty="0"/>
          </a:p>
        </p:txBody>
      </p:sp>
      <p:sp>
        <p:nvSpPr>
          <p:cNvPr id="133" name="Shape 131"/>
          <p:cNvSpPr/>
          <p:nvPr/>
        </p:nvSpPr>
        <p:spPr>
          <a:xfrm>
            <a:off x="7994169" y="4440920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7994169" y="4226728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0.54 M MXN</a:t>
            </a:r>
            <a:endParaRPr lang="en-US" sz="960" dirty="0"/>
          </a:p>
        </p:txBody>
      </p:sp>
      <p:sp>
        <p:nvSpPr>
          <p:cNvPr id="135" name="Shape 133"/>
          <p:cNvSpPr/>
          <p:nvPr/>
        </p:nvSpPr>
        <p:spPr>
          <a:xfrm>
            <a:off x="9110917" y="4440920"/>
            <a:ext cx="256852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6" name="Text 134"/>
          <p:cNvSpPr txBox="1"/>
          <p:nvPr/>
        </p:nvSpPr>
        <p:spPr>
          <a:xfrm>
            <a:off x="9293792" y="4226728"/>
            <a:ext cx="238760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Cobranza BKT1, confirmación de pago</a:t>
            </a:r>
            <a:endParaRPr lang="en-US" sz="960" dirty="0"/>
          </a:p>
        </p:txBody>
      </p:sp>
      <p:sp>
        <p:nvSpPr>
          <p:cNvPr id="137" name="Shape 135"/>
          <p:cNvSpPr/>
          <p:nvPr/>
        </p:nvSpPr>
        <p:spPr>
          <a:xfrm>
            <a:off x="511956" y="4869535"/>
            <a:ext cx="156344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8" name="Text 136"/>
          <p:cNvSpPr txBox="1"/>
          <p:nvPr/>
        </p:nvSpPr>
        <p:spPr>
          <a:xfrm>
            <a:off x="511956" y="4496948"/>
            <a:ext cx="154073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Seguir igual</a:t>
            </a:r>
            <a:endParaRPr lang="en-US" sz="960" dirty="0"/>
          </a:p>
        </p:txBody>
      </p:sp>
      <p:sp>
        <p:nvSpPr>
          <p:cNvPr id="139" name="Shape 137"/>
          <p:cNvSpPr/>
          <p:nvPr/>
        </p:nvSpPr>
        <p:spPr>
          <a:xfrm>
            <a:off x="2075403" y="4869535"/>
            <a:ext cx="301522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0" name="Text 138"/>
          <p:cNvSpPr txBox="1"/>
          <p:nvPr/>
        </p:nvSpPr>
        <p:spPr>
          <a:xfrm>
            <a:off x="2075403" y="4496948"/>
            <a:ext cx="3036063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problema claro</a:t>
            </a:r>
            <a:endParaRPr lang="en-US" sz="960" dirty="0"/>
          </a:p>
        </p:txBody>
      </p:sp>
      <p:sp>
        <p:nvSpPr>
          <p:cNvPr id="141" name="Shape 139"/>
          <p:cNvSpPr/>
          <p:nvPr/>
        </p:nvSpPr>
        <p:spPr>
          <a:xfrm>
            <a:off x="5090624" y="4869535"/>
            <a:ext cx="89339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2" name="Text 140"/>
          <p:cNvSpPr txBox="1"/>
          <p:nvPr/>
        </p:nvSpPr>
        <p:spPr>
          <a:xfrm>
            <a:off x="5090624" y="4496948"/>
            <a:ext cx="850586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751</a:t>
            </a:r>
            <a:endParaRPr lang="en-US" sz="960" dirty="0"/>
          </a:p>
        </p:txBody>
      </p:sp>
      <p:sp>
        <p:nvSpPr>
          <p:cNvPr id="143" name="Shape 141"/>
          <p:cNvSpPr/>
          <p:nvPr/>
        </p:nvSpPr>
        <p:spPr>
          <a:xfrm>
            <a:off x="5984022" y="4869535"/>
            <a:ext cx="1005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4" name="Text 142"/>
          <p:cNvSpPr txBox="1"/>
          <p:nvPr/>
        </p:nvSpPr>
        <p:spPr>
          <a:xfrm>
            <a:off x="5984022" y="4496948"/>
            <a:ext cx="96561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113</a:t>
            </a:r>
            <a:endParaRPr lang="en-US" sz="960" dirty="0"/>
          </a:p>
        </p:txBody>
      </p:sp>
      <p:sp>
        <p:nvSpPr>
          <p:cNvPr id="145" name="Shape 143"/>
          <p:cNvSpPr/>
          <p:nvPr/>
        </p:nvSpPr>
        <p:spPr>
          <a:xfrm>
            <a:off x="6989095" y="4869535"/>
            <a:ext cx="1005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6" name="Text 144"/>
          <p:cNvSpPr txBox="1"/>
          <p:nvPr/>
        </p:nvSpPr>
        <p:spPr>
          <a:xfrm>
            <a:off x="6989095" y="4496948"/>
            <a:ext cx="96561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5.5 M</a:t>
            </a:r>
            <a:endParaRPr lang="en-US" sz="960" dirty="0"/>
          </a:p>
        </p:txBody>
      </p:sp>
      <p:sp>
        <p:nvSpPr>
          <p:cNvPr id="147" name="Shape 145"/>
          <p:cNvSpPr/>
          <p:nvPr/>
        </p:nvSpPr>
        <p:spPr>
          <a:xfrm>
            <a:off x="7994169" y="4869535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8" name="Text 146"/>
          <p:cNvSpPr txBox="1"/>
          <p:nvPr/>
        </p:nvSpPr>
        <p:spPr>
          <a:xfrm>
            <a:off x="7994169" y="4496948"/>
            <a:ext cx="108063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0.57 M MXN</a:t>
            </a:r>
            <a:endParaRPr lang="en-US" sz="960" dirty="0"/>
          </a:p>
        </p:txBody>
      </p:sp>
      <p:sp>
        <p:nvSpPr>
          <p:cNvPr id="149" name="Shape 147"/>
          <p:cNvSpPr/>
          <p:nvPr/>
        </p:nvSpPr>
        <p:spPr>
          <a:xfrm>
            <a:off x="9110917" y="4869535"/>
            <a:ext cx="256852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50" name="Text 148"/>
          <p:cNvSpPr txBox="1"/>
          <p:nvPr/>
        </p:nvSpPr>
        <p:spPr>
          <a:xfrm>
            <a:off x="9293792" y="4496948"/>
            <a:ext cx="238760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Narrativa Tasa 0 a leads, WhatsApp (B0171)</a:t>
            </a:r>
            <a:endParaRPr lang="en-US" sz="960" dirty="0"/>
          </a:p>
        </p:txBody>
      </p:sp>
      <p:sp>
        <p:nvSpPr>
          <p:cNvPr id="151" name="Shape 149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152" name="Text 150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153" name="Text 151"/>
          <p:cNvSpPr txBox="1"/>
          <p:nvPr/>
        </p:nvSpPr>
        <p:spPr>
          <a:xfrm>
            <a:off x="1409876" y="6077461"/>
            <a:ext cx="5756347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ahorro realista es 2.34 M MXN al mes: solo cuenta lo que va a quien no responde.</a:t>
            </a:r>
            <a:endParaRPr lang="en-US" sz="1100" dirty="0"/>
          </a:p>
        </p:txBody>
      </p:sp>
      <p:sp>
        <p:nvSpPr>
          <p:cNvPr id="154" name="Text 152"/>
          <p:cNvSpPr txBox="1"/>
          <p:nvPr/>
        </p:nvSpPr>
        <p:spPr>
          <a:xfrm>
            <a:off x="511956" y="6454684"/>
            <a:ext cx="6317501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pestaña Campañas del Sheets v4 recalculada con E1, septiembre 2026. Gasto = costo de la campaña, no ahorro.</a:t>
            </a:r>
            <a:endParaRPr lang="en-US" sz="840" dirty="0"/>
          </a:p>
        </p:txBody>
      </p:sp>
      <p:sp>
        <p:nvSpPr>
          <p:cNvPr id="155" name="Text 153"/>
          <p:cNvSpPr txBox="1"/>
          <p:nvPr/>
        </p:nvSpPr>
        <p:spPr>
          <a:xfrm>
            <a:off x="11546815" y="6454684"/>
            <a:ext cx="155200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</a:t>
            </a:r>
            <a:endParaRPr lang="en-US" sz="84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Doce reglas comunes: las seis primeras se cargan en Braze una vez y protegen todas las campañas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7982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3641189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 lo promocional; cobranza y avisos solo excluyen lista negra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2957093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MarTech las carga en Braze; cada equipo las cumple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562022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 la base; ex clientes por el canal más barato, con grupo sin mensajes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1956" y="1922435"/>
            <a:ext cx="3511201" cy="0"/>
          </a:xfrm>
          <a:prstGeom prst="line">
            <a:avLst/>
          </a:prstGeom>
          <a:noFill/>
          <a:ln w="19291">
            <a:solidFill>
              <a:srgbClr val="1F4F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1956" y="2017381"/>
            <a:ext cx="3634825" cy="207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3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30" dirty="0"/>
          </a:p>
        </p:txBody>
      </p:sp>
      <p:sp>
        <p:nvSpPr>
          <p:cNvPr id="13" name="Text 11"/>
          <p:cNvSpPr txBox="1"/>
          <p:nvPr/>
        </p:nvSpPr>
        <p:spPr>
          <a:xfrm>
            <a:off x="511956" y="2273283"/>
            <a:ext cx="3634825" cy="170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8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ticket no se activa</a:t>
            </a:r>
            <a:endParaRPr lang="en-US" sz="1080" dirty="0"/>
          </a:p>
        </p:txBody>
      </p:sp>
      <p:sp>
        <p:nvSpPr>
          <p:cNvPr id="14" name="Text 12"/>
          <p:cNvSpPr txBox="1"/>
          <p:nvPr/>
        </p:nvSpPr>
        <p:spPr>
          <a:xfrm>
            <a:off x="511956" y="2480357"/>
            <a:ext cx="3634825" cy="16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748 comunicaciones sin equipo ni ticket</a:t>
            </a:r>
            <a:endParaRPr lang="en-US" sz="940" dirty="0"/>
          </a:p>
        </p:txBody>
      </p:sp>
      <p:sp>
        <p:nvSpPr>
          <p:cNvPr id="15" name="Text 13"/>
          <p:cNvSpPr txBox="1"/>
          <p:nvPr/>
        </p:nvSpPr>
        <p:spPr>
          <a:xfrm>
            <a:off x="511956" y="2672057"/>
            <a:ext cx="3634825" cy="139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2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Nombre obligatorio · MarTech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4340096" y="1922435"/>
            <a:ext cx="3511201" cy="0"/>
          </a:xfrm>
          <a:prstGeom prst="line">
            <a:avLst/>
          </a:prstGeom>
          <a:noFill/>
          <a:ln w="19291">
            <a:solidFill>
              <a:srgbClr val="1F4F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0096" y="2017381"/>
            <a:ext cx="3634825" cy="207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3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30" dirty="0"/>
          </a:p>
        </p:txBody>
      </p:sp>
      <p:sp>
        <p:nvSpPr>
          <p:cNvPr id="18" name="Text 16"/>
          <p:cNvSpPr txBox="1"/>
          <p:nvPr/>
        </p:nvSpPr>
        <p:spPr>
          <a:xfrm>
            <a:off x="4340096" y="2273283"/>
            <a:ext cx="3634825" cy="170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8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Nada de promoción a bloqueados ni dados de baja</a:t>
            </a:r>
            <a:endParaRPr lang="en-US" sz="1080" dirty="0"/>
          </a:p>
        </p:txBody>
      </p:sp>
      <p:sp>
        <p:nvSpPr>
          <p:cNvPr id="19" name="Text 17"/>
          <p:cNvSpPr txBox="1"/>
          <p:nvPr/>
        </p:nvSpPr>
        <p:spPr>
          <a:xfrm>
            <a:off x="4340096" y="2480357"/>
            <a:ext cx="3634825" cy="16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0.17 M MXN al mes a bloqueados</a:t>
            </a:r>
            <a:endParaRPr lang="en-US" sz="940" dirty="0"/>
          </a:p>
        </p:txBody>
      </p:sp>
      <p:sp>
        <p:nvSpPr>
          <p:cNvPr id="20" name="Text 18"/>
          <p:cNvSpPr txBox="1"/>
          <p:nvPr/>
        </p:nvSpPr>
        <p:spPr>
          <a:xfrm>
            <a:off x="4340096" y="2672057"/>
            <a:ext cx="3634825" cy="139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2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Exclusión global · MarTech y Legal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8168237" y="1922435"/>
            <a:ext cx="3511201" cy="0"/>
          </a:xfrm>
          <a:prstGeom prst="line">
            <a:avLst/>
          </a:prstGeom>
          <a:noFill/>
          <a:ln w="19291">
            <a:solidFill>
              <a:srgbClr val="1F4F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68237" y="2017381"/>
            <a:ext cx="3634825" cy="207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3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30" dirty="0"/>
          </a:p>
        </p:txBody>
      </p:sp>
      <p:sp>
        <p:nvSpPr>
          <p:cNvPr id="23" name="Text 21"/>
          <p:cNvSpPr txBox="1"/>
          <p:nvPr/>
        </p:nvSpPr>
        <p:spPr>
          <a:xfrm>
            <a:off x="8168237" y="2273283"/>
            <a:ext cx="3634825" cy="170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8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mensajes de la misma campaña al mes</a:t>
            </a:r>
            <a:endParaRPr lang="en-US" sz="1080" dirty="0"/>
          </a:p>
        </p:txBody>
      </p:sp>
      <p:sp>
        <p:nvSpPr>
          <p:cNvPr id="24" name="Text 22"/>
          <p:cNvSpPr txBox="1"/>
          <p:nvPr/>
        </p:nvSpPr>
        <p:spPr>
          <a:xfrm>
            <a:off x="8168237" y="2480357"/>
            <a:ext cx="3634825" cy="16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3 o más cae el clic (playbook)</a:t>
            </a:r>
            <a:endParaRPr lang="en-US" sz="940" dirty="0"/>
          </a:p>
        </p:txBody>
      </p:sp>
      <p:sp>
        <p:nvSpPr>
          <p:cNvPr id="25" name="Text 23"/>
          <p:cNvSpPr txBox="1"/>
          <p:nvPr/>
        </p:nvSpPr>
        <p:spPr>
          <a:xfrm>
            <a:off x="8168237" y="2672057"/>
            <a:ext cx="3634825" cy="139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2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Reentrada del Canvas · Cada equipo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511956" y="3089670"/>
            <a:ext cx="3511201" cy="0"/>
          </a:xfrm>
          <a:prstGeom prst="line">
            <a:avLst/>
          </a:prstGeom>
          <a:noFill/>
          <a:ln w="19291">
            <a:solidFill>
              <a:srgbClr val="1F4FD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1956" y="3184616"/>
            <a:ext cx="3634825" cy="207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3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30" dirty="0"/>
          </a:p>
        </p:txBody>
      </p:sp>
      <p:sp>
        <p:nvSpPr>
          <p:cNvPr id="28" name="Text 26"/>
          <p:cNvSpPr txBox="1"/>
          <p:nvPr/>
        </p:nvSpPr>
        <p:spPr>
          <a:xfrm>
            <a:off x="511956" y="3440519"/>
            <a:ext cx="3634825" cy="170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8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promocionales a la semana, 1 push al día</a:t>
            </a:r>
            <a:endParaRPr lang="en-US" sz="1080" dirty="0"/>
          </a:p>
        </p:txBody>
      </p:sp>
      <p:sp>
        <p:nvSpPr>
          <p:cNvPr id="29" name="Text 27"/>
          <p:cNvSpPr txBox="1"/>
          <p:nvPr/>
        </p:nvSpPr>
        <p:spPr>
          <a:xfrm>
            <a:off x="511956" y="3647592"/>
            <a:ext cx="3634825" cy="16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9 % de días con 3 o más campañas (playbook)</a:t>
            </a:r>
            <a:endParaRPr lang="en-US" sz="940" dirty="0"/>
          </a:p>
        </p:txBody>
      </p:sp>
      <p:sp>
        <p:nvSpPr>
          <p:cNvPr id="30" name="Text 28"/>
          <p:cNvSpPr txBox="1"/>
          <p:nvPr/>
        </p:nvSpPr>
        <p:spPr>
          <a:xfrm>
            <a:off x="511956" y="3839293"/>
            <a:ext cx="3634825" cy="139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2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Límite global · MarTech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4340096" y="3089670"/>
            <a:ext cx="3511201" cy="0"/>
          </a:xfrm>
          <a:prstGeom prst="line">
            <a:avLst/>
          </a:prstGeom>
          <a:noFill/>
          <a:ln w="19291">
            <a:solidFill>
              <a:srgbClr val="1F4F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340096" y="3184616"/>
            <a:ext cx="3634825" cy="207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3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30" dirty="0"/>
          </a:p>
        </p:txBody>
      </p:sp>
      <p:sp>
        <p:nvSpPr>
          <p:cNvPr id="33" name="Text 31"/>
          <p:cNvSpPr txBox="1"/>
          <p:nvPr/>
        </p:nvSpPr>
        <p:spPr>
          <a:xfrm>
            <a:off x="4340096" y="3440519"/>
            <a:ext cx="3634825" cy="170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8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el canal al que la persona responde</a:t>
            </a:r>
            <a:endParaRPr lang="en-US" sz="1080" dirty="0"/>
          </a:p>
        </p:txBody>
      </p:sp>
      <p:sp>
        <p:nvSpPr>
          <p:cNvPr id="34" name="Text 32"/>
          <p:cNvSpPr txBox="1"/>
          <p:nvPr/>
        </p:nvSpPr>
        <p:spPr>
          <a:xfrm>
            <a:off x="4340096" y="3647592"/>
            <a:ext cx="3634825" cy="16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0.34 M MXN al mes en otro canal</a:t>
            </a:r>
            <a:endParaRPr lang="en-US" sz="940" dirty="0"/>
          </a:p>
        </p:txBody>
      </p:sp>
      <p:sp>
        <p:nvSpPr>
          <p:cNvPr id="35" name="Text 33"/>
          <p:cNvSpPr txBox="1"/>
          <p:nvPr/>
        </p:nvSpPr>
        <p:spPr>
          <a:xfrm>
            <a:off x="4340096" y="3839293"/>
            <a:ext cx="3634825" cy="139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2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Atributo de canal · Datos y MarTech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8168237" y="3089670"/>
            <a:ext cx="3511201" cy="0"/>
          </a:xfrm>
          <a:prstGeom prst="line">
            <a:avLst/>
          </a:prstGeom>
          <a:noFill/>
          <a:ln w="19291">
            <a:solidFill>
              <a:srgbClr val="1F4FD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168237" y="3184616"/>
            <a:ext cx="3634825" cy="207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3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630" dirty="0"/>
          </a:p>
        </p:txBody>
      </p:sp>
      <p:sp>
        <p:nvSpPr>
          <p:cNvPr id="38" name="Text 36"/>
          <p:cNvSpPr txBox="1"/>
          <p:nvPr/>
        </p:nvSpPr>
        <p:spPr>
          <a:xfrm>
            <a:off x="8168237" y="3440519"/>
            <a:ext cx="3634825" cy="170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8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solo a quien ya respondió</a:t>
            </a:r>
            <a:endParaRPr lang="en-US" sz="1080" dirty="0"/>
          </a:p>
        </p:txBody>
      </p:sp>
      <p:sp>
        <p:nvSpPr>
          <p:cNvPr id="39" name="Text 37"/>
          <p:cNvSpPr txBox="1"/>
          <p:nvPr/>
        </p:nvSpPr>
        <p:spPr>
          <a:xfrm>
            <a:off x="8168237" y="3647592"/>
            <a:ext cx="3634825" cy="16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quien nunca responde le llega 34 %</a:t>
            </a:r>
            <a:endParaRPr lang="en-US" sz="940" dirty="0"/>
          </a:p>
        </p:txBody>
      </p:sp>
      <p:sp>
        <p:nvSpPr>
          <p:cNvPr id="40" name="Text 38"/>
          <p:cNvSpPr txBox="1"/>
          <p:nvPr/>
        </p:nvSpPr>
        <p:spPr>
          <a:xfrm>
            <a:off x="8168237" y="3839293"/>
            <a:ext cx="3634825" cy="139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2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Filtro de audiencia · Cada equipo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43" name="Text 41"/>
          <p:cNvSpPr txBox="1"/>
          <p:nvPr/>
        </p:nvSpPr>
        <p:spPr>
          <a:xfrm>
            <a:off x="1409876" y="6077461"/>
            <a:ext cx="5231671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reglas que viven en Braze no dependen de que cada equipo se acuerde.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511956" y="6454684"/>
            <a:ext cx="6907529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Playbook de Braze para Kueski (12 reglas); E1, E2, E7b y E13, enero a septiembre 2026. "Playbook": cifra de ese documento.</a:t>
            </a:r>
            <a:endParaRPr lang="en-US" sz="840" dirty="0"/>
          </a:p>
        </p:txBody>
      </p:sp>
      <p:sp>
        <p:nvSpPr>
          <p:cNvPr id="45" name="Text 43"/>
          <p:cNvSpPr txBox="1"/>
          <p:nvPr/>
        </p:nvSpPr>
        <p:spPr>
          <a:xfrm>
            <a:off x="11500849" y="6454684"/>
            <a:ext cx="202545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84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330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Doce reglas comunes (continuación): probar, medir y revisar a las 4 semanas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835376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467446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925499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079523"/>
            <a:ext cx="3641189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 lo promocional; cobranza y avisos solo excluyen lista negra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925499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079523"/>
            <a:ext cx="2957093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MarTech las carga en Braze; cada equipo las cumple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925499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079523"/>
            <a:ext cx="3562022" cy="2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 la base; ex clientes por el canal más barato, con grupo sin mensajes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1956" y="1591630"/>
            <a:ext cx="3511201" cy="0"/>
          </a:xfrm>
          <a:prstGeom prst="line">
            <a:avLst/>
          </a:prstGeom>
          <a:noFill/>
          <a:ln w="19291">
            <a:solidFill>
              <a:srgbClr val="1F4F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1956" y="1686576"/>
            <a:ext cx="3634825" cy="207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3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630" dirty="0"/>
          </a:p>
        </p:txBody>
      </p:sp>
      <p:sp>
        <p:nvSpPr>
          <p:cNvPr id="13" name="Text 11"/>
          <p:cNvSpPr txBox="1"/>
          <p:nvPr/>
        </p:nvSpPr>
        <p:spPr>
          <a:xfrm>
            <a:off x="511956" y="1942479"/>
            <a:ext cx="3634825" cy="170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8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Más de 1 M de personas: prueba al 10 %</a:t>
            </a:r>
            <a:endParaRPr lang="en-US" sz="1080" dirty="0"/>
          </a:p>
        </p:txBody>
      </p:sp>
      <p:sp>
        <p:nvSpPr>
          <p:cNvPr id="14" name="Text 12"/>
          <p:cNvSpPr txBox="1"/>
          <p:nvPr/>
        </p:nvSpPr>
        <p:spPr>
          <a:xfrm>
            <a:off x="511956" y="2149552"/>
            <a:ext cx="3634825" cy="16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Lanzamiento de BillPay: 80 mil bajas de un solo correo</a:t>
            </a:r>
            <a:endParaRPr lang="en-US" sz="940" dirty="0"/>
          </a:p>
        </p:txBody>
      </p:sp>
      <p:sp>
        <p:nvSpPr>
          <p:cNvPr id="15" name="Text 13"/>
          <p:cNvSpPr txBox="1"/>
          <p:nvPr/>
        </p:nvSpPr>
        <p:spPr>
          <a:xfrm>
            <a:off x="511956" y="2341253"/>
            <a:ext cx="3634825" cy="139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2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Aprobación de MarTech · MarTech y CRM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4340096" y="1591630"/>
            <a:ext cx="3511201" cy="0"/>
          </a:xfrm>
          <a:prstGeom prst="line">
            <a:avLst/>
          </a:prstGeom>
          <a:noFill/>
          <a:ln w="19291">
            <a:solidFill>
              <a:srgbClr val="1F4F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0096" y="1686576"/>
            <a:ext cx="3634825" cy="207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3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630" dirty="0"/>
          </a:p>
        </p:txBody>
      </p:sp>
      <p:sp>
        <p:nvSpPr>
          <p:cNvPr id="18" name="Text 16"/>
          <p:cNvSpPr txBox="1"/>
          <p:nvPr/>
        </p:nvSpPr>
        <p:spPr>
          <a:xfrm>
            <a:off x="4340096" y="1942479"/>
            <a:ext cx="3634825" cy="170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8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Recordar algo que la persona empezó</a:t>
            </a:r>
            <a:endParaRPr lang="en-US" sz="1080" dirty="0"/>
          </a:p>
        </p:txBody>
      </p:sp>
      <p:sp>
        <p:nvSpPr>
          <p:cNvPr id="19" name="Text 17"/>
          <p:cNvSpPr txBox="1"/>
          <p:nvPr/>
        </p:nvSpPr>
        <p:spPr>
          <a:xfrm>
            <a:off x="4340096" y="2149552"/>
            <a:ext cx="3634825" cy="16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Verificación: 30 clics por mil; Tasa 0: 2.8</a:t>
            </a:r>
            <a:endParaRPr lang="en-US" sz="940" dirty="0"/>
          </a:p>
        </p:txBody>
      </p:sp>
      <p:sp>
        <p:nvSpPr>
          <p:cNvPr id="20" name="Text 18"/>
          <p:cNvSpPr txBox="1"/>
          <p:nvPr/>
        </p:nvSpPr>
        <p:spPr>
          <a:xfrm>
            <a:off x="4340096" y="2341253"/>
            <a:ext cx="3634825" cy="139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2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Solicitud de campaña · Cada equipo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8168237" y="1591630"/>
            <a:ext cx="3511201" cy="0"/>
          </a:xfrm>
          <a:prstGeom prst="line">
            <a:avLst/>
          </a:prstGeom>
          <a:noFill/>
          <a:ln w="19291">
            <a:solidFill>
              <a:srgbClr val="1F4F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68237" y="1686576"/>
            <a:ext cx="3634825" cy="207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3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630" dirty="0"/>
          </a:p>
        </p:txBody>
      </p:sp>
      <p:sp>
        <p:nvSpPr>
          <p:cNvPr id="23" name="Text 21"/>
          <p:cNvSpPr txBox="1"/>
          <p:nvPr/>
        </p:nvSpPr>
        <p:spPr>
          <a:xfrm>
            <a:off x="8168237" y="1942479"/>
            <a:ext cx="3634825" cy="170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8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Referidos y lanzamientos por in-app</a:t>
            </a:r>
            <a:endParaRPr lang="en-US" sz="1080" dirty="0"/>
          </a:p>
        </p:txBody>
      </p:sp>
      <p:sp>
        <p:nvSpPr>
          <p:cNvPr id="24" name="Text 22"/>
          <p:cNvSpPr txBox="1"/>
          <p:nvPr/>
        </p:nvSpPr>
        <p:spPr>
          <a:xfrm>
            <a:off x="8168237" y="2149552"/>
            <a:ext cx="3634825" cy="16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Referidos por correo: 2.2 clics por mil</a:t>
            </a:r>
            <a:endParaRPr lang="en-US" sz="940" dirty="0"/>
          </a:p>
        </p:txBody>
      </p:sp>
      <p:sp>
        <p:nvSpPr>
          <p:cNvPr id="25" name="Text 23"/>
          <p:cNvSpPr txBox="1"/>
          <p:nvPr/>
        </p:nvSpPr>
        <p:spPr>
          <a:xfrm>
            <a:off x="8168237" y="2341253"/>
            <a:ext cx="3634825" cy="139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2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Canal del Canvas · Marketing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511956" y="2758865"/>
            <a:ext cx="3511201" cy="0"/>
          </a:xfrm>
          <a:prstGeom prst="line">
            <a:avLst/>
          </a:prstGeom>
          <a:noFill/>
          <a:ln w="19291">
            <a:solidFill>
              <a:srgbClr val="1F4FD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1956" y="2853812"/>
            <a:ext cx="3634825" cy="207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3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630" dirty="0"/>
          </a:p>
        </p:txBody>
      </p:sp>
      <p:sp>
        <p:nvSpPr>
          <p:cNvPr id="28" name="Text 26"/>
          <p:cNvSpPr txBox="1"/>
          <p:nvPr/>
        </p:nvSpPr>
        <p:spPr>
          <a:xfrm>
            <a:off x="511956" y="3109714"/>
            <a:ext cx="3634825" cy="170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8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las 4 semanas: apagar o rehacer</a:t>
            </a:r>
            <a:endParaRPr lang="en-US" sz="1080" dirty="0"/>
          </a:p>
        </p:txBody>
      </p:sp>
      <p:sp>
        <p:nvSpPr>
          <p:cNvPr id="29" name="Text 27"/>
          <p:cNvSpPr txBox="1"/>
          <p:nvPr/>
        </p:nvSpPr>
        <p:spPr>
          <a:xfrm>
            <a:off x="511956" y="3316787"/>
            <a:ext cx="3634825" cy="16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 campañas por apagar seguían activas</a:t>
            </a:r>
            <a:endParaRPr lang="en-US" sz="940" dirty="0"/>
          </a:p>
        </p:txBody>
      </p:sp>
      <p:sp>
        <p:nvSpPr>
          <p:cNvPr id="30" name="Text 28"/>
          <p:cNvSpPr txBox="1"/>
          <p:nvPr/>
        </p:nvSpPr>
        <p:spPr>
          <a:xfrm>
            <a:off x="511956" y="3508488"/>
            <a:ext cx="3634825" cy="139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2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Tablero mensual · CRM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4340096" y="2758865"/>
            <a:ext cx="3511201" cy="0"/>
          </a:xfrm>
          <a:prstGeom prst="line">
            <a:avLst/>
          </a:prstGeom>
          <a:noFill/>
          <a:ln w="19291">
            <a:solidFill>
              <a:srgbClr val="1F4F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340096" y="2853812"/>
            <a:ext cx="3634825" cy="207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3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630" dirty="0"/>
          </a:p>
        </p:txBody>
      </p:sp>
      <p:sp>
        <p:nvSpPr>
          <p:cNvPr id="33" name="Text 31"/>
          <p:cNvSpPr txBox="1"/>
          <p:nvPr/>
        </p:nvSpPr>
        <p:spPr>
          <a:xfrm>
            <a:off x="4340096" y="3109714"/>
            <a:ext cx="3634825" cy="170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8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10 % de grupo de control en toda promoción</a:t>
            </a:r>
            <a:endParaRPr lang="en-US" sz="1080" dirty="0"/>
          </a:p>
        </p:txBody>
      </p:sp>
      <p:sp>
        <p:nvSpPr>
          <p:cNvPr id="34" name="Text 32"/>
          <p:cNvSpPr txBox="1"/>
          <p:nvPr/>
        </p:nvSpPr>
        <p:spPr>
          <a:xfrm>
            <a:off x="4340096" y="3316787"/>
            <a:ext cx="3634825" cy="16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Hoy, 1 de 3,228 Canvas</a:t>
            </a:r>
            <a:endParaRPr lang="en-US" sz="940" dirty="0"/>
          </a:p>
        </p:txBody>
      </p:sp>
      <p:sp>
        <p:nvSpPr>
          <p:cNvPr id="35" name="Text 33"/>
          <p:cNvSpPr txBox="1"/>
          <p:nvPr/>
        </p:nvSpPr>
        <p:spPr>
          <a:xfrm>
            <a:off x="4340096" y="3508488"/>
            <a:ext cx="3634825" cy="139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2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nativo · MarTech y CRM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8168237" y="2758865"/>
            <a:ext cx="3511201" cy="0"/>
          </a:xfrm>
          <a:prstGeom prst="line">
            <a:avLst/>
          </a:prstGeom>
          <a:noFill/>
          <a:ln w="19291">
            <a:solidFill>
              <a:srgbClr val="1F4FD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168237" y="2853812"/>
            <a:ext cx="3634825" cy="207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30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630" dirty="0"/>
          </a:p>
        </p:txBody>
      </p:sp>
      <p:sp>
        <p:nvSpPr>
          <p:cNvPr id="38" name="Text 36"/>
          <p:cNvSpPr txBox="1"/>
          <p:nvPr/>
        </p:nvSpPr>
        <p:spPr>
          <a:xfrm>
            <a:off x="8168237" y="3109714"/>
            <a:ext cx="3634825" cy="170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8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Máximo 8 pasos; se entra una vez</a:t>
            </a:r>
            <a:endParaRPr lang="en-US" sz="1080" dirty="0"/>
          </a:p>
        </p:txBody>
      </p:sp>
      <p:sp>
        <p:nvSpPr>
          <p:cNvPr id="39" name="Text 37"/>
          <p:cNvSpPr txBox="1"/>
          <p:nvPr/>
        </p:nvSpPr>
        <p:spPr>
          <a:xfrm>
            <a:off x="8168237" y="3316787"/>
            <a:ext cx="3634825" cy="16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Misma campaña hasta 17 a 31 veces (playbook)</a:t>
            </a:r>
            <a:endParaRPr lang="en-US" sz="940" dirty="0"/>
          </a:p>
        </p:txBody>
      </p:sp>
      <p:sp>
        <p:nvSpPr>
          <p:cNvPr id="40" name="Text 38"/>
          <p:cNvSpPr txBox="1"/>
          <p:nvPr/>
        </p:nvSpPr>
        <p:spPr>
          <a:xfrm>
            <a:off x="8168237" y="3508488"/>
            <a:ext cx="3634825" cy="139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2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Entrada del Canvas · MarTech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43" name="Text 41"/>
          <p:cNvSpPr txBox="1"/>
          <p:nvPr/>
        </p:nvSpPr>
        <p:spPr>
          <a:xfrm>
            <a:off x="1409876" y="6077461"/>
            <a:ext cx="5727319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control y revisión a las 4 semanas, nada sigue activo solo porque nadie lo miró.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511956" y="6454684"/>
            <a:ext cx="6907529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Playbook de Braze para Kueski (12 reglas); E1, E2, E7b y E13, enero a septiembre 2026. "Playbook": cifra de ese documento.</a:t>
            </a:r>
            <a:endParaRPr lang="en-US" sz="840" dirty="0"/>
          </a:p>
        </p:txBody>
      </p:sp>
      <p:sp>
        <p:nvSpPr>
          <p:cNvPr id="45" name="Text 43"/>
          <p:cNvSpPr txBox="1"/>
          <p:nvPr/>
        </p:nvSpPr>
        <p:spPr>
          <a:xfrm>
            <a:off x="11500849" y="6454684"/>
            <a:ext cx="202545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84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Dieciocho ajustes de Braze se configuran una vez; siete son de alto impacto y poco esfuerzo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6493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2867060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Configuración de la cuenta de Braze, no campañas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1567168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MarTech, con Datos y Legal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726445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 la base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1763889"/>
            <a:ext cx="7289909" cy="411855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4390" y="1763889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8094390" y="197712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94390" y="197712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5" name="Text 12"/>
          <p:cNvSpPr txBox="1"/>
          <p:nvPr/>
        </p:nvSpPr>
        <p:spPr>
          <a:xfrm>
            <a:off x="8338224" y="1964934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Ninguno de los 18 está activo hoy. Control nativo en la semana 2; límites y silencio en el mes 2.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8094390" y="2365501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94390" y="2365501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8" name="Text 15"/>
          <p:cNvSpPr txBox="1"/>
          <p:nvPr/>
        </p:nvSpPr>
        <p:spPr>
          <a:xfrm>
            <a:off x="8338224" y="2353309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las semanas 1 a 4 se cargan las exclusiones (0.17 M MXN al mes); el canal preferido (0.34 M) llega en el mes 2.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094390" y="2753876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094390" y="2753876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21" name="Text 18"/>
          <p:cNvSpPr txBox="1"/>
          <p:nvPr/>
        </p:nvSpPr>
        <p:spPr>
          <a:xfrm>
            <a:off x="8338224" y="2741685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enviar los eventos de Braze a Databricks (Currents) no hay hora, dispositivo ni bajas de push.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8094390" y="3142267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20"/>
          <p:cNvSpPr/>
          <p:nvPr/>
        </p:nvSpPr>
        <p:spPr>
          <a:xfrm>
            <a:off x="8108858" y="3142267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3041" y="3203153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25" name="Text 22"/>
          <p:cNvSpPr txBox="1"/>
          <p:nvPr/>
        </p:nvSpPr>
        <p:spPr>
          <a:xfrm>
            <a:off x="8233041" y="3364110"/>
            <a:ext cx="3400739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Nadie administra la cuenta: las protecciones que Braze trae de fábrica están apagadas.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8" name="Text 25"/>
          <p:cNvSpPr txBox="1"/>
          <p:nvPr/>
        </p:nvSpPr>
        <p:spPr>
          <a:xfrm>
            <a:off x="1409876" y="6077461"/>
            <a:ext cx="5498821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MarTech prende el control en la semana 2 y el resto de alto impacto en el mes 2.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11956" y="6454684"/>
            <a:ext cx="6533891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Playbook de Braze para Kueski, sección 11 (posición: criterio del análisis); E1, E2, E13 y E17, enero a septiembre 2026.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11524962" y="6454684"/>
            <a:ext cx="177709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101</a:t>
            </a:r>
            <a:endParaRPr lang="en-US" sz="84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hace cada equipo en cuatro semanas: Product Growth y Marketing mueven 2.07 M MXN al mes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6493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2935361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campañas de cada equipo con acción en el plan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3182486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cinco equipos; MarTech, CRM y Datos como soporte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099128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Registrados sin crédito, leads, ex clientes y recurrentes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1956" y="1991007"/>
            <a:ext cx="1228423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1956" y="1812656"/>
            <a:ext cx="1195662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EQUIPO</a:t>
            </a:r>
            <a:endParaRPr lang="en-US" sz="790" dirty="0"/>
          </a:p>
        </p:txBody>
      </p:sp>
      <p:sp>
        <p:nvSpPr>
          <p:cNvPr id="13" name="Shape 11"/>
          <p:cNvSpPr/>
          <p:nvPr/>
        </p:nvSpPr>
        <p:spPr>
          <a:xfrm>
            <a:off x="1740379" y="1991007"/>
            <a:ext cx="2233496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740379" y="1812656"/>
            <a:ext cx="2230887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 1</a:t>
            </a:r>
            <a:endParaRPr lang="en-US" sz="790" dirty="0"/>
          </a:p>
        </p:txBody>
      </p:sp>
      <p:sp>
        <p:nvSpPr>
          <p:cNvPr id="15" name="Shape 13"/>
          <p:cNvSpPr/>
          <p:nvPr/>
        </p:nvSpPr>
        <p:spPr>
          <a:xfrm>
            <a:off x="3973875" y="1991007"/>
            <a:ext cx="2233496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73875" y="1812656"/>
            <a:ext cx="2230887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 2</a:t>
            </a:r>
            <a:endParaRPr lang="en-US" sz="790" dirty="0"/>
          </a:p>
        </p:txBody>
      </p:sp>
      <p:sp>
        <p:nvSpPr>
          <p:cNvPr id="17" name="Shape 15"/>
          <p:cNvSpPr/>
          <p:nvPr/>
        </p:nvSpPr>
        <p:spPr>
          <a:xfrm>
            <a:off x="6207372" y="1991007"/>
            <a:ext cx="2233496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07372" y="1812656"/>
            <a:ext cx="2230887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 3</a:t>
            </a:r>
            <a:endParaRPr lang="en-US" sz="790" dirty="0"/>
          </a:p>
        </p:txBody>
      </p:sp>
      <p:sp>
        <p:nvSpPr>
          <p:cNvPr id="19" name="Shape 17"/>
          <p:cNvSpPr/>
          <p:nvPr/>
        </p:nvSpPr>
        <p:spPr>
          <a:xfrm>
            <a:off x="8440868" y="1991007"/>
            <a:ext cx="2121822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40868" y="1812656"/>
            <a:ext cx="2115862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 4</a:t>
            </a:r>
            <a:endParaRPr lang="en-US" sz="790" dirty="0"/>
          </a:p>
        </p:txBody>
      </p:sp>
      <p:sp>
        <p:nvSpPr>
          <p:cNvPr id="21" name="Shape 19"/>
          <p:cNvSpPr/>
          <p:nvPr/>
        </p:nvSpPr>
        <p:spPr>
          <a:xfrm>
            <a:off x="10562690" y="1991007"/>
            <a:ext cx="1116748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562690" y="1812656"/>
            <a:ext cx="1080637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AHORRO AL MES</a:t>
            </a:r>
            <a:endParaRPr lang="en-US" sz="790" dirty="0"/>
          </a:p>
        </p:txBody>
      </p:sp>
      <p:sp>
        <p:nvSpPr>
          <p:cNvPr id="23" name="Shape 21"/>
          <p:cNvSpPr/>
          <p:nvPr/>
        </p:nvSpPr>
        <p:spPr>
          <a:xfrm>
            <a:off x="511956" y="2419621"/>
            <a:ext cx="122842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1956" y="2047035"/>
            <a:ext cx="1195662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1740379" y="2419621"/>
            <a:ext cx="22334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740379" y="2047035"/>
            <a:ext cx="223088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Apaga correo de Tasa 0 e Installments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3973875" y="2419621"/>
            <a:ext cx="22334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973875" y="2047035"/>
            <a:ext cx="223088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Venta cruzada sin WhatsApp a quien no lee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6207372" y="2419621"/>
            <a:ext cx="22334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07372" y="2047035"/>
            <a:ext cx="223088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 clientes KPay: 10 % aparte, 8 semanas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8440868" y="2419621"/>
            <a:ext cx="21218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440868" y="2047035"/>
            <a:ext cx="2115862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Primera lectura con CRM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10562690" y="2419621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562690" y="2047035"/>
            <a:ext cx="108063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1.57 M MXN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511956" y="2689841"/>
            <a:ext cx="122842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11956" y="2475649"/>
            <a:ext cx="1195662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1740379" y="2689841"/>
            <a:ext cx="22334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740379" y="2475649"/>
            <a:ext cx="22308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Referidos a dormants por in-app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3973875" y="2689841"/>
            <a:ext cx="22334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973875" y="2475649"/>
            <a:ext cx="22308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Verificación: un correo al día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6207372" y="2689841"/>
            <a:ext cx="22334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207372" y="2475649"/>
            <a:ext cx="22308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Rescate Tasa 0 solo a quien lee</a:t>
            </a: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8440868" y="2689841"/>
            <a:ext cx="21218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440868" y="2475649"/>
            <a:ext cx="2115862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Primera lectura con CRM</a:t>
            </a:r>
            <a:endParaRPr lang="en-US" sz="960" dirty="0"/>
          </a:p>
        </p:txBody>
      </p:sp>
      <p:sp>
        <p:nvSpPr>
          <p:cNvPr id="45" name="Shape 43"/>
          <p:cNvSpPr/>
          <p:nvPr/>
        </p:nvSpPr>
        <p:spPr>
          <a:xfrm>
            <a:off x="10562690" y="2689841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562690" y="2475649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0.50 M MXN</a:t>
            </a:r>
            <a:endParaRPr lang="en-US" sz="960" dirty="0"/>
          </a:p>
        </p:txBody>
      </p:sp>
      <p:sp>
        <p:nvSpPr>
          <p:cNvPr id="47" name="Shape 45"/>
          <p:cNvSpPr/>
          <p:nvPr/>
        </p:nvSpPr>
        <p:spPr>
          <a:xfrm>
            <a:off x="511956" y="2960061"/>
            <a:ext cx="122842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11956" y="2745869"/>
            <a:ext cx="1195662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</a:t>
            </a:r>
            <a:endParaRPr lang="en-US" sz="960" dirty="0"/>
          </a:p>
        </p:txBody>
      </p:sp>
      <p:sp>
        <p:nvSpPr>
          <p:cNvPr id="49" name="Shape 47"/>
          <p:cNvSpPr/>
          <p:nvPr/>
        </p:nvSpPr>
        <p:spPr>
          <a:xfrm>
            <a:off x="1740379" y="2960061"/>
            <a:ext cx="22334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740379" y="2745869"/>
            <a:ext cx="22308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Lista de campañas a rehacer</a:t>
            </a:r>
            <a:endParaRPr lang="en-US" sz="960" dirty="0"/>
          </a:p>
        </p:txBody>
      </p:sp>
      <p:sp>
        <p:nvSpPr>
          <p:cNvPr id="51" name="Shape 49"/>
          <p:cNvSpPr/>
          <p:nvPr/>
        </p:nvSpPr>
        <p:spPr>
          <a:xfrm>
            <a:off x="3973875" y="2960061"/>
            <a:ext cx="22334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973875" y="2745869"/>
            <a:ext cx="22308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 solo a quien hizo clic</a:t>
            </a:r>
            <a:endParaRPr lang="en-US" sz="960" dirty="0"/>
          </a:p>
        </p:txBody>
      </p:sp>
      <p:sp>
        <p:nvSpPr>
          <p:cNvPr id="53" name="Shape 51"/>
          <p:cNvSpPr/>
          <p:nvPr/>
        </p:nvSpPr>
        <p:spPr>
          <a:xfrm>
            <a:off x="6207372" y="2960061"/>
            <a:ext cx="22334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207372" y="2745869"/>
            <a:ext cx="22308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Comercio del día con Marketing</a:t>
            </a:r>
            <a:endParaRPr lang="en-US" sz="960" dirty="0"/>
          </a:p>
        </p:txBody>
      </p:sp>
      <p:sp>
        <p:nvSpPr>
          <p:cNvPr id="55" name="Shape 53"/>
          <p:cNvSpPr/>
          <p:nvPr/>
        </p:nvSpPr>
        <p:spPr>
          <a:xfrm>
            <a:off x="8440868" y="2960061"/>
            <a:ext cx="21218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440868" y="2745869"/>
            <a:ext cx="2115862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Primera lectura con CRM</a:t>
            </a:r>
            <a:endParaRPr lang="en-US" sz="960" dirty="0"/>
          </a:p>
        </p:txBody>
      </p:sp>
      <p:sp>
        <p:nvSpPr>
          <p:cNvPr id="57" name="Shape 55"/>
          <p:cNvSpPr/>
          <p:nvPr/>
        </p:nvSpPr>
        <p:spPr>
          <a:xfrm>
            <a:off x="10562690" y="2960061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0562690" y="2745869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0.18 M MXN</a:t>
            </a:r>
            <a:endParaRPr lang="en-US" sz="960" dirty="0"/>
          </a:p>
        </p:txBody>
      </p:sp>
      <p:sp>
        <p:nvSpPr>
          <p:cNvPr id="59" name="Shape 57"/>
          <p:cNvSpPr/>
          <p:nvPr/>
        </p:nvSpPr>
        <p:spPr>
          <a:xfrm>
            <a:off x="511956" y="3230281"/>
            <a:ext cx="122842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11956" y="3016089"/>
            <a:ext cx="1195662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Others</a:t>
            </a:r>
            <a:endParaRPr lang="en-US" sz="960" dirty="0"/>
          </a:p>
        </p:txBody>
      </p:sp>
      <p:sp>
        <p:nvSpPr>
          <p:cNvPr id="61" name="Shape 59"/>
          <p:cNvSpPr/>
          <p:nvPr/>
        </p:nvSpPr>
        <p:spPr>
          <a:xfrm>
            <a:off x="1740379" y="3230281"/>
            <a:ext cx="22334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740379" y="3016089"/>
            <a:ext cx="22308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Equipo y ticket a 39 promociones</a:t>
            </a:r>
            <a:endParaRPr lang="en-US" sz="960" dirty="0"/>
          </a:p>
        </p:txBody>
      </p:sp>
      <p:sp>
        <p:nvSpPr>
          <p:cNvPr id="63" name="Shape 61"/>
          <p:cNvSpPr/>
          <p:nvPr/>
        </p:nvSpPr>
        <p:spPr>
          <a:xfrm>
            <a:off x="3973875" y="3230281"/>
            <a:ext cx="22334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3973875" y="3016089"/>
            <a:ext cx="22308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BillPay y Shopping: prueba al 10 %</a:t>
            </a:r>
            <a:endParaRPr lang="en-US" sz="960" dirty="0"/>
          </a:p>
        </p:txBody>
      </p:sp>
      <p:sp>
        <p:nvSpPr>
          <p:cNvPr id="65" name="Shape 63"/>
          <p:cNvSpPr/>
          <p:nvPr/>
        </p:nvSpPr>
        <p:spPr>
          <a:xfrm>
            <a:off x="6207372" y="3230281"/>
            <a:ext cx="22334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440868" y="3230281"/>
            <a:ext cx="21218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562690" y="3230281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10562690" y="3016089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0.06 M MXN</a:t>
            </a:r>
            <a:endParaRPr lang="en-US" sz="960" dirty="0"/>
          </a:p>
        </p:txBody>
      </p:sp>
      <p:sp>
        <p:nvSpPr>
          <p:cNvPr id="69" name="Shape 67"/>
          <p:cNvSpPr/>
          <p:nvPr/>
        </p:nvSpPr>
        <p:spPr>
          <a:xfrm>
            <a:off x="511956" y="3500501"/>
            <a:ext cx="122842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511956" y="3286309"/>
            <a:ext cx="1195662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Collections</a:t>
            </a:r>
            <a:endParaRPr lang="en-US" sz="960" dirty="0"/>
          </a:p>
        </p:txBody>
      </p:sp>
      <p:sp>
        <p:nvSpPr>
          <p:cNvPr id="71" name="Shape 69"/>
          <p:cNvSpPr/>
          <p:nvPr/>
        </p:nvSpPr>
        <p:spPr>
          <a:xfrm>
            <a:off x="1740379" y="3500501"/>
            <a:ext cx="22334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740379" y="3286309"/>
            <a:ext cx="22308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Archiva Canvas de prueba</a:t>
            </a:r>
            <a:endParaRPr lang="en-US" sz="960" dirty="0"/>
          </a:p>
        </p:txBody>
      </p:sp>
      <p:sp>
        <p:nvSpPr>
          <p:cNvPr id="73" name="Shape 71"/>
          <p:cNvSpPr/>
          <p:nvPr/>
        </p:nvSpPr>
        <p:spPr>
          <a:xfrm>
            <a:off x="3973875" y="3500501"/>
            <a:ext cx="22334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3973875" y="3286309"/>
            <a:ext cx="22308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Cobranza no se toca</a:t>
            </a:r>
            <a:endParaRPr lang="en-US" sz="960" dirty="0"/>
          </a:p>
        </p:txBody>
      </p:sp>
      <p:sp>
        <p:nvSpPr>
          <p:cNvPr id="75" name="Shape 73"/>
          <p:cNvSpPr/>
          <p:nvPr/>
        </p:nvSpPr>
        <p:spPr>
          <a:xfrm>
            <a:off x="6207372" y="3500501"/>
            <a:ext cx="22334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440868" y="3500501"/>
            <a:ext cx="21218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562690" y="3500501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0562690" y="3286309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0.01 M MXN</a:t>
            </a:r>
            <a:endParaRPr lang="en-US" sz="960" dirty="0"/>
          </a:p>
        </p:txBody>
      </p:sp>
      <p:sp>
        <p:nvSpPr>
          <p:cNvPr id="79" name="Shape 77"/>
          <p:cNvSpPr/>
          <p:nvPr/>
        </p:nvSpPr>
        <p:spPr>
          <a:xfrm>
            <a:off x="511956" y="3929115"/>
            <a:ext cx="122842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511956" y="3556528"/>
            <a:ext cx="1195662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MarTech</a:t>
            </a:r>
            <a:endParaRPr lang="en-US" sz="960" dirty="0"/>
          </a:p>
        </p:txBody>
      </p:sp>
      <p:sp>
        <p:nvSpPr>
          <p:cNvPr id="81" name="Shape 79"/>
          <p:cNvSpPr/>
          <p:nvPr/>
        </p:nvSpPr>
        <p:spPr>
          <a:xfrm>
            <a:off x="1740379" y="3929115"/>
            <a:ext cx="22334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1740379" y="3556528"/>
            <a:ext cx="223088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Excluye bloqueados; pausa pruebas</a:t>
            </a:r>
            <a:endParaRPr lang="en-US" sz="960" dirty="0"/>
          </a:p>
        </p:txBody>
      </p:sp>
      <p:sp>
        <p:nvSpPr>
          <p:cNvPr id="83" name="Shape 81"/>
          <p:cNvSpPr/>
          <p:nvPr/>
        </p:nvSpPr>
        <p:spPr>
          <a:xfrm>
            <a:off x="3973875" y="3929115"/>
            <a:ext cx="22334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3973875" y="3556528"/>
            <a:ext cx="223088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nativo; ticket obligatorio</a:t>
            </a:r>
            <a:endParaRPr lang="en-US" sz="960" dirty="0"/>
          </a:p>
        </p:txBody>
      </p:sp>
      <p:sp>
        <p:nvSpPr>
          <p:cNvPr id="85" name="Shape 83"/>
          <p:cNvSpPr/>
          <p:nvPr/>
        </p:nvSpPr>
        <p:spPr>
          <a:xfrm>
            <a:off x="6207372" y="3929115"/>
            <a:ext cx="22334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6207372" y="3556528"/>
            <a:ext cx="223088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Quita duplicados</a:t>
            </a:r>
            <a:endParaRPr lang="en-US" sz="960" dirty="0"/>
          </a:p>
        </p:txBody>
      </p:sp>
      <p:sp>
        <p:nvSpPr>
          <p:cNvPr id="87" name="Shape 85"/>
          <p:cNvSpPr/>
          <p:nvPr/>
        </p:nvSpPr>
        <p:spPr>
          <a:xfrm>
            <a:off x="8440868" y="3929115"/>
            <a:ext cx="21218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8440868" y="3556528"/>
            <a:ext cx="2115862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Reentrada apagada; límites en el mes 2</a:t>
            </a:r>
            <a:endParaRPr lang="en-US" sz="960" dirty="0"/>
          </a:p>
        </p:txBody>
      </p:sp>
      <p:sp>
        <p:nvSpPr>
          <p:cNvPr id="89" name="Shape 87"/>
          <p:cNvSpPr/>
          <p:nvPr/>
        </p:nvSpPr>
        <p:spPr>
          <a:xfrm>
            <a:off x="10562690" y="3929115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10562690" y="3556528"/>
            <a:ext cx="108063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Habilita</a:t>
            </a:r>
            <a:endParaRPr lang="en-US" sz="960" dirty="0"/>
          </a:p>
        </p:txBody>
      </p:sp>
      <p:sp>
        <p:nvSpPr>
          <p:cNvPr id="91" name="Shape 89"/>
          <p:cNvSpPr/>
          <p:nvPr/>
        </p:nvSpPr>
        <p:spPr>
          <a:xfrm>
            <a:off x="511956" y="4357729"/>
            <a:ext cx="122842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511956" y="3985143"/>
            <a:ext cx="1195662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y Datos</a:t>
            </a:r>
            <a:endParaRPr lang="en-US" sz="960" dirty="0"/>
          </a:p>
        </p:txBody>
      </p:sp>
      <p:sp>
        <p:nvSpPr>
          <p:cNvPr id="93" name="Shape 91"/>
          <p:cNvSpPr/>
          <p:nvPr/>
        </p:nvSpPr>
        <p:spPr>
          <a:xfrm>
            <a:off x="1740379" y="4357729"/>
            <a:ext cx="22334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1740379" y="3985143"/>
            <a:ext cx="223088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Datos: mide crédito otorgado y solicitud</a:t>
            </a:r>
            <a:endParaRPr lang="en-US" sz="960" dirty="0"/>
          </a:p>
        </p:txBody>
      </p:sp>
      <p:sp>
        <p:nvSpPr>
          <p:cNvPr id="95" name="Shape 93"/>
          <p:cNvSpPr/>
          <p:nvPr/>
        </p:nvSpPr>
        <p:spPr>
          <a:xfrm>
            <a:off x="3973875" y="4357729"/>
            <a:ext cx="22334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3973875" y="3985143"/>
            <a:ext cx="223088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Datos: grupo aparte de ex clientes</a:t>
            </a:r>
            <a:endParaRPr lang="en-US" sz="960" dirty="0"/>
          </a:p>
        </p:txBody>
      </p:sp>
      <p:sp>
        <p:nvSpPr>
          <p:cNvPr id="97" name="Shape 95"/>
          <p:cNvSpPr/>
          <p:nvPr/>
        </p:nvSpPr>
        <p:spPr>
          <a:xfrm>
            <a:off x="6207372" y="4357729"/>
            <a:ext cx="22334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6207372" y="3985143"/>
            <a:ext cx="223088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CRM: arranca la medición y el comité</a:t>
            </a:r>
            <a:endParaRPr lang="en-US" sz="960" dirty="0"/>
          </a:p>
        </p:txBody>
      </p:sp>
      <p:sp>
        <p:nvSpPr>
          <p:cNvPr id="99" name="Shape 97"/>
          <p:cNvSpPr/>
          <p:nvPr/>
        </p:nvSpPr>
        <p:spPr>
          <a:xfrm>
            <a:off x="8440868" y="4357729"/>
            <a:ext cx="21218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8440868" y="3985143"/>
            <a:ext cx="2115862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CRM: tablero de control</a:t>
            </a:r>
            <a:endParaRPr lang="en-US" sz="960" dirty="0"/>
          </a:p>
        </p:txBody>
      </p:sp>
      <p:sp>
        <p:nvSpPr>
          <p:cNvPr id="101" name="Shape 99"/>
          <p:cNvSpPr/>
          <p:nvPr/>
        </p:nvSpPr>
        <p:spPr>
          <a:xfrm>
            <a:off x="10562690" y="4357729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10562690" y="3985143"/>
            <a:ext cx="108063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Habilita</a:t>
            </a:r>
            <a:endParaRPr lang="en-US" sz="960" dirty="0"/>
          </a:p>
        </p:txBody>
      </p:sp>
      <p:sp>
        <p:nvSpPr>
          <p:cNvPr id="103" name="Shape 101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105" name="Text 103"/>
          <p:cNvSpPr txBox="1"/>
          <p:nvPr/>
        </p:nvSpPr>
        <p:spPr>
          <a:xfrm>
            <a:off x="1409876" y="6077461"/>
            <a:ext cx="5964044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equipo sale con su lista, su semana y su métrica; el comité revisa en la semana 3.</a:t>
            </a:r>
            <a:endParaRPr lang="en-US" sz="1100" dirty="0"/>
          </a:p>
        </p:txBody>
      </p:sp>
      <p:sp>
        <p:nvSpPr>
          <p:cNvPr id="106" name="Text 104"/>
          <p:cNvSpPr txBox="1"/>
          <p:nvPr/>
        </p:nvSpPr>
        <p:spPr>
          <a:xfrm>
            <a:off x="511956" y="6454684"/>
            <a:ext cx="6699211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ahorro de la lámina 92 por equipo, incluida su parte a medir. MarTech, CRM y Datos no tienen ahorro propio: lo habilitan.</a:t>
            </a:r>
            <a:endParaRPr lang="en-US" sz="840" dirty="0"/>
          </a:p>
        </p:txBody>
      </p:sp>
      <p:sp>
        <p:nvSpPr>
          <p:cNvPr id="107" name="Text 105"/>
          <p:cNvSpPr txBox="1"/>
          <p:nvPr/>
        </p:nvSpPr>
        <p:spPr>
          <a:xfrm>
            <a:off x="11503109" y="6454684"/>
            <a:ext cx="200217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102</a:t>
            </a:r>
            <a:endParaRPr lang="en-US" sz="84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que todavía no sabemos y cómo se resuelve: la primera pregunta decide hasta 0.85 M MXN al mes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166180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1956" y="1649351"/>
            <a:ext cx="1116778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19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MANDA</a:t>
            </a:r>
            <a:endParaRPr lang="en-US" sz="790" dirty="0"/>
          </a:p>
        </p:txBody>
      </p:sp>
      <p:sp>
        <p:nvSpPr>
          <p:cNvPr id="6" name="Text 4"/>
          <p:cNvSpPr txBox="1"/>
          <p:nvPr/>
        </p:nvSpPr>
        <p:spPr>
          <a:xfrm>
            <a:off x="511956" y="1410328"/>
            <a:ext cx="1715878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Preguntas abiertas del análisis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2995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QUIÉN</a:t>
            </a:r>
            <a:endParaRPr lang="en-US" sz="790" dirty="0"/>
          </a:p>
        </p:txBody>
      </p:sp>
      <p:sp>
        <p:nvSpPr>
          <p:cNvPr id="8" name="Text 6"/>
          <p:cNvSpPr txBox="1"/>
          <p:nvPr/>
        </p:nvSpPr>
        <p:spPr>
          <a:xfrm>
            <a:off x="4299556" y="1410328"/>
            <a:ext cx="2408667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MarTech, CRM, Product Growth y Finanzas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87156" y="1256304"/>
            <a:ext cx="3718649" cy="12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0" name="Text 8"/>
          <p:cNvSpPr txBox="1"/>
          <p:nvPr/>
        </p:nvSpPr>
        <p:spPr>
          <a:xfrm>
            <a:off x="8087156" y="1410328"/>
            <a:ext cx="3102233" cy="14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 clientes, personas sin respuesta y quien tiene la app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1956" y="1991007"/>
            <a:ext cx="3350245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1956" y="1812656"/>
            <a:ext cx="3381138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QUE NO SABEMOS</a:t>
            </a:r>
            <a:endParaRPr lang="en-US" sz="790" dirty="0"/>
          </a:p>
        </p:txBody>
      </p:sp>
      <p:sp>
        <p:nvSpPr>
          <p:cNvPr id="13" name="Shape 11"/>
          <p:cNvSpPr/>
          <p:nvPr/>
        </p:nvSpPr>
        <p:spPr>
          <a:xfrm>
            <a:off x="3862201" y="1991007"/>
            <a:ext cx="3350245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62201" y="1812656"/>
            <a:ext cx="3381138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QUÉ IMPORTA</a:t>
            </a:r>
            <a:endParaRPr lang="en-US" sz="790" dirty="0"/>
          </a:p>
        </p:txBody>
      </p:sp>
      <p:sp>
        <p:nvSpPr>
          <p:cNvPr id="15" name="Shape 13"/>
          <p:cNvSpPr/>
          <p:nvPr/>
        </p:nvSpPr>
        <p:spPr>
          <a:xfrm>
            <a:off x="7212445" y="1991007"/>
            <a:ext cx="2791870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12445" y="1812656"/>
            <a:ext cx="2806012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SE RESUELVE</a:t>
            </a:r>
            <a:endParaRPr lang="en-US" sz="790" dirty="0"/>
          </a:p>
        </p:txBody>
      </p:sp>
      <p:sp>
        <p:nvSpPr>
          <p:cNvPr id="17" name="Shape 15"/>
          <p:cNvSpPr/>
          <p:nvPr/>
        </p:nvSpPr>
        <p:spPr>
          <a:xfrm>
            <a:off x="10004316" y="1991007"/>
            <a:ext cx="1675122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04316" y="1812656"/>
            <a:ext cx="1655762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EQUIPO</a:t>
            </a:r>
            <a:endParaRPr lang="en-US" sz="790" dirty="0"/>
          </a:p>
        </p:txBody>
      </p:sp>
      <p:sp>
        <p:nvSpPr>
          <p:cNvPr id="19" name="Shape 17"/>
          <p:cNvSpPr/>
          <p:nvPr/>
        </p:nvSpPr>
        <p:spPr>
          <a:xfrm>
            <a:off x="511956" y="2261227"/>
            <a:ext cx="335024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1956" y="2047035"/>
            <a:ext cx="33811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¿La recuperación trae clientes?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3862201" y="2261227"/>
            <a:ext cx="335024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862201" y="2047035"/>
            <a:ext cx="33811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 hasta 0.85 M MXN al mes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7212445" y="2261227"/>
            <a:ext cx="279187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12445" y="2047035"/>
            <a:ext cx="2806012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10 % sin mensajes, 8 semanas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10004316" y="2261227"/>
            <a:ext cx="16751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04316" y="2047035"/>
            <a:ext cx="1655762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y Product Growth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511956" y="2689841"/>
            <a:ext cx="335024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11956" y="2317254"/>
            <a:ext cx="3381138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¿Quién tiene la app?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3862201" y="2689841"/>
            <a:ext cx="335024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862201" y="2317254"/>
            <a:ext cx="3381138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hay dato; se aproxima: 3.2 M de personas abrieron un push o un in-app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7212445" y="2689841"/>
            <a:ext cx="279187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212445" y="2317254"/>
            <a:ext cx="2806012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Crear en Braze el atributo de app con esa regla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10004316" y="2689841"/>
            <a:ext cx="16751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004316" y="2317254"/>
            <a:ext cx="1655762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MarTech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511956" y="2960061"/>
            <a:ext cx="335024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11956" y="2745869"/>
            <a:ext cx="33811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¿Cuánto cuesta Braze fijo?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3862201" y="2960061"/>
            <a:ext cx="335024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862201" y="2745869"/>
            <a:ext cx="33811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Saber si baja al escribir a menos gente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7212445" y="2960061"/>
            <a:ext cx="279187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212445" y="2745869"/>
            <a:ext cx="2806012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Queda como X, editable en el Sheets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10004316" y="2960061"/>
            <a:ext cx="16751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004316" y="2745869"/>
            <a:ext cx="1655762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Finanzas</a:t>
            </a: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511956" y="3388675"/>
            <a:ext cx="335024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11956" y="3016089"/>
            <a:ext cx="3381138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reciben los 14.2 M de personas sin respuesta?</a:t>
            </a:r>
            <a:endParaRPr lang="en-US" sz="960" dirty="0"/>
          </a:p>
        </p:txBody>
      </p:sp>
      <p:sp>
        <p:nvSpPr>
          <p:cNvPr id="45" name="Shape 43"/>
          <p:cNvSpPr/>
          <p:nvPr/>
        </p:nvSpPr>
        <p:spPr>
          <a:xfrm>
            <a:off x="3862201" y="3388675"/>
            <a:ext cx="335024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862201" y="3016089"/>
            <a:ext cx="3381138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Saber qué apagar primero</a:t>
            </a:r>
            <a:endParaRPr lang="en-US" sz="960" dirty="0"/>
          </a:p>
        </p:txBody>
      </p:sp>
      <p:sp>
        <p:nvSpPr>
          <p:cNvPr id="47" name="Shape 45"/>
          <p:cNvSpPr/>
          <p:nvPr/>
        </p:nvSpPr>
        <p:spPr>
          <a:xfrm>
            <a:off x="7212445" y="3388675"/>
            <a:ext cx="279187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212445" y="3016089"/>
            <a:ext cx="2806012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Segmento en Braze de quien no responde en 90 días; CRM revisa qué le llega</a:t>
            </a:r>
            <a:endParaRPr lang="en-US" sz="960" dirty="0"/>
          </a:p>
        </p:txBody>
      </p:sp>
      <p:sp>
        <p:nvSpPr>
          <p:cNvPr id="49" name="Shape 47"/>
          <p:cNvSpPr/>
          <p:nvPr/>
        </p:nvSpPr>
        <p:spPr>
          <a:xfrm>
            <a:off x="10004316" y="3388675"/>
            <a:ext cx="16751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004316" y="3016089"/>
            <a:ext cx="1655762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MarTech y CRM</a:t>
            </a:r>
            <a:endParaRPr lang="en-US" sz="960" dirty="0"/>
          </a:p>
        </p:txBody>
      </p:sp>
      <p:sp>
        <p:nvSpPr>
          <p:cNvPr id="51" name="Shape 49"/>
          <p:cNvSpPr/>
          <p:nvPr/>
        </p:nvSpPr>
        <p:spPr>
          <a:xfrm>
            <a:off x="511956" y="3817289"/>
            <a:ext cx="335024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11956" y="3444703"/>
            <a:ext cx="3381138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¿Cómo se mide la conversión?</a:t>
            </a:r>
            <a:endParaRPr lang="en-US" sz="960" dirty="0"/>
          </a:p>
        </p:txBody>
      </p:sp>
      <p:sp>
        <p:nvSpPr>
          <p:cNvPr id="53" name="Shape 51"/>
          <p:cNvSpPr/>
          <p:nvPr/>
        </p:nvSpPr>
        <p:spPr>
          <a:xfrm>
            <a:off x="3862201" y="3817289"/>
            <a:ext cx="335024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862201" y="3444703"/>
            <a:ext cx="3381138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 equipos concluían lo contrario</a:t>
            </a:r>
            <a:endParaRPr lang="en-US" sz="960" dirty="0"/>
          </a:p>
        </p:txBody>
      </p:sp>
      <p:sp>
        <p:nvSpPr>
          <p:cNvPr id="55" name="Shape 53"/>
          <p:cNvSpPr/>
          <p:nvPr/>
        </p:nvSpPr>
        <p:spPr>
          <a:xfrm>
            <a:off x="7212445" y="3817289"/>
            <a:ext cx="279187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212445" y="3444703"/>
            <a:ext cx="2806012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Crédito otorgado en 7 días; también la solicitud (lámina 105)</a:t>
            </a:r>
            <a:endParaRPr lang="en-US" sz="960" dirty="0"/>
          </a:p>
        </p:txBody>
      </p:sp>
      <p:sp>
        <p:nvSpPr>
          <p:cNvPr id="57" name="Shape 55"/>
          <p:cNvSpPr/>
          <p:nvPr/>
        </p:nvSpPr>
        <p:spPr>
          <a:xfrm>
            <a:off x="10004316" y="3817289"/>
            <a:ext cx="16751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0004316" y="3444703"/>
            <a:ext cx="1655762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</a:t>
            </a:r>
            <a:endParaRPr lang="en-US" sz="960" dirty="0"/>
          </a:p>
        </p:txBody>
      </p:sp>
      <p:sp>
        <p:nvSpPr>
          <p:cNvPr id="59" name="Shape 57"/>
          <p:cNvSpPr/>
          <p:nvPr/>
        </p:nvSpPr>
        <p:spPr>
          <a:xfrm>
            <a:off x="511956" y="4245904"/>
            <a:ext cx="335024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11956" y="3873317"/>
            <a:ext cx="3381138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¿Hora, teléfono y bajas de push?</a:t>
            </a:r>
            <a:endParaRPr lang="en-US" sz="960" dirty="0"/>
          </a:p>
        </p:txBody>
      </p:sp>
      <p:sp>
        <p:nvSpPr>
          <p:cNvPr id="61" name="Shape 59"/>
          <p:cNvSpPr/>
          <p:nvPr/>
        </p:nvSpPr>
        <p:spPr>
          <a:xfrm>
            <a:off x="3862201" y="4245904"/>
            <a:ext cx="335024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3862201" y="3873317"/>
            <a:ext cx="3381138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Silencio, canal preferido, calidad</a:t>
            </a:r>
            <a:endParaRPr lang="en-US" sz="960" dirty="0"/>
          </a:p>
        </p:txBody>
      </p:sp>
      <p:sp>
        <p:nvSpPr>
          <p:cNvPr id="63" name="Shape 61"/>
          <p:cNvSpPr/>
          <p:nvPr/>
        </p:nvSpPr>
        <p:spPr>
          <a:xfrm>
            <a:off x="7212445" y="4245904"/>
            <a:ext cx="279187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212445" y="3873317"/>
            <a:ext cx="2806012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Prender Currents: eventos de Braze a Databricks</a:t>
            </a:r>
            <a:endParaRPr lang="en-US" sz="960" dirty="0"/>
          </a:p>
        </p:txBody>
      </p:sp>
      <p:sp>
        <p:nvSpPr>
          <p:cNvPr id="65" name="Shape 63"/>
          <p:cNvSpPr/>
          <p:nvPr/>
        </p:nvSpPr>
        <p:spPr>
          <a:xfrm>
            <a:off x="10004316" y="4245904"/>
            <a:ext cx="16751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10004316" y="3873317"/>
            <a:ext cx="1655762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MarTech</a:t>
            </a:r>
            <a:endParaRPr lang="en-US" sz="960" dirty="0"/>
          </a:p>
        </p:txBody>
      </p:sp>
      <p:sp>
        <p:nvSpPr>
          <p:cNvPr id="67" name="Shape 65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69" name="Text 67"/>
          <p:cNvSpPr txBox="1"/>
          <p:nvPr/>
        </p:nvSpPr>
        <p:spPr>
          <a:xfrm>
            <a:off x="1409876" y="6077461"/>
            <a:ext cx="5360046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Ninguna frena lo que se quita ya; todas se resuelven en 90 días con un dueño.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511956" y="6454684"/>
            <a:ext cx="4474617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E7b, E13, E16 y E17, enero a septiembre 2026. Costo fijo de Braze: X, editable.</a:t>
            </a:r>
            <a:endParaRPr lang="en-US" sz="840" dirty="0"/>
          </a:p>
        </p:txBody>
      </p:sp>
      <p:sp>
        <p:nvSpPr>
          <p:cNvPr id="71" name="Text 69"/>
          <p:cNvSpPr txBox="1"/>
          <p:nvPr/>
        </p:nvSpPr>
        <p:spPr>
          <a:xfrm>
            <a:off x="11502356" y="6454684"/>
            <a:ext cx="200993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103</a:t>
            </a:r>
            <a:endParaRPr lang="en-US" sz="84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Método y fuentes: 18 extracciones agregadas de Databricks y 470 verificaciones de los totales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388475"/>
            <a:ext cx="874711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11956" y="1210125"/>
            <a:ext cx="831338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EXTRACCIÓN</a:t>
            </a:r>
            <a:endParaRPr lang="en-US" sz="790" dirty="0"/>
          </a:p>
        </p:txBody>
      </p:sp>
      <p:sp>
        <p:nvSpPr>
          <p:cNvPr id="5" name="Shape 3"/>
          <p:cNvSpPr/>
          <p:nvPr/>
        </p:nvSpPr>
        <p:spPr>
          <a:xfrm>
            <a:off x="1386667" y="1388475"/>
            <a:ext cx="3207524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86667" y="1210125"/>
            <a:ext cx="3234135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TRAE</a:t>
            </a:r>
            <a:endParaRPr lang="en-US" sz="790" dirty="0"/>
          </a:p>
        </p:txBody>
      </p:sp>
      <p:sp>
        <p:nvSpPr>
          <p:cNvPr id="7" name="Shape 5"/>
          <p:cNvSpPr/>
          <p:nvPr/>
        </p:nvSpPr>
        <p:spPr>
          <a:xfrm>
            <a:off x="4594191" y="1388475"/>
            <a:ext cx="1895307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94191" y="1210125"/>
            <a:ext cx="1882552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FILA POR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6489498" y="1388475"/>
            <a:ext cx="1312368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89498" y="1210125"/>
            <a:ext cx="1282124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FILAS</a:t>
            </a:r>
            <a:endParaRPr lang="en-US" sz="790" dirty="0"/>
          </a:p>
        </p:txBody>
      </p:sp>
      <p:sp>
        <p:nvSpPr>
          <p:cNvPr id="11" name="Shape 9"/>
          <p:cNvSpPr/>
          <p:nvPr/>
        </p:nvSpPr>
        <p:spPr>
          <a:xfrm>
            <a:off x="511956" y="1817089"/>
            <a:ext cx="87471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1956" y="1444503"/>
            <a:ext cx="831338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E1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1386667" y="1817089"/>
            <a:ext cx="32075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86667" y="1444503"/>
            <a:ext cx="3234135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Envíos, entregas, respuesta, bajas, conversión y costo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4594191" y="1817089"/>
            <a:ext cx="189530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94191" y="1444503"/>
            <a:ext cx="1882552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comunicación, mes y canal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6489498" y="1817089"/>
            <a:ext cx="131236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89498" y="1444503"/>
            <a:ext cx="1282124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14,031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511956" y="2087309"/>
            <a:ext cx="87471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1956" y="1873117"/>
            <a:ext cx="8313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E2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1386667" y="2087309"/>
            <a:ext cx="32075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386667" y="1873117"/>
            <a:ext cx="3234135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Catálogo: equipo, ticket, canal, estado y fechas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4594191" y="2087309"/>
            <a:ext cx="189530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94191" y="1873117"/>
            <a:ext cx="1882552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comunicación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6489498" y="2087309"/>
            <a:ext cx="131236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89498" y="1873117"/>
            <a:ext cx="1282124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6,144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511956" y="2357529"/>
            <a:ext cx="87471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11956" y="2143337"/>
            <a:ext cx="8313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E3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1386667" y="2357529"/>
            <a:ext cx="32075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386667" y="2143337"/>
            <a:ext cx="3234135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Personas por cuántos mensajes reciben y suscripción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4594191" y="2357529"/>
            <a:ext cx="189530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94191" y="2143337"/>
            <a:ext cx="1882552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de personas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6489498" y="2357529"/>
            <a:ext cx="131236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89498" y="2143337"/>
            <a:ext cx="1282124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744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511956" y="2786144"/>
            <a:ext cx="87471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11956" y="2413557"/>
            <a:ext cx="831338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E4a, E4b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1386667" y="2786144"/>
            <a:ext cx="32075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386667" y="2413557"/>
            <a:ext cx="3234135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 semanal y mensual por canal; mensajes por persona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4594191" y="2786144"/>
            <a:ext cx="189530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94191" y="2413557"/>
            <a:ext cx="1882552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 o mes y canal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6489498" y="2786144"/>
            <a:ext cx="131236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89498" y="2413557"/>
            <a:ext cx="1282124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245 + 72</a:t>
            </a: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511956" y="3056363"/>
            <a:ext cx="87471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11956" y="2842171"/>
            <a:ext cx="8313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E5, E5b</a:t>
            </a:r>
            <a:endParaRPr lang="en-US" sz="960" dirty="0"/>
          </a:p>
        </p:txBody>
      </p:sp>
      <p:sp>
        <p:nvSpPr>
          <p:cNvPr id="45" name="Shape 43"/>
          <p:cNvSpPr/>
          <p:nvPr/>
        </p:nvSpPr>
        <p:spPr>
          <a:xfrm>
            <a:off x="1386667" y="3056363"/>
            <a:ext cx="32075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386667" y="2842171"/>
            <a:ext cx="3234135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Personas que se dan de baja y qué reciben después</a:t>
            </a:r>
            <a:endParaRPr lang="en-US" sz="960" dirty="0"/>
          </a:p>
        </p:txBody>
      </p:sp>
      <p:sp>
        <p:nvSpPr>
          <p:cNvPr id="47" name="Shape 45"/>
          <p:cNvSpPr/>
          <p:nvPr/>
        </p:nvSpPr>
        <p:spPr>
          <a:xfrm>
            <a:off x="4594191" y="3056363"/>
            <a:ext cx="189530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594191" y="2842171"/>
            <a:ext cx="1882552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 de baja; comunicación</a:t>
            </a:r>
            <a:endParaRPr lang="en-US" sz="960" dirty="0"/>
          </a:p>
        </p:txBody>
      </p:sp>
      <p:sp>
        <p:nvSpPr>
          <p:cNvPr id="49" name="Shape 47"/>
          <p:cNvSpPr/>
          <p:nvPr/>
        </p:nvSpPr>
        <p:spPr>
          <a:xfrm>
            <a:off x="6489498" y="3056363"/>
            <a:ext cx="131236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489498" y="2842171"/>
            <a:ext cx="1282124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+ 97</a:t>
            </a:r>
            <a:endParaRPr lang="en-US" sz="960" dirty="0"/>
          </a:p>
        </p:txBody>
      </p:sp>
      <p:sp>
        <p:nvSpPr>
          <p:cNvPr id="51" name="Shape 49"/>
          <p:cNvSpPr/>
          <p:nvPr/>
        </p:nvSpPr>
        <p:spPr>
          <a:xfrm>
            <a:off x="511956" y="3326583"/>
            <a:ext cx="87471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11956" y="3112391"/>
            <a:ext cx="8313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E6a, E6b</a:t>
            </a:r>
            <a:endParaRPr lang="en-US" sz="960" dirty="0"/>
          </a:p>
        </p:txBody>
      </p:sp>
      <p:sp>
        <p:nvSpPr>
          <p:cNvPr id="53" name="Shape 51"/>
          <p:cNvSpPr/>
          <p:nvPr/>
        </p:nvSpPr>
        <p:spPr>
          <a:xfrm>
            <a:off x="1386667" y="3326583"/>
            <a:ext cx="32075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386667" y="3112391"/>
            <a:ext cx="3234135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Varias campañas el mismo día; pares de campañas</a:t>
            </a:r>
            <a:endParaRPr lang="en-US" sz="960" dirty="0"/>
          </a:p>
        </p:txBody>
      </p:sp>
      <p:sp>
        <p:nvSpPr>
          <p:cNvPr id="55" name="Shape 53"/>
          <p:cNvSpPr/>
          <p:nvPr/>
        </p:nvSpPr>
        <p:spPr>
          <a:xfrm>
            <a:off x="4594191" y="3326583"/>
            <a:ext cx="189530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594191" y="3112391"/>
            <a:ext cx="1882552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 y día; par</a:t>
            </a:r>
            <a:endParaRPr lang="en-US" sz="960" dirty="0"/>
          </a:p>
        </p:txBody>
      </p:sp>
      <p:sp>
        <p:nvSpPr>
          <p:cNvPr id="57" name="Shape 55"/>
          <p:cNvSpPr/>
          <p:nvPr/>
        </p:nvSpPr>
        <p:spPr>
          <a:xfrm>
            <a:off x="6489498" y="3326583"/>
            <a:ext cx="131236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489498" y="3112391"/>
            <a:ext cx="1282124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 + 1,000</a:t>
            </a:r>
            <a:endParaRPr lang="en-US" sz="960" dirty="0"/>
          </a:p>
        </p:txBody>
      </p:sp>
      <p:sp>
        <p:nvSpPr>
          <p:cNvPr id="59" name="Shape 57"/>
          <p:cNvSpPr/>
          <p:nvPr/>
        </p:nvSpPr>
        <p:spPr>
          <a:xfrm>
            <a:off x="511956" y="3755198"/>
            <a:ext cx="87471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11956" y="3382611"/>
            <a:ext cx="831338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E7a, E7b, E7c</a:t>
            </a:r>
            <a:endParaRPr lang="en-US" sz="960" dirty="0"/>
          </a:p>
        </p:txBody>
      </p:sp>
      <p:sp>
        <p:nvSpPr>
          <p:cNvPr id="61" name="Shape 59"/>
          <p:cNvSpPr/>
          <p:nvPr/>
        </p:nvSpPr>
        <p:spPr>
          <a:xfrm>
            <a:off x="1386667" y="3755198"/>
            <a:ext cx="32075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386667" y="3382611"/>
            <a:ext cx="3234135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Etapa del cliente; canal al que responde; abren contra no abren</a:t>
            </a:r>
            <a:endParaRPr lang="en-US" sz="960" dirty="0"/>
          </a:p>
        </p:txBody>
      </p:sp>
      <p:sp>
        <p:nvSpPr>
          <p:cNvPr id="63" name="Shape 61"/>
          <p:cNvSpPr/>
          <p:nvPr/>
        </p:nvSpPr>
        <p:spPr>
          <a:xfrm>
            <a:off x="4594191" y="3755198"/>
            <a:ext cx="189530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594191" y="3382611"/>
            <a:ext cx="1882552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campaña y etapa; patrón</a:t>
            </a:r>
            <a:endParaRPr lang="en-US" sz="960" dirty="0"/>
          </a:p>
        </p:txBody>
      </p:sp>
      <p:sp>
        <p:nvSpPr>
          <p:cNvPr id="65" name="Shape 63"/>
          <p:cNvSpPr/>
          <p:nvPr/>
        </p:nvSpPr>
        <p:spPr>
          <a:xfrm>
            <a:off x="6489498" y="3755198"/>
            <a:ext cx="131236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489498" y="3382611"/>
            <a:ext cx="1282124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5,679 + 16 + 2,062</a:t>
            </a:r>
            <a:endParaRPr lang="en-US" sz="960" dirty="0"/>
          </a:p>
        </p:txBody>
      </p:sp>
      <p:sp>
        <p:nvSpPr>
          <p:cNvPr id="67" name="Shape 65"/>
          <p:cNvSpPr/>
          <p:nvPr/>
        </p:nvSpPr>
        <p:spPr>
          <a:xfrm>
            <a:off x="511956" y="4025418"/>
            <a:ext cx="87471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511956" y="3811225"/>
            <a:ext cx="8313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E8</a:t>
            </a:r>
            <a:endParaRPr lang="en-US" sz="960" dirty="0"/>
          </a:p>
        </p:txBody>
      </p:sp>
      <p:sp>
        <p:nvSpPr>
          <p:cNvPr id="69" name="Shape 67"/>
          <p:cNvSpPr/>
          <p:nvPr/>
        </p:nvSpPr>
        <p:spPr>
          <a:xfrm>
            <a:off x="1386667" y="4025418"/>
            <a:ext cx="32075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1386667" y="3811225"/>
            <a:ext cx="3234135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Días y correos hasta la baja</a:t>
            </a:r>
            <a:endParaRPr lang="en-US" sz="960" dirty="0"/>
          </a:p>
        </p:txBody>
      </p:sp>
      <p:sp>
        <p:nvSpPr>
          <p:cNvPr id="71" name="Shape 69"/>
          <p:cNvSpPr/>
          <p:nvPr/>
        </p:nvSpPr>
        <p:spPr>
          <a:xfrm>
            <a:off x="4594191" y="4025418"/>
            <a:ext cx="189530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4594191" y="3811225"/>
            <a:ext cx="1882552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de personas</a:t>
            </a:r>
            <a:endParaRPr lang="en-US" sz="960" dirty="0"/>
          </a:p>
        </p:txBody>
      </p:sp>
      <p:sp>
        <p:nvSpPr>
          <p:cNvPr id="73" name="Shape 71"/>
          <p:cNvSpPr/>
          <p:nvPr/>
        </p:nvSpPr>
        <p:spPr>
          <a:xfrm>
            <a:off x="6489498" y="4025418"/>
            <a:ext cx="131236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6489498" y="3811225"/>
            <a:ext cx="1282124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163</a:t>
            </a:r>
            <a:endParaRPr lang="en-US" sz="960" dirty="0"/>
          </a:p>
        </p:txBody>
      </p:sp>
      <p:sp>
        <p:nvSpPr>
          <p:cNvPr id="75" name="Shape 73"/>
          <p:cNvSpPr/>
          <p:nvPr/>
        </p:nvSpPr>
        <p:spPr>
          <a:xfrm>
            <a:off x="511956" y="4295637"/>
            <a:ext cx="87471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511956" y="4081445"/>
            <a:ext cx="8313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E9a, E9b</a:t>
            </a:r>
            <a:endParaRPr lang="en-US" sz="960" dirty="0"/>
          </a:p>
        </p:txBody>
      </p:sp>
      <p:sp>
        <p:nvSpPr>
          <p:cNvPr id="77" name="Shape 75"/>
          <p:cNvSpPr/>
          <p:nvPr/>
        </p:nvSpPr>
        <p:spPr>
          <a:xfrm>
            <a:off x="1386667" y="4295637"/>
            <a:ext cx="32075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386667" y="4081445"/>
            <a:ext cx="3234135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Conversión a 7, 30 y 90 días; respuesta en 90 días</a:t>
            </a:r>
            <a:endParaRPr lang="en-US" sz="960" dirty="0"/>
          </a:p>
        </p:txBody>
      </p:sp>
      <p:sp>
        <p:nvSpPr>
          <p:cNvPr id="79" name="Shape 77"/>
          <p:cNvSpPr/>
          <p:nvPr/>
        </p:nvSpPr>
        <p:spPr>
          <a:xfrm>
            <a:off x="4594191" y="4295637"/>
            <a:ext cx="189530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4594191" y="4081445"/>
            <a:ext cx="1882552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campaña; patrón</a:t>
            </a:r>
            <a:endParaRPr lang="en-US" sz="960" dirty="0"/>
          </a:p>
        </p:txBody>
      </p:sp>
      <p:sp>
        <p:nvSpPr>
          <p:cNvPr id="81" name="Shape 79"/>
          <p:cNvSpPr/>
          <p:nvPr/>
        </p:nvSpPr>
        <p:spPr>
          <a:xfrm>
            <a:off x="6489498" y="4295637"/>
            <a:ext cx="131236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6489498" y="4081445"/>
            <a:ext cx="1282124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1,225 + 16</a:t>
            </a:r>
            <a:endParaRPr lang="en-US" sz="960" dirty="0"/>
          </a:p>
        </p:txBody>
      </p:sp>
      <p:sp>
        <p:nvSpPr>
          <p:cNvPr id="83" name="Shape 81"/>
          <p:cNvSpPr/>
          <p:nvPr/>
        </p:nvSpPr>
        <p:spPr>
          <a:xfrm>
            <a:off x="511956" y="4565857"/>
            <a:ext cx="87471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511956" y="4351665"/>
            <a:ext cx="8313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E10, E11, E12</a:t>
            </a:r>
            <a:endParaRPr lang="en-US" sz="960" dirty="0"/>
          </a:p>
        </p:txBody>
      </p:sp>
      <p:sp>
        <p:nvSpPr>
          <p:cNvPr id="85" name="Shape 83"/>
          <p:cNvSpPr/>
          <p:nvPr/>
        </p:nvSpPr>
        <p:spPr>
          <a:xfrm>
            <a:off x="1386667" y="4565857"/>
            <a:ext cx="32075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1386667" y="4351665"/>
            <a:ext cx="3234135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Día de la semana; segmentos de Braze; antigüedad</a:t>
            </a:r>
            <a:endParaRPr lang="en-US" sz="960" dirty="0"/>
          </a:p>
        </p:txBody>
      </p:sp>
      <p:sp>
        <p:nvSpPr>
          <p:cNvPr id="87" name="Shape 85"/>
          <p:cNvSpPr/>
          <p:nvPr/>
        </p:nvSpPr>
        <p:spPr>
          <a:xfrm>
            <a:off x="4594191" y="4565857"/>
            <a:ext cx="189530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4594191" y="4351665"/>
            <a:ext cx="1882552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día, segmento, antigüedad</a:t>
            </a:r>
            <a:endParaRPr lang="en-US" sz="960" dirty="0"/>
          </a:p>
        </p:txBody>
      </p:sp>
      <p:sp>
        <p:nvSpPr>
          <p:cNvPr id="89" name="Shape 87"/>
          <p:cNvSpPr/>
          <p:nvPr/>
        </p:nvSpPr>
        <p:spPr>
          <a:xfrm>
            <a:off x="6489498" y="4565857"/>
            <a:ext cx="131236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6489498" y="4351665"/>
            <a:ext cx="1282124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177 + 1,102 + 81</a:t>
            </a:r>
            <a:endParaRPr lang="en-US" sz="960" dirty="0"/>
          </a:p>
        </p:txBody>
      </p:sp>
      <p:sp>
        <p:nvSpPr>
          <p:cNvPr id="91" name="Shape 89"/>
          <p:cNvSpPr/>
          <p:nvPr/>
        </p:nvSpPr>
        <p:spPr>
          <a:xfrm>
            <a:off x="511956" y="4994472"/>
            <a:ext cx="87471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511956" y="4621885"/>
            <a:ext cx="831338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E13, E14, E15</a:t>
            </a:r>
            <a:endParaRPr lang="en-US" sz="960" dirty="0"/>
          </a:p>
        </p:txBody>
      </p:sp>
      <p:sp>
        <p:nvSpPr>
          <p:cNvPr id="93" name="Shape 91"/>
          <p:cNvSpPr/>
          <p:nvPr/>
        </p:nvSpPr>
        <p:spPr>
          <a:xfrm>
            <a:off x="1386667" y="4994472"/>
            <a:ext cx="32075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1386667" y="4621885"/>
            <a:ext cx="3234135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Grupos de control; variantes; pasos de cada Canvas</a:t>
            </a:r>
            <a:endParaRPr lang="en-US" sz="960" dirty="0"/>
          </a:p>
        </p:txBody>
      </p:sp>
      <p:sp>
        <p:nvSpPr>
          <p:cNvPr id="95" name="Shape 93"/>
          <p:cNvSpPr/>
          <p:nvPr/>
        </p:nvSpPr>
        <p:spPr>
          <a:xfrm>
            <a:off x="4594191" y="4994472"/>
            <a:ext cx="189530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4594191" y="4621885"/>
            <a:ext cx="1882552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Canvas</a:t>
            </a:r>
            <a:endParaRPr lang="en-US" sz="960" dirty="0"/>
          </a:p>
        </p:txBody>
      </p:sp>
      <p:sp>
        <p:nvSpPr>
          <p:cNvPr id="97" name="Shape 95"/>
          <p:cNvSpPr/>
          <p:nvPr/>
        </p:nvSpPr>
        <p:spPr>
          <a:xfrm>
            <a:off x="6489498" y="4994472"/>
            <a:ext cx="131236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6489498" y="4621885"/>
            <a:ext cx="1282124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3,249 + 3,610 + 6,180</a:t>
            </a:r>
            <a:endParaRPr lang="en-US" sz="960" dirty="0"/>
          </a:p>
        </p:txBody>
      </p:sp>
      <p:sp>
        <p:nvSpPr>
          <p:cNvPr id="99" name="Shape 97"/>
          <p:cNvSpPr/>
          <p:nvPr/>
        </p:nvSpPr>
        <p:spPr>
          <a:xfrm>
            <a:off x="511956" y="5423086"/>
            <a:ext cx="87471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511956" y="5050499"/>
            <a:ext cx="831338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E16, E17, E18b</a:t>
            </a:r>
            <a:endParaRPr lang="en-US" sz="960" dirty="0"/>
          </a:p>
        </p:txBody>
      </p:sp>
      <p:sp>
        <p:nvSpPr>
          <p:cNvPr id="101" name="Shape 99"/>
          <p:cNvSpPr/>
          <p:nvPr/>
        </p:nvSpPr>
        <p:spPr>
          <a:xfrm>
            <a:off x="1386667" y="5423086"/>
            <a:ext cx="32075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1386667" y="5050499"/>
            <a:ext cx="3234135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respuesta; canal contactable y banderas; dispositivo</a:t>
            </a:r>
            <a:endParaRPr lang="en-US" sz="960" dirty="0"/>
          </a:p>
        </p:txBody>
      </p:sp>
      <p:sp>
        <p:nvSpPr>
          <p:cNvPr id="103" name="Shape 101"/>
          <p:cNvSpPr/>
          <p:nvPr/>
        </p:nvSpPr>
        <p:spPr>
          <a:xfrm>
            <a:off x="4594191" y="5423086"/>
            <a:ext cx="189530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4594191" y="5050499"/>
            <a:ext cx="1882552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mes, canal y bandera</a:t>
            </a:r>
            <a:endParaRPr lang="en-US" sz="960" dirty="0"/>
          </a:p>
        </p:txBody>
      </p:sp>
      <p:sp>
        <p:nvSpPr>
          <p:cNvPr id="105" name="Shape 103"/>
          <p:cNvSpPr/>
          <p:nvPr/>
        </p:nvSpPr>
        <p:spPr>
          <a:xfrm>
            <a:off x="6489498" y="5423086"/>
            <a:ext cx="131236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6489498" y="5050499"/>
            <a:ext cx="1282124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512 + 2,059 + 60</a:t>
            </a:r>
            <a:endParaRPr lang="en-US" sz="960" dirty="0"/>
          </a:p>
        </p:txBody>
      </p:sp>
      <p:sp>
        <p:nvSpPr>
          <p:cNvPr id="107" name="Text 105"/>
          <p:cNvSpPr txBox="1"/>
          <p:nvPr/>
        </p:nvSpPr>
        <p:spPr>
          <a:xfrm>
            <a:off x="8094390" y="1161358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108" name="Shape 106"/>
          <p:cNvSpPr/>
          <p:nvPr/>
        </p:nvSpPr>
        <p:spPr>
          <a:xfrm>
            <a:off x="8094390" y="1374594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09" name="Text 107"/>
          <p:cNvSpPr txBox="1"/>
          <p:nvPr/>
        </p:nvSpPr>
        <p:spPr>
          <a:xfrm>
            <a:off x="8094390" y="1374594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110" name="Text 108"/>
          <p:cNvSpPr txBox="1"/>
          <p:nvPr/>
        </p:nvSpPr>
        <p:spPr>
          <a:xfrm>
            <a:off x="8338224" y="1362403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667.4 M mensajes de 2,003 comunicaciones que mandaron algo, enero a septiembre de 2026.</a:t>
            </a:r>
            <a:endParaRPr lang="en-US" sz="940" dirty="0"/>
          </a:p>
        </p:txBody>
      </p:sp>
      <p:sp>
        <p:nvSpPr>
          <p:cNvPr id="111" name="Shape 109"/>
          <p:cNvSpPr/>
          <p:nvPr/>
        </p:nvSpPr>
        <p:spPr>
          <a:xfrm>
            <a:off x="8094390" y="1762970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12" name="Text 110"/>
          <p:cNvSpPr txBox="1"/>
          <p:nvPr/>
        </p:nvSpPr>
        <p:spPr>
          <a:xfrm>
            <a:off x="8094390" y="1762970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13" name="Text 111"/>
          <p:cNvSpPr txBox="1"/>
          <p:nvPr/>
        </p:nvSpPr>
        <p:spPr>
          <a:xfrm>
            <a:off x="8338224" y="1750778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18 extracciones están en 24 archivos y se pegaron en el Sheets v4 con fórmulas vivas.</a:t>
            </a:r>
            <a:endParaRPr lang="en-US" sz="940" dirty="0"/>
          </a:p>
        </p:txBody>
      </p:sp>
      <p:sp>
        <p:nvSpPr>
          <p:cNvPr id="114" name="Shape 112"/>
          <p:cNvSpPr/>
          <p:nvPr/>
        </p:nvSpPr>
        <p:spPr>
          <a:xfrm>
            <a:off x="8094390" y="2151345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15" name="Text 113"/>
          <p:cNvSpPr txBox="1"/>
          <p:nvPr/>
        </p:nvSpPr>
        <p:spPr>
          <a:xfrm>
            <a:off x="8094390" y="2151345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116" name="Text 114"/>
          <p:cNvSpPr txBox="1"/>
          <p:nvPr/>
        </p:nvSpPr>
        <p:spPr>
          <a:xfrm>
            <a:off x="8338224" y="2139153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470 comprobaciones cruzan cada total del Sheets con el mismo cálculo hecho aparte.</a:t>
            </a:r>
            <a:endParaRPr lang="en-US" sz="940" dirty="0"/>
          </a:p>
        </p:txBody>
      </p:sp>
      <p:sp>
        <p:nvSpPr>
          <p:cNvPr id="117" name="Shape 115"/>
          <p:cNvSpPr/>
          <p:nvPr/>
        </p:nvSpPr>
        <p:spPr>
          <a:xfrm>
            <a:off x="8094390" y="2539736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18" name="Shape 116"/>
          <p:cNvSpPr/>
          <p:nvPr/>
        </p:nvSpPr>
        <p:spPr>
          <a:xfrm>
            <a:off x="8108858" y="2539736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8233041" y="2600622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120" name="Text 118"/>
          <p:cNvSpPr txBox="1"/>
          <p:nvPr/>
        </p:nvSpPr>
        <p:spPr>
          <a:xfrm>
            <a:off x="8233041" y="2761578"/>
            <a:ext cx="3069324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Equipo, audiencia y mensaje se leen del nombre de la campaña: Braze no los guarda como campos.</a:t>
            </a:r>
            <a:endParaRPr lang="en-US" sz="920" dirty="0"/>
          </a:p>
        </p:txBody>
      </p:sp>
      <p:sp>
        <p:nvSpPr>
          <p:cNvPr id="121" name="Shape 119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122" name="Text 120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123" name="Text 121"/>
          <p:cNvSpPr txBox="1"/>
          <p:nvPr/>
        </p:nvSpPr>
        <p:spPr>
          <a:xfrm>
            <a:off x="1409876" y="6077461"/>
            <a:ext cx="5234620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Cualquiera puede rehacer cada cifra con estos archivos, sin acceso a Braze.</a:t>
            </a:r>
            <a:endParaRPr lang="en-US" sz="1100" dirty="0"/>
          </a:p>
        </p:txBody>
      </p:sp>
      <p:sp>
        <p:nvSpPr>
          <p:cNvPr id="124" name="Text 122"/>
          <p:cNvSpPr txBox="1"/>
          <p:nvPr/>
        </p:nvSpPr>
        <p:spPr>
          <a:xfrm>
            <a:off x="511956" y="6454684"/>
            <a:ext cx="10267937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carpeta data (E1 a E18b) y Sheets braze_auditoria_v4, pestaña Verificación (470 comprobaciones). Sin datos personales. App: no hay dato; se aproxima con quien abrió un push o un in-app.</a:t>
            </a:r>
            <a:endParaRPr lang="en-US" sz="840" dirty="0"/>
          </a:p>
        </p:txBody>
      </p:sp>
      <p:sp>
        <p:nvSpPr>
          <p:cNvPr id="125" name="Text 123"/>
          <p:cNvSpPr txBox="1"/>
          <p:nvPr/>
        </p:nvSpPr>
        <p:spPr>
          <a:xfrm>
            <a:off x="11499191" y="6454684"/>
            <a:ext cx="204253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104</a:t>
            </a:r>
            <a:endParaRPr lang="en-US" sz="84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Definiciones: responder, canal sin respuesta, campaña con todas sus versiones, bloqueados y conversión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388475"/>
            <a:ext cx="2680196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11956" y="1210125"/>
            <a:ext cx="2690987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TÉRMINO</a:t>
            </a:r>
            <a:endParaRPr lang="en-US" sz="790" dirty="0"/>
          </a:p>
        </p:txBody>
      </p:sp>
      <p:sp>
        <p:nvSpPr>
          <p:cNvPr id="5" name="Shape 3"/>
          <p:cNvSpPr/>
          <p:nvPr/>
        </p:nvSpPr>
        <p:spPr>
          <a:xfrm>
            <a:off x="3192152" y="1388475"/>
            <a:ext cx="8487286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192152" y="1210125"/>
            <a:ext cx="8672291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SIGNIFICA EN ESTE DECK</a:t>
            </a:r>
            <a:endParaRPr lang="en-US" sz="790" dirty="0"/>
          </a:p>
        </p:txBody>
      </p:sp>
      <p:sp>
        <p:nvSpPr>
          <p:cNvPr id="7" name="Shape 5"/>
          <p:cNvSpPr/>
          <p:nvPr/>
        </p:nvSpPr>
        <p:spPr>
          <a:xfrm>
            <a:off x="511956" y="1658695"/>
            <a:ext cx="26801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1956" y="1444503"/>
            <a:ext cx="26909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Responder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3192152" y="1658695"/>
            <a:ext cx="848728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92152" y="1444503"/>
            <a:ext cx="867229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 en correo, abrir push, leer WhatsApp o clic en in-app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511956" y="1928915"/>
            <a:ext cx="26801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1956" y="1714723"/>
            <a:ext cx="26909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mínimo aceptable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3192152" y="1928915"/>
            <a:ext cx="848728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92152" y="1714723"/>
            <a:ext cx="867229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clics por mil correos, 7.5 aperturas por mil push, 6 de 10 WhatsApp leídos, 1 de 10 in-app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511956" y="2199135"/>
            <a:ext cx="26801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1956" y="1984943"/>
            <a:ext cx="26909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Canal sin respuesta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3192152" y="2199135"/>
            <a:ext cx="848728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192152" y="1984943"/>
            <a:ext cx="867229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Canal al que la persona nunca respondió, aunque responda por otro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511956" y="2469355"/>
            <a:ext cx="26801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1956" y="2255163"/>
            <a:ext cx="26909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Nunca respondió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3192152" y="2469355"/>
            <a:ext cx="848728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192152" y="2255163"/>
            <a:ext cx="867229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Ningún canal en nueve meses: 14.2 M de personas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511956" y="2739575"/>
            <a:ext cx="26801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1956" y="2525383"/>
            <a:ext cx="26909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Campaña con todas sus versiones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3192152" y="2739575"/>
            <a:ext cx="848728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192152" y="2525383"/>
            <a:ext cx="867229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comunicación con sus versiones de cada mes; en un canal hay 1,913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511956" y="3009795"/>
            <a:ext cx="26801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11956" y="2795602"/>
            <a:ext cx="26909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Bloqueados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3192152" y="3009795"/>
            <a:ext cx="848728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192152" y="2795602"/>
            <a:ext cx="867229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Tarjeta KPay congelada, REUS o ARCO y lista negra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511956" y="3280015"/>
            <a:ext cx="26801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11956" y="3065822"/>
            <a:ext cx="26909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 clientes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3192152" y="3280015"/>
            <a:ext cx="848728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192152" y="3065822"/>
            <a:ext cx="867229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Churn, dormants e inactivos: se buscan recuperar, no se apagan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511956" y="3550234"/>
            <a:ext cx="26801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11956" y="3336042"/>
            <a:ext cx="26909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 y registrados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3192152" y="3550234"/>
            <a:ext cx="848728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192152" y="3336042"/>
            <a:ext cx="867229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Personas que nunca tomaron crédito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511956" y="3820454"/>
            <a:ext cx="26801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11956" y="3606262"/>
            <a:ext cx="26909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Conversión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3192152" y="3820454"/>
            <a:ext cx="848728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192152" y="3606262"/>
            <a:ext cx="867229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 principal: crédito otorgado en 7 días, repartido entre los mensajes del día; referencia, no prueba de venta</a:t>
            </a: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511956" y="4090674"/>
            <a:ext cx="26801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11956" y="3876482"/>
            <a:ext cx="26909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Solicitud</a:t>
            </a:r>
            <a:endParaRPr lang="en-US" sz="960" dirty="0"/>
          </a:p>
        </p:txBody>
      </p:sp>
      <p:sp>
        <p:nvSpPr>
          <p:cNvPr id="45" name="Shape 43"/>
          <p:cNvSpPr/>
          <p:nvPr/>
        </p:nvSpPr>
        <p:spPr>
          <a:xfrm>
            <a:off x="3192152" y="4090674"/>
            <a:ext cx="848728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192152" y="3876482"/>
            <a:ext cx="867229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También se muestra el costo por solicitud registrada; no viene repartida y puede contar en varias campañas</a:t>
            </a:r>
            <a:endParaRPr lang="en-US" sz="960" dirty="0"/>
          </a:p>
        </p:txBody>
      </p:sp>
      <p:sp>
        <p:nvSpPr>
          <p:cNvPr id="47" name="Shape 45"/>
          <p:cNvSpPr/>
          <p:nvPr/>
        </p:nvSpPr>
        <p:spPr>
          <a:xfrm>
            <a:off x="511956" y="4360894"/>
            <a:ext cx="26801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11956" y="4146702"/>
            <a:ext cx="26909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de control</a:t>
            </a:r>
            <a:endParaRPr lang="en-US" sz="960" dirty="0"/>
          </a:p>
        </p:txBody>
      </p:sp>
      <p:sp>
        <p:nvSpPr>
          <p:cNvPr id="49" name="Shape 47"/>
          <p:cNvSpPr/>
          <p:nvPr/>
        </p:nvSpPr>
        <p:spPr>
          <a:xfrm>
            <a:off x="3192152" y="4360894"/>
            <a:ext cx="848728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192152" y="4146702"/>
            <a:ext cx="867229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a 10 % de la audiencia al azar que no recibe el mensaje</a:t>
            </a:r>
            <a:endParaRPr lang="en-US" sz="960" dirty="0"/>
          </a:p>
        </p:txBody>
      </p:sp>
      <p:sp>
        <p:nvSpPr>
          <p:cNvPr id="51" name="Shape 49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53" name="Text 51"/>
          <p:cNvSpPr txBox="1"/>
          <p:nvPr/>
        </p:nvSpPr>
        <p:spPr>
          <a:xfrm>
            <a:off x="1409876" y="6077461"/>
            <a:ext cx="6119739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estas definiciones, dos equipos que miran la misma campaña llegan a la misma cifra.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511956" y="6454684"/>
            <a:ext cx="7795441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definiciones del análisis (Sheets v4, Léeme y Parámetros); audiencia según el nombre de la campaña. Solicitud: solicitudes registradas en E1.</a:t>
            </a:r>
            <a:endParaRPr lang="en-US" sz="840" dirty="0"/>
          </a:p>
        </p:txBody>
      </p:sp>
      <p:sp>
        <p:nvSpPr>
          <p:cNvPr id="55" name="Text 53"/>
          <p:cNvSpPr txBox="1"/>
          <p:nvPr/>
        </p:nvSpPr>
        <p:spPr>
          <a:xfrm>
            <a:off x="11504918" y="6454684"/>
            <a:ext cx="198354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105</a:t>
            </a:r>
            <a:endParaRPr lang="en-US" sz="84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330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24 estándares y su fuente: ocho son de canal y seis vienen de la industria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057671"/>
            <a:ext cx="335024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11956" y="879320"/>
            <a:ext cx="275461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</a:t>
            </a:r>
            <a:endParaRPr lang="en-US" sz="790" dirty="0"/>
          </a:p>
        </p:txBody>
      </p:sp>
      <p:sp>
        <p:nvSpPr>
          <p:cNvPr id="5" name="Shape 3"/>
          <p:cNvSpPr/>
          <p:nvPr/>
        </p:nvSpPr>
        <p:spPr>
          <a:xfrm>
            <a:off x="846980" y="1057671"/>
            <a:ext cx="1116748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6980" y="879320"/>
            <a:ext cx="1080637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TEMA</a:t>
            </a:r>
            <a:endParaRPr lang="en-US" sz="790" dirty="0"/>
          </a:p>
        </p:txBody>
      </p:sp>
      <p:sp>
        <p:nvSpPr>
          <p:cNvPr id="7" name="Shape 5"/>
          <p:cNvSpPr/>
          <p:nvPr/>
        </p:nvSpPr>
        <p:spPr>
          <a:xfrm>
            <a:off x="1963729" y="1057671"/>
            <a:ext cx="4020293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63729" y="879320"/>
            <a:ext cx="4071288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INDICADOR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5984022" y="1057671"/>
            <a:ext cx="1340098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84022" y="879320"/>
            <a:ext cx="1310687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ESTÁNDAR</a:t>
            </a:r>
            <a:endParaRPr lang="en-US" sz="790" dirty="0"/>
          </a:p>
        </p:txBody>
      </p:sp>
      <p:sp>
        <p:nvSpPr>
          <p:cNvPr id="11" name="Shape 9"/>
          <p:cNvSpPr/>
          <p:nvPr/>
        </p:nvSpPr>
        <p:spPr>
          <a:xfrm>
            <a:off x="7324120" y="1057671"/>
            <a:ext cx="3238570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24120" y="879320"/>
            <a:ext cx="3266113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DÓNDE SALE</a:t>
            </a:r>
            <a:endParaRPr lang="en-US" sz="790" dirty="0"/>
          </a:p>
        </p:txBody>
      </p:sp>
      <p:sp>
        <p:nvSpPr>
          <p:cNvPr id="13" name="Shape 11"/>
          <p:cNvSpPr/>
          <p:nvPr/>
        </p:nvSpPr>
        <p:spPr>
          <a:xfrm>
            <a:off x="10562690" y="1057671"/>
            <a:ext cx="1116748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62690" y="879320"/>
            <a:ext cx="1080637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</a:t>
            </a:r>
            <a:endParaRPr lang="en-US" sz="790" dirty="0"/>
          </a:p>
        </p:txBody>
      </p:sp>
      <p:sp>
        <p:nvSpPr>
          <p:cNvPr id="15" name="Shape 13"/>
          <p:cNvSpPr/>
          <p:nvPr/>
        </p:nvSpPr>
        <p:spPr>
          <a:xfrm>
            <a:off x="511956" y="1327890"/>
            <a:ext cx="3350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1956" y="1113698"/>
            <a:ext cx="27546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846980" y="1327890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6980" y="1113698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1963729" y="1327890"/>
            <a:ext cx="40202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963729" y="1113698"/>
            <a:ext cx="407128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Correos que llegan a la bandeja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5984022" y="1327890"/>
            <a:ext cx="134009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84022" y="1113698"/>
            <a:ext cx="13106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95 % o más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7324120" y="1327890"/>
            <a:ext cx="323857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24120" y="1113698"/>
            <a:ext cx="326611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Referencia de la industria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10562690" y="1327890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562690" y="1113698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E1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511956" y="1598110"/>
            <a:ext cx="3350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11956" y="1383918"/>
            <a:ext cx="27546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846980" y="1598110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46980" y="1383918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1963729" y="1598110"/>
            <a:ext cx="40202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963729" y="1383918"/>
            <a:ext cx="407128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Correos abiertos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5984022" y="1598110"/>
            <a:ext cx="134009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984022" y="1383918"/>
            <a:ext cx="13106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15 % o más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7324120" y="1598110"/>
            <a:ext cx="323857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24120" y="1383918"/>
            <a:ext cx="326611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Industria, 15 a 25 %; inflada por aperturas automáticas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10562690" y="1598110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562690" y="1383918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E1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511956" y="1868330"/>
            <a:ext cx="3350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11956" y="1654138"/>
            <a:ext cx="27546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846980" y="1868330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46980" y="1654138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</a:t>
            </a: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1963729" y="1868330"/>
            <a:ext cx="40202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963729" y="1654138"/>
            <a:ext cx="407128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 en correos entregados</a:t>
            </a:r>
            <a:endParaRPr lang="en-US" sz="960" dirty="0"/>
          </a:p>
        </p:txBody>
      </p:sp>
      <p:sp>
        <p:nvSpPr>
          <p:cNvPr id="45" name="Shape 43"/>
          <p:cNvSpPr/>
          <p:nvPr/>
        </p:nvSpPr>
        <p:spPr>
          <a:xfrm>
            <a:off x="5984022" y="1868330"/>
            <a:ext cx="134009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984022" y="1654138"/>
            <a:ext cx="13106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1.5 % o más</a:t>
            </a:r>
            <a:endParaRPr lang="en-US" sz="960" dirty="0"/>
          </a:p>
        </p:txBody>
      </p:sp>
      <p:sp>
        <p:nvSpPr>
          <p:cNvPr id="47" name="Shape 45"/>
          <p:cNvSpPr/>
          <p:nvPr/>
        </p:nvSpPr>
        <p:spPr>
          <a:xfrm>
            <a:off x="7324120" y="1868330"/>
            <a:ext cx="323857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324120" y="1654138"/>
            <a:ext cx="326611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Industria, 1.5 a 3 %; el mínimo interno es 0.3 %</a:t>
            </a:r>
            <a:endParaRPr lang="en-US" sz="960" dirty="0"/>
          </a:p>
        </p:txBody>
      </p:sp>
      <p:sp>
        <p:nvSpPr>
          <p:cNvPr id="49" name="Shape 47"/>
          <p:cNvSpPr/>
          <p:nvPr/>
        </p:nvSpPr>
        <p:spPr>
          <a:xfrm>
            <a:off x="10562690" y="1868330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562690" y="1654138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E1</a:t>
            </a:r>
            <a:endParaRPr lang="en-US" sz="960" dirty="0"/>
          </a:p>
        </p:txBody>
      </p:sp>
      <p:sp>
        <p:nvSpPr>
          <p:cNvPr id="51" name="Shape 49"/>
          <p:cNvSpPr/>
          <p:nvPr/>
        </p:nvSpPr>
        <p:spPr>
          <a:xfrm>
            <a:off x="511956" y="2138550"/>
            <a:ext cx="3350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11956" y="1924358"/>
            <a:ext cx="27546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60" dirty="0"/>
          </a:p>
        </p:txBody>
      </p:sp>
      <p:sp>
        <p:nvSpPr>
          <p:cNvPr id="53" name="Shape 51"/>
          <p:cNvSpPr/>
          <p:nvPr/>
        </p:nvSpPr>
        <p:spPr>
          <a:xfrm>
            <a:off x="846980" y="2138550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46980" y="1924358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</a:t>
            </a:r>
            <a:endParaRPr lang="en-US" sz="960" dirty="0"/>
          </a:p>
        </p:txBody>
      </p:sp>
      <p:sp>
        <p:nvSpPr>
          <p:cNvPr id="55" name="Shape 53"/>
          <p:cNvSpPr/>
          <p:nvPr/>
        </p:nvSpPr>
        <p:spPr>
          <a:xfrm>
            <a:off x="1963729" y="2138550"/>
            <a:ext cx="40202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963729" y="1924358"/>
            <a:ext cx="407128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Bajas por cada mil correos entregados</a:t>
            </a:r>
            <a:endParaRPr lang="en-US" sz="960" dirty="0"/>
          </a:p>
        </p:txBody>
      </p:sp>
      <p:sp>
        <p:nvSpPr>
          <p:cNvPr id="57" name="Shape 55"/>
          <p:cNvSpPr/>
          <p:nvPr/>
        </p:nvSpPr>
        <p:spPr>
          <a:xfrm>
            <a:off x="5984022" y="2138550"/>
            <a:ext cx="134009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984022" y="1924358"/>
            <a:ext cx="13106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2.5 o menos</a:t>
            </a:r>
            <a:endParaRPr lang="en-US" sz="960" dirty="0"/>
          </a:p>
        </p:txBody>
      </p:sp>
      <p:sp>
        <p:nvSpPr>
          <p:cNvPr id="59" name="Shape 57"/>
          <p:cNvSpPr/>
          <p:nvPr/>
        </p:nvSpPr>
        <p:spPr>
          <a:xfrm>
            <a:off x="7324120" y="2138550"/>
            <a:ext cx="323857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324120" y="1924358"/>
            <a:ext cx="326611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Parámetro interno; la industria, menos de 3</a:t>
            </a:r>
            <a:endParaRPr lang="en-US" sz="960" dirty="0"/>
          </a:p>
        </p:txBody>
      </p:sp>
      <p:sp>
        <p:nvSpPr>
          <p:cNvPr id="61" name="Shape 59"/>
          <p:cNvSpPr/>
          <p:nvPr/>
        </p:nvSpPr>
        <p:spPr>
          <a:xfrm>
            <a:off x="10562690" y="2138550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0562690" y="1924358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E1</a:t>
            </a:r>
            <a:endParaRPr lang="en-US" sz="960" dirty="0"/>
          </a:p>
        </p:txBody>
      </p:sp>
      <p:sp>
        <p:nvSpPr>
          <p:cNvPr id="63" name="Shape 61"/>
          <p:cNvSpPr/>
          <p:nvPr/>
        </p:nvSpPr>
        <p:spPr>
          <a:xfrm>
            <a:off x="511956" y="2408770"/>
            <a:ext cx="3350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11956" y="2194578"/>
            <a:ext cx="27546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960" dirty="0"/>
          </a:p>
        </p:txBody>
      </p:sp>
      <p:sp>
        <p:nvSpPr>
          <p:cNvPr id="65" name="Shape 63"/>
          <p:cNvSpPr/>
          <p:nvPr/>
        </p:nvSpPr>
        <p:spPr>
          <a:xfrm>
            <a:off x="846980" y="2408770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846980" y="2194578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</a:t>
            </a:r>
            <a:endParaRPr lang="en-US" sz="960" dirty="0"/>
          </a:p>
        </p:txBody>
      </p:sp>
      <p:sp>
        <p:nvSpPr>
          <p:cNvPr id="67" name="Shape 65"/>
          <p:cNvSpPr/>
          <p:nvPr/>
        </p:nvSpPr>
        <p:spPr>
          <a:xfrm>
            <a:off x="1963729" y="2408770"/>
            <a:ext cx="40202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1963729" y="2194578"/>
            <a:ext cx="407128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abiertos</a:t>
            </a:r>
            <a:endParaRPr lang="en-US" sz="960" dirty="0"/>
          </a:p>
        </p:txBody>
      </p:sp>
      <p:sp>
        <p:nvSpPr>
          <p:cNvPr id="69" name="Shape 67"/>
          <p:cNvSpPr/>
          <p:nvPr/>
        </p:nvSpPr>
        <p:spPr>
          <a:xfrm>
            <a:off x="5984022" y="2408770"/>
            <a:ext cx="134009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5984022" y="2194578"/>
            <a:ext cx="13106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3 % o más</a:t>
            </a:r>
            <a:endParaRPr lang="en-US" sz="960" dirty="0"/>
          </a:p>
        </p:txBody>
      </p:sp>
      <p:sp>
        <p:nvSpPr>
          <p:cNvPr id="71" name="Shape 69"/>
          <p:cNvSpPr/>
          <p:nvPr/>
        </p:nvSpPr>
        <p:spPr>
          <a:xfrm>
            <a:off x="7324120" y="2408770"/>
            <a:ext cx="323857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7324120" y="2194578"/>
            <a:ext cx="326611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Industria, 3 a 10 %; el mínimo interno es 0.75 %</a:t>
            </a:r>
            <a:endParaRPr lang="en-US" sz="960" dirty="0"/>
          </a:p>
        </p:txBody>
      </p:sp>
      <p:sp>
        <p:nvSpPr>
          <p:cNvPr id="73" name="Shape 71"/>
          <p:cNvSpPr/>
          <p:nvPr/>
        </p:nvSpPr>
        <p:spPr>
          <a:xfrm>
            <a:off x="10562690" y="2408770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10562690" y="2194578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E1</a:t>
            </a:r>
            <a:endParaRPr lang="en-US" sz="960" dirty="0"/>
          </a:p>
        </p:txBody>
      </p:sp>
      <p:sp>
        <p:nvSpPr>
          <p:cNvPr id="75" name="Shape 73"/>
          <p:cNvSpPr/>
          <p:nvPr/>
        </p:nvSpPr>
        <p:spPr>
          <a:xfrm>
            <a:off x="511956" y="2678990"/>
            <a:ext cx="3350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511956" y="2464798"/>
            <a:ext cx="27546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960" dirty="0"/>
          </a:p>
        </p:txBody>
      </p:sp>
      <p:sp>
        <p:nvSpPr>
          <p:cNvPr id="77" name="Shape 75"/>
          <p:cNvSpPr/>
          <p:nvPr/>
        </p:nvSpPr>
        <p:spPr>
          <a:xfrm>
            <a:off x="846980" y="2678990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846980" y="2464798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</a:t>
            </a:r>
            <a:endParaRPr lang="en-US" sz="960" dirty="0"/>
          </a:p>
        </p:txBody>
      </p:sp>
      <p:sp>
        <p:nvSpPr>
          <p:cNvPr id="79" name="Shape 77"/>
          <p:cNvSpPr/>
          <p:nvPr/>
        </p:nvSpPr>
        <p:spPr>
          <a:xfrm>
            <a:off x="1963729" y="2678990"/>
            <a:ext cx="40202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1963729" y="2464798"/>
            <a:ext cx="407128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entregados</a:t>
            </a:r>
            <a:endParaRPr lang="en-US" sz="960" dirty="0"/>
          </a:p>
        </p:txBody>
      </p:sp>
      <p:sp>
        <p:nvSpPr>
          <p:cNvPr id="81" name="Shape 79"/>
          <p:cNvSpPr/>
          <p:nvPr/>
        </p:nvSpPr>
        <p:spPr>
          <a:xfrm>
            <a:off x="5984022" y="2678990"/>
            <a:ext cx="134009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5984022" y="2464798"/>
            <a:ext cx="13106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90 % o más</a:t>
            </a:r>
            <a:endParaRPr lang="en-US" sz="960" dirty="0"/>
          </a:p>
        </p:txBody>
      </p:sp>
      <p:sp>
        <p:nvSpPr>
          <p:cNvPr id="83" name="Shape 81"/>
          <p:cNvSpPr/>
          <p:nvPr/>
        </p:nvSpPr>
        <p:spPr>
          <a:xfrm>
            <a:off x="7324120" y="2678990"/>
            <a:ext cx="323857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7324120" y="2464798"/>
            <a:ext cx="326611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Referencia de la industria</a:t>
            </a:r>
            <a:endParaRPr lang="en-US" sz="960" dirty="0"/>
          </a:p>
        </p:txBody>
      </p:sp>
      <p:sp>
        <p:nvSpPr>
          <p:cNvPr id="85" name="Shape 83"/>
          <p:cNvSpPr/>
          <p:nvPr/>
        </p:nvSpPr>
        <p:spPr>
          <a:xfrm>
            <a:off x="10562690" y="2678990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10562690" y="2464798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E1</a:t>
            </a:r>
            <a:endParaRPr lang="en-US" sz="960" dirty="0"/>
          </a:p>
        </p:txBody>
      </p:sp>
      <p:sp>
        <p:nvSpPr>
          <p:cNvPr id="87" name="Shape 85"/>
          <p:cNvSpPr/>
          <p:nvPr/>
        </p:nvSpPr>
        <p:spPr>
          <a:xfrm>
            <a:off x="511956" y="2949210"/>
            <a:ext cx="3350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511956" y="2735018"/>
            <a:ext cx="27546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960" dirty="0"/>
          </a:p>
        </p:txBody>
      </p:sp>
      <p:sp>
        <p:nvSpPr>
          <p:cNvPr id="89" name="Shape 87"/>
          <p:cNvSpPr/>
          <p:nvPr/>
        </p:nvSpPr>
        <p:spPr>
          <a:xfrm>
            <a:off x="846980" y="2949210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846980" y="2735018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</a:t>
            </a:r>
            <a:endParaRPr lang="en-US" sz="960" dirty="0"/>
          </a:p>
        </p:txBody>
      </p:sp>
      <p:sp>
        <p:nvSpPr>
          <p:cNvPr id="91" name="Shape 89"/>
          <p:cNvSpPr/>
          <p:nvPr/>
        </p:nvSpPr>
        <p:spPr>
          <a:xfrm>
            <a:off x="1963729" y="2949210"/>
            <a:ext cx="40202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1963729" y="2735018"/>
            <a:ext cx="407128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entregados que se leen</a:t>
            </a:r>
            <a:endParaRPr lang="en-US" sz="960" dirty="0"/>
          </a:p>
        </p:txBody>
      </p:sp>
      <p:sp>
        <p:nvSpPr>
          <p:cNvPr id="93" name="Shape 91"/>
          <p:cNvSpPr/>
          <p:nvPr/>
        </p:nvSpPr>
        <p:spPr>
          <a:xfrm>
            <a:off x="5984022" y="2949210"/>
            <a:ext cx="134009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5984022" y="2735018"/>
            <a:ext cx="13106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70 % o más</a:t>
            </a:r>
            <a:endParaRPr lang="en-US" sz="960" dirty="0"/>
          </a:p>
        </p:txBody>
      </p:sp>
      <p:sp>
        <p:nvSpPr>
          <p:cNvPr id="95" name="Shape 93"/>
          <p:cNvSpPr/>
          <p:nvPr/>
        </p:nvSpPr>
        <p:spPr>
          <a:xfrm>
            <a:off x="7324120" y="2949210"/>
            <a:ext cx="323857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7324120" y="2735018"/>
            <a:ext cx="326611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Industria, 70 a 90 %; el mínimo interno es 60 %</a:t>
            </a:r>
            <a:endParaRPr lang="en-US" sz="960" dirty="0"/>
          </a:p>
        </p:txBody>
      </p:sp>
      <p:sp>
        <p:nvSpPr>
          <p:cNvPr id="97" name="Shape 95"/>
          <p:cNvSpPr/>
          <p:nvPr/>
        </p:nvSpPr>
        <p:spPr>
          <a:xfrm>
            <a:off x="10562690" y="2949210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10562690" y="2735018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E1</a:t>
            </a:r>
            <a:endParaRPr lang="en-US" sz="960" dirty="0"/>
          </a:p>
        </p:txBody>
      </p:sp>
      <p:sp>
        <p:nvSpPr>
          <p:cNvPr id="99" name="Shape 97"/>
          <p:cNvSpPr/>
          <p:nvPr/>
        </p:nvSpPr>
        <p:spPr>
          <a:xfrm>
            <a:off x="511956" y="3219430"/>
            <a:ext cx="3350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511956" y="3005238"/>
            <a:ext cx="27546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960" dirty="0"/>
          </a:p>
        </p:txBody>
      </p:sp>
      <p:sp>
        <p:nvSpPr>
          <p:cNvPr id="101" name="Shape 99"/>
          <p:cNvSpPr/>
          <p:nvPr/>
        </p:nvSpPr>
        <p:spPr>
          <a:xfrm>
            <a:off x="846980" y="3219430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846980" y="3005238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In-app</a:t>
            </a:r>
            <a:endParaRPr lang="en-US" sz="960" dirty="0"/>
          </a:p>
        </p:txBody>
      </p:sp>
      <p:sp>
        <p:nvSpPr>
          <p:cNvPr id="103" name="Shape 101"/>
          <p:cNvSpPr/>
          <p:nvPr/>
        </p:nvSpPr>
        <p:spPr>
          <a:xfrm>
            <a:off x="1963729" y="3219430"/>
            <a:ext cx="40202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1963729" y="3005238"/>
            <a:ext cx="407128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 en in-app mostrados</a:t>
            </a:r>
            <a:endParaRPr lang="en-US" sz="960" dirty="0"/>
          </a:p>
        </p:txBody>
      </p:sp>
      <p:sp>
        <p:nvSpPr>
          <p:cNvPr id="105" name="Shape 103"/>
          <p:cNvSpPr/>
          <p:nvPr/>
        </p:nvSpPr>
        <p:spPr>
          <a:xfrm>
            <a:off x="5984022" y="3219430"/>
            <a:ext cx="134009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5984022" y="3005238"/>
            <a:ext cx="13106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5 % o más</a:t>
            </a:r>
            <a:endParaRPr lang="en-US" sz="960" dirty="0"/>
          </a:p>
        </p:txBody>
      </p:sp>
      <p:sp>
        <p:nvSpPr>
          <p:cNvPr id="107" name="Shape 105"/>
          <p:cNvSpPr/>
          <p:nvPr/>
        </p:nvSpPr>
        <p:spPr>
          <a:xfrm>
            <a:off x="7324120" y="3219430"/>
            <a:ext cx="323857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7324120" y="3005238"/>
            <a:ext cx="326611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Parámetro interno; la industria, 5 a 20 %</a:t>
            </a:r>
            <a:endParaRPr lang="en-US" sz="960" dirty="0"/>
          </a:p>
        </p:txBody>
      </p:sp>
      <p:sp>
        <p:nvSpPr>
          <p:cNvPr id="109" name="Shape 107"/>
          <p:cNvSpPr/>
          <p:nvPr/>
        </p:nvSpPr>
        <p:spPr>
          <a:xfrm>
            <a:off x="10562690" y="3219430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10562690" y="3005238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E1</a:t>
            </a:r>
            <a:endParaRPr lang="en-US" sz="960" dirty="0"/>
          </a:p>
        </p:txBody>
      </p:sp>
      <p:sp>
        <p:nvSpPr>
          <p:cNvPr id="111" name="Shape 109"/>
          <p:cNvSpPr/>
          <p:nvPr/>
        </p:nvSpPr>
        <p:spPr>
          <a:xfrm>
            <a:off x="511956" y="3648044"/>
            <a:ext cx="3350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511956" y="3275458"/>
            <a:ext cx="27546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960" dirty="0"/>
          </a:p>
        </p:txBody>
      </p:sp>
      <p:sp>
        <p:nvSpPr>
          <p:cNvPr id="113" name="Shape 111"/>
          <p:cNvSpPr/>
          <p:nvPr/>
        </p:nvSpPr>
        <p:spPr>
          <a:xfrm>
            <a:off x="846980" y="3648044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846980" y="3275458"/>
            <a:ext cx="108063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Frecuencia</a:t>
            </a:r>
            <a:endParaRPr lang="en-US" sz="960" dirty="0"/>
          </a:p>
        </p:txBody>
      </p:sp>
      <p:sp>
        <p:nvSpPr>
          <p:cNvPr id="115" name="Shape 113"/>
          <p:cNvSpPr/>
          <p:nvPr/>
        </p:nvSpPr>
        <p:spPr>
          <a:xfrm>
            <a:off x="1963729" y="3648044"/>
            <a:ext cx="40202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1963729" y="3275458"/>
            <a:ext cx="4071288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Mensajes de la misma campaña por persona al mes</a:t>
            </a:r>
            <a:endParaRPr lang="en-US" sz="960" dirty="0"/>
          </a:p>
        </p:txBody>
      </p:sp>
      <p:sp>
        <p:nvSpPr>
          <p:cNvPr id="117" name="Shape 115"/>
          <p:cNvSpPr/>
          <p:nvPr/>
        </p:nvSpPr>
        <p:spPr>
          <a:xfrm>
            <a:off x="5984022" y="3648044"/>
            <a:ext cx="134009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5984022" y="3275458"/>
            <a:ext cx="131068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o menos</a:t>
            </a:r>
            <a:endParaRPr lang="en-US" sz="960" dirty="0"/>
          </a:p>
        </p:txBody>
      </p:sp>
      <p:sp>
        <p:nvSpPr>
          <p:cNvPr id="119" name="Shape 117"/>
          <p:cNvSpPr/>
          <p:nvPr/>
        </p:nvSpPr>
        <p:spPr>
          <a:xfrm>
            <a:off x="7324120" y="3648044"/>
            <a:ext cx="323857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7324120" y="3275458"/>
            <a:ext cx="3266113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Interno: con 3 o más cae la respuesta y suben las bajas</a:t>
            </a:r>
            <a:endParaRPr lang="en-US" sz="960" dirty="0"/>
          </a:p>
        </p:txBody>
      </p:sp>
      <p:sp>
        <p:nvSpPr>
          <p:cNvPr id="121" name="Shape 119"/>
          <p:cNvSpPr/>
          <p:nvPr/>
        </p:nvSpPr>
        <p:spPr>
          <a:xfrm>
            <a:off x="10562690" y="3648044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10562690" y="3275458"/>
            <a:ext cx="108063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E1</a:t>
            </a:r>
            <a:endParaRPr lang="en-US" sz="960" dirty="0"/>
          </a:p>
        </p:txBody>
      </p:sp>
      <p:sp>
        <p:nvSpPr>
          <p:cNvPr id="123" name="Shape 121"/>
          <p:cNvSpPr/>
          <p:nvPr/>
        </p:nvSpPr>
        <p:spPr>
          <a:xfrm>
            <a:off x="511956" y="3918264"/>
            <a:ext cx="3350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511956" y="3704072"/>
            <a:ext cx="27546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60" dirty="0"/>
          </a:p>
        </p:txBody>
      </p:sp>
      <p:sp>
        <p:nvSpPr>
          <p:cNvPr id="125" name="Shape 123"/>
          <p:cNvSpPr/>
          <p:nvPr/>
        </p:nvSpPr>
        <p:spPr>
          <a:xfrm>
            <a:off x="846980" y="3918264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846980" y="3704072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Frecuencia</a:t>
            </a:r>
            <a:endParaRPr lang="en-US" sz="960" dirty="0"/>
          </a:p>
        </p:txBody>
      </p:sp>
      <p:sp>
        <p:nvSpPr>
          <p:cNvPr id="127" name="Shape 125"/>
          <p:cNvSpPr/>
          <p:nvPr/>
        </p:nvSpPr>
        <p:spPr>
          <a:xfrm>
            <a:off x="1963729" y="3918264"/>
            <a:ext cx="40202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1963729" y="3704072"/>
            <a:ext cx="407128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Mensajes por persona al mes, todos los canales</a:t>
            </a:r>
            <a:endParaRPr lang="en-US" sz="960" dirty="0"/>
          </a:p>
        </p:txBody>
      </p:sp>
      <p:sp>
        <p:nvSpPr>
          <p:cNvPr id="129" name="Shape 127"/>
          <p:cNvSpPr/>
          <p:nvPr/>
        </p:nvSpPr>
        <p:spPr>
          <a:xfrm>
            <a:off x="5984022" y="3918264"/>
            <a:ext cx="134009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5984022" y="3704072"/>
            <a:ext cx="13106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o menos</a:t>
            </a:r>
            <a:endParaRPr lang="en-US" sz="960" dirty="0"/>
          </a:p>
        </p:txBody>
      </p:sp>
      <p:sp>
        <p:nvSpPr>
          <p:cNvPr id="131" name="Shape 129"/>
          <p:cNvSpPr/>
          <p:nvPr/>
        </p:nvSpPr>
        <p:spPr>
          <a:xfrm>
            <a:off x="7324120" y="3918264"/>
            <a:ext cx="323857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7324120" y="3704072"/>
            <a:ext cx="326611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Interno: unos 5 promocionales a la semana</a:t>
            </a:r>
            <a:endParaRPr lang="en-US" sz="960" dirty="0"/>
          </a:p>
        </p:txBody>
      </p:sp>
      <p:sp>
        <p:nvSpPr>
          <p:cNvPr id="133" name="Shape 131"/>
          <p:cNvSpPr/>
          <p:nvPr/>
        </p:nvSpPr>
        <p:spPr>
          <a:xfrm>
            <a:off x="10562690" y="3918264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10562690" y="3704072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E4b</a:t>
            </a:r>
            <a:endParaRPr lang="en-US" sz="960" dirty="0"/>
          </a:p>
        </p:txBody>
      </p:sp>
      <p:sp>
        <p:nvSpPr>
          <p:cNvPr id="135" name="Shape 133"/>
          <p:cNvSpPr/>
          <p:nvPr/>
        </p:nvSpPr>
        <p:spPr>
          <a:xfrm>
            <a:off x="511956" y="4188484"/>
            <a:ext cx="3350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6" name="Text 134"/>
          <p:cNvSpPr txBox="1"/>
          <p:nvPr/>
        </p:nvSpPr>
        <p:spPr>
          <a:xfrm>
            <a:off x="511956" y="3974292"/>
            <a:ext cx="27546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960" dirty="0"/>
          </a:p>
        </p:txBody>
      </p:sp>
      <p:sp>
        <p:nvSpPr>
          <p:cNvPr id="137" name="Shape 135"/>
          <p:cNvSpPr/>
          <p:nvPr/>
        </p:nvSpPr>
        <p:spPr>
          <a:xfrm>
            <a:off x="846980" y="4188484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8" name="Text 136"/>
          <p:cNvSpPr txBox="1"/>
          <p:nvPr/>
        </p:nvSpPr>
        <p:spPr>
          <a:xfrm>
            <a:off x="846980" y="3974292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Frecuencia</a:t>
            </a:r>
            <a:endParaRPr lang="en-US" sz="960" dirty="0"/>
          </a:p>
        </p:txBody>
      </p:sp>
      <p:sp>
        <p:nvSpPr>
          <p:cNvPr id="139" name="Shape 137"/>
          <p:cNvSpPr/>
          <p:nvPr/>
        </p:nvSpPr>
        <p:spPr>
          <a:xfrm>
            <a:off x="1963729" y="4188484"/>
            <a:ext cx="40202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0" name="Text 138"/>
          <p:cNvSpPr txBox="1"/>
          <p:nvPr/>
        </p:nvSpPr>
        <p:spPr>
          <a:xfrm>
            <a:off x="1963729" y="3974292"/>
            <a:ext cx="407128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Personas con 41 o más mensajes al mes</a:t>
            </a:r>
            <a:endParaRPr lang="en-US" sz="960" dirty="0"/>
          </a:p>
        </p:txBody>
      </p:sp>
      <p:sp>
        <p:nvSpPr>
          <p:cNvPr id="141" name="Shape 139"/>
          <p:cNvSpPr/>
          <p:nvPr/>
        </p:nvSpPr>
        <p:spPr>
          <a:xfrm>
            <a:off x="5984022" y="4188484"/>
            <a:ext cx="134009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2" name="Text 140"/>
          <p:cNvSpPr txBox="1"/>
          <p:nvPr/>
        </p:nvSpPr>
        <p:spPr>
          <a:xfrm>
            <a:off x="5984022" y="3974292"/>
            <a:ext cx="13106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5 % o menos</a:t>
            </a:r>
            <a:endParaRPr lang="en-US" sz="960" dirty="0"/>
          </a:p>
        </p:txBody>
      </p:sp>
      <p:sp>
        <p:nvSpPr>
          <p:cNvPr id="143" name="Shape 141"/>
          <p:cNvSpPr/>
          <p:nvPr/>
        </p:nvSpPr>
        <p:spPr>
          <a:xfrm>
            <a:off x="7324120" y="4188484"/>
            <a:ext cx="323857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4" name="Text 142"/>
          <p:cNvSpPr txBox="1"/>
          <p:nvPr/>
        </p:nvSpPr>
        <p:spPr>
          <a:xfrm>
            <a:off x="7324120" y="3974292"/>
            <a:ext cx="326611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Propuesta interna</a:t>
            </a:r>
            <a:endParaRPr lang="en-US" sz="960" dirty="0"/>
          </a:p>
        </p:txBody>
      </p:sp>
      <p:sp>
        <p:nvSpPr>
          <p:cNvPr id="145" name="Shape 143"/>
          <p:cNvSpPr/>
          <p:nvPr/>
        </p:nvSpPr>
        <p:spPr>
          <a:xfrm>
            <a:off x="10562690" y="4188484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6" name="Text 144"/>
          <p:cNvSpPr txBox="1"/>
          <p:nvPr/>
        </p:nvSpPr>
        <p:spPr>
          <a:xfrm>
            <a:off x="10562690" y="3974292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E4b</a:t>
            </a:r>
            <a:endParaRPr lang="en-US" sz="960" dirty="0"/>
          </a:p>
        </p:txBody>
      </p:sp>
      <p:sp>
        <p:nvSpPr>
          <p:cNvPr id="147" name="Shape 145"/>
          <p:cNvSpPr/>
          <p:nvPr/>
        </p:nvSpPr>
        <p:spPr>
          <a:xfrm>
            <a:off x="511956" y="4458704"/>
            <a:ext cx="3350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8" name="Text 146"/>
          <p:cNvSpPr txBox="1"/>
          <p:nvPr/>
        </p:nvSpPr>
        <p:spPr>
          <a:xfrm>
            <a:off x="511956" y="4244512"/>
            <a:ext cx="27546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960" dirty="0"/>
          </a:p>
        </p:txBody>
      </p:sp>
      <p:sp>
        <p:nvSpPr>
          <p:cNvPr id="149" name="Shape 147"/>
          <p:cNvSpPr/>
          <p:nvPr/>
        </p:nvSpPr>
        <p:spPr>
          <a:xfrm>
            <a:off x="846980" y="4458704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50" name="Text 148"/>
          <p:cNvSpPr txBox="1"/>
          <p:nvPr/>
        </p:nvSpPr>
        <p:spPr>
          <a:xfrm>
            <a:off x="846980" y="4244512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Mismo día</a:t>
            </a:r>
            <a:endParaRPr lang="en-US" sz="960" dirty="0"/>
          </a:p>
        </p:txBody>
      </p:sp>
      <p:sp>
        <p:nvSpPr>
          <p:cNvPr id="151" name="Shape 149"/>
          <p:cNvSpPr/>
          <p:nvPr/>
        </p:nvSpPr>
        <p:spPr>
          <a:xfrm>
            <a:off x="1963729" y="4458704"/>
            <a:ext cx="40202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52" name="Text 150"/>
          <p:cNvSpPr txBox="1"/>
          <p:nvPr/>
        </p:nvSpPr>
        <p:spPr>
          <a:xfrm>
            <a:off x="1963729" y="4244512"/>
            <a:ext cx="407128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Días en que una persona recibe 3 o más campañas</a:t>
            </a:r>
            <a:endParaRPr lang="en-US" sz="960" dirty="0"/>
          </a:p>
        </p:txBody>
      </p:sp>
      <p:sp>
        <p:nvSpPr>
          <p:cNvPr id="153" name="Shape 151"/>
          <p:cNvSpPr/>
          <p:nvPr/>
        </p:nvSpPr>
        <p:spPr>
          <a:xfrm>
            <a:off x="5984022" y="4458704"/>
            <a:ext cx="134009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54" name="Text 152"/>
          <p:cNvSpPr txBox="1"/>
          <p:nvPr/>
        </p:nvSpPr>
        <p:spPr>
          <a:xfrm>
            <a:off x="5984022" y="4244512"/>
            <a:ext cx="13106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10 % o menos</a:t>
            </a:r>
            <a:endParaRPr lang="en-US" sz="960" dirty="0"/>
          </a:p>
        </p:txBody>
      </p:sp>
      <p:sp>
        <p:nvSpPr>
          <p:cNvPr id="155" name="Shape 153"/>
          <p:cNvSpPr/>
          <p:nvPr/>
        </p:nvSpPr>
        <p:spPr>
          <a:xfrm>
            <a:off x="7324120" y="4458704"/>
            <a:ext cx="323857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56" name="Text 154"/>
          <p:cNvSpPr txBox="1"/>
          <p:nvPr/>
        </p:nvSpPr>
        <p:spPr>
          <a:xfrm>
            <a:off x="7324120" y="4244512"/>
            <a:ext cx="326611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Interno: máximo 2 campañas por persona al día</a:t>
            </a:r>
            <a:endParaRPr lang="en-US" sz="960" dirty="0"/>
          </a:p>
        </p:txBody>
      </p:sp>
      <p:sp>
        <p:nvSpPr>
          <p:cNvPr id="157" name="Shape 155"/>
          <p:cNvSpPr/>
          <p:nvPr/>
        </p:nvSpPr>
        <p:spPr>
          <a:xfrm>
            <a:off x="10562690" y="4458704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58" name="Text 156"/>
          <p:cNvSpPr txBox="1"/>
          <p:nvPr/>
        </p:nvSpPr>
        <p:spPr>
          <a:xfrm>
            <a:off x="10562690" y="4244512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E6a</a:t>
            </a:r>
            <a:endParaRPr lang="en-US" sz="960" dirty="0"/>
          </a:p>
        </p:txBody>
      </p:sp>
      <p:sp>
        <p:nvSpPr>
          <p:cNvPr id="159" name="Shape 157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160" name="Text 158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161" name="Text 159"/>
          <p:cNvSpPr txBox="1"/>
          <p:nvPr/>
        </p:nvSpPr>
        <p:spPr>
          <a:xfrm>
            <a:off x="1409876" y="6077461"/>
            <a:ext cx="4960795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 el mínimo de la industria o una regla interna, no una meta de Kueski.</a:t>
            </a:r>
            <a:endParaRPr lang="en-US" sz="1100" dirty="0"/>
          </a:p>
        </p:txBody>
      </p:sp>
      <p:sp>
        <p:nvSpPr>
          <p:cNvPr id="162" name="Text 160"/>
          <p:cNvSpPr txBox="1"/>
          <p:nvPr/>
        </p:nvSpPr>
        <p:spPr>
          <a:xfrm>
            <a:off x="511956" y="6454684"/>
            <a:ext cx="5838618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Sheets braze_auditoria_v4, pestaña Estándares; la columna Dato dice de qué extracción sale cada cifra.</a:t>
            </a:r>
            <a:endParaRPr lang="en-US" sz="840" dirty="0"/>
          </a:p>
        </p:txBody>
      </p:sp>
      <p:sp>
        <p:nvSpPr>
          <p:cNvPr id="163" name="Text 161"/>
          <p:cNvSpPr txBox="1"/>
          <p:nvPr/>
        </p:nvSpPr>
        <p:spPr>
          <a:xfrm>
            <a:off x="11502054" y="6454684"/>
            <a:ext cx="201304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106</a:t>
            </a:r>
            <a:endParaRPr lang="en-US" sz="84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330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24 estándares y su fuente (continuación): bajas, audiencia, medición y nombres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057671"/>
            <a:ext cx="335024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11956" y="879320"/>
            <a:ext cx="275461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</a:t>
            </a:r>
            <a:endParaRPr lang="en-US" sz="790" dirty="0"/>
          </a:p>
        </p:txBody>
      </p:sp>
      <p:sp>
        <p:nvSpPr>
          <p:cNvPr id="5" name="Shape 3"/>
          <p:cNvSpPr/>
          <p:nvPr/>
        </p:nvSpPr>
        <p:spPr>
          <a:xfrm>
            <a:off x="846980" y="1057671"/>
            <a:ext cx="1116748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6980" y="879320"/>
            <a:ext cx="1080637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TEMA</a:t>
            </a:r>
            <a:endParaRPr lang="en-US" sz="790" dirty="0"/>
          </a:p>
        </p:txBody>
      </p:sp>
      <p:sp>
        <p:nvSpPr>
          <p:cNvPr id="7" name="Shape 5"/>
          <p:cNvSpPr/>
          <p:nvPr/>
        </p:nvSpPr>
        <p:spPr>
          <a:xfrm>
            <a:off x="1963729" y="1057671"/>
            <a:ext cx="4020293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63729" y="879320"/>
            <a:ext cx="4071288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INDICADOR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5984022" y="1057671"/>
            <a:ext cx="1340098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84022" y="879320"/>
            <a:ext cx="1310687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ESTÁNDAR</a:t>
            </a:r>
            <a:endParaRPr lang="en-US" sz="790" dirty="0"/>
          </a:p>
        </p:txBody>
      </p:sp>
      <p:sp>
        <p:nvSpPr>
          <p:cNvPr id="11" name="Shape 9"/>
          <p:cNvSpPr/>
          <p:nvPr/>
        </p:nvSpPr>
        <p:spPr>
          <a:xfrm>
            <a:off x="7324120" y="1057671"/>
            <a:ext cx="3238570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24120" y="879320"/>
            <a:ext cx="3266113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DÓNDE SALE</a:t>
            </a:r>
            <a:endParaRPr lang="en-US" sz="790" dirty="0"/>
          </a:p>
        </p:txBody>
      </p:sp>
      <p:sp>
        <p:nvSpPr>
          <p:cNvPr id="13" name="Shape 11"/>
          <p:cNvSpPr/>
          <p:nvPr/>
        </p:nvSpPr>
        <p:spPr>
          <a:xfrm>
            <a:off x="10562690" y="1057671"/>
            <a:ext cx="1116748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62690" y="879320"/>
            <a:ext cx="1080637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</a:t>
            </a:r>
            <a:endParaRPr lang="en-US" sz="790" dirty="0"/>
          </a:p>
        </p:txBody>
      </p:sp>
      <p:sp>
        <p:nvSpPr>
          <p:cNvPr id="15" name="Shape 13"/>
          <p:cNvSpPr/>
          <p:nvPr/>
        </p:nvSpPr>
        <p:spPr>
          <a:xfrm>
            <a:off x="511956" y="1327890"/>
            <a:ext cx="3350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1956" y="1113698"/>
            <a:ext cx="27546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846980" y="1327890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6980" y="1113698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Bajas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1963729" y="1327890"/>
            <a:ext cx="40202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963729" y="1113698"/>
            <a:ext cx="407128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Días hasta la baja de una persona nueva (mediana)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5984022" y="1327890"/>
            <a:ext cx="134009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84022" y="1113698"/>
            <a:ext cx="13106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 o más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7324120" y="1327890"/>
            <a:ext cx="323857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24120" y="1113698"/>
            <a:ext cx="326611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Propuesta interna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10562690" y="1327890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562690" y="1113698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E8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511956" y="1598110"/>
            <a:ext cx="3350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11956" y="1383918"/>
            <a:ext cx="27546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846980" y="1598110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46980" y="1383918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Bajas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1963729" y="1598110"/>
            <a:ext cx="40202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963729" y="1383918"/>
            <a:ext cx="407128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Correos antes de la baja, persona nueva (mediana)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5984022" y="1598110"/>
            <a:ext cx="134009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984022" y="1383918"/>
            <a:ext cx="13106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o más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7324120" y="1598110"/>
            <a:ext cx="323857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24120" y="1383918"/>
            <a:ext cx="326611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Interno: si se va antes, es el contenido o la audiencia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10562690" y="1598110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562690" y="1383918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E8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511956" y="1868330"/>
            <a:ext cx="3350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11956" y="1654138"/>
            <a:ext cx="27546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846980" y="1868330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46980" y="1654138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Bajas</a:t>
            </a: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1963729" y="1868330"/>
            <a:ext cx="40202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963729" y="1654138"/>
            <a:ext cx="407128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Personas nuevas que se van el día del primer correo</a:t>
            </a:r>
            <a:endParaRPr lang="en-US" sz="960" dirty="0"/>
          </a:p>
        </p:txBody>
      </p:sp>
      <p:sp>
        <p:nvSpPr>
          <p:cNvPr id="45" name="Shape 43"/>
          <p:cNvSpPr/>
          <p:nvPr/>
        </p:nvSpPr>
        <p:spPr>
          <a:xfrm>
            <a:off x="5984022" y="1868330"/>
            <a:ext cx="134009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984022" y="1654138"/>
            <a:ext cx="13106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5 % o menos</a:t>
            </a:r>
            <a:endParaRPr lang="en-US" sz="960" dirty="0"/>
          </a:p>
        </p:txBody>
      </p:sp>
      <p:sp>
        <p:nvSpPr>
          <p:cNvPr id="47" name="Shape 45"/>
          <p:cNvSpPr/>
          <p:nvPr/>
        </p:nvSpPr>
        <p:spPr>
          <a:xfrm>
            <a:off x="7324120" y="1868330"/>
            <a:ext cx="323857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324120" y="1654138"/>
            <a:ext cx="326611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Propuesta interna</a:t>
            </a:r>
            <a:endParaRPr lang="en-US" sz="960" dirty="0"/>
          </a:p>
        </p:txBody>
      </p:sp>
      <p:sp>
        <p:nvSpPr>
          <p:cNvPr id="49" name="Shape 47"/>
          <p:cNvSpPr/>
          <p:nvPr/>
        </p:nvSpPr>
        <p:spPr>
          <a:xfrm>
            <a:off x="10562690" y="1868330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562690" y="1654138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E8</a:t>
            </a:r>
            <a:endParaRPr lang="en-US" sz="960" dirty="0"/>
          </a:p>
        </p:txBody>
      </p:sp>
      <p:sp>
        <p:nvSpPr>
          <p:cNvPr id="51" name="Shape 49"/>
          <p:cNvSpPr/>
          <p:nvPr/>
        </p:nvSpPr>
        <p:spPr>
          <a:xfrm>
            <a:off x="511956" y="2138550"/>
            <a:ext cx="3350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11956" y="1924358"/>
            <a:ext cx="27546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960" dirty="0"/>
          </a:p>
        </p:txBody>
      </p:sp>
      <p:sp>
        <p:nvSpPr>
          <p:cNvPr id="53" name="Shape 51"/>
          <p:cNvSpPr/>
          <p:nvPr/>
        </p:nvSpPr>
        <p:spPr>
          <a:xfrm>
            <a:off x="846980" y="2138550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46980" y="1924358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Canal</a:t>
            </a:r>
            <a:endParaRPr lang="en-US" sz="960" dirty="0"/>
          </a:p>
        </p:txBody>
      </p:sp>
      <p:sp>
        <p:nvSpPr>
          <p:cNvPr id="55" name="Shape 53"/>
          <p:cNvSpPr/>
          <p:nvPr/>
        </p:nvSpPr>
        <p:spPr>
          <a:xfrm>
            <a:off x="1963729" y="2138550"/>
            <a:ext cx="40202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963729" y="1924358"/>
            <a:ext cx="407128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Mensajes por un canal al que la persona nunca respondió</a:t>
            </a:r>
            <a:endParaRPr lang="en-US" sz="960" dirty="0"/>
          </a:p>
        </p:txBody>
      </p:sp>
      <p:sp>
        <p:nvSpPr>
          <p:cNvPr id="57" name="Shape 55"/>
          <p:cNvSpPr/>
          <p:nvPr/>
        </p:nvSpPr>
        <p:spPr>
          <a:xfrm>
            <a:off x="5984022" y="2138550"/>
            <a:ext cx="134009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984022" y="1924358"/>
            <a:ext cx="13106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20 % o menos</a:t>
            </a:r>
            <a:endParaRPr lang="en-US" sz="960" dirty="0"/>
          </a:p>
        </p:txBody>
      </p:sp>
      <p:sp>
        <p:nvSpPr>
          <p:cNvPr id="59" name="Shape 57"/>
          <p:cNvSpPr/>
          <p:nvPr/>
        </p:nvSpPr>
        <p:spPr>
          <a:xfrm>
            <a:off x="7324120" y="2138550"/>
            <a:ext cx="323857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324120" y="1924358"/>
            <a:ext cx="326611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Propuesta interna</a:t>
            </a:r>
            <a:endParaRPr lang="en-US" sz="960" dirty="0"/>
          </a:p>
        </p:txBody>
      </p:sp>
      <p:sp>
        <p:nvSpPr>
          <p:cNvPr id="61" name="Shape 59"/>
          <p:cNvSpPr/>
          <p:nvPr/>
        </p:nvSpPr>
        <p:spPr>
          <a:xfrm>
            <a:off x="10562690" y="2138550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0562690" y="1924358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E7b</a:t>
            </a:r>
            <a:endParaRPr lang="en-US" sz="960" dirty="0"/>
          </a:p>
        </p:txBody>
      </p:sp>
      <p:sp>
        <p:nvSpPr>
          <p:cNvPr id="63" name="Shape 61"/>
          <p:cNvSpPr/>
          <p:nvPr/>
        </p:nvSpPr>
        <p:spPr>
          <a:xfrm>
            <a:off x="511956" y="2408770"/>
            <a:ext cx="3350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11956" y="2194578"/>
            <a:ext cx="27546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960" dirty="0"/>
          </a:p>
        </p:txBody>
      </p:sp>
      <p:sp>
        <p:nvSpPr>
          <p:cNvPr id="65" name="Shape 63"/>
          <p:cNvSpPr/>
          <p:nvPr/>
        </p:nvSpPr>
        <p:spPr>
          <a:xfrm>
            <a:off x="846980" y="2408770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846980" y="2194578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Canal</a:t>
            </a:r>
            <a:endParaRPr lang="en-US" sz="960" dirty="0"/>
          </a:p>
        </p:txBody>
      </p:sp>
      <p:sp>
        <p:nvSpPr>
          <p:cNvPr id="67" name="Shape 65"/>
          <p:cNvSpPr/>
          <p:nvPr/>
        </p:nvSpPr>
        <p:spPr>
          <a:xfrm>
            <a:off x="1963729" y="2408770"/>
            <a:ext cx="40202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1963729" y="2194578"/>
            <a:ext cx="407128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Personas que nunca respondieron a nada</a:t>
            </a:r>
            <a:endParaRPr lang="en-US" sz="960" dirty="0"/>
          </a:p>
        </p:txBody>
      </p:sp>
      <p:sp>
        <p:nvSpPr>
          <p:cNvPr id="69" name="Shape 67"/>
          <p:cNvSpPr/>
          <p:nvPr/>
        </p:nvSpPr>
        <p:spPr>
          <a:xfrm>
            <a:off x="5984022" y="2408770"/>
            <a:ext cx="134009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5984022" y="2194578"/>
            <a:ext cx="13106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50 % o menos</a:t>
            </a:r>
            <a:endParaRPr lang="en-US" sz="960" dirty="0"/>
          </a:p>
        </p:txBody>
      </p:sp>
      <p:sp>
        <p:nvSpPr>
          <p:cNvPr id="71" name="Shape 69"/>
          <p:cNvSpPr/>
          <p:nvPr/>
        </p:nvSpPr>
        <p:spPr>
          <a:xfrm>
            <a:off x="7324120" y="2408770"/>
            <a:ext cx="323857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7324120" y="2194578"/>
            <a:ext cx="326611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Propuesta interna</a:t>
            </a:r>
            <a:endParaRPr lang="en-US" sz="960" dirty="0"/>
          </a:p>
        </p:txBody>
      </p:sp>
      <p:sp>
        <p:nvSpPr>
          <p:cNvPr id="73" name="Shape 71"/>
          <p:cNvSpPr/>
          <p:nvPr/>
        </p:nvSpPr>
        <p:spPr>
          <a:xfrm>
            <a:off x="10562690" y="2408770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10562690" y="2194578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E7b</a:t>
            </a:r>
            <a:endParaRPr lang="en-US" sz="960" dirty="0"/>
          </a:p>
        </p:txBody>
      </p:sp>
      <p:sp>
        <p:nvSpPr>
          <p:cNvPr id="75" name="Shape 73"/>
          <p:cNvSpPr/>
          <p:nvPr/>
        </p:nvSpPr>
        <p:spPr>
          <a:xfrm>
            <a:off x="511956" y="2678990"/>
            <a:ext cx="3350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511956" y="2464798"/>
            <a:ext cx="27546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960" dirty="0"/>
          </a:p>
        </p:txBody>
      </p:sp>
      <p:sp>
        <p:nvSpPr>
          <p:cNvPr id="77" name="Shape 75"/>
          <p:cNvSpPr/>
          <p:nvPr/>
        </p:nvSpPr>
        <p:spPr>
          <a:xfrm>
            <a:off x="846980" y="2678990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846980" y="2464798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Audiencia</a:t>
            </a:r>
            <a:endParaRPr lang="en-US" sz="960" dirty="0"/>
          </a:p>
        </p:txBody>
      </p:sp>
      <p:sp>
        <p:nvSpPr>
          <p:cNvPr id="79" name="Shape 77"/>
          <p:cNvSpPr/>
          <p:nvPr/>
        </p:nvSpPr>
        <p:spPr>
          <a:xfrm>
            <a:off x="1963729" y="2678990"/>
            <a:ext cx="40202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1963729" y="2464798"/>
            <a:ext cx="407128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Promoción a bloqueados</a:t>
            </a:r>
            <a:endParaRPr lang="en-US" sz="960" dirty="0"/>
          </a:p>
        </p:txBody>
      </p:sp>
      <p:sp>
        <p:nvSpPr>
          <p:cNvPr id="81" name="Shape 79"/>
          <p:cNvSpPr/>
          <p:nvPr/>
        </p:nvSpPr>
        <p:spPr>
          <a:xfrm>
            <a:off x="5984022" y="2678990"/>
            <a:ext cx="134009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5984022" y="2464798"/>
            <a:ext cx="13106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960" dirty="0"/>
          </a:p>
        </p:txBody>
      </p:sp>
      <p:sp>
        <p:nvSpPr>
          <p:cNvPr id="83" name="Shape 81"/>
          <p:cNvSpPr/>
          <p:nvPr/>
        </p:nvSpPr>
        <p:spPr>
          <a:xfrm>
            <a:off x="7324120" y="2678990"/>
            <a:ext cx="323857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7324120" y="2464798"/>
            <a:ext cx="326611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Regla de negocio</a:t>
            </a:r>
            <a:endParaRPr lang="en-US" sz="960" dirty="0"/>
          </a:p>
        </p:txBody>
      </p:sp>
      <p:sp>
        <p:nvSpPr>
          <p:cNvPr id="85" name="Shape 83"/>
          <p:cNvSpPr/>
          <p:nvPr/>
        </p:nvSpPr>
        <p:spPr>
          <a:xfrm>
            <a:off x="10562690" y="2678990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10562690" y="2464798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E7a</a:t>
            </a:r>
            <a:endParaRPr lang="en-US" sz="960" dirty="0"/>
          </a:p>
        </p:txBody>
      </p:sp>
      <p:sp>
        <p:nvSpPr>
          <p:cNvPr id="87" name="Shape 85"/>
          <p:cNvSpPr/>
          <p:nvPr/>
        </p:nvSpPr>
        <p:spPr>
          <a:xfrm>
            <a:off x="511956" y="2949210"/>
            <a:ext cx="3350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511956" y="2735018"/>
            <a:ext cx="27546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960" dirty="0"/>
          </a:p>
        </p:txBody>
      </p:sp>
      <p:sp>
        <p:nvSpPr>
          <p:cNvPr id="89" name="Shape 87"/>
          <p:cNvSpPr/>
          <p:nvPr/>
        </p:nvSpPr>
        <p:spPr>
          <a:xfrm>
            <a:off x="846980" y="2949210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846980" y="2735018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Audiencia</a:t>
            </a:r>
            <a:endParaRPr lang="en-US" sz="960" dirty="0"/>
          </a:p>
        </p:txBody>
      </p:sp>
      <p:sp>
        <p:nvSpPr>
          <p:cNvPr id="91" name="Shape 89"/>
          <p:cNvSpPr/>
          <p:nvPr/>
        </p:nvSpPr>
        <p:spPr>
          <a:xfrm>
            <a:off x="1963729" y="2949210"/>
            <a:ext cx="40202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1963729" y="2735018"/>
            <a:ext cx="407128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Correos promocionales a dados de baja</a:t>
            </a:r>
            <a:endParaRPr lang="en-US" sz="960" dirty="0"/>
          </a:p>
        </p:txBody>
      </p:sp>
      <p:sp>
        <p:nvSpPr>
          <p:cNvPr id="93" name="Shape 91"/>
          <p:cNvSpPr/>
          <p:nvPr/>
        </p:nvSpPr>
        <p:spPr>
          <a:xfrm>
            <a:off x="5984022" y="2949210"/>
            <a:ext cx="134009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5984022" y="2735018"/>
            <a:ext cx="13106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960" dirty="0"/>
          </a:p>
        </p:txBody>
      </p:sp>
      <p:sp>
        <p:nvSpPr>
          <p:cNvPr id="95" name="Shape 93"/>
          <p:cNvSpPr/>
          <p:nvPr/>
        </p:nvSpPr>
        <p:spPr>
          <a:xfrm>
            <a:off x="7324120" y="2949210"/>
            <a:ext cx="323857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7324120" y="2735018"/>
            <a:ext cx="326611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Regla de negocio y de Braze</a:t>
            </a:r>
            <a:endParaRPr lang="en-US" sz="960" dirty="0"/>
          </a:p>
        </p:txBody>
      </p:sp>
      <p:sp>
        <p:nvSpPr>
          <p:cNvPr id="97" name="Shape 95"/>
          <p:cNvSpPr/>
          <p:nvPr/>
        </p:nvSpPr>
        <p:spPr>
          <a:xfrm>
            <a:off x="10562690" y="2949210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10562690" y="2735018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E5b</a:t>
            </a:r>
            <a:endParaRPr lang="en-US" sz="960" dirty="0"/>
          </a:p>
        </p:txBody>
      </p:sp>
      <p:sp>
        <p:nvSpPr>
          <p:cNvPr id="99" name="Shape 97"/>
          <p:cNvSpPr/>
          <p:nvPr/>
        </p:nvSpPr>
        <p:spPr>
          <a:xfrm>
            <a:off x="511956" y="3219430"/>
            <a:ext cx="3350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511956" y="3005238"/>
            <a:ext cx="27546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960" dirty="0"/>
          </a:p>
        </p:txBody>
      </p:sp>
      <p:sp>
        <p:nvSpPr>
          <p:cNvPr id="101" name="Shape 99"/>
          <p:cNvSpPr/>
          <p:nvPr/>
        </p:nvSpPr>
        <p:spPr>
          <a:xfrm>
            <a:off x="846980" y="3219430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846980" y="3005238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Audiencia</a:t>
            </a:r>
            <a:endParaRPr lang="en-US" sz="960" dirty="0"/>
          </a:p>
        </p:txBody>
      </p:sp>
      <p:sp>
        <p:nvSpPr>
          <p:cNvPr id="103" name="Shape 101"/>
          <p:cNvSpPr/>
          <p:nvPr/>
        </p:nvSpPr>
        <p:spPr>
          <a:xfrm>
            <a:off x="1963729" y="3219430"/>
            <a:ext cx="40202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1963729" y="3005238"/>
            <a:ext cx="407128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 de baja que vuelven a recibir correo</a:t>
            </a:r>
            <a:endParaRPr lang="en-US" sz="960" dirty="0"/>
          </a:p>
        </p:txBody>
      </p:sp>
      <p:sp>
        <p:nvSpPr>
          <p:cNvPr id="105" name="Shape 103"/>
          <p:cNvSpPr/>
          <p:nvPr/>
        </p:nvSpPr>
        <p:spPr>
          <a:xfrm>
            <a:off x="5984022" y="3219430"/>
            <a:ext cx="134009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5984022" y="3005238"/>
            <a:ext cx="13106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10 % o menos</a:t>
            </a:r>
            <a:endParaRPr lang="en-US" sz="960" dirty="0"/>
          </a:p>
        </p:txBody>
      </p:sp>
      <p:sp>
        <p:nvSpPr>
          <p:cNvPr id="107" name="Shape 105"/>
          <p:cNvSpPr/>
          <p:nvPr/>
        </p:nvSpPr>
        <p:spPr>
          <a:xfrm>
            <a:off x="7324120" y="3219430"/>
            <a:ext cx="323857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7324120" y="3005238"/>
            <a:ext cx="326611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Interno: solo cobranza y avisos de servicio</a:t>
            </a:r>
            <a:endParaRPr lang="en-US" sz="960" dirty="0"/>
          </a:p>
        </p:txBody>
      </p:sp>
      <p:sp>
        <p:nvSpPr>
          <p:cNvPr id="109" name="Shape 107"/>
          <p:cNvSpPr/>
          <p:nvPr/>
        </p:nvSpPr>
        <p:spPr>
          <a:xfrm>
            <a:off x="10562690" y="3219430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10562690" y="3005238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E5</a:t>
            </a:r>
            <a:endParaRPr lang="en-US" sz="960" dirty="0"/>
          </a:p>
        </p:txBody>
      </p:sp>
      <p:sp>
        <p:nvSpPr>
          <p:cNvPr id="111" name="Shape 109"/>
          <p:cNvSpPr/>
          <p:nvPr/>
        </p:nvSpPr>
        <p:spPr>
          <a:xfrm>
            <a:off x="511956" y="3489650"/>
            <a:ext cx="3350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511956" y="3275458"/>
            <a:ext cx="27546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960" dirty="0"/>
          </a:p>
        </p:txBody>
      </p:sp>
      <p:sp>
        <p:nvSpPr>
          <p:cNvPr id="113" name="Shape 111"/>
          <p:cNvSpPr/>
          <p:nvPr/>
        </p:nvSpPr>
        <p:spPr>
          <a:xfrm>
            <a:off x="846980" y="3489650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846980" y="3275458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 la base</a:t>
            </a:r>
            <a:endParaRPr lang="en-US" sz="960" dirty="0"/>
          </a:p>
        </p:txBody>
      </p:sp>
      <p:sp>
        <p:nvSpPr>
          <p:cNvPr id="115" name="Shape 113"/>
          <p:cNvSpPr/>
          <p:nvPr/>
        </p:nvSpPr>
        <p:spPr>
          <a:xfrm>
            <a:off x="1963729" y="3489650"/>
            <a:ext cx="40202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1963729" y="3275458"/>
            <a:ext cx="407128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Campañas de correo activas a 1 M o más de personas por envío</a:t>
            </a:r>
            <a:endParaRPr lang="en-US" sz="960" dirty="0"/>
          </a:p>
        </p:txBody>
      </p:sp>
      <p:sp>
        <p:nvSpPr>
          <p:cNvPr id="117" name="Shape 115"/>
          <p:cNvSpPr/>
          <p:nvPr/>
        </p:nvSpPr>
        <p:spPr>
          <a:xfrm>
            <a:off x="5984022" y="3489650"/>
            <a:ext cx="134009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5984022" y="3275458"/>
            <a:ext cx="13106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960" dirty="0"/>
          </a:p>
        </p:txBody>
      </p:sp>
      <p:sp>
        <p:nvSpPr>
          <p:cNvPr id="119" name="Shape 117"/>
          <p:cNvSpPr/>
          <p:nvPr/>
        </p:nvSpPr>
        <p:spPr>
          <a:xfrm>
            <a:off x="7324120" y="3489650"/>
            <a:ext cx="323857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7324120" y="3275458"/>
            <a:ext cx="326611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Interno: antes, prueba al 10 % con control</a:t>
            </a:r>
            <a:endParaRPr lang="en-US" sz="960" dirty="0"/>
          </a:p>
        </p:txBody>
      </p:sp>
      <p:sp>
        <p:nvSpPr>
          <p:cNvPr id="121" name="Shape 119"/>
          <p:cNvSpPr/>
          <p:nvPr/>
        </p:nvSpPr>
        <p:spPr>
          <a:xfrm>
            <a:off x="10562690" y="3489650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10562690" y="3275458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E1</a:t>
            </a:r>
            <a:endParaRPr lang="en-US" sz="960" dirty="0"/>
          </a:p>
        </p:txBody>
      </p:sp>
      <p:sp>
        <p:nvSpPr>
          <p:cNvPr id="123" name="Shape 121"/>
          <p:cNvSpPr/>
          <p:nvPr/>
        </p:nvSpPr>
        <p:spPr>
          <a:xfrm>
            <a:off x="511956" y="3759870"/>
            <a:ext cx="3350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511956" y="3545677"/>
            <a:ext cx="27546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960" dirty="0"/>
          </a:p>
        </p:txBody>
      </p:sp>
      <p:sp>
        <p:nvSpPr>
          <p:cNvPr id="125" name="Shape 123"/>
          <p:cNvSpPr/>
          <p:nvPr/>
        </p:nvSpPr>
        <p:spPr>
          <a:xfrm>
            <a:off x="846980" y="3759870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846980" y="3545677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 la base</a:t>
            </a:r>
            <a:endParaRPr lang="en-US" sz="960" dirty="0"/>
          </a:p>
        </p:txBody>
      </p:sp>
      <p:sp>
        <p:nvSpPr>
          <p:cNvPr id="127" name="Shape 125"/>
          <p:cNvSpPr/>
          <p:nvPr/>
        </p:nvSpPr>
        <p:spPr>
          <a:xfrm>
            <a:off x="1963729" y="3759870"/>
            <a:ext cx="40202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1963729" y="3545677"/>
            <a:ext cx="407128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Campañas activas que no responden lo mínimo aceptable</a:t>
            </a:r>
            <a:endParaRPr lang="en-US" sz="960" dirty="0"/>
          </a:p>
        </p:txBody>
      </p:sp>
      <p:sp>
        <p:nvSpPr>
          <p:cNvPr id="129" name="Shape 127"/>
          <p:cNvSpPr/>
          <p:nvPr/>
        </p:nvSpPr>
        <p:spPr>
          <a:xfrm>
            <a:off x="5984022" y="3759870"/>
            <a:ext cx="134009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5984022" y="3545677"/>
            <a:ext cx="13106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960" dirty="0"/>
          </a:p>
        </p:txBody>
      </p:sp>
      <p:sp>
        <p:nvSpPr>
          <p:cNvPr id="131" name="Shape 129"/>
          <p:cNvSpPr/>
          <p:nvPr/>
        </p:nvSpPr>
        <p:spPr>
          <a:xfrm>
            <a:off x="7324120" y="3759870"/>
            <a:ext cx="323857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7324120" y="3545677"/>
            <a:ext cx="326611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Regla interna del Sheets</a:t>
            </a:r>
            <a:endParaRPr lang="en-US" sz="960" dirty="0"/>
          </a:p>
        </p:txBody>
      </p:sp>
      <p:sp>
        <p:nvSpPr>
          <p:cNvPr id="133" name="Shape 131"/>
          <p:cNvSpPr/>
          <p:nvPr/>
        </p:nvSpPr>
        <p:spPr>
          <a:xfrm>
            <a:off x="10562690" y="3759870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10562690" y="3545677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E1</a:t>
            </a:r>
            <a:endParaRPr lang="en-US" sz="960" dirty="0"/>
          </a:p>
        </p:txBody>
      </p:sp>
      <p:sp>
        <p:nvSpPr>
          <p:cNvPr id="135" name="Shape 133"/>
          <p:cNvSpPr/>
          <p:nvPr/>
        </p:nvSpPr>
        <p:spPr>
          <a:xfrm>
            <a:off x="511956" y="4188484"/>
            <a:ext cx="3350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6" name="Text 134"/>
          <p:cNvSpPr txBox="1"/>
          <p:nvPr/>
        </p:nvSpPr>
        <p:spPr>
          <a:xfrm>
            <a:off x="511956" y="3815897"/>
            <a:ext cx="27546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960" dirty="0"/>
          </a:p>
        </p:txBody>
      </p:sp>
      <p:sp>
        <p:nvSpPr>
          <p:cNvPr id="137" name="Shape 135"/>
          <p:cNvSpPr/>
          <p:nvPr/>
        </p:nvSpPr>
        <p:spPr>
          <a:xfrm>
            <a:off x="846980" y="4188484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8" name="Text 136"/>
          <p:cNvSpPr txBox="1"/>
          <p:nvPr/>
        </p:nvSpPr>
        <p:spPr>
          <a:xfrm>
            <a:off x="846980" y="3815897"/>
            <a:ext cx="108063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Medición</a:t>
            </a:r>
            <a:endParaRPr lang="en-US" sz="960" dirty="0"/>
          </a:p>
        </p:txBody>
      </p:sp>
      <p:sp>
        <p:nvSpPr>
          <p:cNvPr id="139" name="Shape 137"/>
          <p:cNvSpPr/>
          <p:nvPr/>
        </p:nvSpPr>
        <p:spPr>
          <a:xfrm>
            <a:off x="1963729" y="4188484"/>
            <a:ext cx="40202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0" name="Text 138"/>
          <p:cNvSpPr txBox="1"/>
          <p:nvPr/>
        </p:nvSpPr>
        <p:spPr>
          <a:xfrm>
            <a:off x="1963729" y="3815897"/>
            <a:ext cx="4071288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Campañas promocionales con grupo de control</a:t>
            </a:r>
            <a:endParaRPr lang="en-US" sz="960" dirty="0"/>
          </a:p>
        </p:txBody>
      </p:sp>
      <p:sp>
        <p:nvSpPr>
          <p:cNvPr id="141" name="Shape 139"/>
          <p:cNvSpPr/>
          <p:nvPr/>
        </p:nvSpPr>
        <p:spPr>
          <a:xfrm>
            <a:off x="5984022" y="4188484"/>
            <a:ext cx="134009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2" name="Text 140"/>
          <p:cNvSpPr txBox="1"/>
          <p:nvPr/>
        </p:nvSpPr>
        <p:spPr>
          <a:xfrm>
            <a:off x="5984022" y="3815897"/>
            <a:ext cx="131068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10 % de la audiencia</a:t>
            </a:r>
            <a:endParaRPr lang="en-US" sz="960" dirty="0"/>
          </a:p>
        </p:txBody>
      </p:sp>
      <p:sp>
        <p:nvSpPr>
          <p:cNvPr id="143" name="Shape 141"/>
          <p:cNvSpPr/>
          <p:nvPr/>
        </p:nvSpPr>
        <p:spPr>
          <a:xfrm>
            <a:off x="7324120" y="4188484"/>
            <a:ext cx="323857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4" name="Text 142"/>
          <p:cNvSpPr txBox="1"/>
          <p:nvPr/>
        </p:nvSpPr>
        <p:spPr>
          <a:xfrm>
            <a:off x="7324120" y="3815897"/>
            <a:ext cx="3266113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Práctica estándar de Braze</a:t>
            </a:r>
            <a:endParaRPr lang="en-US" sz="960" dirty="0"/>
          </a:p>
        </p:txBody>
      </p:sp>
      <p:sp>
        <p:nvSpPr>
          <p:cNvPr id="145" name="Shape 143"/>
          <p:cNvSpPr/>
          <p:nvPr/>
        </p:nvSpPr>
        <p:spPr>
          <a:xfrm>
            <a:off x="10562690" y="4188484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6" name="Text 144"/>
          <p:cNvSpPr txBox="1"/>
          <p:nvPr/>
        </p:nvSpPr>
        <p:spPr>
          <a:xfrm>
            <a:off x="10562690" y="3815897"/>
            <a:ext cx="108063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E13: hoy 1 de 3,228</a:t>
            </a:r>
            <a:endParaRPr lang="en-US" sz="960" dirty="0"/>
          </a:p>
        </p:txBody>
      </p:sp>
      <p:sp>
        <p:nvSpPr>
          <p:cNvPr id="147" name="Shape 145"/>
          <p:cNvSpPr/>
          <p:nvPr/>
        </p:nvSpPr>
        <p:spPr>
          <a:xfrm>
            <a:off x="511956" y="4458704"/>
            <a:ext cx="3350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8" name="Text 146"/>
          <p:cNvSpPr txBox="1"/>
          <p:nvPr/>
        </p:nvSpPr>
        <p:spPr>
          <a:xfrm>
            <a:off x="511956" y="4244512"/>
            <a:ext cx="27546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960" dirty="0"/>
          </a:p>
        </p:txBody>
      </p:sp>
      <p:sp>
        <p:nvSpPr>
          <p:cNvPr id="149" name="Shape 147"/>
          <p:cNvSpPr/>
          <p:nvPr/>
        </p:nvSpPr>
        <p:spPr>
          <a:xfrm>
            <a:off x="846980" y="4458704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50" name="Text 148"/>
          <p:cNvSpPr txBox="1"/>
          <p:nvPr/>
        </p:nvSpPr>
        <p:spPr>
          <a:xfrm>
            <a:off x="846980" y="4244512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Nombres</a:t>
            </a:r>
            <a:endParaRPr lang="en-US" sz="960" dirty="0"/>
          </a:p>
        </p:txBody>
      </p:sp>
      <p:sp>
        <p:nvSpPr>
          <p:cNvPr id="151" name="Shape 149"/>
          <p:cNvSpPr/>
          <p:nvPr/>
        </p:nvSpPr>
        <p:spPr>
          <a:xfrm>
            <a:off x="1963729" y="4458704"/>
            <a:ext cx="402029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52" name="Text 150"/>
          <p:cNvSpPr txBox="1"/>
          <p:nvPr/>
        </p:nvSpPr>
        <p:spPr>
          <a:xfrm>
            <a:off x="1963729" y="4244512"/>
            <a:ext cx="407128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Comunicaciones con ticket</a:t>
            </a:r>
            <a:endParaRPr lang="en-US" sz="960" dirty="0"/>
          </a:p>
        </p:txBody>
      </p:sp>
      <p:sp>
        <p:nvSpPr>
          <p:cNvPr id="153" name="Shape 151"/>
          <p:cNvSpPr/>
          <p:nvPr/>
        </p:nvSpPr>
        <p:spPr>
          <a:xfrm>
            <a:off x="5984022" y="4458704"/>
            <a:ext cx="134009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54" name="Text 152"/>
          <p:cNvSpPr txBox="1"/>
          <p:nvPr/>
        </p:nvSpPr>
        <p:spPr>
          <a:xfrm>
            <a:off x="5984022" y="4244512"/>
            <a:ext cx="13106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100 %</a:t>
            </a:r>
            <a:endParaRPr lang="en-US" sz="960" dirty="0"/>
          </a:p>
        </p:txBody>
      </p:sp>
      <p:sp>
        <p:nvSpPr>
          <p:cNvPr id="155" name="Shape 153"/>
          <p:cNvSpPr/>
          <p:nvPr/>
        </p:nvSpPr>
        <p:spPr>
          <a:xfrm>
            <a:off x="7324120" y="4458704"/>
            <a:ext cx="323857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56" name="Text 154"/>
          <p:cNvSpPr txBox="1"/>
          <p:nvPr/>
        </p:nvSpPr>
        <p:spPr>
          <a:xfrm>
            <a:off x="7324120" y="4244512"/>
            <a:ext cx="326611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Regla interna de nombres</a:t>
            </a:r>
            <a:endParaRPr lang="en-US" sz="960" dirty="0"/>
          </a:p>
        </p:txBody>
      </p:sp>
      <p:sp>
        <p:nvSpPr>
          <p:cNvPr id="157" name="Shape 155"/>
          <p:cNvSpPr/>
          <p:nvPr/>
        </p:nvSpPr>
        <p:spPr>
          <a:xfrm>
            <a:off x="10562690" y="4458704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58" name="Text 156"/>
          <p:cNvSpPr txBox="1"/>
          <p:nvPr/>
        </p:nvSpPr>
        <p:spPr>
          <a:xfrm>
            <a:off x="10562690" y="4244512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E1</a:t>
            </a:r>
            <a:endParaRPr lang="en-US" sz="960" dirty="0"/>
          </a:p>
        </p:txBody>
      </p:sp>
      <p:sp>
        <p:nvSpPr>
          <p:cNvPr id="159" name="Shape 157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160" name="Text 158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161" name="Text 159"/>
          <p:cNvSpPr txBox="1"/>
          <p:nvPr/>
        </p:nvSpPr>
        <p:spPr>
          <a:xfrm>
            <a:off x="1409876" y="6077461"/>
            <a:ext cx="5306492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de control (23): hoy 1 de 3,228; se mide en Braze en cuanto se prenda.</a:t>
            </a:r>
            <a:endParaRPr lang="en-US" sz="1100" dirty="0"/>
          </a:p>
        </p:txBody>
      </p:sp>
      <p:sp>
        <p:nvSpPr>
          <p:cNvPr id="162" name="Text 160"/>
          <p:cNvSpPr txBox="1"/>
          <p:nvPr/>
        </p:nvSpPr>
        <p:spPr>
          <a:xfrm>
            <a:off x="511956" y="6454684"/>
            <a:ext cx="5838618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Sheets braze_auditoria_v4, pestaña Estándares; la columna Dato dice de qué extracción sale cada cifra.</a:t>
            </a:r>
            <a:endParaRPr lang="en-US" sz="840" dirty="0"/>
          </a:p>
        </p:txBody>
      </p:sp>
      <p:sp>
        <p:nvSpPr>
          <p:cNvPr id="163" name="Text 161"/>
          <p:cNvSpPr txBox="1"/>
          <p:nvPr/>
        </p:nvSpPr>
        <p:spPr>
          <a:xfrm>
            <a:off x="11502054" y="6454684"/>
            <a:ext cx="201304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106</a:t>
            </a:r>
            <a:endParaRPr lang="en-US" sz="84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Detalle mensual: junio fue el mes con más mensajes (109 M) y septiembre el más barato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388475"/>
            <a:ext cx="1015623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11956" y="1210125"/>
            <a:ext cx="976478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 DE 2026</a:t>
            </a:r>
            <a:endParaRPr lang="en-US" sz="790" dirty="0"/>
          </a:p>
        </p:txBody>
      </p:sp>
      <p:sp>
        <p:nvSpPr>
          <p:cNvPr id="5" name="Shape 3"/>
          <p:cNvSpPr/>
          <p:nvPr/>
        </p:nvSpPr>
        <p:spPr>
          <a:xfrm>
            <a:off x="1527579" y="1388475"/>
            <a:ext cx="859037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27579" y="1210125"/>
            <a:ext cx="815194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MENSAJES</a:t>
            </a:r>
            <a:endParaRPr lang="en-US" sz="790" dirty="0"/>
          </a:p>
        </p:txBody>
      </p:sp>
      <p:sp>
        <p:nvSpPr>
          <p:cNvPr id="7" name="Shape 5"/>
          <p:cNvSpPr/>
          <p:nvPr/>
        </p:nvSpPr>
        <p:spPr>
          <a:xfrm>
            <a:off x="2386616" y="1388475"/>
            <a:ext cx="726263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86616" y="1210125"/>
            <a:ext cx="678437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3112879" y="1388475"/>
            <a:ext cx="726263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12879" y="1210125"/>
            <a:ext cx="678437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</a:t>
            </a:r>
            <a:endParaRPr lang="en-US" sz="790" dirty="0"/>
          </a:p>
        </p:txBody>
      </p:sp>
      <p:sp>
        <p:nvSpPr>
          <p:cNvPr id="11" name="Shape 9"/>
          <p:cNvSpPr/>
          <p:nvPr/>
        </p:nvSpPr>
        <p:spPr>
          <a:xfrm>
            <a:off x="3839142" y="1388475"/>
            <a:ext cx="887822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39142" y="1210125"/>
            <a:ext cx="844843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</a:t>
            </a:r>
            <a:endParaRPr lang="en-US" sz="790" dirty="0"/>
          </a:p>
        </p:txBody>
      </p:sp>
      <p:sp>
        <p:nvSpPr>
          <p:cNvPr id="13" name="Shape 11"/>
          <p:cNvSpPr/>
          <p:nvPr/>
        </p:nvSpPr>
        <p:spPr>
          <a:xfrm>
            <a:off x="4726964" y="1388475"/>
            <a:ext cx="626796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26964" y="1210125"/>
            <a:ext cx="575985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IN-APP</a:t>
            </a:r>
            <a:endParaRPr lang="en-US" sz="790" dirty="0"/>
          </a:p>
        </p:txBody>
      </p:sp>
      <p:sp>
        <p:nvSpPr>
          <p:cNvPr id="15" name="Shape 13"/>
          <p:cNvSpPr/>
          <p:nvPr/>
        </p:nvSpPr>
        <p:spPr>
          <a:xfrm>
            <a:off x="5353760" y="1388475"/>
            <a:ext cx="2832110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53760" y="1210125"/>
            <a:ext cx="2847459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RESPUESTAS POR CADA MIL MENSAJES</a:t>
            </a:r>
            <a:endParaRPr lang="en-US" sz="790" dirty="0"/>
          </a:p>
        </p:txBody>
      </p:sp>
      <p:sp>
        <p:nvSpPr>
          <p:cNvPr id="17" name="Shape 15"/>
          <p:cNvSpPr/>
          <p:nvPr/>
        </p:nvSpPr>
        <p:spPr>
          <a:xfrm>
            <a:off x="8185870" y="1388475"/>
            <a:ext cx="1044559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85870" y="1210125"/>
            <a:ext cx="1006282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GASTO</a:t>
            </a:r>
            <a:endParaRPr lang="en-US" sz="790" dirty="0"/>
          </a:p>
        </p:txBody>
      </p:sp>
      <p:sp>
        <p:nvSpPr>
          <p:cNvPr id="19" name="Shape 17"/>
          <p:cNvSpPr/>
          <p:nvPr/>
        </p:nvSpPr>
        <p:spPr>
          <a:xfrm>
            <a:off x="9230429" y="1388475"/>
            <a:ext cx="2449009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30429" y="1210125"/>
            <a:ext cx="2452865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PERSONAS CON BAJA DE CORREO</a:t>
            </a:r>
            <a:endParaRPr lang="en-US" sz="790" dirty="0"/>
          </a:p>
        </p:txBody>
      </p:sp>
      <p:sp>
        <p:nvSpPr>
          <p:cNvPr id="21" name="Shape 19"/>
          <p:cNvSpPr/>
          <p:nvPr/>
        </p:nvSpPr>
        <p:spPr>
          <a:xfrm>
            <a:off x="511956" y="1658695"/>
            <a:ext cx="101562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1956" y="1444503"/>
            <a:ext cx="97647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Enero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1527579" y="1658695"/>
            <a:ext cx="85903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527579" y="1444503"/>
            <a:ext cx="815194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58.7 M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2386616" y="1658695"/>
            <a:ext cx="72626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386616" y="1444503"/>
            <a:ext cx="6784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35.2 M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3112879" y="1658695"/>
            <a:ext cx="72626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112879" y="1444503"/>
            <a:ext cx="6784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15.9 M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3839142" y="1658695"/>
            <a:ext cx="8878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839142" y="1444503"/>
            <a:ext cx="84484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5.6 M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4726964" y="1658695"/>
            <a:ext cx="6267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26964" y="1444503"/>
            <a:ext cx="575985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1.9 M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5353760" y="1658695"/>
            <a:ext cx="283211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353760" y="1444503"/>
            <a:ext cx="284745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8185870" y="1658695"/>
            <a:ext cx="104455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185870" y="1444503"/>
            <a:ext cx="1006282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6.25 M MXN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9230429" y="1658695"/>
            <a:ext cx="244900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230429" y="1444503"/>
            <a:ext cx="2452865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69.2 mil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511956" y="1928915"/>
            <a:ext cx="101562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11956" y="1714723"/>
            <a:ext cx="97647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Febrero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1527579" y="1928915"/>
            <a:ext cx="85903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527579" y="1714723"/>
            <a:ext cx="815194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67.5 M</a:t>
            </a: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2386616" y="1928915"/>
            <a:ext cx="72626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386616" y="1714723"/>
            <a:ext cx="6784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35.2 M</a:t>
            </a:r>
            <a:endParaRPr lang="en-US" sz="960" dirty="0"/>
          </a:p>
        </p:txBody>
      </p:sp>
      <p:sp>
        <p:nvSpPr>
          <p:cNvPr id="45" name="Shape 43"/>
          <p:cNvSpPr/>
          <p:nvPr/>
        </p:nvSpPr>
        <p:spPr>
          <a:xfrm>
            <a:off x="3112879" y="1928915"/>
            <a:ext cx="72626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112879" y="1714723"/>
            <a:ext cx="6784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21.5 M</a:t>
            </a:r>
            <a:endParaRPr lang="en-US" sz="960" dirty="0"/>
          </a:p>
        </p:txBody>
      </p:sp>
      <p:sp>
        <p:nvSpPr>
          <p:cNvPr id="47" name="Shape 45"/>
          <p:cNvSpPr/>
          <p:nvPr/>
        </p:nvSpPr>
        <p:spPr>
          <a:xfrm>
            <a:off x="3839142" y="1928915"/>
            <a:ext cx="8878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839142" y="1714723"/>
            <a:ext cx="84484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7.8 M</a:t>
            </a:r>
            <a:endParaRPr lang="en-US" sz="960" dirty="0"/>
          </a:p>
        </p:txBody>
      </p:sp>
      <p:sp>
        <p:nvSpPr>
          <p:cNvPr id="49" name="Shape 47"/>
          <p:cNvSpPr/>
          <p:nvPr/>
        </p:nvSpPr>
        <p:spPr>
          <a:xfrm>
            <a:off x="4726964" y="1928915"/>
            <a:ext cx="6267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726964" y="1714723"/>
            <a:ext cx="575985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3.0 M</a:t>
            </a:r>
            <a:endParaRPr lang="en-US" sz="960" dirty="0"/>
          </a:p>
        </p:txBody>
      </p:sp>
      <p:sp>
        <p:nvSpPr>
          <p:cNvPr id="51" name="Shape 49"/>
          <p:cNvSpPr/>
          <p:nvPr/>
        </p:nvSpPr>
        <p:spPr>
          <a:xfrm>
            <a:off x="5353760" y="1928915"/>
            <a:ext cx="283211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353760" y="1714723"/>
            <a:ext cx="284745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</a:t>
            </a:r>
            <a:endParaRPr lang="en-US" sz="960" dirty="0"/>
          </a:p>
        </p:txBody>
      </p:sp>
      <p:sp>
        <p:nvSpPr>
          <p:cNvPr id="53" name="Shape 51"/>
          <p:cNvSpPr/>
          <p:nvPr/>
        </p:nvSpPr>
        <p:spPr>
          <a:xfrm>
            <a:off x="8185870" y="1928915"/>
            <a:ext cx="104455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185870" y="1714723"/>
            <a:ext cx="1006282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7.75 M MXN</a:t>
            </a:r>
            <a:endParaRPr lang="en-US" sz="960" dirty="0"/>
          </a:p>
        </p:txBody>
      </p:sp>
      <p:sp>
        <p:nvSpPr>
          <p:cNvPr id="55" name="Shape 53"/>
          <p:cNvSpPr/>
          <p:nvPr/>
        </p:nvSpPr>
        <p:spPr>
          <a:xfrm>
            <a:off x="9230429" y="1928915"/>
            <a:ext cx="244900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230429" y="1714723"/>
            <a:ext cx="2452865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58.0 mil</a:t>
            </a:r>
            <a:endParaRPr lang="en-US" sz="960" dirty="0"/>
          </a:p>
        </p:txBody>
      </p:sp>
      <p:sp>
        <p:nvSpPr>
          <p:cNvPr id="57" name="Shape 55"/>
          <p:cNvSpPr/>
          <p:nvPr/>
        </p:nvSpPr>
        <p:spPr>
          <a:xfrm>
            <a:off x="511956" y="2199135"/>
            <a:ext cx="101562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11956" y="1984943"/>
            <a:ext cx="97647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Marzo</a:t>
            </a:r>
            <a:endParaRPr lang="en-US" sz="960" dirty="0"/>
          </a:p>
        </p:txBody>
      </p:sp>
      <p:sp>
        <p:nvSpPr>
          <p:cNvPr id="59" name="Shape 57"/>
          <p:cNvSpPr/>
          <p:nvPr/>
        </p:nvSpPr>
        <p:spPr>
          <a:xfrm>
            <a:off x="1527579" y="2199135"/>
            <a:ext cx="85903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527579" y="1984943"/>
            <a:ext cx="815194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67.7 M</a:t>
            </a:r>
            <a:endParaRPr lang="en-US" sz="960" dirty="0"/>
          </a:p>
        </p:txBody>
      </p:sp>
      <p:sp>
        <p:nvSpPr>
          <p:cNvPr id="61" name="Shape 59"/>
          <p:cNvSpPr/>
          <p:nvPr/>
        </p:nvSpPr>
        <p:spPr>
          <a:xfrm>
            <a:off x="2386616" y="2199135"/>
            <a:ext cx="72626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2386616" y="1984943"/>
            <a:ext cx="6784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36.2 M</a:t>
            </a:r>
            <a:endParaRPr lang="en-US" sz="960" dirty="0"/>
          </a:p>
        </p:txBody>
      </p:sp>
      <p:sp>
        <p:nvSpPr>
          <p:cNvPr id="63" name="Shape 61"/>
          <p:cNvSpPr/>
          <p:nvPr/>
        </p:nvSpPr>
        <p:spPr>
          <a:xfrm>
            <a:off x="3112879" y="2199135"/>
            <a:ext cx="72626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3112879" y="1984943"/>
            <a:ext cx="6784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18.5 M</a:t>
            </a:r>
            <a:endParaRPr lang="en-US" sz="960" dirty="0"/>
          </a:p>
        </p:txBody>
      </p:sp>
      <p:sp>
        <p:nvSpPr>
          <p:cNvPr id="65" name="Shape 63"/>
          <p:cNvSpPr/>
          <p:nvPr/>
        </p:nvSpPr>
        <p:spPr>
          <a:xfrm>
            <a:off x="3839142" y="2199135"/>
            <a:ext cx="8878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3839142" y="1984943"/>
            <a:ext cx="84484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10.4 M</a:t>
            </a:r>
            <a:endParaRPr lang="en-US" sz="960" dirty="0"/>
          </a:p>
        </p:txBody>
      </p:sp>
      <p:sp>
        <p:nvSpPr>
          <p:cNvPr id="67" name="Shape 65"/>
          <p:cNvSpPr/>
          <p:nvPr/>
        </p:nvSpPr>
        <p:spPr>
          <a:xfrm>
            <a:off x="4726964" y="2199135"/>
            <a:ext cx="6267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4726964" y="1984943"/>
            <a:ext cx="575985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2.6 M</a:t>
            </a:r>
            <a:endParaRPr lang="en-US" sz="960" dirty="0"/>
          </a:p>
        </p:txBody>
      </p:sp>
      <p:sp>
        <p:nvSpPr>
          <p:cNvPr id="69" name="Shape 67"/>
          <p:cNvSpPr/>
          <p:nvPr/>
        </p:nvSpPr>
        <p:spPr>
          <a:xfrm>
            <a:off x="5353760" y="2199135"/>
            <a:ext cx="283211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5353760" y="1984943"/>
            <a:ext cx="284745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102</a:t>
            </a:r>
            <a:endParaRPr lang="en-US" sz="960" dirty="0"/>
          </a:p>
        </p:txBody>
      </p:sp>
      <p:sp>
        <p:nvSpPr>
          <p:cNvPr id="71" name="Shape 69"/>
          <p:cNvSpPr/>
          <p:nvPr/>
        </p:nvSpPr>
        <p:spPr>
          <a:xfrm>
            <a:off x="8185870" y="2199135"/>
            <a:ext cx="104455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8185870" y="1984943"/>
            <a:ext cx="1006282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9.52 M MXN</a:t>
            </a:r>
            <a:endParaRPr lang="en-US" sz="960" dirty="0"/>
          </a:p>
        </p:txBody>
      </p:sp>
      <p:sp>
        <p:nvSpPr>
          <p:cNvPr id="73" name="Shape 71"/>
          <p:cNvSpPr/>
          <p:nvPr/>
        </p:nvSpPr>
        <p:spPr>
          <a:xfrm>
            <a:off x="9230429" y="2199135"/>
            <a:ext cx="244900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9230429" y="1984943"/>
            <a:ext cx="2452865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50.4 mil</a:t>
            </a:r>
            <a:endParaRPr lang="en-US" sz="960" dirty="0"/>
          </a:p>
        </p:txBody>
      </p:sp>
      <p:sp>
        <p:nvSpPr>
          <p:cNvPr id="75" name="Shape 73"/>
          <p:cNvSpPr/>
          <p:nvPr/>
        </p:nvSpPr>
        <p:spPr>
          <a:xfrm>
            <a:off x="511956" y="2469355"/>
            <a:ext cx="101562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511956" y="2255163"/>
            <a:ext cx="97647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Abril</a:t>
            </a:r>
            <a:endParaRPr lang="en-US" sz="960" dirty="0"/>
          </a:p>
        </p:txBody>
      </p:sp>
      <p:sp>
        <p:nvSpPr>
          <p:cNvPr id="77" name="Shape 75"/>
          <p:cNvSpPr/>
          <p:nvPr/>
        </p:nvSpPr>
        <p:spPr>
          <a:xfrm>
            <a:off x="1527579" y="2469355"/>
            <a:ext cx="85903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527579" y="2255163"/>
            <a:ext cx="815194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64.3 M</a:t>
            </a:r>
            <a:endParaRPr lang="en-US" sz="960" dirty="0"/>
          </a:p>
        </p:txBody>
      </p:sp>
      <p:sp>
        <p:nvSpPr>
          <p:cNvPr id="79" name="Shape 77"/>
          <p:cNvSpPr/>
          <p:nvPr/>
        </p:nvSpPr>
        <p:spPr>
          <a:xfrm>
            <a:off x="2386616" y="2469355"/>
            <a:ext cx="72626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2386616" y="2255163"/>
            <a:ext cx="6784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33.8 M</a:t>
            </a:r>
            <a:endParaRPr lang="en-US" sz="960" dirty="0"/>
          </a:p>
        </p:txBody>
      </p:sp>
      <p:sp>
        <p:nvSpPr>
          <p:cNvPr id="81" name="Shape 79"/>
          <p:cNvSpPr/>
          <p:nvPr/>
        </p:nvSpPr>
        <p:spPr>
          <a:xfrm>
            <a:off x="3112879" y="2469355"/>
            <a:ext cx="72626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3112879" y="2255163"/>
            <a:ext cx="6784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22.3 M</a:t>
            </a:r>
            <a:endParaRPr lang="en-US" sz="960" dirty="0"/>
          </a:p>
        </p:txBody>
      </p:sp>
      <p:sp>
        <p:nvSpPr>
          <p:cNvPr id="83" name="Shape 81"/>
          <p:cNvSpPr/>
          <p:nvPr/>
        </p:nvSpPr>
        <p:spPr>
          <a:xfrm>
            <a:off x="3839142" y="2469355"/>
            <a:ext cx="8878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3839142" y="2255163"/>
            <a:ext cx="84484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5.9 M</a:t>
            </a:r>
            <a:endParaRPr lang="en-US" sz="960" dirty="0"/>
          </a:p>
        </p:txBody>
      </p:sp>
      <p:sp>
        <p:nvSpPr>
          <p:cNvPr id="85" name="Shape 83"/>
          <p:cNvSpPr/>
          <p:nvPr/>
        </p:nvSpPr>
        <p:spPr>
          <a:xfrm>
            <a:off x="4726964" y="2469355"/>
            <a:ext cx="6267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4726964" y="2255163"/>
            <a:ext cx="575985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2.3 M</a:t>
            </a:r>
            <a:endParaRPr lang="en-US" sz="960" dirty="0"/>
          </a:p>
        </p:txBody>
      </p:sp>
      <p:sp>
        <p:nvSpPr>
          <p:cNvPr id="87" name="Shape 85"/>
          <p:cNvSpPr/>
          <p:nvPr/>
        </p:nvSpPr>
        <p:spPr>
          <a:xfrm>
            <a:off x="5353760" y="2469355"/>
            <a:ext cx="283211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5353760" y="2255163"/>
            <a:ext cx="284745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</a:t>
            </a:r>
            <a:endParaRPr lang="en-US" sz="960" dirty="0"/>
          </a:p>
        </p:txBody>
      </p:sp>
      <p:sp>
        <p:nvSpPr>
          <p:cNvPr id="89" name="Shape 87"/>
          <p:cNvSpPr/>
          <p:nvPr/>
        </p:nvSpPr>
        <p:spPr>
          <a:xfrm>
            <a:off x="8185870" y="2469355"/>
            <a:ext cx="104455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8185870" y="2255163"/>
            <a:ext cx="1006282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5.75 M MXN</a:t>
            </a:r>
            <a:endParaRPr lang="en-US" sz="960" dirty="0"/>
          </a:p>
        </p:txBody>
      </p:sp>
      <p:sp>
        <p:nvSpPr>
          <p:cNvPr id="91" name="Shape 89"/>
          <p:cNvSpPr/>
          <p:nvPr/>
        </p:nvSpPr>
        <p:spPr>
          <a:xfrm>
            <a:off x="9230429" y="2469355"/>
            <a:ext cx="244900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9230429" y="2255163"/>
            <a:ext cx="2452865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38.4 mil</a:t>
            </a:r>
            <a:endParaRPr lang="en-US" sz="960" dirty="0"/>
          </a:p>
        </p:txBody>
      </p:sp>
      <p:sp>
        <p:nvSpPr>
          <p:cNvPr id="93" name="Shape 91"/>
          <p:cNvSpPr/>
          <p:nvPr/>
        </p:nvSpPr>
        <p:spPr>
          <a:xfrm>
            <a:off x="511956" y="2739575"/>
            <a:ext cx="101562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511956" y="2525383"/>
            <a:ext cx="97647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Mayo</a:t>
            </a:r>
            <a:endParaRPr lang="en-US" sz="960" dirty="0"/>
          </a:p>
        </p:txBody>
      </p:sp>
      <p:sp>
        <p:nvSpPr>
          <p:cNvPr id="95" name="Shape 93"/>
          <p:cNvSpPr/>
          <p:nvPr/>
        </p:nvSpPr>
        <p:spPr>
          <a:xfrm>
            <a:off x="1527579" y="2739575"/>
            <a:ext cx="85903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1527579" y="2525383"/>
            <a:ext cx="815194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85.0 M</a:t>
            </a:r>
            <a:endParaRPr lang="en-US" sz="960" dirty="0"/>
          </a:p>
        </p:txBody>
      </p:sp>
      <p:sp>
        <p:nvSpPr>
          <p:cNvPr id="97" name="Shape 95"/>
          <p:cNvSpPr/>
          <p:nvPr/>
        </p:nvSpPr>
        <p:spPr>
          <a:xfrm>
            <a:off x="2386616" y="2739575"/>
            <a:ext cx="72626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2386616" y="2525383"/>
            <a:ext cx="6784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40.1 M</a:t>
            </a:r>
            <a:endParaRPr lang="en-US" sz="960" dirty="0"/>
          </a:p>
        </p:txBody>
      </p:sp>
      <p:sp>
        <p:nvSpPr>
          <p:cNvPr id="99" name="Shape 97"/>
          <p:cNvSpPr/>
          <p:nvPr/>
        </p:nvSpPr>
        <p:spPr>
          <a:xfrm>
            <a:off x="3112879" y="2739575"/>
            <a:ext cx="72626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3112879" y="2525383"/>
            <a:ext cx="6784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35.1 M</a:t>
            </a:r>
            <a:endParaRPr lang="en-US" sz="960" dirty="0"/>
          </a:p>
        </p:txBody>
      </p:sp>
      <p:sp>
        <p:nvSpPr>
          <p:cNvPr id="101" name="Shape 99"/>
          <p:cNvSpPr/>
          <p:nvPr/>
        </p:nvSpPr>
        <p:spPr>
          <a:xfrm>
            <a:off x="3839142" y="2739575"/>
            <a:ext cx="8878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3839142" y="2525383"/>
            <a:ext cx="84484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6.1 M</a:t>
            </a:r>
            <a:endParaRPr lang="en-US" sz="960" dirty="0"/>
          </a:p>
        </p:txBody>
      </p:sp>
      <p:sp>
        <p:nvSpPr>
          <p:cNvPr id="103" name="Shape 101"/>
          <p:cNvSpPr/>
          <p:nvPr/>
        </p:nvSpPr>
        <p:spPr>
          <a:xfrm>
            <a:off x="4726964" y="2739575"/>
            <a:ext cx="6267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4726964" y="2525383"/>
            <a:ext cx="575985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3.6 M</a:t>
            </a:r>
            <a:endParaRPr lang="en-US" sz="960" dirty="0"/>
          </a:p>
        </p:txBody>
      </p:sp>
      <p:sp>
        <p:nvSpPr>
          <p:cNvPr id="105" name="Shape 103"/>
          <p:cNvSpPr/>
          <p:nvPr/>
        </p:nvSpPr>
        <p:spPr>
          <a:xfrm>
            <a:off x="5353760" y="2739575"/>
            <a:ext cx="283211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5353760" y="2525383"/>
            <a:ext cx="284745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</a:t>
            </a:r>
            <a:endParaRPr lang="en-US" sz="960" dirty="0"/>
          </a:p>
        </p:txBody>
      </p:sp>
      <p:sp>
        <p:nvSpPr>
          <p:cNvPr id="107" name="Shape 105"/>
          <p:cNvSpPr/>
          <p:nvPr/>
        </p:nvSpPr>
        <p:spPr>
          <a:xfrm>
            <a:off x="8185870" y="2739575"/>
            <a:ext cx="104455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8185870" y="2525383"/>
            <a:ext cx="1006282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6.10 M MXN</a:t>
            </a:r>
            <a:endParaRPr lang="en-US" sz="960" dirty="0"/>
          </a:p>
        </p:txBody>
      </p:sp>
      <p:sp>
        <p:nvSpPr>
          <p:cNvPr id="109" name="Shape 107"/>
          <p:cNvSpPr/>
          <p:nvPr/>
        </p:nvSpPr>
        <p:spPr>
          <a:xfrm>
            <a:off x="9230429" y="2739575"/>
            <a:ext cx="244900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9230429" y="2525383"/>
            <a:ext cx="2452865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38.0 mil</a:t>
            </a:r>
            <a:endParaRPr lang="en-US" sz="960" dirty="0"/>
          </a:p>
        </p:txBody>
      </p:sp>
      <p:sp>
        <p:nvSpPr>
          <p:cNvPr id="111" name="Shape 109"/>
          <p:cNvSpPr/>
          <p:nvPr/>
        </p:nvSpPr>
        <p:spPr>
          <a:xfrm>
            <a:off x="511956" y="3009795"/>
            <a:ext cx="101562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511956" y="2795602"/>
            <a:ext cx="97647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Junio</a:t>
            </a:r>
            <a:endParaRPr lang="en-US" sz="960" dirty="0"/>
          </a:p>
        </p:txBody>
      </p:sp>
      <p:sp>
        <p:nvSpPr>
          <p:cNvPr id="113" name="Shape 111"/>
          <p:cNvSpPr/>
          <p:nvPr/>
        </p:nvSpPr>
        <p:spPr>
          <a:xfrm>
            <a:off x="1527579" y="3009795"/>
            <a:ext cx="85903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1527579" y="2795602"/>
            <a:ext cx="815194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109.0 M</a:t>
            </a:r>
            <a:endParaRPr lang="en-US" sz="960" dirty="0"/>
          </a:p>
        </p:txBody>
      </p:sp>
      <p:sp>
        <p:nvSpPr>
          <p:cNvPr id="115" name="Shape 113"/>
          <p:cNvSpPr/>
          <p:nvPr/>
        </p:nvSpPr>
        <p:spPr>
          <a:xfrm>
            <a:off x="2386616" y="3009795"/>
            <a:ext cx="72626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2386616" y="2795602"/>
            <a:ext cx="6784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50.6 M</a:t>
            </a:r>
            <a:endParaRPr lang="en-US" sz="960" dirty="0"/>
          </a:p>
        </p:txBody>
      </p:sp>
      <p:sp>
        <p:nvSpPr>
          <p:cNvPr id="117" name="Shape 115"/>
          <p:cNvSpPr/>
          <p:nvPr/>
        </p:nvSpPr>
        <p:spPr>
          <a:xfrm>
            <a:off x="3112879" y="3009795"/>
            <a:ext cx="72626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3112879" y="2795602"/>
            <a:ext cx="6784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46.8 M</a:t>
            </a:r>
            <a:endParaRPr lang="en-US" sz="960" dirty="0"/>
          </a:p>
        </p:txBody>
      </p:sp>
      <p:sp>
        <p:nvSpPr>
          <p:cNvPr id="119" name="Shape 117"/>
          <p:cNvSpPr/>
          <p:nvPr/>
        </p:nvSpPr>
        <p:spPr>
          <a:xfrm>
            <a:off x="3839142" y="3009795"/>
            <a:ext cx="8878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3839142" y="2795602"/>
            <a:ext cx="84484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7.1 M</a:t>
            </a:r>
            <a:endParaRPr lang="en-US" sz="960" dirty="0"/>
          </a:p>
        </p:txBody>
      </p:sp>
      <p:sp>
        <p:nvSpPr>
          <p:cNvPr id="121" name="Shape 119"/>
          <p:cNvSpPr/>
          <p:nvPr/>
        </p:nvSpPr>
        <p:spPr>
          <a:xfrm>
            <a:off x="4726964" y="3009795"/>
            <a:ext cx="6267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4726964" y="2795602"/>
            <a:ext cx="575985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4.4 M</a:t>
            </a:r>
            <a:endParaRPr lang="en-US" sz="960" dirty="0"/>
          </a:p>
        </p:txBody>
      </p:sp>
      <p:sp>
        <p:nvSpPr>
          <p:cNvPr id="123" name="Shape 121"/>
          <p:cNvSpPr/>
          <p:nvPr/>
        </p:nvSpPr>
        <p:spPr>
          <a:xfrm>
            <a:off x="5353760" y="3009795"/>
            <a:ext cx="283211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5353760" y="2795602"/>
            <a:ext cx="284745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</a:t>
            </a:r>
            <a:endParaRPr lang="en-US" sz="960" dirty="0"/>
          </a:p>
        </p:txBody>
      </p:sp>
      <p:sp>
        <p:nvSpPr>
          <p:cNvPr id="125" name="Shape 123"/>
          <p:cNvSpPr/>
          <p:nvPr/>
        </p:nvSpPr>
        <p:spPr>
          <a:xfrm>
            <a:off x="8185870" y="3009795"/>
            <a:ext cx="104455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8185870" y="2795602"/>
            <a:ext cx="1006282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7.82 M MXN</a:t>
            </a:r>
            <a:endParaRPr lang="en-US" sz="960" dirty="0"/>
          </a:p>
        </p:txBody>
      </p:sp>
      <p:sp>
        <p:nvSpPr>
          <p:cNvPr id="127" name="Shape 125"/>
          <p:cNvSpPr/>
          <p:nvPr/>
        </p:nvSpPr>
        <p:spPr>
          <a:xfrm>
            <a:off x="9230429" y="3009795"/>
            <a:ext cx="244900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9230429" y="2795602"/>
            <a:ext cx="2452865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63.4 mil</a:t>
            </a:r>
            <a:endParaRPr lang="en-US" sz="960" dirty="0"/>
          </a:p>
        </p:txBody>
      </p:sp>
      <p:sp>
        <p:nvSpPr>
          <p:cNvPr id="129" name="Shape 127"/>
          <p:cNvSpPr/>
          <p:nvPr/>
        </p:nvSpPr>
        <p:spPr>
          <a:xfrm>
            <a:off x="511956" y="3280015"/>
            <a:ext cx="101562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511956" y="3065822"/>
            <a:ext cx="97647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Julio</a:t>
            </a:r>
            <a:endParaRPr lang="en-US" sz="960" dirty="0"/>
          </a:p>
        </p:txBody>
      </p:sp>
      <p:sp>
        <p:nvSpPr>
          <p:cNvPr id="131" name="Shape 129"/>
          <p:cNvSpPr/>
          <p:nvPr/>
        </p:nvSpPr>
        <p:spPr>
          <a:xfrm>
            <a:off x="1527579" y="3280015"/>
            <a:ext cx="85903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1527579" y="3065822"/>
            <a:ext cx="815194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71.7 M</a:t>
            </a:r>
            <a:endParaRPr lang="en-US" sz="960" dirty="0"/>
          </a:p>
        </p:txBody>
      </p:sp>
      <p:sp>
        <p:nvSpPr>
          <p:cNvPr id="133" name="Shape 131"/>
          <p:cNvSpPr/>
          <p:nvPr/>
        </p:nvSpPr>
        <p:spPr>
          <a:xfrm>
            <a:off x="2386616" y="3280015"/>
            <a:ext cx="72626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2386616" y="3065822"/>
            <a:ext cx="6784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32.2 M</a:t>
            </a:r>
            <a:endParaRPr lang="en-US" sz="960" dirty="0"/>
          </a:p>
        </p:txBody>
      </p:sp>
      <p:sp>
        <p:nvSpPr>
          <p:cNvPr id="135" name="Shape 133"/>
          <p:cNvSpPr/>
          <p:nvPr/>
        </p:nvSpPr>
        <p:spPr>
          <a:xfrm>
            <a:off x="3112879" y="3280015"/>
            <a:ext cx="72626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6" name="Text 134"/>
          <p:cNvSpPr txBox="1"/>
          <p:nvPr/>
        </p:nvSpPr>
        <p:spPr>
          <a:xfrm>
            <a:off x="3112879" y="3065822"/>
            <a:ext cx="6784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31.1 M</a:t>
            </a:r>
            <a:endParaRPr lang="en-US" sz="960" dirty="0"/>
          </a:p>
        </p:txBody>
      </p:sp>
      <p:sp>
        <p:nvSpPr>
          <p:cNvPr id="137" name="Shape 135"/>
          <p:cNvSpPr/>
          <p:nvPr/>
        </p:nvSpPr>
        <p:spPr>
          <a:xfrm>
            <a:off x="3839142" y="3280015"/>
            <a:ext cx="8878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8" name="Text 136"/>
          <p:cNvSpPr txBox="1"/>
          <p:nvPr/>
        </p:nvSpPr>
        <p:spPr>
          <a:xfrm>
            <a:off x="3839142" y="3065822"/>
            <a:ext cx="84484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4.8 M</a:t>
            </a:r>
            <a:endParaRPr lang="en-US" sz="960" dirty="0"/>
          </a:p>
        </p:txBody>
      </p:sp>
      <p:sp>
        <p:nvSpPr>
          <p:cNvPr id="139" name="Shape 137"/>
          <p:cNvSpPr/>
          <p:nvPr/>
        </p:nvSpPr>
        <p:spPr>
          <a:xfrm>
            <a:off x="4726964" y="3280015"/>
            <a:ext cx="6267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0" name="Text 138"/>
          <p:cNvSpPr txBox="1"/>
          <p:nvPr/>
        </p:nvSpPr>
        <p:spPr>
          <a:xfrm>
            <a:off x="4726964" y="3065822"/>
            <a:ext cx="575985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3.7 M</a:t>
            </a:r>
            <a:endParaRPr lang="en-US" sz="960" dirty="0"/>
          </a:p>
        </p:txBody>
      </p:sp>
      <p:sp>
        <p:nvSpPr>
          <p:cNvPr id="141" name="Shape 139"/>
          <p:cNvSpPr/>
          <p:nvPr/>
        </p:nvSpPr>
        <p:spPr>
          <a:xfrm>
            <a:off x="5353760" y="3280015"/>
            <a:ext cx="283211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2" name="Text 140"/>
          <p:cNvSpPr txBox="1"/>
          <p:nvPr/>
        </p:nvSpPr>
        <p:spPr>
          <a:xfrm>
            <a:off x="5353760" y="3065822"/>
            <a:ext cx="284745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</a:t>
            </a:r>
            <a:endParaRPr lang="en-US" sz="960" dirty="0"/>
          </a:p>
        </p:txBody>
      </p:sp>
      <p:sp>
        <p:nvSpPr>
          <p:cNvPr id="143" name="Shape 141"/>
          <p:cNvSpPr/>
          <p:nvPr/>
        </p:nvSpPr>
        <p:spPr>
          <a:xfrm>
            <a:off x="8185870" y="3280015"/>
            <a:ext cx="104455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4" name="Text 142"/>
          <p:cNvSpPr txBox="1"/>
          <p:nvPr/>
        </p:nvSpPr>
        <p:spPr>
          <a:xfrm>
            <a:off x="8185870" y="3065822"/>
            <a:ext cx="1006282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5.08 M MXN</a:t>
            </a:r>
            <a:endParaRPr lang="en-US" sz="960" dirty="0"/>
          </a:p>
        </p:txBody>
      </p:sp>
      <p:sp>
        <p:nvSpPr>
          <p:cNvPr id="145" name="Shape 143"/>
          <p:cNvSpPr/>
          <p:nvPr/>
        </p:nvSpPr>
        <p:spPr>
          <a:xfrm>
            <a:off x="9230429" y="3280015"/>
            <a:ext cx="244900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6" name="Text 144"/>
          <p:cNvSpPr txBox="1"/>
          <p:nvPr/>
        </p:nvSpPr>
        <p:spPr>
          <a:xfrm>
            <a:off x="9230429" y="3065822"/>
            <a:ext cx="2452865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52.9 mil</a:t>
            </a:r>
            <a:endParaRPr lang="en-US" sz="960" dirty="0"/>
          </a:p>
        </p:txBody>
      </p:sp>
      <p:sp>
        <p:nvSpPr>
          <p:cNvPr id="147" name="Shape 145"/>
          <p:cNvSpPr/>
          <p:nvPr/>
        </p:nvSpPr>
        <p:spPr>
          <a:xfrm>
            <a:off x="511956" y="3550234"/>
            <a:ext cx="101562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8" name="Text 146"/>
          <p:cNvSpPr txBox="1"/>
          <p:nvPr/>
        </p:nvSpPr>
        <p:spPr>
          <a:xfrm>
            <a:off x="511956" y="3336042"/>
            <a:ext cx="97647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Agosto</a:t>
            </a:r>
            <a:endParaRPr lang="en-US" sz="960" dirty="0"/>
          </a:p>
        </p:txBody>
      </p:sp>
      <p:sp>
        <p:nvSpPr>
          <p:cNvPr id="149" name="Shape 147"/>
          <p:cNvSpPr/>
          <p:nvPr/>
        </p:nvSpPr>
        <p:spPr>
          <a:xfrm>
            <a:off x="1527579" y="3550234"/>
            <a:ext cx="85903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50" name="Text 148"/>
          <p:cNvSpPr txBox="1"/>
          <p:nvPr/>
        </p:nvSpPr>
        <p:spPr>
          <a:xfrm>
            <a:off x="1527579" y="3336042"/>
            <a:ext cx="815194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77.9 M</a:t>
            </a:r>
            <a:endParaRPr lang="en-US" sz="960" dirty="0"/>
          </a:p>
        </p:txBody>
      </p:sp>
      <p:sp>
        <p:nvSpPr>
          <p:cNvPr id="151" name="Shape 149"/>
          <p:cNvSpPr/>
          <p:nvPr/>
        </p:nvSpPr>
        <p:spPr>
          <a:xfrm>
            <a:off x="2386616" y="3550234"/>
            <a:ext cx="72626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52" name="Text 150"/>
          <p:cNvSpPr txBox="1"/>
          <p:nvPr/>
        </p:nvSpPr>
        <p:spPr>
          <a:xfrm>
            <a:off x="2386616" y="3336042"/>
            <a:ext cx="6784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34.9 M</a:t>
            </a:r>
            <a:endParaRPr lang="en-US" sz="960" dirty="0"/>
          </a:p>
        </p:txBody>
      </p:sp>
      <p:sp>
        <p:nvSpPr>
          <p:cNvPr id="153" name="Shape 151"/>
          <p:cNvSpPr/>
          <p:nvPr/>
        </p:nvSpPr>
        <p:spPr>
          <a:xfrm>
            <a:off x="3112879" y="3550234"/>
            <a:ext cx="72626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54" name="Text 152"/>
          <p:cNvSpPr txBox="1"/>
          <p:nvPr/>
        </p:nvSpPr>
        <p:spPr>
          <a:xfrm>
            <a:off x="3112879" y="3336042"/>
            <a:ext cx="6784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35.5 M</a:t>
            </a:r>
            <a:endParaRPr lang="en-US" sz="960" dirty="0"/>
          </a:p>
        </p:txBody>
      </p:sp>
      <p:sp>
        <p:nvSpPr>
          <p:cNvPr id="155" name="Shape 153"/>
          <p:cNvSpPr/>
          <p:nvPr/>
        </p:nvSpPr>
        <p:spPr>
          <a:xfrm>
            <a:off x="3839142" y="3550234"/>
            <a:ext cx="8878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56" name="Text 154"/>
          <p:cNvSpPr txBox="1"/>
          <p:nvPr/>
        </p:nvSpPr>
        <p:spPr>
          <a:xfrm>
            <a:off x="3839142" y="3336042"/>
            <a:ext cx="84484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4.4 M</a:t>
            </a:r>
            <a:endParaRPr lang="en-US" sz="960" dirty="0"/>
          </a:p>
        </p:txBody>
      </p:sp>
      <p:sp>
        <p:nvSpPr>
          <p:cNvPr id="157" name="Shape 155"/>
          <p:cNvSpPr/>
          <p:nvPr/>
        </p:nvSpPr>
        <p:spPr>
          <a:xfrm>
            <a:off x="4726964" y="3550234"/>
            <a:ext cx="6267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58" name="Text 156"/>
          <p:cNvSpPr txBox="1"/>
          <p:nvPr/>
        </p:nvSpPr>
        <p:spPr>
          <a:xfrm>
            <a:off x="4726964" y="3336042"/>
            <a:ext cx="575985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 M</a:t>
            </a:r>
            <a:endParaRPr lang="en-US" sz="960" dirty="0"/>
          </a:p>
        </p:txBody>
      </p:sp>
      <p:sp>
        <p:nvSpPr>
          <p:cNvPr id="159" name="Shape 157"/>
          <p:cNvSpPr/>
          <p:nvPr/>
        </p:nvSpPr>
        <p:spPr>
          <a:xfrm>
            <a:off x="5353760" y="3550234"/>
            <a:ext cx="283211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60" name="Text 158"/>
          <p:cNvSpPr txBox="1"/>
          <p:nvPr/>
        </p:nvSpPr>
        <p:spPr>
          <a:xfrm>
            <a:off x="5353760" y="3336042"/>
            <a:ext cx="284745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</a:t>
            </a:r>
            <a:endParaRPr lang="en-US" sz="960" dirty="0"/>
          </a:p>
        </p:txBody>
      </p:sp>
      <p:sp>
        <p:nvSpPr>
          <p:cNvPr id="161" name="Shape 159"/>
          <p:cNvSpPr/>
          <p:nvPr/>
        </p:nvSpPr>
        <p:spPr>
          <a:xfrm>
            <a:off x="8185870" y="3550234"/>
            <a:ext cx="104455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62" name="Text 160"/>
          <p:cNvSpPr txBox="1"/>
          <p:nvPr/>
        </p:nvSpPr>
        <p:spPr>
          <a:xfrm>
            <a:off x="8185870" y="3336042"/>
            <a:ext cx="1006282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5.17 M MXN</a:t>
            </a:r>
            <a:endParaRPr lang="en-US" sz="960" dirty="0"/>
          </a:p>
        </p:txBody>
      </p:sp>
      <p:sp>
        <p:nvSpPr>
          <p:cNvPr id="163" name="Shape 161"/>
          <p:cNvSpPr/>
          <p:nvPr/>
        </p:nvSpPr>
        <p:spPr>
          <a:xfrm>
            <a:off x="9230429" y="3550234"/>
            <a:ext cx="244900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64" name="Text 162"/>
          <p:cNvSpPr txBox="1"/>
          <p:nvPr/>
        </p:nvSpPr>
        <p:spPr>
          <a:xfrm>
            <a:off x="9230429" y="3336042"/>
            <a:ext cx="2452865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50.3 mil</a:t>
            </a:r>
            <a:endParaRPr lang="en-US" sz="960" dirty="0"/>
          </a:p>
        </p:txBody>
      </p:sp>
      <p:sp>
        <p:nvSpPr>
          <p:cNvPr id="165" name="Shape 163"/>
          <p:cNvSpPr/>
          <p:nvPr/>
        </p:nvSpPr>
        <p:spPr>
          <a:xfrm>
            <a:off x="511956" y="3820454"/>
            <a:ext cx="101562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66" name="Text 164"/>
          <p:cNvSpPr txBox="1"/>
          <p:nvPr/>
        </p:nvSpPr>
        <p:spPr>
          <a:xfrm>
            <a:off x="511956" y="3606262"/>
            <a:ext cx="97647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Septiembre</a:t>
            </a:r>
            <a:endParaRPr lang="en-US" sz="960" dirty="0"/>
          </a:p>
        </p:txBody>
      </p:sp>
      <p:sp>
        <p:nvSpPr>
          <p:cNvPr id="167" name="Shape 165"/>
          <p:cNvSpPr/>
          <p:nvPr/>
        </p:nvSpPr>
        <p:spPr>
          <a:xfrm>
            <a:off x="1527579" y="3820454"/>
            <a:ext cx="85903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68" name="Text 166"/>
          <p:cNvSpPr txBox="1"/>
          <p:nvPr/>
        </p:nvSpPr>
        <p:spPr>
          <a:xfrm>
            <a:off x="1527579" y="3606262"/>
            <a:ext cx="815194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65.6 M</a:t>
            </a:r>
            <a:endParaRPr lang="en-US" sz="960" dirty="0"/>
          </a:p>
        </p:txBody>
      </p:sp>
      <p:sp>
        <p:nvSpPr>
          <p:cNvPr id="169" name="Shape 167"/>
          <p:cNvSpPr/>
          <p:nvPr/>
        </p:nvSpPr>
        <p:spPr>
          <a:xfrm>
            <a:off x="2386616" y="3820454"/>
            <a:ext cx="72626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70" name="Text 168"/>
          <p:cNvSpPr txBox="1"/>
          <p:nvPr/>
        </p:nvSpPr>
        <p:spPr>
          <a:xfrm>
            <a:off x="2386616" y="3606262"/>
            <a:ext cx="6784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35.3 M</a:t>
            </a:r>
            <a:endParaRPr lang="en-US" sz="960" dirty="0"/>
          </a:p>
        </p:txBody>
      </p:sp>
      <p:sp>
        <p:nvSpPr>
          <p:cNvPr id="171" name="Shape 169"/>
          <p:cNvSpPr/>
          <p:nvPr/>
        </p:nvSpPr>
        <p:spPr>
          <a:xfrm>
            <a:off x="3112879" y="3820454"/>
            <a:ext cx="72626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72" name="Text 170"/>
          <p:cNvSpPr txBox="1"/>
          <p:nvPr/>
        </p:nvSpPr>
        <p:spPr>
          <a:xfrm>
            <a:off x="3112879" y="3606262"/>
            <a:ext cx="6784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24.4 M</a:t>
            </a:r>
            <a:endParaRPr lang="en-US" sz="960" dirty="0"/>
          </a:p>
        </p:txBody>
      </p:sp>
      <p:sp>
        <p:nvSpPr>
          <p:cNvPr id="173" name="Shape 171"/>
          <p:cNvSpPr/>
          <p:nvPr/>
        </p:nvSpPr>
        <p:spPr>
          <a:xfrm>
            <a:off x="3839142" y="3820454"/>
            <a:ext cx="8878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74" name="Text 172"/>
          <p:cNvSpPr txBox="1"/>
          <p:nvPr/>
        </p:nvSpPr>
        <p:spPr>
          <a:xfrm>
            <a:off x="3839142" y="3606262"/>
            <a:ext cx="84484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 M</a:t>
            </a:r>
            <a:endParaRPr lang="en-US" sz="960" dirty="0"/>
          </a:p>
        </p:txBody>
      </p:sp>
      <p:sp>
        <p:nvSpPr>
          <p:cNvPr id="175" name="Shape 173"/>
          <p:cNvSpPr/>
          <p:nvPr/>
        </p:nvSpPr>
        <p:spPr>
          <a:xfrm>
            <a:off x="4726964" y="3820454"/>
            <a:ext cx="6267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76" name="Text 174"/>
          <p:cNvSpPr txBox="1"/>
          <p:nvPr/>
        </p:nvSpPr>
        <p:spPr>
          <a:xfrm>
            <a:off x="4726964" y="3606262"/>
            <a:ext cx="575985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2.7 M</a:t>
            </a:r>
            <a:endParaRPr lang="en-US" sz="960" dirty="0"/>
          </a:p>
        </p:txBody>
      </p:sp>
      <p:sp>
        <p:nvSpPr>
          <p:cNvPr id="177" name="Shape 175"/>
          <p:cNvSpPr/>
          <p:nvPr/>
        </p:nvSpPr>
        <p:spPr>
          <a:xfrm>
            <a:off x="5353760" y="3820454"/>
            <a:ext cx="283211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78" name="Text 176"/>
          <p:cNvSpPr txBox="1"/>
          <p:nvPr/>
        </p:nvSpPr>
        <p:spPr>
          <a:xfrm>
            <a:off x="5353760" y="3606262"/>
            <a:ext cx="284745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</a:t>
            </a:r>
            <a:endParaRPr lang="en-US" sz="960" dirty="0"/>
          </a:p>
        </p:txBody>
      </p:sp>
      <p:sp>
        <p:nvSpPr>
          <p:cNvPr id="179" name="Shape 177"/>
          <p:cNvSpPr/>
          <p:nvPr/>
        </p:nvSpPr>
        <p:spPr>
          <a:xfrm>
            <a:off x="8185870" y="3820454"/>
            <a:ext cx="104455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80" name="Text 178"/>
          <p:cNvSpPr txBox="1"/>
          <p:nvPr/>
        </p:nvSpPr>
        <p:spPr>
          <a:xfrm>
            <a:off x="8185870" y="3606262"/>
            <a:ext cx="1006282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4.23 M MXN</a:t>
            </a:r>
            <a:endParaRPr lang="en-US" sz="960" dirty="0"/>
          </a:p>
        </p:txBody>
      </p:sp>
      <p:sp>
        <p:nvSpPr>
          <p:cNvPr id="181" name="Shape 179"/>
          <p:cNvSpPr/>
          <p:nvPr/>
        </p:nvSpPr>
        <p:spPr>
          <a:xfrm>
            <a:off x="9230429" y="3820454"/>
            <a:ext cx="244900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82" name="Text 180"/>
          <p:cNvSpPr txBox="1"/>
          <p:nvPr/>
        </p:nvSpPr>
        <p:spPr>
          <a:xfrm>
            <a:off x="9230429" y="3606262"/>
            <a:ext cx="2452865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36.6 mil</a:t>
            </a:r>
            <a:endParaRPr lang="en-US" sz="960" dirty="0"/>
          </a:p>
        </p:txBody>
      </p:sp>
      <p:sp>
        <p:nvSpPr>
          <p:cNvPr id="183" name="Shape 181"/>
          <p:cNvSpPr/>
          <p:nvPr/>
        </p:nvSpPr>
        <p:spPr>
          <a:xfrm>
            <a:off x="511956" y="4090674"/>
            <a:ext cx="101562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84" name="Text 182"/>
          <p:cNvSpPr txBox="1"/>
          <p:nvPr/>
        </p:nvSpPr>
        <p:spPr>
          <a:xfrm>
            <a:off x="511956" y="3876482"/>
            <a:ext cx="97647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</a:t>
            </a:r>
            <a:endParaRPr lang="en-US" sz="960" dirty="0"/>
          </a:p>
        </p:txBody>
      </p:sp>
      <p:sp>
        <p:nvSpPr>
          <p:cNvPr id="185" name="Shape 183"/>
          <p:cNvSpPr/>
          <p:nvPr/>
        </p:nvSpPr>
        <p:spPr>
          <a:xfrm>
            <a:off x="1527579" y="4090674"/>
            <a:ext cx="85903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86" name="Text 184"/>
          <p:cNvSpPr txBox="1"/>
          <p:nvPr/>
        </p:nvSpPr>
        <p:spPr>
          <a:xfrm>
            <a:off x="1527579" y="3876482"/>
            <a:ext cx="815194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667.4 M</a:t>
            </a:r>
            <a:endParaRPr lang="en-US" sz="960" dirty="0"/>
          </a:p>
        </p:txBody>
      </p:sp>
      <p:sp>
        <p:nvSpPr>
          <p:cNvPr id="187" name="Shape 185"/>
          <p:cNvSpPr/>
          <p:nvPr/>
        </p:nvSpPr>
        <p:spPr>
          <a:xfrm>
            <a:off x="2386616" y="4090674"/>
            <a:ext cx="72626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88" name="Text 186"/>
          <p:cNvSpPr txBox="1"/>
          <p:nvPr/>
        </p:nvSpPr>
        <p:spPr>
          <a:xfrm>
            <a:off x="2386616" y="3876482"/>
            <a:ext cx="6784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333.5 M</a:t>
            </a:r>
            <a:endParaRPr lang="en-US" sz="960" dirty="0"/>
          </a:p>
        </p:txBody>
      </p:sp>
      <p:sp>
        <p:nvSpPr>
          <p:cNvPr id="189" name="Shape 187"/>
          <p:cNvSpPr/>
          <p:nvPr/>
        </p:nvSpPr>
        <p:spPr>
          <a:xfrm>
            <a:off x="3112879" y="4090674"/>
            <a:ext cx="72626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90" name="Text 188"/>
          <p:cNvSpPr txBox="1"/>
          <p:nvPr/>
        </p:nvSpPr>
        <p:spPr>
          <a:xfrm>
            <a:off x="3112879" y="3876482"/>
            <a:ext cx="6784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251.1 M</a:t>
            </a:r>
            <a:endParaRPr lang="en-US" sz="960" dirty="0"/>
          </a:p>
        </p:txBody>
      </p:sp>
      <p:sp>
        <p:nvSpPr>
          <p:cNvPr id="191" name="Shape 189"/>
          <p:cNvSpPr/>
          <p:nvPr/>
        </p:nvSpPr>
        <p:spPr>
          <a:xfrm>
            <a:off x="3839142" y="4090674"/>
            <a:ext cx="88782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92" name="Text 190"/>
          <p:cNvSpPr txBox="1"/>
          <p:nvPr/>
        </p:nvSpPr>
        <p:spPr>
          <a:xfrm>
            <a:off x="3839142" y="3876482"/>
            <a:ext cx="844843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55.2 M</a:t>
            </a:r>
            <a:endParaRPr lang="en-US" sz="960" dirty="0"/>
          </a:p>
        </p:txBody>
      </p:sp>
      <p:sp>
        <p:nvSpPr>
          <p:cNvPr id="193" name="Shape 191"/>
          <p:cNvSpPr/>
          <p:nvPr/>
        </p:nvSpPr>
        <p:spPr>
          <a:xfrm>
            <a:off x="4726964" y="4090674"/>
            <a:ext cx="6267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94" name="Text 192"/>
          <p:cNvSpPr txBox="1"/>
          <p:nvPr/>
        </p:nvSpPr>
        <p:spPr>
          <a:xfrm>
            <a:off x="4726964" y="3876482"/>
            <a:ext cx="575985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27.4 M</a:t>
            </a:r>
            <a:endParaRPr lang="en-US" sz="960" dirty="0"/>
          </a:p>
        </p:txBody>
      </p:sp>
      <p:sp>
        <p:nvSpPr>
          <p:cNvPr id="195" name="Shape 193"/>
          <p:cNvSpPr/>
          <p:nvPr/>
        </p:nvSpPr>
        <p:spPr>
          <a:xfrm>
            <a:off x="5353760" y="4090674"/>
            <a:ext cx="283211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96" name="Text 194"/>
          <p:cNvSpPr txBox="1"/>
          <p:nvPr/>
        </p:nvSpPr>
        <p:spPr>
          <a:xfrm>
            <a:off x="5353760" y="3876482"/>
            <a:ext cx="284745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</a:t>
            </a:r>
            <a:endParaRPr lang="en-US" sz="960" dirty="0"/>
          </a:p>
        </p:txBody>
      </p:sp>
      <p:sp>
        <p:nvSpPr>
          <p:cNvPr id="197" name="Shape 195"/>
          <p:cNvSpPr/>
          <p:nvPr/>
        </p:nvSpPr>
        <p:spPr>
          <a:xfrm>
            <a:off x="8185870" y="4090674"/>
            <a:ext cx="104455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98" name="Text 196"/>
          <p:cNvSpPr txBox="1"/>
          <p:nvPr/>
        </p:nvSpPr>
        <p:spPr>
          <a:xfrm>
            <a:off x="8185870" y="3876482"/>
            <a:ext cx="1006282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57.7 M MXN</a:t>
            </a:r>
            <a:endParaRPr lang="en-US" sz="960" dirty="0"/>
          </a:p>
        </p:txBody>
      </p:sp>
      <p:sp>
        <p:nvSpPr>
          <p:cNvPr id="199" name="Shape 197"/>
          <p:cNvSpPr/>
          <p:nvPr/>
        </p:nvSpPr>
        <p:spPr>
          <a:xfrm>
            <a:off x="9230429" y="4090674"/>
            <a:ext cx="244900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00" name="Text 198"/>
          <p:cNvSpPr txBox="1"/>
          <p:nvPr/>
        </p:nvSpPr>
        <p:spPr>
          <a:xfrm>
            <a:off x="9230429" y="3876482"/>
            <a:ext cx="2452865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439 mil únicas</a:t>
            </a:r>
            <a:endParaRPr lang="en-US" sz="960" dirty="0"/>
          </a:p>
        </p:txBody>
      </p:sp>
      <p:sp>
        <p:nvSpPr>
          <p:cNvPr id="201" name="Shape 199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02" name="Text 200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03" name="Text 201"/>
          <p:cNvSpPr txBox="1"/>
          <p:nvPr/>
        </p:nvSpPr>
        <p:spPr>
          <a:xfrm>
            <a:off x="1409876" y="6077461"/>
            <a:ext cx="5321394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Septiembre es el mes base del ahorro por ser el más reciente y el más barato.</a:t>
            </a:r>
            <a:endParaRPr lang="en-US" sz="1100" dirty="0"/>
          </a:p>
        </p:txBody>
      </p:sp>
      <p:sp>
        <p:nvSpPr>
          <p:cNvPr id="204" name="Text 202"/>
          <p:cNvSpPr txBox="1"/>
          <p:nvPr/>
        </p:nvSpPr>
        <p:spPr>
          <a:xfrm>
            <a:off x="511956" y="6454684"/>
            <a:ext cx="7766103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E1 por mes y canal; personas con baja por mes (E4a) y únicas (E5), enero a septiembre 2026. Respuesta: clic, apertura, lectura y clic in-app.</a:t>
            </a:r>
            <a:endParaRPr lang="en-US" sz="840" dirty="0"/>
          </a:p>
        </p:txBody>
      </p:sp>
      <p:sp>
        <p:nvSpPr>
          <p:cNvPr id="205" name="Text 203"/>
          <p:cNvSpPr txBox="1"/>
          <p:nvPr/>
        </p:nvSpPr>
        <p:spPr>
          <a:xfrm>
            <a:off x="11509891" y="6454684"/>
            <a:ext cx="193232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107</a:t>
            </a:r>
            <a:endParaRPr lang="en-US" sz="84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Detalle por día: el jueves trae más respuestas (90 por mil mensajes); el fin de semana se manda la mitad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388475"/>
            <a:ext cx="681653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11956" y="1210125"/>
            <a:ext cx="632489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DÍA</a:t>
            </a:r>
            <a:endParaRPr lang="en-US" sz="790" dirty="0"/>
          </a:p>
        </p:txBody>
      </p:sp>
      <p:sp>
        <p:nvSpPr>
          <p:cNvPr id="5" name="Shape 3"/>
          <p:cNvSpPr/>
          <p:nvPr/>
        </p:nvSpPr>
        <p:spPr>
          <a:xfrm>
            <a:off x="1193609" y="1388475"/>
            <a:ext cx="1701346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93609" y="1210125"/>
            <a:ext cx="1682772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MENSAJES EN NUEVE MESES</a:t>
            </a:r>
            <a:endParaRPr lang="en-US" sz="790" dirty="0"/>
          </a:p>
        </p:txBody>
      </p:sp>
      <p:sp>
        <p:nvSpPr>
          <p:cNvPr id="7" name="Shape 5"/>
          <p:cNvSpPr/>
          <p:nvPr/>
        </p:nvSpPr>
        <p:spPr>
          <a:xfrm>
            <a:off x="2894955" y="1388475"/>
            <a:ext cx="2341554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94955" y="1210125"/>
            <a:ext cx="2342187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CADA 100 MENSAJES DE LA SEMANA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5236509" y="1388475"/>
            <a:ext cx="2283682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36509" y="1210125"/>
            <a:ext cx="2282579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RESPUESTAS POR CADA MIL MENSAJES</a:t>
            </a:r>
            <a:endParaRPr lang="en-US" sz="790" dirty="0"/>
          </a:p>
        </p:txBody>
      </p:sp>
      <p:sp>
        <p:nvSpPr>
          <p:cNvPr id="11" name="Shape 9"/>
          <p:cNvSpPr/>
          <p:nvPr/>
        </p:nvSpPr>
        <p:spPr>
          <a:xfrm>
            <a:off x="7520191" y="1388475"/>
            <a:ext cx="2651109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20191" y="1210125"/>
            <a:ext cx="2661028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BAJAS POR CADA MIL CORREOS ENTREGADOS</a:t>
            </a:r>
            <a:endParaRPr lang="en-US" sz="790" dirty="0"/>
          </a:p>
        </p:txBody>
      </p:sp>
      <p:sp>
        <p:nvSpPr>
          <p:cNvPr id="13" name="Shape 11"/>
          <p:cNvSpPr/>
          <p:nvPr/>
        </p:nvSpPr>
        <p:spPr>
          <a:xfrm>
            <a:off x="10171300" y="1388475"/>
            <a:ext cx="1508138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171300" y="1210125"/>
            <a:ext cx="1483768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 ENTREGADOS</a:t>
            </a:r>
            <a:endParaRPr lang="en-US" sz="790" dirty="0"/>
          </a:p>
        </p:txBody>
      </p:sp>
      <p:sp>
        <p:nvSpPr>
          <p:cNvPr id="15" name="Shape 13"/>
          <p:cNvSpPr/>
          <p:nvPr/>
        </p:nvSpPr>
        <p:spPr>
          <a:xfrm>
            <a:off x="511956" y="1658695"/>
            <a:ext cx="68165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1956" y="1444503"/>
            <a:ext cx="63248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Lunes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1193609" y="1658695"/>
            <a:ext cx="170134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93609" y="1444503"/>
            <a:ext cx="1682772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124.0 M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2894955" y="1658695"/>
            <a:ext cx="234155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894955" y="1444503"/>
            <a:ext cx="23421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5236509" y="1658695"/>
            <a:ext cx="228368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36509" y="1444503"/>
            <a:ext cx="228257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7520191" y="1658695"/>
            <a:ext cx="265110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20191" y="1444503"/>
            <a:ext cx="266102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2.3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10171300" y="1658695"/>
            <a:ext cx="150813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171300" y="1444503"/>
            <a:ext cx="148376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6.9 M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511956" y="1928915"/>
            <a:ext cx="68165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11956" y="1714723"/>
            <a:ext cx="63248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Martes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1193609" y="1928915"/>
            <a:ext cx="170134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193609" y="1714723"/>
            <a:ext cx="1682772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113.6 M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2894955" y="1928915"/>
            <a:ext cx="234155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894955" y="1714723"/>
            <a:ext cx="23421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5236509" y="1928915"/>
            <a:ext cx="228368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236509" y="1714723"/>
            <a:ext cx="228257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7520191" y="1928915"/>
            <a:ext cx="265110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520191" y="1714723"/>
            <a:ext cx="266102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10171300" y="1928915"/>
            <a:ext cx="150813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171300" y="1714723"/>
            <a:ext cx="148376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7.9 M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511956" y="2199135"/>
            <a:ext cx="68165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11956" y="1984943"/>
            <a:ext cx="63248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Miércoles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1193609" y="2199135"/>
            <a:ext cx="170134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193609" y="1984943"/>
            <a:ext cx="1682772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92.2 M</a:t>
            </a: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2894955" y="2199135"/>
            <a:ext cx="234155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894955" y="1984943"/>
            <a:ext cx="23421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960" dirty="0"/>
          </a:p>
        </p:txBody>
      </p:sp>
      <p:sp>
        <p:nvSpPr>
          <p:cNvPr id="45" name="Shape 43"/>
          <p:cNvSpPr/>
          <p:nvPr/>
        </p:nvSpPr>
        <p:spPr>
          <a:xfrm>
            <a:off x="5236509" y="2199135"/>
            <a:ext cx="228368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236509" y="1984943"/>
            <a:ext cx="228257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</a:t>
            </a:r>
            <a:endParaRPr lang="en-US" sz="960" dirty="0"/>
          </a:p>
        </p:txBody>
      </p:sp>
      <p:sp>
        <p:nvSpPr>
          <p:cNvPr id="47" name="Shape 45"/>
          <p:cNvSpPr/>
          <p:nvPr/>
        </p:nvSpPr>
        <p:spPr>
          <a:xfrm>
            <a:off x="7520191" y="2199135"/>
            <a:ext cx="265110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520191" y="1984943"/>
            <a:ext cx="266102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4.1</a:t>
            </a:r>
            <a:endParaRPr lang="en-US" sz="960" dirty="0"/>
          </a:p>
        </p:txBody>
      </p:sp>
      <p:sp>
        <p:nvSpPr>
          <p:cNvPr id="49" name="Shape 47"/>
          <p:cNvSpPr/>
          <p:nvPr/>
        </p:nvSpPr>
        <p:spPr>
          <a:xfrm>
            <a:off x="10171300" y="2199135"/>
            <a:ext cx="150813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171300" y="1984943"/>
            <a:ext cx="148376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5.8 M</a:t>
            </a:r>
            <a:endParaRPr lang="en-US" sz="960" dirty="0"/>
          </a:p>
        </p:txBody>
      </p:sp>
      <p:sp>
        <p:nvSpPr>
          <p:cNvPr id="51" name="Shape 49"/>
          <p:cNvSpPr/>
          <p:nvPr/>
        </p:nvSpPr>
        <p:spPr>
          <a:xfrm>
            <a:off x="511956" y="2469355"/>
            <a:ext cx="68165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11956" y="2255163"/>
            <a:ext cx="63248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Jueves</a:t>
            </a:r>
            <a:endParaRPr lang="en-US" sz="960" dirty="0"/>
          </a:p>
        </p:txBody>
      </p:sp>
      <p:sp>
        <p:nvSpPr>
          <p:cNvPr id="53" name="Shape 51"/>
          <p:cNvSpPr/>
          <p:nvPr/>
        </p:nvSpPr>
        <p:spPr>
          <a:xfrm>
            <a:off x="1193609" y="2469355"/>
            <a:ext cx="170134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193609" y="2255163"/>
            <a:ext cx="1682772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110.0 M</a:t>
            </a:r>
            <a:endParaRPr lang="en-US" sz="960" dirty="0"/>
          </a:p>
        </p:txBody>
      </p:sp>
      <p:sp>
        <p:nvSpPr>
          <p:cNvPr id="55" name="Shape 53"/>
          <p:cNvSpPr/>
          <p:nvPr/>
        </p:nvSpPr>
        <p:spPr>
          <a:xfrm>
            <a:off x="2894955" y="2469355"/>
            <a:ext cx="234155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2894955" y="2255163"/>
            <a:ext cx="23421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960" dirty="0"/>
          </a:p>
        </p:txBody>
      </p:sp>
      <p:sp>
        <p:nvSpPr>
          <p:cNvPr id="57" name="Shape 55"/>
          <p:cNvSpPr/>
          <p:nvPr/>
        </p:nvSpPr>
        <p:spPr>
          <a:xfrm>
            <a:off x="5236509" y="2469355"/>
            <a:ext cx="228368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236509" y="2255163"/>
            <a:ext cx="228257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</a:t>
            </a:r>
            <a:endParaRPr lang="en-US" sz="960" dirty="0"/>
          </a:p>
        </p:txBody>
      </p:sp>
      <p:sp>
        <p:nvSpPr>
          <p:cNvPr id="59" name="Shape 57"/>
          <p:cNvSpPr/>
          <p:nvPr/>
        </p:nvSpPr>
        <p:spPr>
          <a:xfrm>
            <a:off x="7520191" y="2469355"/>
            <a:ext cx="265110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520191" y="2255163"/>
            <a:ext cx="266102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3.6</a:t>
            </a:r>
            <a:endParaRPr lang="en-US" sz="960" dirty="0"/>
          </a:p>
        </p:txBody>
      </p:sp>
      <p:sp>
        <p:nvSpPr>
          <p:cNvPr id="61" name="Shape 59"/>
          <p:cNvSpPr/>
          <p:nvPr/>
        </p:nvSpPr>
        <p:spPr>
          <a:xfrm>
            <a:off x="10171300" y="2469355"/>
            <a:ext cx="150813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0171300" y="2255163"/>
            <a:ext cx="148376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11.1 M</a:t>
            </a:r>
            <a:endParaRPr lang="en-US" sz="960" dirty="0"/>
          </a:p>
        </p:txBody>
      </p:sp>
      <p:sp>
        <p:nvSpPr>
          <p:cNvPr id="63" name="Shape 61"/>
          <p:cNvSpPr/>
          <p:nvPr/>
        </p:nvSpPr>
        <p:spPr>
          <a:xfrm>
            <a:off x="511956" y="2739575"/>
            <a:ext cx="68165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11956" y="2525383"/>
            <a:ext cx="63248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Viernes</a:t>
            </a:r>
            <a:endParaRPr lang="en-US" sz="960" dirty="0"/>
          </a:p>
        </p:txBody>
      </p:sp>
      <p:sp>
        <p:nvSpPr>
          <p:cNvPr id="65" name="Shape 63"/>
          <p:cNvSpPr/>
          <p:nvPr/>
        </p:nvSpPr>
        <p:spPr>
          <a:xfrm>
            <a:off x="1193609" y="2739575"/>
            <a:ext cx="170134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1193609" y="2525383"/>
            <a:ext cx="1682772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111.7 M</a:t>
            </a:r>
            <a:endParaRPr lang="en-US" sz="960" dirty="0"/>
          </a:p>
        </p:txBody>
      </p:sp>
      <p:sp>
        <p:nvSpPr>
          <p:cNvPr id="67" name="Shape 65"/>
          <p:cNvSpPr/>
          <p:nvPr/>
        </p:nvSpPr>
        <p:spPr>
          <a:xfrm>
            <a:off x="2894955" y="2739575"/>
            <a:ext cx="234155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2894955" y="2525383"/>
            <a:ext cx="23421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960" dirty="0"/>
          </a:p>
        </p:txBody>
      </p:sp>
      <p:sp>
        <p:nvSpPr>
          <p:cNvPr id="69" name="Shape 67"/>
          <p:cNvSpPr/>
          <p:nvPr/>
        </p:nvSpPr>
        <p:spPr>
          <a:xfrm>
            <a:off x="5236509" y="2739575"/>
            <a:ext cx="228368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5236509" y="2525383"/>
            <a:ext cx="228257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</a:t>
            </a:r>
            <a:endParaRPr lang="en-US" sz="960" dirty="0"/>
          </a:p>
        </p:txBody>
      </p:sp>
      <p:sp>
        <p:nvSpPr>
          <p:cNvPr id="71" name="Shape 69"/>
          <p:cNvSpPr/>
          <p:nvPr/>
        </p:nvSpPr>
        <p:spPr>
          <a:xfrm>
            <a:off x="7520191" y="2739575"/>
            <a:ext cx="265110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7520191" y="2525383"/>
            <a:ext cx="266102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2.7</a:t>
            </a:r>
            <a:endParaRPr lang="en-US" sz="960" dirty="0"/>
          </a:p>
        </p:txBody>
      </p:sp>
      <p:sp>
        <p:nvSpPr>
          <p:cNvPr id="73" name="Shape 71"/>
          <p:cNvSpPr/>
          <p:nvPr/>
        </p:nvSpPr>
        <p:spPr>
          <a:xfrm>
            <a:off x="10171300" y="2739575"/>
            <a:ext cx="150813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10171300" y="2525383"/>
            <a:ext cx="148376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5.7 M</a:t>
            </a:r>
            <a:endParaRPr lang="en-US" sz="960" dirty="0"/>
          </a:p>
        </p:txBody>
      </p:sp>
      <p:sp>
        <p:nvSpPr>
          <p:cNvPr id="75" name="Shape 73"/>
          <p:cNvSpPr/>
          <p:nvPr/>
        </p:nvSpPr>
        <p:spPr>
          <a:xfrm>
            <a:off x="511956" y="3009795"/>
            <a:ext cx="68165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511956" y="2795602"/>
            <a:ext cx="63248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Sábado</a:t>
            </a:r>
            <a:endParaRPr lang="en-US" sz="960" dirty="0"/>
          </a:p>
        </p:txBody>
      </p:sp>
      <p:sp>
        <p:nvSpPr>
          <p:cNvPr id="77" name="Shape 75"/>
          <p:cNvSpPr/>
          <p:nvPr/>
        </p:nvSpPr>
        <p:spPr>
          <a:xfrm>
            <a:off x="1193609" y="3009795"/>
            <a:ext cx="170134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193609" y="2795602"/>
            <a:ext cx="1682772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64.7 M</a:t>
            </a:r>
            <a:endParaRPr lang="en-US" sz="960" dirty="0"/>
          </a:p>
        </p:txBody>
      </p:sp>
      <p:sp>
        <p:nvSpPr>
          <p:cNvPr id="79" name="Shape 77"/>
          <p:cNvSpPr/>
          <p:nvPr/>
        </p:nvSpPr>
        <p:spPr>
          <a:xfrm>
            <a:off x="2894955" y="3009795"/>
            <a:ext cx="234155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2894955" y="2795602"/>
            <a:ext cx="23421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60" dirty="0"/>
          </a:p>
        </p:txBody>
      </p:sp>
      <p:sp>
        <p:nvSpPr>
          <p:cNvPr id="81" name="Shape 79"/>
          <p:cNvSpPr/>
          <p:nvPr/>
        </p:nvSpPr>
        <p:spPr>
          <a:xfrm>
            <a:off x="5236509" y="3009795"/>
            <a:ext cx="228368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5236509" y="2795602"/>
            <a:ext cx="228257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</a:t>
            </a:r>
            <a:endParaRPr lang="en-US" sz="960" dirty="0"/>
          </a:p>
        </p:txBody>
      </p:sp>
      <p:sp>
        <p:nvSpPr>
          <p:cNvPr id="83" name="Shape 81"/>
          <p:cNvSpPr/>
          <p:nvPr/>
        </p:nvSpPr>
        <p:spPr>
          <a:xfrm>
            <a:off x="7520191" y="3009795"/>
            <a:ext cx="265110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7520191" y="2795602"/>
            <a:ext cx="266102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5.5</a:t>
            </a:r>
            <a:endParaRPr lang="en-US" sz="960" dirty="0"/>
          </a:p>
        </p:txBody>
      </p:sp>
      <p:sp>
        <p:nvSpPr>
          <p:cNvPr id="85" name="Shape 83"/>
          <p:cNvSpPr/>
          <p:nvPr/>
        </p:nvSpPr>
        <p:spPr>
          <a:xfrm>
            <a:off x="10171300" y="3009795"/>
            <a:ext cx="150813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10171300" y="2795602"/>
            <a:ext cx="148376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2.3 M</a:t>
            </a:r>
            <a:endParaRPr lang="en-US" sz="960" dirty="0"/>
          </a:p>
        </p:txBody>
      </p:sp>
      <p:sp>
        <p:nvSpPr>
          <p:cNvPr id="87" name="Shape 85"/>
          <p:cNvSpPr/>
          <p:nvPr/>
        </p:nvSpPr>
        <p:spPr>
          <a:xfrm>
            <a:off x="511956" y="3280015"/>
            <a:ext cx="68165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511956" y="3065822"/>
            <a:ext cx="63248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Domingo</a:t>
            </a:r>
            <a:endParaRPr lang="en-US" sz="960" dirty="0"/>
          </a:p>
        </p:txBody>
      </p:sp>
      <p:sp>
        <p:nvSpPr>
          <p:cNvPr id="89" name="Shape 87"/>
          <p:cNvSpPr/>
          <p:nvPr/>
        </p:nvSpPr>
        <p:spPr>
          <a:xfrm>
            <a:off x="1193609" y="3280015"/>
            <a:ext cx="170134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1193609" y="3065822"/>
            <a:ext cx="1682772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51.2 M</a:t>
            </a:r>
            <a:endParaRPr lang="en-US" sz="960" dirty="0"/>
          </a:p>
        </p:txBody>
      </p:sp>
      <p:sp>
        <p:nvSpPr>
          <p:cNvPr id="91" name="Shape 89"/>
          <p:cNvSpPr/>
          <p:nvPr/>
        </p:nvSpPr>
        <p:spPr>
          <a:xfrm>
            <a:off x="2894955" y="3280015"/>
            <a:ext cx="234155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2894955" y="3065822"/>
            <a:ext cx="23421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960" dirty="0"/>
          </a:p>
        </p:txBody>
      </p:sp>
      <p:sp>
        <p:nvSpPr>
          <p:cNvPr id="93" name="Shape 91"/>
          <p:cNvSpPr/>
          <p:nvPr/>
        </p:nvSpPr>
        <p:spPr>
          <a:xfrm>
            <a:off x="5236509" y="3280015"/>
            <a:ext cx="228368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5236509" y="3065822"/>
            <a:ext cx="228257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</a:t>
            </a:r>
            <a:endParaRPr lang="en-US" sz="960" dirty="0"/>
          </a:p>
        </p:txBody>
      </p:sp>
      <p:sp>
        <p:nvSpPr>
          <p:cNvPr id="95" name="Shape 93"/>
          <p:cNvSpPr/>
          <p:nvPr/>
        </p:nvSpPr>
        <p:spPr>
          <a:xfrm>
            <a:off x="7520191" y="3280015"/>
            <a:ext cx="265110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7520191" y="3065822"/>
            <a:ext cx="266102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7.7</a:t>
            </a:r>
            <a:endParaRPr lang="en-US" sz="960" dirty="0"/>
          </a:p>
        </p:txBody>
      </p:sp>
      <p:sp>
        <p:nvSpPr>
          <p:cNvPr id="97" name="Shape 95"/>
          <p:cNvSpPr/>
          <p:nvPr/>
        </p:nvSpPr>
        <p:spPr>
          <a:xfrm>
            <a:off x="10171300" y="3280015"/>
            <a:ext cx="150813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10171300" y="3065822"/>
            <a:ext cx="148376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 M</a:t>
            </a:r>
            <a:endParaRPr lang="en-US" sz="960" dirty="0"/>
          </a:p>
        </p:txBody>
      </p:sp>
      <p:sp>
        <p:nvSpPr>
          <p:cNvPr id="99" name="Shape 97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101" name="Text 99"/>
          <p:cNvSpPr txBox="1"/>
          <p:nvPr/>
        </p:nvSpPr>
        <p:spPr>
          <a:xfrm>
            <a:off x="1409876" y="6077461"/>
            <a:ext cx="4167883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día importa menos que a quién y por qué canal se escribe.</a:t>
            </a:r>
            <a:endParaRPr lang="en-US" sz="1100" dirty="0"/>
          </a:p>
        </p:txBody>
      </p:sp>
      <p:sp>
        <p:nvSpPr>
          <p:cNvPr id="102" name="Text 100"/>
          <p:cNvSpPr txBox="1"/>
          <p:nvPr/>
        </p:nvSpPr>
        <p:spPr>
          <a:xfrm>
            <a:off x="511956" y="6454684"/>
            <a:ext cx="6619267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día de la semana, canal y equipo (E10), enero a septiembre 2026; bajas = eventos de baja de correo.</a:t>
            </a:r>
            <a:endParaRPr lang="en-US" sz="840" dirty="0"/>
          </a:p>
        </p:txBody>
      </p:sp>
      <p:sp>
        <p:nvSpPr>
          <p:cNvPr id="103" name="Text 101"/>
          <p:cNvSpPr txBox="1"/>
          <p:nvPr/>
        </p:nvSpPr>
        <p:spPr>
          <a:xfrm>
            <a:off x="11509891" y="6454684"/>
            <a:ext cx="193232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107</a:t>
            </a:r>
            <a:endParaRPr lang="en-US" sz="84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330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Detalle semanal: la semana del 1 de junio tuvo más mensajes (40 M), por BillPay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057671"/>
            <a:ext cx="1179292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11956" y="879320"/>
            <a:ext cx="1145057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 DEL</a:t>
            </a:r>
            <a:endParaRPr lang="en-US" sz="790" dirty="0"/>
          </a:p>
        </p:txBody>
      </p:sp>
      <p:sp>
        <p:nvSpPr>
          <p:cNvPr id="5" name="Shape 3"/>
          <p:cNvSpPr/>
          <p:nvPr/>
        </p:nvSpPr>
        <p:spPr>
          <a:xfrm>
            <a:off x="1691248" y="1057671"/>
            <a:ext cx="1007033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91248" y="879320"/>
            <a:ext cx="967629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MENSAJES</a:t>
            </a:r>
            <a:endParaRPr lang="en-US" sz="790" dirty="0"/>
          </a:p>
        </p:txBody>
      </p:sp>
      <p:sp>
        <p:nvSpPr>
          <p:cNvPr id="7" name="Shape 5"/>
          <p:cNvSpPr/>
          <p:nvPr/>
        </p:nvSpPr>
        <p:spPr>
          <a:xfrm>
            <a:off x="2698281" y="1057671"/>
            <a:ext cx="1536019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8281" y="879320"/>
            <a:ext cx="1349238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RESP. POR MIL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4234299" y="1057671"/>
            <a:ext cx="1179292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34299" y="879320"/>
            <a:ext cx="1145057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 DEL</a:t>
            </a:r>
            <a:endParaRPr lang="en-US" sz="790" dirty="0"/>
          </a:p>
        </p:txBody>
      </p:sp>
      <p:sp>
        <p:nvSpPr>
          <p:cNvPr id="11" name="Shape 9"/>
          <p:cNvSpPr/>
          <p:nvPr/>
        </p:nvSpPr>
        <p:spPr>
          <a:xfrm>
            <a:off x="5413591" y="1057671"/>
            <a:ext cx="1007033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13591" y="879320"/>
            <a:ext cx="967629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MENSAJES</a:t>
            </a:r>
            <a:endParaRPr lang="en-US" sz="790" dirty="0"/>
          </a:p>
        </p:txBody>
      </p:sp>
      <p:sp>
        <p:nvSpPr>
          <p:cNvPr id="13" name="Shape 11"/>
          <p:cNvSpPr/>
          <p:nvPr/>
        </p:nvSpPr>
        <p:spPr>
          <a:xfrm>
            <a:off x="6420624" y="1057671"/>
            <a:ext cx="1536019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20624" y="879320"/>
            <a:ext cx="1349238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RESP. POR MIL</a:t>
            </a:r>
            <a:endParaRPr lang="en-US" sz="790" dirty="0"/>
          </a:p>
        </p:txBody>
      </p:sp>
      <p:sp>
        <p:nvSpPr>
          <p:cNvPr id="15" name="Shape 13"/>
          <p:cNvSpPr/>
          <p:nvPr/>
        </p:nvSpPr>
        <p:spPr>
          <a:xfrm>
            <a:off x="7956642" y="1057671"/>
            <a:ext cx="1179292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56642" y="879320"/>
            <a:ext cx="1145057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SEMANA DEL</a:t>
            </a:r>
            <a:endParaRPr lang="en-US" sz="790" dirty="0"/>
          </a:p>
        </p:txBody>
      </p:sp>
      <p:sp>
        <p:nvSpPr>
          <p:cNvPr id="17" name="Shape 15"/>
          <p:cNvSpPr/>
          <p:nvPr/>
        </p:nvSpPr>
        <p:spPr>
          <a:xfrm>
            <a:off x="9135935" y="1057671"/>
            <a:ext cx="1007033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35935" y="879320"/>
            <a:ext cx="967629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MENSAJES</a:t>
            </a:r>
            <a:endParaRPr lang="en-US" sz="790" dirty="0"/>
          </a:p>
        </p:txBody>
      </p:sp>
      <p:sp>
        <p:nvSpPr>
          <p:cNvPr id="19" name="Shape 17"/>
          <p:cNvSpPr/>
          <p:nvPr/>
        </p:nvSpPr>
        <p:spPr>
          <a:xfrm>
            <a:off x="10142967" y="1057671"/>
            <a:ext cx="1536471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142967" y="879320"/>
            <a:ext cx="1349704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RESP. POR MIL</a:t>
            </a:r>
            <a:endParaRPr lang="en-US" sz="790" dirty="0"/>
          </a:p>
        </p:txBody>
      </p:sp>
      <p:sp>
        <p:nvSpPr>
          <p:cNvPr id="21" name="Shape 19"/>
          <p:cNvSpPr/>
          <p:nvPr/>
        </p:nvSpPr>
        <p:spPr>
          <a:xfrm>
            <a:off x="511956" y="1327890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1956" y="1113698"/>
            <a:ext cx="114505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 dic 2025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1691248" y="1327890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691248" y="1113698"/>
            <a:ext cx="96762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4.3 M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2698281" y="1327890"/>
            <a:ext cx="153601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698281" y="1113698"/>
            <a:ext cx="13492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4234299" y="1327890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234299" y="1113698"/>
            <a:ext cx="114505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abr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5413591" y="1327890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13591" y="1113698"/>
            <a:ext cx="96762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14.2 M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6420624" y="1327890"/>
            <a:ext cx="153601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20624" y="1113698"/>
            <a:ext cx="13492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7956642" y="1327890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956642" y="1113698"/>
            <a:ext cx="114505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jul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9135935" y="1327890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135935" y="1113698"/>
            <a:ext cx="96762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17.4 M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10142967" y="1327890"/>
            <a:ext cx="153647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142967" y="1113698"/>
            <a:ext cx="1349704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511956" y="1598110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11956" y="1383918"/>
            <a:ext cx="114505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ene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1691248" y="1598110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691248" y="1383918"/>
            <a:ext cx="96762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12.3 M</a:t>
            </a: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2698281" y="1598110"/>
            <a:ext cx="153601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698281" y="1383918"/>
            <a:ext cx="13492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</a:t>
            </a:r>
            <a:endParaRPr lang="en-US" sz="960" dirty="0"/>
          </a:p>
        </p:txBody>
      </p:sp>
      <p:sp>
        <p:nvSpPr>
          <p:cNvPr id="45" name="Shape 43"/>
          <p:cNvSpPr/>
          <p:nvPr/>
        </p:nvSpPr>
        <p:spPr>
          <a:xfrm>
            <a:off x="4234299" y="1598110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234299" y="1383918"/>
            <a:ext cx="114505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abr</a:t>
            </a:r>
            <a:endParaRPr lang="en-US" sz="960" dirty="0"/>
          </a:p>
        </p:txBody>
      </p:sp>
      <p:sp>
        <p:nvSpPr>
          <p:cNvPr id="47" name="Shape 45"/>
          <p:cNvSpPr/>
          <p:nvPr/>
        </p:nvSpPr>
        <p:spPr>
          <a:xfrm>
            <a:off x="5413591" y="1598110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413591" y="1383918"/>
            <a:ext cx="96762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18.3 M</a:t>
            </a:r>
            <a:endParaRPr lang="en-US" sz="960" dirty="0"/>
          </a:p>
        </p:txBody>
      </p:sp>
      <p:sp>
        <p:nvSpPr>
          <p:cNvPr id="49" name="Shape 47"/>
          <p:cNvSpPr/>
          <p:nvPr/>
        </p:nvSpPr>
        <p:spPr>
          <a:xfrm>
            <a:off x="6420624" y="1598110"/>
            <a:ext cx="153601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420624" y="1383918"/>
            <a:ext cx="13492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</a:t>
            </a:r>
            <a:endParaRPr lang="en-US" sz="960" dirty="0"/>
          </a:p>
        </p:txBody>
      </p:sp>
      <p:sp>
        <p:nvSpPr>
          <p:cNvPr id="51" name="Shape 49"/>
          <p:cNvSpPr/>
          <p:nvPr/>
        </p:nvSpPr>
        <p:spPr>
          <a:xfrm>
            <a:off x="7956642" y="1598110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956642" y="1383918"/>
            <a:ext cx="114505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jul</a:t>
            </a:r>
            <a:endParaRPr lang="en-US" sz="960" dirty="0"/>
          </a:p>
        </p:txBody>
      </p:sp>
      <p:sp>
        <p:nvSpPr>
          <p:cNvPr id="53" name="Shape 51"/>
          <p:cNvSpPr/>
          <p:nvPr/>
        </p:nvSpPr>
        <p:spPr>
          <a:xfrm>
            <a:off x="9135935" y="1598110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135935" y="1383918"/>
            <a:ext cx="96762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20.4 M</a:t>
            </a:r>
            <a:endParaRPr lang="en-US" sz="960" dirty="0"/>
          </a:p>
        </p:txBody>
      </p:sp>
      <p:sp>
        <p:nvSpPr>
          <p:cNvPr id="55" name="Shape 53"/>
          <p:cNvSpPr/>
          <p:nvPr/>
        </p:nvSpPr>
        <p:spPr>
          <a:xfrm>
            <a:off x="10142967" y="1598110"/>
            <a:ext cx="153647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0142967" y="1383918"/>
            <a:ext cx="1349704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</a:t>
            </a:r>
            <a:endParaRPr lang="en-US" sz="960" dirty="0"/>
          </a:p>
        </p:txBody>
      </p:sp>
      <p:sp>
        <p:nvSpPr>
          <p:cNvPr id="57" name="Shape 55"/>
          <p:cNvSpPr/>
          <p:nvPr/>
        </p:nvSpPr>
        <p:spPr>
          <a:xfrm>
            <a:off x="511956" y="1868330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11956" y="1654138"/>
            <a:ext cx="114505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ene</a:t>
            </a:r>
            <a:endParaRPr lang="en-US" sz="960" dirty="0"/>
          </a:p>
        </p:txBody>
      </p:sp>
      <p:sp>
        <p:nvSpPr>
          <p:cNvPr id="59" name="Shape 57"/>
          <p:cNvSpPr/>
          <p:nvPr/>
        </p:nvSpPr>
        <p:spPr>
          <a:xfrm>
            <a:off x="1691248" y="1868330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691248" y="1654138"/>
            <a:ext cx="96762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12.3 M</a:t>
            </a:r>
            <a:endParaRPr lang="en-US" sz="960" dirty="0"/>
          </a:p>
        </p:txBody>
      </p:sp>
      <p:sp>
        <p:nvSpPr>
          <p:cNvPr id="61" name="Shape 59"/>
          <p:cNvSpPr/>
          <p:nvPr/>
        </p:nvSpPr>
        <p:spPr>
          <a:xfrm>
            <a:off x="2698281" y="1868330"/>
            <a:ext cx="153601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2698281" y="1654138"/>
            <a:ext cx="13492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</a:t>
            </a:r>
            <a:endParaRPr lang="en-US" sz="960" dirty="0"/>
          </a:p>
        </p:txBody>
      </p:sp>
      <p:sp>
        <p:nvSpPr>
          <p:cNvPr id="63" name="Shape 61"/>
          <p:cNvSpPr/>
          <p:nvPr/>
        </p:nvSpPr>
        <p:spPr>
          <a:xfrm>
            <a:off x="4234299" y="1868330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234299" y="1654138"/>
            <a:ext cx="114505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abr</a:t>
            </a:r>
            <a:endParaRPr lang="en-US" sz="960" dirty="0"/>
          </a:p>
        </p:txBody>
      </p:sp>
      <p:sp>
        <p:nvSpPr>
          <p:cNvPr id="65" name="Shape 63"/>
          <p:cNvSpPr/>
          <p:nvPr/>
        </p:nvSpPr>
        <p:spPr>
          <a:xfrm>
            <a:off x="5413591" y="1868330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413591" y="1654138"/>
            <a:ext cx="96762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14.1 M</a:t>
            </a:r>
            <a:endParaRPr lang="en-US" sz="960" dirty="0"/>
          </a:p>
        </p:txBody>
      </p:sp>
      <p:sp>
        <p:nvSpPr>
          <p:cNvPr id="67" name="Shape 65"/>
          <p:cNvSpPr/>
          <p:nvPr/>
        </p:nvSpPr>
        <p:spPr>
          <a:xfrm>
            <a:off x="6420624" y="1868330"/>
            <a:ext cx="153601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6420624" y="1654138"/>
            <a:ext cx="13492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960" dirty="0"/>
          </a:p>
        </p:txBody>
      </p:sp>
      <p:sp>
        <p:nvSpPr>
          <p:cNvPr id="69" name="Shape 67"/>
          <p:cNvSpPr/>
          <p:nvPr/>
        </p:nvSpPr>
        <p:spPr>
          <a:xfrm>
            <a:off x="7956642" y="1868330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7956642" y="1654138"/>
            <a:ext cx="114505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 jul</a:t>
            </a:r>
            <a:endParaRPr lang="en-US" sz="960" dirty="0"/>
          </a:p>
        </p:txBody>
      </p:sp>
      <p:sp>
        <p:nvSpPr>
          <p:cNvPr id="71" name="Shape 69"/>
          <p:cNvSpPr/>
          <p:nvPr/>
        </p:nvSpPr>
        <p:spPr>
          <a:xfrm>
            <a:off x="9135935" y="1868330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9135935" y="1654138"/>
            <a:ext cx="96762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12.8 M</a:t>
            </a:r>
            <a:endParaRPr lang="en-US" sz="960" dirty="0"/>
          </a:p>
        </p:txBody>
      </p:sp>
      <p:sp>
        <p:nvSpPr>
          <p:cNvPr id="73" name="Shape 71"/>
          <p:cNvSpPr/>
          <p:nvPr/>
        </p:nvSpPr>
        <p:spPr>
          <a:xfrm>
            <a:off x="10142967" y="1868330"/>
            <a:ext cx="153647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10142967" y="1654138"/>
            <a:ext cx="1349704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</a:t>
            </a:r>
            <a:endParaRPr lang="en-US" sz="960" dirty="0"/>
          </a:p>
        </p:txBody>
      </p:sp>
      <p:sp>
        <p:nvSpPr>
          <p:cNvPr id="75" name="Shape 73"/>
          <p:cNvSpPr/>
          <p:nvPr/>
        </p:nvSpPr>
        <p:spPr>
          <a:xfrm>
            <a:off x="511956" y="2138550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511956" y="1924358"/>
            <a:ext cx="114505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ene</a:t>
            </a:r>
            <a:endParaRPr lang="en-US" sz="960" dirty="0"/>
          </a:p>
        </p:txBody>
      </p:sp>
      <p:sp>
        <p:nvSpPr>
          <p:cNvPr id="77" name="Shape 75"/>
          <p:cNvSpPr/>
          <p:nvPr/>
        </p:nvSpPr>
        <p:spPr>
          <a:xfrm>
            <a:off x="1691248" y="2138550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691248" y="1924358"/>
            <a:ext cx="96762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16.5 M</a:t>
            </a:r>
            <a:endParaRPr lang="en-US" sz="960" dirty="0"/>
          </a:p>
        </p:txBody>
      </p:sp>
      <p:sp>
        <p:nvSpPr>
          <p:cNvPr id="79" name="Shape 77"/>
          <p:cNvSpPr/>
          <p:nvPr/>
        </p:nvSpPr>
        <p:spPr>
          <a:xfrm>
            <a:off x="2698281" y="2138550"/>
            <a:ext cx="153601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2698281" y="1924358"/>
            <a:ext cx="13492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</a:t>
            </a:r>
            <a:endParaRPr lang="en-US" sz="960" dirty="0"/>
          </a:p>
        </p:txBody>
      </p:sp>
      <p:sp>
        <p:nvSpPr>
          <p:cNvPr id="81" name="Shape 79"/>
          <p:cNvSpPr/>
          <p:nvPr/>
        </p:nvSpPr>
        <p:spPr>
          <a:xfrm>
            <a:off x="4234299" y="2138550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4234299" y="1924358"/>
            <a:ext cx="114505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 abr</a:t>
            </a:r>
            <a:endParaRPr lang="en-US" sz="960" dirty="0"/>
          </a:p>
        </p:txBody>
      </p:sp>
      <p:sp>
        <p:nvSpPr>
          <p:cNvPr id="83" name="Shape 81"/>
          <p:cNvSpPr/>
          <p:nvPr/>
        </p:nvSpPr>
        <p:spPr>
          <a:xfrm>
            <a:off x="5413591" y="2138550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5413591" y="1924358"/>
            <a:ext cx="96762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16.7 M</a:t>
            </a:r>
            <a:endParaRPr lang="en-US" sz="960" dirty="0"/>
          </a:p>
        </p:txBody>
      </p:sp>
      <p:sp>
        <p:nvSpPr>
          <p:cNvPr id="85" name="Shape 83"/>
          <p:cNvSpPr/>
          <p:nvPr/>
        </p:nvSpPr>
        <p:spPr>
          <a:xfrm>
            <a:off x="6420624" y="2138550"/>
            <a:ext cx="153601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6420624" y="1924358"/>
            <a:ext cx="13492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</a:t>
            </a:r>
            <a:endParaRPr lang="en-US" sz="960" dirty="0"/>
          </a:p>
        </p:txBody>
      </p:sp>
      <p:sp>
        <p:nvSpPr>
          <p:cNvPr id="87" name="Shape 85"/>
          <p:cNvSpPr/>
          <p:nvPr/>
        </p:nvSpPr>
        <p:spPr>
          <a:xfrm>
            <a:off x="7956642" y="2138550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7956642" y="1924358"/>
            <a:ext cx="114505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ago</a:t>
            </a:r>
            <a:endParaRPr lang="en-US" sz="960" dirty="0"/>
          </a:p>
        </p:txBody>
      </p:sp>
      <p:sp>
        <p:nvSpPr>
          <p:cNvPr id="89" name="Shape 87"/>
          <p:cNvSpPr/>
          <p:nvPr/>
        </p:nvSpPr>
        <p:spPr>
          <a:xfrm>
            <a:off x="9135935" y="2138550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9135935" y="1924358"/>
            <a:ext cx="96762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14.5 M</a:t>
            </a:r>
            <a:endParaRPr lang="en-US" sz="960" dirty="0"/>
          </a:p>
        </p:txBody>
      </p:sp>
      <p:sp>
        <p:nvSpPr>
          <p:cNvPr id="91" name="Shape 89"/>
          <p:cNvSpPr/>
          <p:nvPr/>
        </p:nvSpPr>
        <p:spPr>
          <a:xfrm>
            <a:off x="10142967" y="2138550"/>
            <a:ext cx="153647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10142967" y="1924358"/>
            <a:ext cx="1349704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</a:t>
            </a:r>
            <a:endParaRPr lang="en-US" sz="960" dirty="0"/>
          </a:p>
        </p:txBody>
      </p:sp>
      <p:sp>
        <p:nvSpPr>
          <p:cNvPr id="93" name="Shape 91"/>
          <p:cNvSpPr/>
          <p:nvPr/>
        </p:nvSpPr>
        <p:spPr>
          <a:xfrm>
            <a:off x="511956" y="2408770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511956" y="2194578"/>
            <a:ext cx="114505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 ene</a:t>
            </a:r>
            <a:endParaRPr lang="en-US" sz="960" dirty="0"/>
          </a:p>
        </p:txBody>
      </p:sp>
      <p:sp>
        <p:nvSpPr>
          <p:cNvPr id="95" name="Shape 93"/>
          <p:cNvSpPr/>
          <p:nvPr/>
        </p:nvSpPr>
        <p:spPr>
          <a:xfrm>
            <a:off x="1691248" y="2408770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1691248" y="2194578"/>
            <a:ext cx="96762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13.7 M</a:t>
            </a:r>
            <a:endParaRPr lang="en-US" sz="960" dirty="0"/>
          </a:p>
        </p:txBody>
      </p:sp>
      <p:sp>
        <p:nvSpPr>
          <p:cNvPr id="97" name="Shape 95"/>
          <p:cNvSpPr/>
          <p:nvPr/>
        </p:nvSpPr>
        <p:spPr>
          <a:xfrm>
            <a:off x="2698281" y="2408770"/>
            <a:ext cx="153601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2698281" y="2194578"/>
            <a:ext cx="13492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115</a:t>
            </a:r>
            <a:endParaRPr lang="en-US" sz="960" dirty="0"/>
          </a:p>
        </p:txBody>
      </p:sp>
      <p:sp>
        <p:nvSpPr>
          <p:cNvPr id="99" name="Shape 97"/>
          <p:cNvSpPr/>
          <p:nvPr/>
        </p:nvSpPr>
        <p:spPr>
          <a:xfrm>
            <a:off x="4234299" y="2408770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4234299" y="2194578"/>
            <a:ext cx="114505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may</a:t>
            </a:r>
            <a:endParaRPr lang="en-US" sz="960" dirty="0"/>
          </a:p>
        </p:txBody>
      </p:sp>
      <p:sp>
        <p:nvSpPr>
          <p:cNvPr id="101" name="Shape 99"/>
          <p:cNvSpPr/>
          <p:nvPr/>
        </p:nvSpPr>
        <p:spPr>
          <a:xfrm>
            <a:off x="5413591" y="2408770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5413591" y="2194578"/>
            <a:ext cx="96762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18.5 M</a:t>
            </a:r>
            <a:endParaRPr lang="en-US" sz="960" dirty="0"/>
          </a:p>
        </p:txBody>
      </p:sp>
      <p:sp>
        <p:nvSpPr>
          <p:cNvPr id="103" name="Shape 101"/>
          <p:cNvSpPr/>
          <p:nvPr/>
        </p:nvSpPr>
        <p:spPr>
          <a:xfrm>
            <a:off x="6420624" y="2408770"/>
            <a:ext cx="153601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6420624" y="2194578"/>
            <a:ext cx="13492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</a:t>
            </a:r>
            <a:endParaRPr lang="en-US" sz="960" dirty="0"/>
          </a:p>
        </p:txBody>
      </p:sp>
      <p:sp>
        <p:nvSpPr>
          <p:cNvPr id="105" name="Shape 103"/>
          <p:cNvSpPr/>
          <p:nvPr/>
        </p:nvSpPr>
        <p:spPr>
          <a:xfrm>
            <a:off x="7956642" y="2408770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7956642" y="2194578"/>
            <a:ext cx="114505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ago</a:t>
            </a:r>
            <a:endParaRPr lang="en-US" sz="960" dirty="0"/>
          </a:p>
        </p:txBody>
      </p:sp>
      <p:sp>
        <p:nvSpPr>
          <p:cNvPr id="107" name="Shape 105"/>
          <p:cNvSpPr/>
          <p:nvPr/>
        </p:nvSpPr>
        <p:spPr>
          <a:xfrm>
            <a:off x="9135935" y="2408770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9135935" y="2194578"/>
            <a:ext cx="96762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21.6 M</a:t>
            </a:r>
            <a:endParaRPr lang="en-US" sz="960" dirty="0"/>
          </a:p>
        </p:txBody>
      </p:sp>
      <p:sp>
        <p:nvSpPr>
          <p:cNvPr id="109" name="Shape 107"/>
          <p:cNvSpPr/>
          <p:nvPr/>
        </p:nvSpPr>
        <p:spPr>
          <a:xfrm>
            <a:off x="10142967" y="2408770"/>
            <a:ext cx="153647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10142967" y="2194578"/>
            <a:ext cx="1349704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</a:t>
            </a:r>
            <a:endParaRPr lang="en-US" sz="960" dirty="0"/>
          </a:p>
        </p:txBody>
      </p:sp>
      <p:sp>
        <p:nvSpPr>
          <p:cNvPr id="111" name="Shape 109"/>
          <p:cNvSpPr/>
          <p:nvPr/>
        </p:nvSpPr>
        <p:spPr>
          <a:xfrm>
            <a:off x="511956" y="2678990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511956" y="2464798"/>
            <a:ext cx="114505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feb</a:t>
            </a:r>
            <a:endParaRPr lang="en-US" sz="960" dirty="0"/>
          </a:p>
        </p:txBody>
      </p:sp>
      <p:sp>
        <p:nvSpPr>
          <p:cNvPr id="113" name="Shape 111"/>
          <p:cNvSpPr/>
          <p:nvPr/>
        </p:nvSpPr>
        <p:spPr>
          <a:xfrm>
            <a:off x="1691248" y="2678990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1691248" y="2464798"/>
            <a:ext cx="96762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10.0 M</a:t>
            </a:r>
            <a:endParaRPr lang="en-US" sz="960" dirty="0"/>
          </a:p>
        </p:txBody>
      </p:sp>
      <p:sp>
        <p:nvSpPr>
          <p:cNvPr id="115" name="Shape 113"/>
          <p:cNvSpPr/>
          <p:nvPr/>
        </p:nvSpPr>
        <p:spPr>
          <a:xfrm>
            <a:off x="2698281" y="2678990"/>
            <a:ext cx="153601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2698281" y="2464798"/>
            <a:ext cx="13492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</a:t>
            </a:r>
            <a:endParaRPr lang="en-US" sz="960" dirty="0"/>
          </a:p>
        </p:txBody>
      </p:sp>
      <p:sp>
        <p:nvSpPr>
          <p:cNvPr id="117" name="Shape 115"/>
          <p:cNvSpPr/>
          <p:nvPr/>
        </p:nvSpPr>
        <p:spPr>
          <a:xfrm>
            <a:off x="4234299" y="2678990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4234299" y="2464798"/>
            <a:ext cx="114505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may</a:t>
            </a:r>
            <a:endParaRPr lang="en-US" sz="960" dirty="0"/>
          </a:p>
        </p:txBody>
      </p:sp>
      <p:sp>
        <p:nvSpPr>
          <p:cNvPr id="119" name="Shape 117"/>
          <p:cNvSpPr/>
          <p:nvPr/>
        </p:nvSpPr>
        <p:spPr>
          <a:xfrm>
            <a:off x="5413591" y="2678990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5413591" y="2464798"/>
            <a:ext cx="96762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17.1 M</a:t>
            </a:r>
            <a:endParaRPr lang="en-US" sz="960" dirty="0"/>
          </a:p>
        </p:txBody>
      </p:sp>
      <p:sp>
        <p:nvSpPr>
          <p:cNvPr id="121" name="Shape 119"/>
          <p:cNvSpPr/>
          <p:nvPr/>
        </p:nvSpPr>
        <p:spPr>
          <a:xfrm>
            <a:off x="6420624" y="2678990"/>
            <a:ext cx="153601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6420624" y="2464798"/>
            <a:ext cx="13492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</a:t>
            </a:r>
            <a:endParaRPr lang="en-US" sz="960" dirty="0"/>
          </a:p>
        </p:txBody>
      </p:sp>
      <p:sp>
        <p:nvSpPr>
          <p:cNvPr id="123" name="Shape 121"/>
          <p:cNvSpPr/>
          <p:nvPr/>
        </p:nvSpPr>
        <p:spPr>
          <a:xfrm>
            <a:off x="7956642" y="2678990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7956642" y="2464798"/>
            <a:ext cx="114505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ago</a:t>
            </a:r>
            <a:endParaRPr lang="en-US" sz="960" dirty="0"/>
          </a:p>
        </p:txBody>
      </p:sp>
      <p:sp>
        <p:nvSpPr>
          <p:cNvPr id="125" name="Shape 123"/>
          <p:cNvSpPr/>
          <p:nvPr/>
        </p:nvSpPr>
        <p:spPr>
          <a:xfrm>
            <a:off x="9135935" y="2678990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9135935" y="2464798"/>
            <a:ext cx="96762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17.2 M</a:t>
            </a:r>
            <a:endParaRPr lang="en-US" sz="960" dirty="0"/>
          </a:p>
        </p:txBody>
      </p:sp>
      <p:sp>
        <p:nvSpPr>
          <p:cNvPr id="127" name="Shape 125"/>
          <p:cNvSpPr/>
          <p:nvPr/>
        </p:nvSpPr>
        <p:spPr>
          <a:xfrm>
            <a:off x="10142967" y="2678990"/>
            <a:ext cx="153647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10142967" y="2464798"/>
            <a:ext cx="1349704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</a:t>
            </a:r>
            <a:endParaRPr lang="en-US" sz="960" dirty="0"/>
          </a:p>
        </p:txBody>
      </p:sp>
      <p:sp>
        <p:nvSpPr>
          <p:cNvPr id="129" name="Shape 127"/>
          <p:cNvSpPr/>
          <p:nvPr/>
        </p:nvSpPr>
        <p:spPr>
          <a:xfrm>
            <a:off x="511956" y="2949210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511956" y="2735018"/>
            <a:ext cx="114505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feb</a:t>
            </a:r>
            <a:endParaRPr lang="en-US" sz="960" dirty="0"/>
          </a:p>
        </p:txBody>
      </p:sp>
      <p:sp>
        <p:nvSpPr>
          <p:cNvPr id="131" name="Shape 129"/>
          <p:cNvSpPr/>
          <p:nvPr/>
        </p:nvSpPr>
        <p:spPr>
          <a:xfrm>
            <a:off x="1691248" y="2949210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1691248" y="2735018"/>
            <a:ext cx="96762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18.0 M</a:t>
            </a:r>
            <a:endParaRPr lang="en-US" sz="960" dirty="0"/>
          </a:p>
        </p:txBody>
      </p:sp>
      <p:sp>
        <p:nvSpPr>
          <p:cNvPr id="133" name="Shape 131"/>
          <p:cNvSpPr/>
          <p:nvPr/>
        </p:nvSpPr>
        <p:spPr>
          <a:xfrm>
            <a:off x="2698281" y="2949210"/>
            <a:ext cx="153601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2698281" y="2735018"/>
            <a:ext cx="13492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</a:t>
            </a:r>
            <a:endParaRPr lang="en-US" sz="960" dirty="0"/>
          </a:p>
        </p:txBody>
      </p:sp>
      <p:sp>
        <p:nvSpPr>
          <p:cNvPr id="135" name="Shape 133"/>
          <p:cNvSpPr/>
          <p:nvPr/>
        </p:nvSpPr>
        <p:spPr>
          <a:xfrm>
            <a:off x="4234299" y="2949210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6" name="Text 134"/>
          <p:cNvSpPr txBox="1"/>
          <p:nvPr/>
        </p:nvSpPr>
        <p:spPr>
          <a:xfrm>
            <a:off x="4234299" y="2735018"/>
            <a:ext cx="114505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may</a:t>
            </a:r>
            <a:endParaRPr lang="en-US" sz="960" dirty="0"/>
          </a:p>
        </p:txBody>
      </p:sp>
      <p:sp>
        <p:nvSpPr>
          <p:cNvPr id="137" name="Shape 135"/>
          <p:cNvSpPr/>
          <p:nvPr/>
        </p:nvSpPr>
        <p:spPr>
          <a:xfrm>
            <a:off x="5413591" y="2949210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8" name="Text 136"/>
          <p:cNvSpPr txBox="1"/>
          <p:nvPr/>
        </p:nvSpPr>
        <p:spPr>
          <a:xfrm>
            <a:off x="5413591" y="2735018"/>
            <a:ext cx="96762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18.9 M</a:t>
            </a:r>
            <a:endParaRPr lang="en-US" sz="960" dirty="0"/>
          </a:p>
        </p:txBody>
      </p:sp>
      <p:sp>
        <p:nvSpPr>
          <p:cNvPr id="139" name="Shape 137"/>
          <p:cNvSpPr/>
          <p:nvPr/>
        </p:nvSpPr>
        <p:spPr>
          <a:xfrm>
            <a:off x="6420624" y="2949210"/>
            <a:ext cx="153601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0" name="Text 138"/>
          <p:cNvSpPr txBox="1"/>
          <p:nvPr/>
        </p:nvSpPr>
        <p:spPr>
          <a:xfrm>
            <a:off x="6420624" y="2735018"/>
            <a:ext cx="13492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</a:t>
            </a:r>
            <a:endParaRPr lang="en-US" sz="960" dirty="0"/>
          </a:p>
        </p:txBody>
      </p:sp>
      <p:sp>
        <p:nvSpPr>
          <p:cNvPr id="141" name="Shape 139"/>
          <p:cNvSpPr/>
          <p:nvPr/>
        </p:nvSpPr>
        <p:spPr>
          <a:xfrm>
            <a:off x="7956642" y="2949210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2" name="Text 140"/>
          <p:cNvSpPr txBox="1"/>
          <p:nvPr/>
        </p:nvSpPr>
        <p:spPr>
          <a:xfrm>
            <a:off x="7956642" y="2735018"/>
            <a:ext cx="114505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ago</a:t>
            </a:r>
            <a:endParaRPr lang="en-US" sz="960" dirty="0"/>
          </a:p>
        </p:txBody>
      </p:sp>
      <p:sp>
        <p:nvSpPr>
          <p:cNvPr id="143" name="Shape 141"/>
          <p:cNvSpPr/>
          <p:nvPr/>
        </p:nvSpPr>
        <p:spPr>
          <a:xfrm>
            <a:off x="9135935" y="2949210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4" name="Text 142"/>
          <p:cNvSpPr txBox="1"/>
          <p:nvPr/>
        </p:nvSpPr>
        <p:spPr>
          <a:xfrm>
            <a:off x="9135935" y="2735018"/>
            <a:ext cx="96762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18.8 M</a:t>
            </a:r>
            <a:endParaRPr lang="en-US" sz="960" dirty="0"/>
          </a:p>
        </p:txBody>
      </p:sp>
      <p:sp>
        <p:nvSpPr>
          <p:cNvPr id="145" name="Shape 143"/>
          <p:cNvSpPr/>
          <p:nvPr/>
        </p:nvSpPr>
        <p:spPr>
          <a:xfrm>
            <a:off x="10142967" y="2949210"/>
            <a:ext cx="153647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6" name="Text 144"/>
          <p:cNvSpPr txBox="1"/>
          <p:nvPr/>
        </p:nvSpPr>
        <p:spPr>
          <a:xfrm>
            <a:off x="10142967" y="2735018"/>
            <a:ext cx="1349704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</a:t>
            </a:r>
            <a:endParaRPr lang="en-US" sz="960" dirty="0"/>
          </a:p>
        </p:txBody>
      </p:sp>
      <p:sp>
        <p:nvSpPr>
          <p:cNvPr id="147" name="Shape 145"/>
          <p:cNvSpPr/>
          <p:nvPr/>
        </p:nvSpPr>
        <p:spPr>
          <a:xfrm>
            <a:off x="511956" y="3219430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8" name="Text 146"/>
          <p:cNvSpPr txBox="1"/>
          <p:nvPr/>
        </p:nvSpPr>
        <p:spPr>
          <a:xfrm>
            <a:off x="511956" y="3005238"/>
            <a:ext cx="114505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feb</a:t>
            </a:r>
            <a:endParaRPr lang="en-US" sz="960" dirty="0"/>
          </a:p>
        </p:txBody>
      </p:sp>
      <p:sp>
        <p:nvSpPr>
          <p:cNvPr id="149" name="Shape 147"/>
          <p:cNvSpPr/>
          <p:nvPr/>
        </p:nvSpPr>
        <p:spPr>
          <a:xfrm>
            <a:off x="1691248" y="3219430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50" name="Text 148"/>
          <p:cNvSpPr txBox="1"/>
          <p:nvPr/>
        </p:nvSpPr>
        <p:spPr>
          <a:xfrm>
            <a:off x="1691248" y="3005238"/>
            <a:ext cx="96762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20.7 M</a:t>
            </a:r>
            <a:endParaRPr lang="en-US" sz="960" dirty="0"/>
          </a:p>
        </p:txBody>
      </p:sp>
      <p:sp>
        <p:nvSpPr>
          <p:cNvPr id="151" name="Shape 149"/>
          <p:cNvSpPr/>
          <p:nvPr/>
        </p:nvSpPr>
        <p:spPr>
          <a:xfrm>
            <a:off x="2698281" y="3219430"/>
            <a:ext cx="153601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52" name="Text 150"/>
          <p:cNvSpPr txBox="1"/>
          <p:nvPr/>
        </p:nvSpPr>
        <p:spPr>
          <a:xfrm>
            <a:off x="2698281" y="3005238"/>
            <a:ext cx="13492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</a:t>
            </a:r>
            <a:endParaRPr lang="en-US" sz="960" dirty="0"/>
          </a:p>
        </p:txBody>
      </p:sp>
      <p:sp>
        <p:nvSpPr>
          <p:cNvPr id="153" name="Shape 151"/>
          <p:cNvSpPr/>
          <p:nvPr/>
        </p:nvSpPr>
        <p:spPr>
          <a:xfrm>
            <a:off x="4234299" y="3219430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54" name="Text 152"/>
          <p:cNvSpPr txBox="1"/>
          <p:nvPr/>
        </p:nvSpPr>
        <p:spPr>
          <a:xfrm>
            <a:off x="4234299" y="3005238"/>
            <a:ext cx="114505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may</a:t>
            </a:r>
            <a:endParaRPr lang="en-US" sz="960" dirty="0"/>
          </a:p>
        </p:txBody>
      </p:sp>
      <p:sp>
        <p:nvSpPr>
          <p:cNvPr id="155" name="Shape 153"/>
          <p:cNvSpPr/>
          <p:nvPr/>
        </p:nvSpPr>
        <p:spPr>
          <a:xfrm>
            <a:off x="5413591" y="3219430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56" name="Text 154"/>
          <p:cNvSpPr txBox="1"/>
          <p:nvPr/>
        </p:nvSpPr>
        <p:spPr>
          <a:xfrm>
            <a:off x="5413591" y="3005238"/>
            <a:ext cx="96762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26.2 M</a:t>
            </a:r>
            <a:endParaRPr lang="en-US" sz="960" dirty="0"/>
          </a:p>
        </p:txBody>
      </p:sp>
      <p:sp>
        <p:nvSpPr>
          <p:cNvPr id="157" name="Shape 155"/>
          <p:cNvSpPr/>
          <p:nvPr/>
        </p:nvSpPr>
        <p:spPr>
          <a:xfrm>
            <a:off x="6420624" y="3219430"/>
            <a:ext cx="153601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58" name="Text 156"/>
          <p:cNvSpPr txBox="1"/>
          <p:nvPr/>
        </p:nvSpPr>
        <p:spPr>
          <a:xfrm>
            <a:off x="6420624" y="3005238"/>
            <a:ext cx="13492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</a:t>
            </a:r>
            <a:endParaRPr lang="en-US" sz="960" dirty="0"/>
          </a:p>
        </p:txBody>
      </p:sp>
      <p:sp>
        <p:nvSpPr>
          <p:cNvPr id="159" name="Shape 157"/>
          <p:cNvSpPr/>
          <p:nvPr/>
        </p:nvSpPr>
        <p:spPr>
          <a:xfrm>
            <a:off x="7956642" y="3219430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60" name="Text 158"/>
          <p:cNvSpPr txBox="1"/>
          <p:nvPr/>
        </p:nvSpPr>
        <p:spPr>
          <a:xfrm>
            <a:off x="7956642" y="3005238"/>
            <a:ext cx="114505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 ago</a:t>
            </a:r>
            <a:endParaRPr lang="en-US" sz="960" dirty="0"/>
          </a:p>
        </p:txBody>
      </p:sp>
      <p:sp>
        <p:nvSpPr>
          <p:cNvPr id="161" name="Shape 159"/>
          <p:cNvSpPr/>
          <p:nvPr/>
        </p:nvSpPr>
        <p:spPr>
          <a:xfrm>
            <a:off x="9135935" y="3219430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62" name="Text 160"/>
          <p:cNvSpPr txBox="1"/>
          <p:nvPr/>
        </p:nvSpPr>
        <p:spPr>
          <a:xfrm>
            <a:off x="9135935" y="3005238"/>
            <a:ext cx="96762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16.5 M</a:t>
            </a:r>
            <a:endParaRPr lang="en-US" sz="960" dirty="0"/>
          </a:p>
        </p:txBody>
      </p:sp>
      <p:sp>
        <p:nvSpPr>
          <p:cNvPr id="163" name="Shape 161"/>
          <p:cNvSpPr/>
          <p:nvPr/>
        </p:nvSpPr>
        <p:spPr>
          <a:xfrm>
            <a:off x="10142967" y="3219430"/>
            <a:ext cx="153647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64" name="Text 162"/>
          <p:cNvSpPr txBox="1"/>
          <p:nvPr/>
        </p:nvSpPr>
        <p:spPr>
          <a:xfrm>
            <a:off x="10142967" y="3005238"/>
            <a:ext cx="1349704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</a:t>
            </a:r>
            <a:endParaRPr lang="en-US" sz="960" dirty="0"/>
          </a:p>
        </p:txBody>
      </p:sp>
      <p:sp>
        <p:nvSpPr>
          <p:cNvPr id="165" name="Shape 163"/>
          <p:cNvSpPr/>
          <p:nvPr/>
        </p:nvSpPr>
        <p:spPr>
          <a:xfrm>
            <a:off x="511956" y="3489650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66" name="Text 164"/>
          <p:cNvSpPr txBox="1"/>
          <p:nvPr/>
        </p:nvSpPr>
        <p:spPr>
          <a:xfrm>
            <a:off x="511956" y="3275458"/>
            <a:ext cx="114505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feb</a:t>
            </a:r>
            <a:endParaRPr lang="en-US" sz="960" dirty="0"/>
          </a:p>
        </p:txBody>
      </p:sp>
      <p:sp>
        <p:nvSpPr>
          <p:cNvPr id="167" name="Shape 165"/>
          <p:cNvSpPr/>
          <p:nvPr/>
        </p:nvSpPr>
        <p:spPr>
          <a:xfrm>
            <a:off x="1691248" y="3489650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68" name="Text 166"/>
          <p:cNvSpPr txBox="1"/>
          <p:nvPr/>
        </p:nvSpPr>
        <p:spPr>
          <a:xfrm>
            <a:off x="1691248" y="3275458"/>
            <a:ext cx="96762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18.9 M</a:t>
            </a:r>
            <a:endParaRPr lang="en-US" sz="960" dirty="0"/>
          </a:p>
        </p:txBody>
      </p:sp>
      <p:sp>
        <p:nvSpPr>
          <p:cNvPr id="169" name="Shape 167"/>
          <p:cNvSpPr/>
          <p:nvPr/>
        </p:nvSpPr>
        <p:spPr>
          <a:xfrm>
            <a:off x="2698281" y="3489650"/>
            <a:ext cx="153601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70" name="Text 168"/>
          <p:cNvSpPr txBox="1"/>
          <p:nvPr/>
        </p:nvSpPr>
        <p:spPr>
          <a:xfrm>
            <a:off x="2698281" y="3275458"/>
            <a:ext cx="13492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</a:t>
            </a:r>
            <a:endParaRPr lang="en-US" sz="960" dirty="0"/>
          </a:p>
        </p:txBody>
      </p:sp>
      <p:sp>
        <p:nvSpPr>
          <p:cNvPr id="171" name="Shape 169"/>
          <p:cNvSpPr/>
          <p:nvPr/>
        </p:nvSpPr>
        <p:spPr>
          <a:xfrm>
            <a:off x="4234299" y="3489650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72" name="Text 170"/>
          <p:cNvSpPr txBox="1"/>
          <p:nvPr/>
        </p:nvSpPr>
        <p:spPr>
          <a:xfrm>
            <a:off x="4234299" y="3275458"/>
            <a:ext cx="114505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jun</a:t>
            </a:r>
            <a:endParaRPr lang="en-US" sz="960" dirty="0"/>
          </a:p>
        </p:txBody>
      </p:sp>
      <p:sp>
        <p:nvSpPr>
          <p:cNvPr id="173" name="Shape 171"/>
          <p:cNvSpPr/>
          <p:nvPr/>
        </p:nvSpPr>
        <p:spPr>
          <a:xfrm>
            <a:off x="5413591" y="3489650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74" name="Text 172"/>
          <p:cNvSpPr txBox="1"/>
          <p:nvPr/>
        </p:nvSpPr>
        <p:spPr>
          <a:xfrm>
            <a:off x="5413591" y="3275458"/>
            <a:ext cx="96762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39.6 M</a:t>
            </a:r>
            <a:endParaRPr lang="en-US" sz="960" dirty="0"/>
          </a:p>
        </p:txBody>
      </p:sp>
      <p:sp>
        <p:nvSpPr>
          <p:cNvPr id="175" name="Shape 173"/>
          <p:cNvSpPr/>
          <p:nvPr/>
        </p:nvSpPr>
        <p:spPr>
          <a:xfrm>
            <a:off x="6420624" y="3489650"/>
            <a:ext cx="153601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76" name="Text 174"/>
          <p:cNvSpPr txBox="1"/>
          <p:nvPr/>
        </p:nvSpPr>
        <p:spPr>
          <a:xfrm>
            <a:off x="6420624" y="3275458"/>
            <a:ext cx="13492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960" dirty="0"/>
          </a:p>
        </p:txBody>
      </p:sp>
      <p:sp>
        <p:nvSpPr>
          <p:cNvPr id="177" name="Shape 175"/>
          <p:cNvSpPr/>
          <p:nvPr/>
        </p:nvSpPr>
        <p:spPr>
          <a:xfrm>
            <a:off x="7956642" y="3489650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78" name="Text 176"/>
          <p:cNvSpPr txBox="1"/>
          <p:nvPr/>
        </p:nvSpPr>
        <p:spPr>
          <a:xfrm>
            <a:off x="7956642" y="3275458"/>
            <a:ext cx="114505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sep</a:t>
            </a:r>
            <a:endParaRPr lang="en-US" sz="960" dirty="0"/>
          </a:p>
        </p:txBody>
      </p:sp>
      <p:sp>
        <p:nvSpPr>
          <p:cNvPr id="179" name="Shape 177"/>
          <p:cNvSpPr/>
          <p:nvPr/>
        </p:nvSpPr>
        <p:spPr>
          <a:xfrm>
            <a:off x="9135935" y="3489650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80" name="Text 178"/>
          <p:cNvSpPr txBox="1"/>
          <p:nvPr/>
        </p:nvSpPr>
        <p:spPr>
          <a:xfrm>
            <a:off x="9135935" y="3275458"/>
            <a:ext cx="96762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14.7 M</a:t>
            </a:r>
            <a:endParaRPr lang="en-US" sz="960" dirty="0"/>
          </a:p>
        </p:txBody>
      </p:sp>
      <p:sp>
        <p:nvSpPr>
          <p:cNvPr id="181" name="Shape 179"/>
          <p:cNvSpPr/>
          <p:nvPr/>
        </p:nvSpPr>
        <p:spPr>
          <a:xfrm>
            <a:off x="10142967" y="3489650"/>
            <a:ext cx="153647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82" name="Text 180"/>
          <p:cNvSpPr txBox="1"/>
          <p:nvPr/>
        </p:nvSpPr>
        <p:spPr>
          <a:xfrm>
            <a:off x="10142967" y="3275458"/>
            <a:ext cx="1349704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</a:t>
            </a:r>
            <a:endParaRPr lang="en-US" sz="960" dirty="0"/>
          </a:p>
        </p:txBody>
      </p:sp>
      <p:sp>
        <p:nvSpPr>
          <p:cNvPr id="183" name="Shape 181"/>
          <p:cNvSpPr/>
          <p:nvPr/>
        </p:nvSpPr>
        <p:spPr>
          <a:xfrm>
            <a:off x="511956" y="3759870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84" name="Text 182"/>
          <p:cNvSpPr txBox="1"/>
          <p:nvPr/>
        </p:nvSpPr>
        <p:spPr>
          <a:xfrm>
            <a:off x="511956" y="3545677"/>
            <a:ext cx="114505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mar</a:t>
            </a:r>
            <a:endParaRPr lang="en-US" sz="960" dirty="0"/>
          </a:p>
        </p:txBody>
      </p:sp>
      <p:sp>
        <p:nvSpPr>
          <p:cNvPr id="185" name="Shape 183"/>
          <p:cNvSpPr/>
          <p:nvPr/>
        </p:nvSpPr>
        <p:spPr>
          <a:xfrm>
            <a:off x="1691248" y="3759870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86" name="Text 184"/>
          <p:cNvSpPr txBox="1"/>
          <p:nvPr/>
        </p:nvSpPr>
        <p:spPr>
          <a:xfrm>
            <a:off x="1691248" y="3545677"/>
            <a:ext cx="96762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14.1 M</a:t>
            </a:r>
            <a:endParaRPr lang="en-US" sz="960" dirty="0"/>
          </a:p>
        </p:txBody>
      </p:sp>
      <p:sp>
        <p:nvSpPr>
          <p:cNvPr id="187" name="Shape 185"/>
          <p:cNvSpPr/>
          <p:nvPr/>
        </p:nvSpPr>
        <p:spPr>
          <a:xfrm>
            <a:off x="2698281" y="3759870"/>
            <a:ext cx="153601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88" name="Text 186"/>
          <p:cNvSpPr txBox="1"/>
          <p:nvPr/>
        </p:nvSpPr>
        <p:spPr>
          <a:xfrm>
            <a:off x="2698281" y="3545677"/>
            <a:ext cx="13492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</a:t>
            </a:r>
            <a:endParaRPr lang="en-US" sz="960" dirty="0"/>
          </a:p>
        </p:txBody>
      </p:sp>
      <p:sp>
        <p:nvSpPr>
          <p:cNvPr id="189" name="Shape 187"/>
          <p:cNvSpPr/>
          <p:nvPr/>
        </p:nvSpPr>
        <p:spPr>
          <a:xfrm>
            <a:off x="4234299" y="3759870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90" name="Text 188"/>
          <p:cNvSpPr txBox="1"/>
          <p:nvPr/>
        </p:nvSpPr>
        <p:spPr>
          <a:xfrm>
            <a:off x="4234299" y="3545677"/>
            <a:ext cx="114505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jun</a:t>
            </a:r>
            <a:endParaRPr lang="en-US" sz="960" dirty="0"/>
          </a:p>
        </p:txBody>
      </p:sp>
      <p:sp>
        <p:nvSpPr>
          <p:cNvPr id="191" name="Shape 189"/>
          <p:cNvSpPr/>
          <p:nvPr/>
        </p:nvSpPr>
        <p:spPr>
          <a:xfrm>
            <a:off x="5413591" y="3759870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92" name="Text 190"/>
          <p:cNvSpPr txBox="1"/>
          <p:nvPr/>
        </p:nvSpPr>
        <p:spPr>
          <a:xfrm>
            <a:off x="5413591" y="3545677"/>
            <a:ext cx="96762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20.0 M</a:t>
            </a:r>
            <a:endParaRPr lang="en-US" sz="960" dirty="0"/>
          </a:p>
        </p:txBody>
      </p:sp>
      <p:sp>
        <p:nvSpPr>
          <p:cNvPr id="193" name="Shape 191"/>
          <p:cNvSpPr/>
          <p:nvPr/>
        </p:nvSpPr>
        <p:spPr>
          <a:xfrm>
            <a:off x="6420624" y="3759870"/>
            <a:ext cx="153601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94" name="Text 192"/>
          <p:cNvSpPr txBox="1"/>
          <p:nvPr/>
        </p:nvSpPr>
        <p:spPr>
          <a:xfrm>
            <a:off x="6420624" y="3545677"/>
            <a:ext cx="13492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</a:t>
            </a:r>
            <a:endParaRPr lang="en-US" sz="960" dirty="0"/>
          </a:p>
        </p:txBody>
      </p:sp>
      <p:sp>
        <p:nvSpPr>
          <p:cNvPr id="195" name="Shape 193"/>
          <p:cNvSpPr/>
          <p:nvPr/>
        </p:nvSpPr>
        <p:spPr>
          <a:xfrm>
            <a:off x="7956642" y="3759870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96" name="Text 194"/>
          <p:cNvSpPr txBox="1"/>
          <p:nvPr/>
        </p:nvSpPr>
        <p:spPr>
          <a:xfrm>
            <a:off x="7956642" y="3545677"/>
            <a:ext cx="114505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sep</a:t>
            </a:r>
            <a:endParaRPr lang="en-US" sz="960" dirty="0"/>
          </a:p>
        </p:txBody>
      </p:sp>
      <p:sp>
        <p:nvSpPr>
          <p:cNvPr id="197" name="Shape 195"/>
          <p:cNvSpPr/>
          <p:nvPr/>
        </p:nvSpPr>
        <p:spPr>
          <a:xfrm>
            <a:off x="9135935" y="3759870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98" name="Text 196"/>
          <p:cNvSpPr txBox="1"/>
          <p:nvPr/>
        </p:nvSpPr>
        <p:spPr>
          <a:xfrm>
            <a:off x="9135935" y="3545677"/>
            <a:ext cx="96762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14.3 M</a:t>
            </a:r>
            <a:endParaRPr lang="en-US" sz="960" dirty="0"/>
          </a:p>
        </p:txBody>
      </p:sp>
      <p:sp>
        <p:nvSpPr>
          <p:cNvPr id="199" name="Shape 197"/>
          <p:cNvSpPr/>
          <p:nvPr/>
        </p:nvSpPr>
        <p:spPr>
          <a:xfrm>
            <a:off x="10142967" y="3759870"/>
            <a:ext cx="153647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00" name="Text 198"/>
          <p:cNvSpPr txBox="1"/>
          <p:nvPr/>
        </p:nvSpPr>
        <p:spPr>
          <a:xfrm>
            <a:off x="10142967" y="3545677"/>
            <a:ext cx="1349704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</a:t>
            </a:r>
            <a:endParaRPr lang="en-US" sz="960" dirty="0"/>
          </a:p>
        </p:txBody>
      </p:sp>
      <p:sp>
        <p:nvSpPr>
          <p:cNvPr id="201" name="Shape 199"/>
          <p:cNvSpPr/>
          <p:nvPr/>
        </p:nvSpPr>
        <p:spPr>
          <a:xfrm>
            <a:off x="511956" y="4030090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02" name="Text 200"/>
          <p:cNvSpPr txBox="1"/>
          <p:nvPr/>
        </p:nvSpPr>
        <p:spPr>
          <a:xfrm>
            <a:off x="511956" y="3815897"/>
            <a:ext cx="114505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mar</a:t>
            </a:r>
            <a:endParaRPr lang="en-US" sz="960" dirty="0"/>
          </a:p>
        </p:txBody>
      </p:sp>
      <p:sp>
        <p:nvSpPr>
          <p:cNvPr id="203" name="Shape 201"/>
          <p:cNvSpPr/>
          <p:nvPr/>
        </p:nvSpPr>
        <p:spPr>
          <a:xfrm>
            <a:off x="1691248" y="4030090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04" name="Text 202"/>
          <p:cNvSpPr txBox="1"/>
          <p:nvPr/>
        </p:nvSpPr>
        <p:spPr>
          <a:xfrm>
            <a:off x="1691248" y="3815897"/>
            <a:ext cx="96762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14.9 M</a:t>
            </a:r>
            <a:endParaRPr lang="en-US" sz="960" dirty="0"/>
          </a:p>
        </p:txBody>
      </p:sp>
      <p:sp>
        <p:nvSpPr>
          <p:cNvPr id="205" name="Shape 203"/>
          <p:cNvSpPr/>
          <p:nvPr/>
        </p:nvSpPr>
        <p:spPr>
          <a:xfrm>
            <a:off x="2698281" y="4030090"/>
            <a:ext cx="153601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06" name="Text 204"/>
          <p:cNvSpPr txBox="1"/>
          <p:nvPr/>
        </p:nvSpPr>
        <p:spPr>
          <a:xfrm>
            <a:off x="2698281" y="3815897"/>
            <a:ext cx="13492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121</a:t>
            </a:r>
            <a:endParaRPr lang="en-US" sz="960" dirty="0"/>
          </a:p>
        </p:txBody>
      </p:sp>
      <p:sp>
        <p:nvSpPr>
          <p:cNvPr id="207" name="Shape 205"/>
          <p:cNvSpPr/>
          <p:nvPr/>
        </p:nvSpPr>
        <p:spPr>
          <a:xfrm>
            <a:off x="4234299" y="4030090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08" name="Text 206"/>
          <p:cNvSpPr txBox="1"/>
          <p:nvPr/>
        </p:nvSpPr>
        <p:spPr>
          <a:xfrm>
            <a:off x="4234299" y="3815897"/>
            <a:ext cx="114505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jun</a:t>
            </a:r>
            <a:endParaRPr lang="en-US" sz="960" dirty="0"/>
          </a:p>
        </p:txBody>
      </p:sp>
      <p:sp>
        <p:nvSpPr>
          <p:cNvPr id="209" name="Shape 207"/>
          <p:cNvSpPr/>
          <p:nvPr/>
        </p:nvSpPr>
        <p:spPr>
          <a:xfrm>
            <a:off x="5413591" y="4030090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10" name="Text 208"/>
          <p:cNvSpPr txBox="1"/>
          <p:nvPr/>
        </p:nvSpPr>
        <p:spPr>
          <a:xfrm>
            <a:off x="5413591" y="3815897"/>
            <a:ext cx="96762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22.6 M</a:t>
            </a:r>
            <a:endParaRPr lang="en-US" sz="960" dirty="0"/>
          </a:p>
        </p:txBody>
      </p:sp>
      <p:sp>
        <p:nvSpPr>
          <p:cNvPr id="211" name="Shape 209"/>
          <p:cNvSpPr/>
          <p:nvPr/>
        </p:nvSpPr>
        <p:spPr>
          <a:xfrm>
            <a:off x="6420624" y="4030090"/>
            <a:ext cx="153601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12" name="Text 210"/>
          <p:cNvSpPr txBox="1"/>
          <p:nvPr/>
        </p:nvSpPr>
        <p:spPr>
          <a:xfrm>
            <a:off x="6420624" y="3815897"/>
            <a:ext cx="13492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</a:t>
            </a:r>
            <a:endParaRPr lang="en-US" sz="960" dirty="0"/>
          </a:p>
        </p:txBody>
      </p:sp>
      <p:sp>
        <p:nvSpPr>
          <p:cNvPr id="213" name="Shape 211"/>
          <p:cNvSpPr/>
          <p:nvPr/>
        </p:nvSpPr>
        <p:spPr>
          <a:xfrm>
            <a:off x="7956642" y="4030090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14" name="Text 212"/>
          <p:cNvSpPr txBox="1"/>
          <p:nvPr/>
        </p:nvSpPr>
        <p:spPr>
          <a:xfrm>
            <a:off x="7956642" y="3815897"/>
            <a:ext cx="114505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sep</a:t>
            </a:r>
            <a:endParaRPr lang="en-US" sz="960" dirty="0"/>
          </a:p>
        </p:txBody>
      </p:sp>
      <p:sp>
        <p:nvSpPr>
          <p:cNvPr id="215" name="Shape 213"/>
          <p:cNvSpPr/>
          <p:nvPr/>
        </p:nvSpPr>
        <p:spPr>
          <a:xfrm>
            <a:off x="9135935" y="4030090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16" name="Text 214"/>
          <p:cNvSpPr txBox="1"/>
          <p:nvPr/>
        </p:nvSpPr>
        <p:spPr>
          <a:xfrm>
            <a:off x="9135935" y="3815897"/>
            <a:ext cx="96762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16.9 M</a:t>
            </a:r>
            <a:endParaRPr lang="en-US" sz="960" dirty="0"/>
          </a:p>
        </p:txBody>
      </p:sp>
      <p:sp>
        <p:nvSpPr>
          <p:cNvPr id="217" name="Shape 215"/>
          <p:cNvSpPr/>
          <p:nvPr/>
        </p:nvSpPr>
        <p:spPr>
          <a:xfrm>
            <a:off x="10142967" y="4030090"/>
            <a:ext cx="153647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18" name="Text 216"/>
          <p:cNvSpPr txBox="1"/>
          <p:nvPr/>
        </p:nvSpPr>
        <p:spPr>
          <a:xfrm>
            <a:off x="10142967" y="3815897"/>
            <a:ext cx="1349704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</a:t>
            </a:r>
            <a:endParaRPr lang="en-US" sz="960" dirty="0"/>
          </a:p>
        </p:txBody>
      </p:sp>
      <p:sp>
        <p:nvSpPr>
          <p:cNvPr id="219" name="Shape 217"/>
          <p:cNvSpPr/>
          <p:nvPr/>
        </p:nvSpPr>
        <p:spPr>
          <a:xfrm>
            <a:off x="511956" y="4300309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20" name="Text 218"/>
          <p:cNvSpPr txBox="1"/>
          <p:nvPr/>
        </p:nvSpPr>
        <p:spPr>
          <a:xfrm>
            <a:off x="511956" y="4086117"/>
            <a:ext cx="114505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mar</a:t>
            </a:r>
            <a:endParaRPr lang="en-US" sz="960" dirty="0"/>
          </a:p>
        </p:txBody>
      </p:sp>
      <p:sp>
        <p:nvSpPr>
          <p:cNvPr id="221" name="Shape 219"/>
          <p:cNvSpPr/>
          <p:nvPr/>
        </p:nvSpPr>
        <p:spPr>
          <a:xfrm>
            <a:off x="1691248" y="4300309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22" name="Text 220"/>
          <p:cNvSpPr txBox="1"/>
          <p:nvPr/>
        </p:nvSpPr>
        <p:spPr>
          <a:xfrm>
            <a:off x="1691248" y="4086117"/>
            <a:ext cx="96762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17.3 M</a:t>
            </a:r>
            <a:endParaRPr lang="en-US" sz="960" dirty="0"/>
          </a:p>
        </p:txBody>
      </p:sp>
      <p:sp>
        <p:nvSpPr>
          <p:cNvPr id="223" name="Shape 221"/>
          <p:cNvSpPr/>
          <p:nvPr/>
        </p:nvSpPr>
        <p:spPr>
          <a:xfrm>
            <a:off x="2698281" y="4300309"/>
            <a:ext cx="153601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24" name="Text 222"/>
          <p:cNvSpPr txBox="1"/>
          <p:nvPr/>
        </p:nvSpPr>
        <p:spPr>
          <a:xfrm>
            <a:off x="2698281" y="4086117"/>
            <a:ext cx="13492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134</a:t>
            </a:r>
            <a:endParaRPr lang="en-US" sz="960" dirty="0"/>
          </a:p>
        </p:txBody>
      </p:sp>
      <p:sp>
        <p:nvSpPr>
          <p:cNvPr id="225" name="Shape 223"/>
          <p:cNvSpPr/>
          <p:nvPr/>
        </p:nvSpPr>
        <p:spPr>
          <a:xfrm>
            <a:off x="4234299" y="4300309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26" name="Text 224"/>
          <p:cNvSpPr txBox="1"/>
          <p:nvPr/>
        </p:nvSpPr>
        <p:spPr>
          <a:xfrm>
            <a:off x="4234299" y="4086117"/>
            <a:ext cx="114505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jun</a:t>
            </a:r>
            <a:endParaRPr lang="en-US" sz="960" dirty="0"/>
          </a:p>
        </p:txBody>
      </p:sp>
      <p:sp>
        <p:nvSpPr>
          <p:cNvPr id="227" name="Shape 225"/>
          <p:cNvSpPr/>
          <p:nvPr/>
        </p:nvSpPr>
        <p:spPr>
          <a:xfrm>
            <a:off x="5413591" y="4300309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28" name="Text 226"/>
          <p:cNvSpPr txBox="1"/>
          <p:nvPr/>
        </p:nvSpPr>
        <p:spPr>
          <a:xfrm>
            <a:off x="5413591" y="4086117"/>
            <a:ext cx="96762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19.1 M</a:t>
            </a:r>
            <a:endParaRPr lang="en-US" sz="960" dirty="0"/>
          </a:p>
        </p:txBody>
      </p:sp>
      <p:sp>
        <p:nvSpPr>
          <p:cNvPr id="229" name="Shape 227"/>
          <p:cNvSpPr/>
          <p:nvPr/>
        </p:nvSpPr>
        <p:spPr>
          <a:xfrm>
            <a:off x="6420624" y="4300309"/>
            <a:ext cx="153601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30" name="Text 228"/>
          <p:cNvSpPr txBox="1"/>
          <p:nvPr/>
        </p:nvSpPr>
        <p:spPr>
          <a:xfrm>
            <a:off x="6420624" y="4086117"/>
            <a:ext cx="13492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</a:t>
            </a:r>
            <a:endParaRPr lang="en-US" sz="960" dirty="0"/>
          </a:p>
        </p:txBody>
      </p:sp>
      <p:sp>
        <p:nvSpPr>
          <p:cNvPr id="231" name="Shape 229"/>
          <p:cNvSpPr/>
          <p:nvPr/>
        </p:nvSpPr>
        <p:spPr>
          <a:xfrm>
            <a:off x="7956642" y="4300309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32" name="Text 230"/>
          <p:cNvSpPr txBox="1"/>
          <p:nvPr/>
        </p:nvSpPr>
        <p:spPr>
          <a:xfrm>
            <a:off x="7956642" y="4086117"/>
            <a:ext cx="114505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 sep</a:t>
            </a:r>
            <a:endParaRPr lang="en-US" sz="960" dirty="0"/>
          </a:p>
        </p:txBody>
      </p:sp>
      <p:sp>
        <p:nvSpPr>
          <p:cNvPr id="233" name="Shape 231"/>
          <p:cNvSpPr/>
          <p:nvPr/>
        </p:nvSpPr>
        <p:spPr>
          <a:xfrm>
            <a:off x="9135935" y="4300309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34" name="Text 232"/>
          <p:cNvSpPr txBox="1"/>
          <p:nvPr/>
        </p:nvSpPr>
        <p:spPr>
          <a:xfrm>
            <a:off x="9135935" y="4086117"/>
            <a:ext cx="96762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7.8 M</a:t>
            </a:r>
            <a:endParaRPr lang="en-US" sz="960" dirty="0"/>
          </a:p>
        </p:txBody>
      </p:sp>
      <p:sp>
        <p:nvSpPr>
          <p:cNvPr id="235" name="Shape 233"/>
          <p:cNvSpPr/>
          <p:nvPr/>
        </p:nvSpPr>
        <p:spPr>
          <a:xfrm>
            <a:off x="10142967" y="4300309"/>
            <a:ext cx="153647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36" name="Text 234"/>
          <p:cNvSpPr txBox="1"/>
          <p:nvPr/>
        </p:nvSpPr>
        <p:spPr>
          <a:xfrm>
            <a:off x="10142967" y="4086117"/>
            <a:ext cx="1349704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</a:t>
            </a:r>
            <a:endParaRPr lang="en-US" sz="960" dirty="0"/>
          </a:p>
        </p:txBody>
      </p:sp>
      <p:sp>
        <p:nvSpPr>
          <p:cNvPr id="237" name="Shape 235"/>
          <p:cNvSpPr/>
          <p:nvPr/>
        </p:nvSpPr>
        <p:spPr>
          <a:xfrm>
            <a:off x="511956" y="4570529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38" name="Text 236"/>
          <p:cNvSpPr txBox="1"/>
          <p:nvPr/>
        </p:nvSpPr>
        <p:spPr>
          <a:xfrm>
            <a:off x="511956" y="4356337"/>
            <a:ext cx="114505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mar</a:t>
            </a:r>
            <a:endParaRPr lang="en-US" sz="960" dirty="0"/>
          </a:p>
        </p:txBody>
      </p:sp>
      <p:sp>
        <p:nvSpPr>
          <p:cNvPr id="239" name="Shape 237"/>
          <p:cNvSpPr/>
          <p:nvPr/>
        </p:nvSpPr>
        <p:spPr>
          <a:xfrm>
            <a:off x="1691248" y="4570529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40" name="Text 238"/>
          <p:cNvSpPr txBox="1"/>
          <p:nvPr/>
        </p:nvSpPr>
        <p:spPr>
          <a:xfrm>
            <a:off x="1691248" y="4356337"/>
            <a:ext cx="96762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14.7 M</a:t>
            </a:r>
            <a:endParaRPr lang="en-US" sz="960" dirty="0"/>
          </a:p>
        </p:txBody>
      </p:sp>
      <p:sp>
        <p:nvSpPr>
          <p:cNvPr id="241" name="Shape 239"/>
          <p:cNvSpPr/>
          <p:nvPr/>
        </p:nvSpPr>
        <p:spPr>
          <a:xfrm>
            <a:off x="2698281" y="4570529"/>
            <a:ext cx="153601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42" name="Text 240"/>
          <p:cNvSpPr txBox="1"/>
          <p:nvPr/>
        </p:nvSpPr>
        <p:spPr>
          <a:xfrm>
            <a:off x="2698281" y="4356337"/>
            <a:ext cx="13492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</a:t>
            </a:r>
            <a:endParaRPr lang="en-US" sz="960" dirty="0"/>
          </a:p>
        </p:txBody>
      </p:sp>
      <p:sp>
        <p:nvSpPr>
          <p:cNvPr id="243" name="Shape 241"/>
          <p:cNvSpPr/>
          <p:nvPr/>
        </p:nvSpPr>
        <p:spPr>
          <a:xfrm>
            <a:off x="4234299" y="4570529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44" name="Text 242"/>
          <p:cNvSpPr txBox="1"/>
          <p:nvPr/>
        </p:nvSpPr>
        <p:spPr>
          <a:xfrm>
            <a:off x="4234299" y="4356337"/>
            <a:ext cx="114505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 jun</a:t>
            </a:r>
            <a:endParaRPr lang="en-US" sz="960" dirty="0"/>
          </a:p>
        </p:txBody>
      </p:sp>
      <p:sp>
        <p:nvSpPr>
          <p:cNvPr id="245" name="Shape 243"/>
          <p:cNvSpPr/>
          <p:nvPr/>
        </p:nvSpPr>
        <p:spPr>
          <a:xfrm>
            <a:off x="5413591" y="4570529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46" name="Text 244"/>
          <p:cNvSpPr txBox="1"/>
          <p:nvPr/>
        </p:nvSpPr>
        <p:spPr>
          <a:xfrm>
            <a:off x="5413591" y="4356337"/>
            <a:ext cx="96762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15.6 M</a:t>
            </a:r>
            <a:endParaRPr lang="en-US" sz="960" dirty="0"/>
          </a:p>
        </p:txBody>
      </p:sp>
      <p:sp>
        <p:nvSpPr>
          <p:cNvPr id="247" name="Shape 245"/>
          <p:cNvSpPr/>
          <p:nvPr/>
        </p:nvSpPr>
        <p:spPr>
          <a:xfrm>
            <a:off x="6420624" y="4570529"/>
            <a:ext cx="153601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48" name="Text 246"/>
          <p:cNvSpPr txBox="1"/>
          <p:nvPr/>
        </p:nvSpPr>
        <p:spPr>
          <a:xfrm>
            <a:off x="6420624" y="4356337"/>
            <a:ext cx="13492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</a:t>
            </a:r>
            <a:endParaRPr lang="en-US" sz="960" dirty="0"/>
          </a:p>
        </p:txBody>
      </p:sp>
      <p:sp>
        <p:nvSpPr>
          <p:cNvPr id="249" name="Shape 247"/>
          <p:cNvSpPr/>
          <p:nvPr/>
        </p:nvSpPr>
        <p:spPr>
          <a:xfrm>
            <a:off x="7956642" y="4570529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9135935" y="4570529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10142967" y="4570529"/>
            <a:ext cx="153647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511956" y="4840749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53" name="Text 251"/>
          <p:cNvSpPr txBox="1"/>
          <p:nvPr/>
        </p:nvSpPr>
        <p:spPr>
          <a:xfrm>
            <a:off x="511956" y="4626557"/>
            <a:ext cx="114505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mar</a:t>
            </a:r>
            <a:endParaRPr lang="en-US" sz="960" dirty="0"/>
          </a:p>
        </p:txBody>
      </p:sp>
      <p:sp>
        <p:nvSpPr>
          <p:cNvPr id="254" name="Shape 252"/>
          <p:cNvSpPr/>
          <p:nvPr/>
        </p:nvSpPr>
        <p:spPr>
          <a:xfrm>
            <a:off x="1691248" y="4840749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55" name="Text 253"/>
          <p:cNvSpPr txBox="1"/>
          <p:nvPr/>
        </p:nvSpPr>
        <p:spPr>
          <a:xfrm>
            <a:off x="1691248" y="4626557"/>
            <a:ext cx="96762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11.7 M</a:t>
            </a:r>
            <a:endParaRPr lang="en-US" sz="960" dirty="0"/>
          </a:p>
        </p:txBody>
      </p:sp>
      <p:sp>
        <p:nvSpPr>
          <p:cNvPr id="256" name="Shape 254"/>
          <p:cNvSpPr/>
          <p:nvPr/>
        </p:nvSpPr>
        <p:spPr>
          <a:xfrm>
            <a:off x="2698281" y="4840749"/>
            <a:ext cx="153601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57" name="Text 255"/>
          <p:cNvSpPr txBox="1"/>
          <p:nvPr/>
        </p:nvSpPr>
        <p:spPr>
          <a:xfrm>
            <a:off x="2698281" y="4626557"/>
            <a:ext cx="13492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105</a:t>
            </a:r>
            <a:endParaRPr lang="en-US" sz="960" dirty="0"/>
          </a:p>
        </p:txBody>
      </p:sp>
      <p:sp>
        <p:nvSpPr>
          <p:cNvPr id="258" name="Shape 256"/>
          <p:cNvSpPr/>
          <p:nvPr/>
        </p:nvSpPr>
        <p:spPr>
          <a:xfrm>
            <a:off x="4234299" y="4840749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59" name="Text 257"/>
          <p:cNvSpPr txBox="1"/>
          <p:nvPr/>
        </p:nvSpPr>
        <p:spPr>
          <a:xfrm>
            <a:off x="4234299" y="4626557"/>
            <a:ext cx="114505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jul</a:t>
            </a:r>
            <a:endParaRPr lang="en-US" sz="960" dirty="0"/>
          </a:p>
        </p:txBody>
      </p:sp>
      <p:sp>
        <p:nvSpPr>
          <p:cNvPr id="260" name="Shape 258"/>
          <p:cNvSpPr/>
          <p:nvPr/>
        </p:nvSpPr>
        <p:spPr>
          <a:xfrm>
            <a:off x="5413591" y="4840749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61" name="Text 259"/>
          <p:cNvSpPr txBox="1"/>
          <p:nvPr/>
        </p:nvSpPr>
        <p:spPr>
          <a:xfrm>
            <a:off x="5413591" y="4626557"/>
            <a:ext cx="96762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14.3 M</a:t>
            </a:r>
            <a:endParaRPr lang="en-US" sz="960" dirty="0"/>
          </a:p>
        </p:txBody>
      </p:sp>
      <p:sp>
        <p:nvSpPr>
          <p:cNvPr id="262" name="Shape 260"/>
          <p:cNvSpPr/>
          <p:nvPr/>
        </p:nvSpPr>
        <p:spPr>
          <a:xfrm>
            <a:off x="6420624" y="4840749"/>
            <a:ext cx="153601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63" name="Text 261"/>
          <p:cNvSpPr txBox="1"/>
          <p:nvPr/>
        </p:nvSpPr>
        <p:spPr>
          <a:xfrm>
            <a:off x="6420624" y="4626557"/>
            <a:ext cx="13492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</a:t>
            </a:r>
            <a:endParaRPr lang="en-US" sz="960" dirty="0"/>
          </a:p>
        </p:txBody>
      </p:sp>
      <p:sp>
        <p:nvSpPr>
          <p:cNvPr id="264" name="Shape 262"/>
          <p:cNvSpPr/>
          <p:nvPr/>
        </p:nvSpPr>
        <p:spPr>
          <a:xfrm>
            <a:off x="7956642" y="4840749"/>
            <a:ext cx="1179292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9135935" y="4840749"/>
            <a:ext cx="100703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10142967" y="4840749"/>
            <a:ext cx="1536471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268" name="Text 266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69" name="Text 267"/>
          <p:cNvSpPr txBox="1"/>
          <p:nvPr/>
        </p:nvSpPr>
        <p:spPr>
          <a:xfrm>
            <a:off x="1409876" y="6077461"/>
            <a:ext cx="5477710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semanas con más volumen no traen más respuestas por cada mil mensajes.</a:t>
            </a:r>
            <a:endParaRPr lang="en-US" sz="1100" dirty="0"/>
          </a:p>
        </p:txBody>
      </p:sp>
      <p:sp>
        <p:nvSpPr>
          <p:cNvPr id="270" name="Text 268"/>
          <p:cNvSpPr txBox="1"/>
          <p:nvPr/>
        </p:nvSpPr>
        <p:spPr>
          <a:xfrm>
            <a:off x="511956" y="6454684"/>
            <a:ext cx="5961715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serie semanal por canal (E4a), enero a septiembre 2026; la primera y la última semana están incompletas.</a:t>
            </a:r>
            <a:endParaRPr lang="en-US" sz="840" dirty="0"/>
          </a:p>
        </p:txBody>
      </p:sp>
      <p:sp>
        <p:nvSpPr>
          <p:cNvPr id="271" name="Text 269"/>
          <p:cNvSpPr txBox="1"/>
          <p:nvPr/>
        </p:nvSpPr>
        <p:spPr>
          <a:xfrm>
            <a:off x="11509891" y="6454684"/>
            <a:ext cx="193232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107</a:t>
            </a:r>
            <a:endParaRPr lang="en-US" sz="84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Fichas de las 15 campañas con más ahorro: juntas suman 1.50 M MXN al mes, 64 % del total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518235"/>
            <a:ext cx="335024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11956" y="1210125"/>
            <a:ext cx="275461" cy="26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</a:t>
            </a:r>
            <a:endParaRPr lang="en-US" sz="790" dirty="0"/>
          </a:p>
        </p:txBody>
      </p:sp>
      <p:sp>
        <p:nvSpPr>
          <p:cNvPr id="5" name="Shape 3"/>
          <p:cNvSpPr/>
          <p:nvPr/>
        </p:nvSpPr>
        <p:spPr>
          <a:xfrm>
            <a:off x="846980" y="1518235"/>
            <a:ext cx="2680196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6980" y="1210125"/>
            <a:ext cx="2690987" cy="26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CAMPAÑA</a:t>
            </a:r>
            <a:endParaRPr lang="en-US" sz="790" dirty="0"/>
          </a:p>
        </p:txBody>
      </p:sp>
      <p:sp>
        <p:nvSpPr>
          <p:cNvPr id="7" name="Shape 5"/>
          <p:cNvSpPr/>
          <p:nvPr/>
        </p:nvSpPr>
        <p:spPr>
          <a:xfrm>
            <a:off x="3527176" y="1518235"/>
            <a:ext cx="1116748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7176" y="1210125"/>
            <a:ext cx="1080637" cy="26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EQUIPO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4643924" y="1518235"/>
            <a:ext cx="781724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43924" y="1210125"/>
            <a:ext cx="735561" cy="26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CANAL</a:t>
            </a:r>
            <a:endParaRPr lang="en-US" sz="790" dirty="0"/>
          </a:p>
        </p:txBody>
      </p:sp>
      <p:sp>
        <p:nvSpPr>
          <p:cNvPr id="11" name="Shape 9"/>
          <p:cNvSpPr/>
          <p:nvPr/>
        </p:nvSpPr>
        <p:spPr>
          <a:xfrm>
            <a:off x="5425648" y="1518235"/>
            <a:ext cx="1116748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25648" y="1210125"/>
            <a:ext cx="1080637" cy="26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3" name="Shape 11"/>
          <p:cNvSpPr/>
          <p:nvPr/>
        </p:nvSpPr>
        <p:spPr>
          <a:xfrm>
            <a:off x="6542396" y="1518235"/>
            <a:ext cx="893399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42396" y="1210125"/>
            <a:ext cx="850586" cy="26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MENSAJES EN SEPT.</a:t>
            </a:r>
            <a:endParaRPr lang="en-US" sz="790" dirty="0"/>
          </a:p>
        </p:txBody>
      </p:sp>
      <p:sp>
        <p:nvSpPr>
          <p:cNvPr id="15" name="Shape 13"/>
          <p:cNvSpPr/>
          <p:nvPr/>
        </p:nvSpPr>
        <p:spPr>
          <a:xfrm>
            <a:off x="7435795" y="1518235"/>
            <a:ext cx="1228423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35795" y="1210125"/>
            <a:ext cx="1195662" cy="26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RESPUESTA</a:t>
            </a:r>
            <a:endParaRPr lang="en-US" sz="790" dirty="0"/>
          </a:p>
        </p:txBody>
      </p:sp>
      <p:sp>
        <p:nvSpPr>
          <p:cNvPr id="17" name="Shape 15"/>
          <p:cNvSpPr/>
          <p:nvPr/>
        </p:nvSpPr>
        <p:spPr>
          <a:xfrm>
            <a:off x="8664218" y="1518235"/>
            <a:ext cx="1005073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64218" y="1210125"/>
            <a:ext cx="965611" cy="26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AHORRO AL MES</a:t>
            </a:r>
            <a:endParaRPr lang="en-US" sz="790" dirty="0"/>
          </a:p>
        </p:txBody>
      </p:sp>
      <p:sp>
        <p:nvSpPr>
          <p:cNvPr id="19" name="Shape 17"/>
          <p:cNvSpPr/>
          <p:nvPr/>
        </p:nvSpPr>
        <p:spPr>
          <a:xfrm>
            <a:off x="9669291" y="1518235"/>
            <a:ext cx="2010147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15591" y="1210125"/>
            <a:ext cx="1850148" cy="26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HACE</a:t>
            </a:r>
            <a:endParaRPr lang="en-US" sz="790" dirty="0"/>
          </a:p>
        </p:txBody>
      </p:sp>
      <p:sp>
        <p:nvSpPr>
          <p:cNvPr id="21" name="Shape 19"/>
          <p:cNvSpPr/>
          <p:nvPr/>
        </p:nvSpPr>
        <p:spPr>
          <a:xfrm>
            <a:off x="511956" y="1946849"/>
            <a:ext cx="3350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1956" y="1574263"/>
            <a:ext cx="27546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846980" y="1946849"/>
            <a:ext cx="26801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6980" y="1574263"/>
            <a:ext cx="269098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 a clientes KPay sin compra en un año</a:t>
            </a:r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(B0333)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3527176" y="1946849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27176" y="1574263"/>
            <a:ext cx="108063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4643924" y="1946849"/>
            <a:ext cx="7817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43924" y="1574263"/>
            <a:ext cx="73556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5425648" y="1946849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25648" y="1574263"/>
            <a:ext cx="108063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 clientes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6542396" y="1946849"/>
            <a:ext cx="89339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42396" y="1574263"/>
            <a:ext cx="850586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0.44 M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7435795" y="1946849"/>
            <a:ext cx="122842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435795" y="1574263"/>
            <a:ext cx="1195662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 de cada 100 leídos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8664218" y="1946849"/>
            <a:ext cx="1005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664218" y="1574263"/>
            <a:ext cx="96561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334 mil MXN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9669291" y="1946849"/>
            <a:ext cx="201014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815591" y="1574263"/>
            <a:ext cx="1850148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293 mil se miden; 41 mil se quitan ya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511956" y="2375464"/>
            <a:ext cx="3350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11956" y="2002877"/>
            <a:ext cx="27546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846980" y="2375464"/>
            <a:ext cx="26801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46980" y="2002877"/>
            <a:ext cx="269098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0 a registrados de KPay sin Cash</a:t>
            </a:r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(B0211)</a:t>
            </a: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3527176" y="2375464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527176" y="2002877"/>
            <a:ext cx="108063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</a:t>
            </a:r>
            <a:endParaRPr lang="en-US" sz="960" dirty="0"/>
          </a:p>
        </p:txBody>
      </p:sp>
      <p:sp>
        <p:nvSpPr>
          <p:cNvPr id="45" name="Shape 43"/>
          <p:cNvSpPr/>
          <p:nvPr/>
        </p:nvSpPr>
        <p:spPr>
          <a:xfrm>
            <a:off x="4643924" y="2375464"/>
            <a:ext cx="7817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643924" y="2002877"/>
            <a:ext cx="73556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</a:t>
            </a:r>
            <a:endParaRPr lang="en-US" sz="960" dirty="0"/>
          </a:p>
        </p:txBody>
      </p:sp>
      <p:sp>
        <p:nvSpPr>
          <p:cNvPr id="47" name="Shape 45"/>
          <p:cNvSpPr/>
          <p:nvPr/>
        </p:nvSpPr>
        <p:spPr>
          <a:xfrm>
            <a:off x="5425648" y="2375464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425648" y="2002877"/>
            <a:ext cx="108063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 y registrados</a:t>
            </a:r>
            <a:endParaRPr lang="en-US" sz="960" dirty="0"/>
          </a:p>
        </p:txBody>
      </p:sp>
      <p:sp>
        <p:nvSpPr>
          <p:cNvPr id="49" name="Shape 47"/>
          <p:cNvSpPr/>
          <p:nvPr/>
        </p:nvSpPr>
        <p:spPr>
          <a:xfrm>
            <a:off x="6542396" y="2375464"/>
            <a:ext cx="89339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542396" y="2002877"/>
            <a:ext cx="850586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6.41 M</a:t>
            </a:r>
            <a:endParaRPr lang="en-US" sz="960" dirty="0"/>
          </a:p>
        </p:txBody>
      </p:sp>
      <p:sp>
        <p:nvSpPr>
          <p:cNvPr id="51" name="Shape 49"/>
          <p:cNvSpPr/>
          <p:nvPr/>
        </p:nvSpPr>
        <p:spPr>
          <a:xfrm>
            <a:off x="7435795" y="2375464"/>
            <a:ext cx="122842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435795" y="2002877"/>
            <a:ext cx="1195662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2.8 clics por mil</a:t>
            </a:r>
            <a:endParaRPr lang="en-US" sz="960" dirty="0"/>
          </a:p>
        </p:txBody>
      </p:sp>
      <p:sp>
        <p:nvSpPr>
          <p:cNvPr id="53" name="Shape 51"/>
          <p:cNvSpPr/>
          <p:nvPr/>
        </p:nvSpPr>
        <p:spPr>
          <a:xfrm>
            <a:off x="8664218" y="2375464"/>
            <a:ext cx="1005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664218" y="2002877"/>
            <a:ext cx="96561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321 mil MXN</a:t>
            </a:r>
            <a:endParaRPr lang="en-US" sz="960" dirty="0"/>
          </a:p>
        </p:txBody>
      </p:sp>
      <p:sp>
        <p:nvSpPr>
          <p:cNvPr id="55" name="Shape 53"/>
          <p:cNvSpPr/>
          <p:nvPr/>
        </p:nvSpPr>
        <p:spPr>
          <a:xfrm>
            <a:off x="9669291" y="2375464"/>
            <a:ext cx="201014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815591" y="2002877"/>
            <a:ext cx="1850148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quita ya</a:t>
            </a:r>
            <a:endParaRPr lang="en-US" sz="960" dirty="0"/>
          </a:p>
        </p:txBody>
      </p:sp>
      <p:sp>
        <p:nvSpPr>
          <p:cNvPr id="57" name="Shape 55"/>
          <p:cNvSpPr/>
          <p:nvPr/>
        </p:nvSpPr>
        <p:spPr>
          <a:xfrm>
            <a:off x="511956" y="2804078"/>
            <a:ext cx="3350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11956" y="2431491"/>
            <a:ext cx="27546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60" dirty="0"/>
          </a:p>
        </p:txBody>
      </p:sp>
      <p:sp>
        <p:nvSpPr>
          <p:cNvPr id="59" name="Shape 57"/>
          <p:cNvSpPr/>
          <p:nvPr/>
        </p:nvSpPr>
        <p:spPr>
          <a:xfrm>
            <a:off x="846980" y="2804078"/>
            <a:ext cx="26801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46980" y="2431491"/>
            <a:ext cx="269098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 a clientes KPay sin compra en 6 meses</a:t>
            </a:r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(B0332)</a:t>
            </a:r>
            <a:endParaRPr lang="en-US" sz="960" dirty="0"/>
          </a:p>
        </p:txBody>
      </p:sp>
      <p:sp>
        <p:nvSpPr>
          <p:cNvPr id="61" name="Shape 59"/>
          <p:cNvSpPr/>
          <p:nvPr/>
        </p:nvSpPr>
        <p:spPr>
          <a:xfrm>
            <a:off x="3527176" y="2804078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3527176" y="2431491"/>
            <a:ext cx="108063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</a:t>
            </a:r>
            <a:endParaRPr lang="en-US" sz="960" dirty="0"/>
          </a:p>
        </p:txBody>
      </p:sp>
      <p:sp>
        <p:nvSpPr>
          <p:cNvPr id="63" name="Shape 61"/>
          <p:cNvSpPr/>
          <p:nvPr/>
        </p:nvSpPr>
        <p:spPr>
          <a:xfrm>
            <a:off x="4643924" y="2804078"/>
            <a:ext cx="7817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643924" y="2431491"/>
            <a:ext cx="73556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</a:t>
            </a:r>
            <a:endParaRPr lang="en-US" sz="960" dirty="0"/>
          </a:p>
        </p:txBody>
      </p:sp>
      <p:sp>
        <p:nvSpPr>
          <p:cNvPr id="65" name="Shape 63"/>
          <p:cNvSpPr/>
          <p:nvPr/>
        </p:nvSpPr>
        <p:spPr>
          <a:xfrm>
            <a:off x="5425648" y="2804078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425648" y="2431491"/>
            <a:ext cx="108063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 clientes</a:t>
            </a:r>
            <a:endParaRPr lang="en-US" sz="960" dirty="0"/>
          </a:p>
        </p:txBody>
      </p:sp>
      <p:sp>
        <p:nvSpPr>
          <p:cNvPr id="67" name="Shape 65"/>
          <p:cNvSpPr/>
          <p:nvPr/>
        </p:nvSpPr>
        <p:spPr>
          <a:xfrm>
            <a:off x="6542396" y="2804078"/>
            <a:ext cx="89339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6542396" y="2431491"/>
            <a:ext cx="850586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0.19 M</a:t>
            </a:r>
            <a:endParaRPr lang="en-US" sz="960" dirty="0"/>
          </a:p>
        </p:txBody>
      </p:sp>
      <p:sp>
        <p:nvSpPr>
          <p:cNvPr id="69" name="Shape 67"/>
          <p:cNvSpPr/>
          <p:nvPr/>
        </p:nvSpPr>
        <p:spPr>
          <a:xfrm>
            <a:off x="7435795" y="2804078"/>
            <a:ext cx="122842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7435795" y="2431491"/>
            <a:ext cx="1195662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 de cada 100 leídos</a:t>
            </a:r>
            <a:endParaRPr lang="en-US" sz="960" dirty="0"/>
          </a:p>
        </p:txBody>
      </p:sp>
      <p:sp>
        <p:nvSpPr>
          <p:cNvPr id="71" name="Shape 69"/>
          <p:cNvSpPr/>
          <p:nvPr/>
        </p:nvSpPr>
        <p:spPr>
          <a:xfrm>
            <a:off x="8664218" y="2804078"/>
            <a:ext cx="1005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8664218" y="2431491"/>
            <a:ext cx="96561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162 mil MXN</a:t>
            </a:r>
            <a:endParaRPr lang="en-US" sz="960" dirty="0"/>
          </a:p>
        </p:txBody>
      </p:sp>
      <p:sp>
        <p:nvSpPr>
          <p:cNvPr id="73" name="Shape 71"/>
          <p:cNvSpPr/>
          <p:nvPr/>
        </p:nvSpPr>
        <p:spPr>
          <a:xfrm>
            <a:off x="9669291" y="2804078"/>
            <a:ext cx="201014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9815591" y="2431491"/>
            <a:ext cx="1850148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mide antes de cortar</a:t>
            </a:r>
            <a:endParaRPr lang="en-US" sz="960" dirty="0"/>
          </a:p>
        </p:txBody>
      </p:sp>
      <p:sp>
        <p:nvSpPr>
          <p:cNvPr id="75" name="Shape 73"/>
          <p:cNvSpPr/>
          <p:nvPr/>
        </p:nvSpPr>
        <p:spPr>
          <a:xfrm>
            <a:off x="511956" y="3232692"/>
            <a:ext cx="3350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511956" y="2860106"/>
            <a:ext cx="27546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60" dirty="0"/>
          </a:p>
        </p:txBody>
      </p:sp>
      <p:sp>
        <p:nvSpPr>
          <p:cNvPr id="77" name="Shape 75"/>
          <p:cNvSpPr/>
          <p:nvPr/>
        </p:nvSpPr>
        <p:spPr>
          <a:xfrm>
            <a:off x="846980" y="3232692"/>
            <a:ext cx="26801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846980" y="2860106"/>
            <a:ext cx="269098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Installments a registrados que nunca activaron</a:t>
            </a:r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(B0223)</a:t>
            </a:r>
            <a:endParaRPr lang="en-US" sz="960" dirty="0"/>
          </a:p>
        </p:txBody>
      </p:sp>
      <p:sp>
        <p:nvSpPr>
          <p:cNvPr id="79" name="Shape 77"/>
          <p:cNvSpPr/>
          <p:nvPr/>
        </p:nvSpPr>
        <p:spPr>
          <a:xfrm>
            <a:off x="3527176" y="3232692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3527176" y="2860106"/>
            <a:ext cx="108063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</a:t>
            </a:r>
            <a:endParaRPr lang="en-US" sz="960" dirty="0"/>
          </a:p>
        </p:txBody>
      </p:sp>
      <p:sp>
        <p:nvSpPr>
          <p:cNvPr id="81" name="Shape 79"/>
          <p:cNvSpPr/>
          <p:nvPr/>
        </p:nvSpPr>
        <p:spPr>
          <a:xfrm>
            <a:off x="4643924" y="3232692"/>
            <a:ext cx="7817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4643924" y="2860106"/>
            <a:ext cx="73556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</a:t>
            </a:r>
            <a:endParaRPr lang="en-US" sz="960" dirty="0"/>
          </a:p>
        </p:txBody>
      </p:sp>
      <p:sp>
        <p:nvSpPr>
          <p:cNvPr id="83" name="Shape 81"/>
          <p:cNvSpPr/>
          <p:nvPr/>
        </p:nvSpPr>
        <p:spPr>
          <a:xfrm>
            <a:off x="5425648" y="3232692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5425648" y="2860106"/>
            <a:ext cx="108063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 y registrados</a:t>
            </a:r>
            <a:endParaRPr lang="en-US" sz="960" dirty="0"/>
          </a:p>
        </p:txBody>
      </p:sp>
      <p:sp>
        <p:nvSpPr>
          <p:cNvPr id="85" name="Shape 83"/>
          <p:cNvSpPr/>
          <p:nvPr/>
        </p:nvSpPr>
        <p:spPr>
          <a:xfrm>
            <a:off x="6542396" y="3232692"/>
            <a:ext cx="89339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6542396" y="2860106"/>
            <a:ext cx="850586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2.66 M</a:t>
            </a:r>
            <a:endParaRPr lang="en-US" sz="960" dirty="0"/>
          </a:p>
        </p:txBody>
      </p:sp>
      <p:sp>
        <p:nvSpPr>
          <p:cNvPr id="87" name="Shape 85"/>
          <p:cNvSpPr/>
          <p:nvPr/>
        </p:nvSpPr>
        <p:spPr>
          <a:xfrm>
            <a:off x="7435795" y="3232692"/>
            <a:ext cx="122842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7435795" y="2860106"/>
            <a:ext cx="1195662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 clics por mil</a:t>
            </a:r>
            <a:endParaRPr lang="en-US" sz="960" dirty="0"/>
          </a:p>
        </p:txBody>
      </p:sp>
      <p:sp>
        <p:nvSpPr>
          <p:cNvPr id="89" name="Shape 87"/>
          <p:cNvSpPr/>
          <p:nvPr/>
        </p:nvSpPr>
        <p:spPr>
          <a:xfrm>
            <a:off x="8664218" y="3232692"/>
            <a:ext cx="1005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8664218" y="2860106"/>
            <a:ext cx="96561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133 mil MXN</a:t>
            </a:r>
            <a:endParaRPr lang="en-US" sz="960" dirty="0"/>
          </a:p>
        </p:txBody>
      </p:sp>
      <p:sp>
        <p:nvSpPr>
          <p:cNvPr id="91" name="Shape 89"/>
          <p:cNvSpPr/>
          <p:nvPr/>
        </p:nvSpPr>
        <p:spPr>
          <a:xfrm>
            <a:off x="9669291" y="3232692"/>
            <a:ext cx="201014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9815591" y="2860106"/>
            <a:ext cx="1850148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quita ya</a:t>
            </a:r>
            <a:endParaRPr lang="en-US" sz="960" dirty="0"/>
          </a:p>
        </p:txBody>
      </p:sp>
      <p:sp>
        <p:nvSpPr>
          <p:cNvPr id="93" name="Shape 91"/>
          <p:cNvSpPr/>
          <p:nvPr/>
        </p:nvSpPr>
        <p:spPr>
          <a:xfrm>
            <a:off x="511956" y="3661306"/>
            <a:ext cx="3350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511956" y="3288720"/>
            <a:ext cx="27546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960" dirty="0"/>
          </a:p>
        </p:txBody>
      </p:sp>
      <p:sp>
        <p:nvSpPr>
          <p:cNvPr id="95" name="Shape 93"/>
          <p:cNvSpPr/>
          <p:nvPr/>
        </p:nvSpPr>
        <p:spPr>
          <a:xfrm>
            <a:off x="846980" y="3661306"/>
            <a:ext cx="26801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846980" y="3288720"/>
            <a:ext cx="269098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Installments a registrados que nunca activaron</a:t>
            </a:r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(B0223)</a:t>
            </a:r>
            <a:endParaRPr lang="en-US" sz="960" dirty="0"/>
          </a:p>
        </p:txBody>
      </p:sp>
      <p:sp>
        <p:nvSpPr>
          <p:cNvPr id="97" name="Shape 95"/>
          <p:cNvSpPr/>
          <p:nvPr/>
        </p:nvSpPr>
        <p:spPr>
          <a:xfrm>
            <a:off x="3527176" y="3661306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3527176" y="3288720"/>
            <a:ext cx="108063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</a:t>
            </a:r>
            <a:endParaRPr lang="en-US" sz="960" dirty="0"/>
          </a:p>
        </p:txBody>
      </p:sp>
      <p:sp>
        <p:nvSpPr>
          <p:cNvPr id="99" name="Shape 97"/>
          <p:cNvSpPr/>
          <p:nvPr/>
        </p:nvSpPr>
        <p:spPr>
          <a:xfrm>
            <a:off x="4643924" y="3661306"/>
            <a:ext cx="7817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4643924" y="3288720"/>
            <a:ext cx="73556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</a:t>
            </a:r>
            <a:endParaRPr lang="en-US" sz="960" dirty="0"/>
          </a:p>
        </p:txBody>
      </p:sp>
      <p:sp>
        <p:nvSpPr>
          <p:cNvPr id="101" name="Shape 99"/>
          <p:cNvSpPr/>
          <p:nvPr/>
        </p:nvSpPr>
        <p:spPr>
          <a:xfrm>
            <a:off x="5425648" y="3661306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5425648" y="3288720"/>
            <a:ext cx="108063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 y registrados</a:t>
            </a:r>
            <a:endParaRPr lang="en-US" sz="960" dirty="0"/>
          </a:p>
        </p:txBody>
      </p:sp>
      <p:sp>
        <p:nvSpPr>
          <p:cNvPr id="103" name="Shape 101"/>
          <p:cNvSpPr/>
          <p:nvPr/>
        </p:nvSpPr>
        <p:spPr>
          <a:xfrm>
            <a:off x="6542396" y="3661306"/>
            <a:ext cx="89339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6542396" y="3288720"/>
            <a:ext cx="850586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0.16 M</a:t>
            </a:r>
            <a:endParaRPr lang="en-US" sz="960" dirty="0"/>
          </a:p>
        </p:txBody>
      </p:sp>
      <p:sp>
        <p:nvSpPr>
          <p:cNvPr id="105" name="Shape 103"/>
          <p:cNvSpPr/>
          <p:nvPr/>
        </p:nvSpPr>
        <p:spPr>
          <a:xfrm>
            <a:off x="7435795" y="3661306"/>
            <a:ext cx="122842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7435795" y="3288720"/>
            <a:ext cx="1195662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 de cada 100 leídos</a:t>
            </a:r>
            <a:endParaRPr lang="en-US" sz="960" dirty="0"/>
          </a:p>
        </p:txBody>
      </p:sp>
      <p:sp>
        <p:nvSpPr>
          <p:cNvPr id="107" name="Shape 105"/>
          <p:cNvSpPr/>
          <p:nvPr/>
        </p:nvSpPr>
        <p:spPr>
          <a:xfrm>
            <a:off x="8664218" y="3661306"/>
            <a:ext cx="1005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8664218" y="3288720"/>
            <a:ext cx="96561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 mil MXN</a:t>
            </a:r>
            <a:endParaRPr lang="en-US" sz="960" dirty="0"/>
          </a:p>
        </p:txBody>
      </p:sp>
      <p:sp>
        <p:nvSpPr>
          <p:cNvPr id="109" name="Shape 107"/>
          <p:cNvSpPr/>
          <p:nvPr/>
        </p:nvSpPr>
        <p:spPr>
          <a:xfrm>
            <a:off x="9669291" y="3661306"/>
            <a:ext cx="201014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9815591" y="3288720"/>
            <a:ext cx="1850148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quita ya</a:t>
            </a:r>
            <a:endParaRPr lang="en-US" sz="960" dirty="0"/>
          </a:p>
        </p:txBody>
      </p:sp>
      <p:sp>
        <p:nvSpPr>
          <p:cNvPr id="111" name="Shape 109"/>
          <p:cNvSpPr/>
          <p:nvPr/>
        </p:nvSpPr>
        <p:spPr>
          <a:xfrm>
            <a:off x="511956" y="4089921"/>
            <a:ext cx="3350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511956" y="3717334"/>
            <a:ext cx="27546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960" dirty="0"/>
          </a:p>
        </p:txBody>
      </p:sp>
      <p:sp>
        <p:nvSpPr>
          <p:cNvPr id="113" name="Shape 111"/>
          <p:cNvSpPr/>
          <p:nvPr/>
        </p:nvSpPr>
        <p:spPr>
          <a:xfrm>
            <a:off x="846980" y="4089921"/>
            <a:ext cx="26801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846980" y="3717334"/>
            <a:ext cx="269098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Venta cruzada de KPay a Cash, Fiestas Patrias</a:t>
            </a:r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(B0619)</a:t>
            </a:r>
            <a:endParaRPr lang="en-US" sz="960" dirty="0"/>
          </a:p>
        </p:txBody>
      </p:sp>
      <p:sp>
        <p:nvSpPr>
          <p:cNvPr id="115" name="Shape 113"/>
          <p:cNvSpPr/>
          <p:nvPr/>
        </p:nvSpPr>
        <p:spPr>
          <a:xfrm>
            <a:off x="3527176" y="4089921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3527176" y="3717334"/>
            <a:ext cx="108063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</a:t>
            </a:r>
            <a:endParaRPr lang="en-US" sz="960" dirty="0"/>
          </a:p>
        </p:txBody>
      </p:sp>
      <p:sp>
        <p:nvSpPr>
          <p:cNvPr id="117" name="Shape 115"/>
          <p:cNvSpPr/>
          <p:nvPr/>
        </p:nvSpPr>
        <p:spPr>
          <a:xfrm>
            <a:off x="4643924" y="4089921"/>
            <a:ext cx="7817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4643924" y="3717334"/>
            <a:ext cx="73556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</a:t>
            </a:r>
            <a:endParaRPr lang="en-US" sz="960" dirty="0"/>
          </a:p>
        </p:txBody>
      </p:sp>
      <p:sp>
        <p:nvSpPr>
          <p:cNvPr id="119" name="Shape 117"/>
          <p:cNvSpPr/>
          <p:nvPr/>
        </p:nvSpPr>
        <p:spPr>
          <a:xfrm>
            <a:off x="5425648" y="4089921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5425648" y="3717334"/>
            <a:ext cx="108063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Clientes KPay</a:t>
            </a:r>
            <a:endParaRPr lang="en-US" sz="960" dirty="0"/>
          </a:p>
        </p:txBody>
      </p:sp>
      <p:sp>
        <p:nvSpPr>
          <p:cNvPr id="121" name="Shape 119"/>
          <p:cNvSpPr/>
          <p:nvPr/>
        </p:nvSpPr>
        <p:spPr>
          <a:xfrm>
            <a:off x="6542396" y="4089921"/>
            <a:ext cx="89339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6542396" y="3717334"/>
            <a:ext cx="850586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0.11 M</a:t>
            </a:r>
            <a:endParaRPr lang="en-US" sz="960" dirty="0"/>
          </a:p>
        </p:txBody>
      </p:sp>
      <p:sp>
        <p:nvSpPr>
          <p:cNvPr id="123" name="Shape 121"/>
          <p:cNvSpPr/>
          <p:nvPr/>
        </p:nvSpPr>
        <p:spPr>
          <a:xfrm>
            <a:off x="7435795" y="4089921"/>
            <a:ext cx="122842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7435795" y="3717334"/>
            <a:ext cx="1195662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 de cada 100 leídos</a:t>
            </a:r>
            <a:endParaRPr lang="en-US" sz="960" dirty="0"/>
          </a:p>
        </p:txBody>
      </p:sp>
      <p:sp>
        <p:nvSpPr>
          <p:cNvPr id="125" name="Shape 123"/>
          <p:cNvSpPr/>
          <p:nvPr/>
        </p:nvSpPr>
        <p:spPr>
          <a:xfrm>
            <a:off x="8664218" y="4089921"/>
            <a:ext cx="1005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8664218" y="3717334"/>
            <a:ext cx="96561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 mil MXN</a:t>
            </a:r>
            <a:endParaRPr lang="en-US" sz="960" dirty="0"/>
          </a:p>
        </p:txBody>
      </p:sp>
      <p:sp>
        <p:nvSpPr>
          <p:cNvPr id="127" name="Shape 125"/>
          <p:cNvSpPr/>
          <p:nvPr/>
        </p:nvSpPr>
        <p:spPr>
          <a:xfrm>
            <a:off x="9669291" y="4089921"/>
            <a:ext cx="201014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9815591" y="3717334"/>
            <a:ext cx="1850148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quita ya</a:t>
            </a:r>
            <a:endParaRPr lang="en-US" sz="960" dirty="0"/>
          </a:p>
        </p:txBody>
      </p:sp>
      <p:sp>
        <p:nvSpPr>
          <p:cNvPr id="129" name="Shape 127"/>
          <p:cNvSpPr/>
          <p:nvPr/>
        </p:nvSpPr>
        <p:spPr>
          <a:xfrm>
            <a:off x="511956" y="4518535"/>
            <a:ext cx="3350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511956" y="4145948"/>
            <a:ext cx="27546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960" dirty="0"/>
          </a:p>
        </p:txBody>
      </p:sp>
      <p:sp>
        <p:nvSpPr>
          <p:cNvPr id="131" name="Shape 129"/>
          <p:cNvSpPr/>
          <p:nvPr/>
        </p:nvSpPr>
        <p:spPr>
          <a:xfrm>
            <a:off x="846980" y="4518535"/>
            <a:ext cx="26801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846980" y="4145948"/>
            <a:ext cx="269098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Venta cruzada de Cash a leads de KPay</a:t>
            </a:r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(B0620)</a:t>
            </a:r>
            <a:endParaRPr lang="en-US" sz="960" dirty="0"/>
          </a:p>
        </p:txBody>
      </p:sp>
      <p:sp>
        <p:nvSpPr>
          <p:cNvPr id="133" name="Shape 131"/>
          <p:cNvSpPr/>
          <p:nvPr/>
        </p:nvSpPr>
        <p:spPr>
          <a:xfrm>
            <a:off x="3527176" y="4518535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3527176" y="4145948"/>
            <a:ext cx="108063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</a:t>
            </a:r>
            <a:endParaRPr lang="en-US" sz="960" dirty="0"/>
          </a:p>
        </p:txBody>
      </p:sp>
      <p:sp>
        <p:nvSpPr>
          <p:cNvPr id="135" name="Shape 133"/>
          <p:cNvSpPr/>
          <p:nvPr/>
        </p:nvSpPr>
        <p:spPr>
          <a:xfrm>
            <a:off x="4643924" y="4518535"/>
            <a:ext cx="7817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6" name="Text 134"/>
          <p:cNvSpPr txBox="1"/>
          <p:nvPr/>
        </p:nvSpPr>
        <p:spPr>
          <a:xfrm>
            <a:off x="4643924" y="4145948"/>
            <a:ext cx="73556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</a:t>
            </a:r>
            <a:endParaRPr lang="en-US" sz="960" dirty="0"/>
          </a:p>
        </p:txBody>
      </p:sp>
      <p:sp>
        <p:nvSpPr>
          <p:cNvPr id="137" name="Shape 135"/>
          <p:cNvSpPr/>
          <p:nvPr/>
        </p:nvSpPr>
        <p:spPr>
          <a:xfrm>
            <a:off x="5425648" y="4518535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8" name="Text 136"/>
          <p:cNvSpPr txBox="1"/>
          <p:nvPr/>
        </p:nvSpPr>
        <p:spPr>
          <a:xfrm>
            <a:off x="5425648" y="4145948"/>
            <a:ext cx="108063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 y registrados</a:t>
            </a:r>
            <a:endParaRPr lang="en-US" sz="960" dirty="0"/>
          </a:p>
        </p:txBody>
      </p:sp>
      <p:sp>
        <p:nvSpPr>
          <p:cNvPr id="139" name="Shape 137"/>
          <p:cNvSpPr/>
          <p:nvPr/>
        </p:nvSpPr>
        <p:spPr>
          <a:xfrm>
            <a:off x="6542396" y="4518535"/>
            <a:ext cx="89339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0" name="Text 138"/>
          <p:cNvSpPr txBox="1"/>
          <p:nvPr/>
        </p:nvSpPr>
        <p:spPr>
          <a:xfrm>
            <a:off x="6542396" y="4145948"/>
            <a:ext cx="850586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0.09 M</a:t>
            </a:r>
            <a:endParaRPr lang="en-US" sz="960" dirty="0"/>
          </a:p>
        </p:txBody>
      </p:sp>
      <p:sp>
        <p:nvSpPr>
          <p:cNvPr id="141" name="Shape 139"/>
          <p:cNvSpPr/>
          <p:nvPr/>
        </p:nvSpPr>
        <p:spPr>
          <a:xfrm>
            <a:off x="7435795" y="4518535"/>
            <a:ext cx="122842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2" name="Text 140"/>
          <p:cNvSpPr txBox="1"/>
          <p:nvPr/>
        </p:nvSpPr>
        <p:spPr>
          <a:xfrm>
            <a:off x="7435795" y="4145948"/>
            <a:ext cx="1195662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 de cada 100 leídos</a:t>
            </a:r>
            <a:endParaRPr lang="en-US" sz="960" dirty="0"/>
          </a:p>
        </p:txBody>
      </p:sp>
      <p:sp>
        <p:nvSpPr>
          <p:cNvPr id="143" name="Shape 141"/>
          <p:cNvSpPr/>
          <p:nvPr/>
        </p:nvSpPr>
        <p:spPr>
          <a:xfrm>
            <a:off x="8664218" y="4518535"/>
            <a:ext cx="1005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4" name="Text 142"/>
          <p:cNvSpPr txBox="1"/>
          <p:nvPr/>
        </p:nvSpPr>
        <p:spPr>
          <a:xfrm>
            <a:off x="8664218" y="4145948"/>
            <a:ext cx="96561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 mil MXN</a:t>
            </a:r>
            <a:endParaRPr lang="en-US" sz="960" dirty="0"/>
          </a:p>
        </p:txBody>
      </p:sp>
      <p:sp>
        <p:nvSpPr>
          <p:cNvPr id="145" name="Shape 143"/>
          <p:cNvSpPr/>
          <p:nvPr/>
        </p:nvSpPr>
        <p:spPr>
          <a:xfrm>
            <a:off x="9669291" y="4518535"/>
            <a:ext cx="201014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6" name="Text 144"/>
          <p:cNvSpPr txBox="1"/>
          <p:nvPr/>
        </p:nvSpPr>
        <p:spPr>
          <a:xfrm>
            <a:off x="9815591" y="4145948"/>
            <a:ext cx="1850148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quita ya</a:t>
            </a:r>
            <a:endParaRPr lang="en-US" sz="960" dirty="0"/>
          </a:p>
        </p:txBody>
      </p:sp>
      <p:sp>
        <p:nvSpPr>
          <p:cNvPr id="147" name="Shape 145"/>
          <p:cNvSpPr/>
          <p:nvPr/>
        </p:nvSpPr>
        <p:spPr>
          <a:xfrm>
            <a:off x="511956" y="4947149"/>
            <a:ext cx="3350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8" name="Text 146"/>
          <p:cNvSpPr txBox="1"/>
          <p:nvPr/>
        </p:nvSpPr>
        <p:spPr>
          <a:xfrm>
            <a:off x="511956" y="4574563"/>
            <a:ext cx="27546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960" dirty="0"/>
          </a:p>
        </p:txBody>
      </p:sp>
      <p:sp>
        <p:nvSpPr>
          <p:cNvPr id="149" name="Shape 147"/>
          <p:cNvSpPr/>
          <p:nvPr/>
        </p:nvSpPr>
        <p:spPr>
          <a:xfrm>
            <a:off x="846980" y="4947149"/>
            <a:ext cx="26801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50" name="Text 148"/>
          <p:cNvSpPr txBox="1"/>
          <p:nvPr/>
        </p:nvSpPr>
        <p:spPr>
          <a:xfrm>
            <a:off x="846980" y="4574563"/>
            <a:ext cx="269098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 a clientes KPay poco activos</a:t>
            </a:r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(B0331)</a:t>
            </a:r>
            <a:endParaRPr lang="en-US" sz="960" dirty="0"/>
          </a:p>
        </p:txBody>
      </p:sp>
      <p:sp>
        <p:nvSpPr>
          <p:cNvPr id="151" name="Shape 149"/>
          <p:cNvSpPr/>
          <p:nvPr/>
        </p:nvSpPr>
        <p:spPr>
          <a:xfrm>
            <a:off x="3527176" y="4947149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52" name="Text 150"/>
          <p:cNvSpPr txBox="1"/>
          <p:nvPr/>
        </p:nvSpPr>
        <p:spPr>
          <a:xfrm>
            <a:off x="3527176" y="4574563"/>
            <a:ext cx="108063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</a:t>
            </a:r>
            <a:endParaRPr lang="en-US" sz="960" dirty="0"/>
          </a:p>
        </p:txBody>
      </p:sp>
      <p:sp>
        <p:nvSpPr>
          <p:cNvPr id="153" name="Shape 151"/>
          <p:cNvSpPr/>
          <p:nvPr/>
        </p:nvSpPr>
        <p:spPr>
          <a:xfrm>
            <a:off x="4643924" y="4947149"/>
            <a:ext cx="7817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54" name="Text 152"/>
          <p:cNvSpPr txBox="1"/>
          <p:nvPr/>
        </p:nvSpPr>
        <p:spPr>
          <a:xfrm>
            <a:off x="4643924" y="4574563"/>
            <a:ext cx="73556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</a:t>
            </a:r>
            <a:endParaRPr lang="en-US" sz="960" dirty="0"/>
          </a:p>
        </p:txBody>
      </p:sp>
      <p:sp>
        <p:nvSpPr>
          <p:cNvPr id="155" name="Shape 153"/>
          <p:cNvSpPr/>
          <p:nvPr/>
        </p:nvSpPr>
        <p:spPr>
          <a:xfrm>
            <a:off x="5425648" y="4947149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56" name="Text 154"/>
          <p:cNvSpPr txBox="1"/>
          <p:nvPr/>
        </p:nvSpPr>
        <p:spPr>
          <a:xfrm>
            <a:off x="5425648" y="4574563"/>
            <a:ext cx="108063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 clientes</a:t>
            </a:r>
            <a:endParaRPr lang="en-US" sz="960" dirty="0"/>
          </a:p>
        </p:txBody>
      </p:sp>
      <p:sp>
        <p:nvSpPr>
          <p:cNvPr id="157" name="Shape 155"/>
          <p:cNvSpPr/>
          <p:nvPr/>
        </p:nvSpPr>
        <p:spPr>
          <a:xfrm>
            <a:off x="6542396" y="4947149"/>
            <a:ext cx="89339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58" name="Text 156"/>
          <p:cNvSpPr txBox="1"/>
          <p:nvPr/>
        </p:nvSpPr>
        <p:spPr>
          <a:xfrm>
            <a:off x="6542396" y="4574563"/>
            <a:ext cx="850586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0.15 M</a:t>
            </a:r>
            <a:endParaRPr lang="en-US" sz="960" dirty="0"/>
          </a:p>
        </p:txBody>
      </p:sp>
      <p:sp>
        <p:nvSpPr>
          <p:cNvPr id="159" name="Shape 157"/>
          <p:cNvSpPr/>
          <p:nvPr/>
        </p:nvSpPr>
        <p:spPr>
          <a:xfrm>
            <a:off x="7435795" y="4947149"/>
            <a:ext cx="122842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60" name="Text 158"/>
          <p:cNvSpPr txBox="1"/>
          <p:nvPr/>
        </p:nvSpPr>
        <p:spPr>
          <a:xfrm>
            <a:off x="7435795" y="4574563"/>
            <a:ext cx="1195662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 de cada 100 leídos</a:t>
            </a:r>
            <a:endParaRPr lang="en-US" sz="960" dirty="0"/>
          </a:p>
        </p:txBody>
      </p:sp>
      <p:sp>
        <p:nvSpPr>
          <p:cNvPr id="161" name="Shape 159"/>
          <p:cNvSpPr/>
          <p:nvPr/>
        </p:nvSpPr>
        <p:spPr>
          <a:xfrm>
            <a:off x="8664218" y="4947149"/>
            <a:ext cx="1005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62" name="Text 160"/>
          <p:cNvSpPr txBox="1"/>
          <p:nvPr/>
        </p:nvSpPr>
        <p:spPr>
          <a:xfrm>
            <a:off x="8664218" y="4574563"/>
            <a:ext cx="96561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 mil MXN</a:t>
            </a:r>
            <a:endParaRPr lang="en-US" sz="960" dirty="0"/>
          </a:p>
        </p:txBody>
      </p:sp>
      <p:sp>
        <p:nvSpPr>
          <p:cNvPr id="163" name="Shape 161"/>
          <p:cNvSpPr/>
          <p:nvPr/>
        </p:nvSpPr>
        <p:spPr>
          <a:xfrm>
            <a:off x="9669291" y="4947149"/>
            <a:ext cx="201014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64" name="Text 162"/>
          <p:cNvSpPr txBox="1"/>
          <p:nvPr/>
        </p:nvSpPr>
        <p:spPr>
          <a:xfrm>
            <a:off x="9815591" y="4574563"/>
            <a:ext cx="1850148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mil se miden; 46 mil se quitan ya</a:t>
            </a:r>
            <a:endParaRPr lang="en-US" sz="960" dirty="0"/>
          </a:p>
        </p:txBody>
      </p:sp>
      <p:sp>
        <p:nvSpPr>
          <p:cNvPr id="165" name="Shape 163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166" name="Text 164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167" name="Text 165"/>
          <p:cNvSpPr txBox="1"/>
          <p:nvPr/>
        </p:nvSpPr>
        <p:spPr>
          <a:xfrm>
            <a:off x="1409876" y="6077461"/>
            <a:ext cx="5993382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Empezar por las tres primeras: dos ofertas a ex clientes de KPay y Tasa 0 a registrados.</a:t>
            </a:r>
            <a:endParaRPr lang="en-US" sz="1100" dirty="0"/>
          </a:p>
        </p:txBody>
      </p:sp>
      <p:sp>
        <p:nvSpPr>
          <p:cNvPr id="168" name="Text 166"/>
          <p:cNvSpPr txBox="1"/>
          <p:nvPr/>
        </p:nvSpPr>
        <p:spPr>
          <a:xfrm>
            <a:off x="511956" y="6454684"/>
            <a:ext cx="7439966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E1 por campaña y canal, septiembre 2026; Sheets v4, E9b y E7a. Ahorro = palancas de la lámina 92; respuesta de enero a septiembre.</a:t>
            </a:r>
            <a:endParaRPr lang="en-US" sz="840" dirty="0"/>
          </a:p>
        </p:txBody>
      </p:sp>
      <p:sp>
        <p:nvSpPr>
          <p:cNvPr id="169" name="Text 167"/>
          <p:cNvSpPr txBox="1"/>
          <p:nvPr/>
        </p:nvSpPr>
        <p:spPr>
          <a:xfrm>
            <a:off x="11502205" y="6454684"/>
            <a:ext cx="201148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108</a:t>
            </a:r>
            <a:endParaRPr lang="en-US" sz="84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Fichas de las 15 campañas con más ahorro (continuación): Marketing aparece por canal y recuperación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518235"/>
            <a:ext cx="335024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11956" y="1210125"/>
            <a:ext cx="275461" cy="26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</a:t>
            </a:r>
            <a:endParaRPr lang="en-US" sz="790" dirty="0"/>
          </a:p>
        </p:txBody>
      </p:sp>
      <p:sp>
        <p:nvSpPr>
          <p:cNvPr id="5" name="Shape 3"/>
          <p:cNvSpPr/>
          <p:nvPr/>
        </p:nvSpPr>
        <p:spPr>
          <a:xfrm>
            <a:off x="846980" y="1518235"/>
            <a:ext cx="2680196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6980" y="1210125"/>
            <a:ext cx="2690987" cy="26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CAMPAÑA</a:t>
            </a:r>
            <a:endParaRPr lang="en-US" sz="790" dirty="0"/>
          </a:p>
        </p:txBody>
      </p:sp>
      <p:sp>
        <p:nvSpPr>
          <p:cNvPr id="7" name="Shape 5"/>
          <p:cNvSpPr/>
          <p:nvPr/>
        </p:nvSpPr>
        <p:spPr>
          <a:xfrm>
            <a:off x="3527176" y="1518235"/>
            <a:ext cx="1116748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7176" y="1210125"/>
            <a:ext cx="1080637" cy="26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EQUIPO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4643924" y="1518235"/>
            <a:ext cx="781724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43924" y="1210125"/>
            <a:ext cx="735561" cy="26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CANAL</a:t>
            </a:r>
            <a:endParaRPr lang="en-US" sz="790" dirty="0"/>
          </a:p>
        </p:txBody>
      </p:sp>
      <p:sp>
        <p:nvSpPr>
          <p:cNvPr id="11" name="Shape 9"/>
          <p:cNvSpPr/>
          <p:nvPr/>
        </p:nvSpPr>
        <p:spPr>
          <a:xfrm>
            <a:off x="5425648" y="1518235"/>
            <a:ext cx="1116748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25648" y="1210125"/>
            <a:ext cx="1080637" cy="26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QUIÉN</a:t>
            </a:r>
            <a:endParaRPr lang="en-US" sz="790" dirty="0"/>
          </a:p>
        </p:txBody>
      </p:sp>
      <p:sp>
        <p:nvSpPr>
          <p:cNvPr id="13" name="Shape 11"/>
          <p:cNvSpPr/>
          <p:nvPr/>
        </p:nvSpPr>
        <p:spPr>
          <a:xfrm>
            <a:off x="6542396" y="1518235"/>
            <a:ext cx="893399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42396" y="1210125"/>
            <a:ext cx="850586" cy="26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MENSAJES EN SEPT.</a:t>
            </a:r>
            <a:endParaRPr lang="en-US" sz="790" dirty="0"/>
          </a:p>
        </p:txBody>
      </p:sp>
      <p:sp>
        <p:nvSpPr>
          <p:cNvPr id="15" name="Shape 13"/>
          <p:cNvSpPr/>
          <p:nvPr/>
        </p:nvSpPr>
        <p:spPr>
          <a:xfrm>
            <a:off x="7435795" y="1518235"/>
            <a:ext cx="1228423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35795" y="1210125"/>
            <a:ext cx="1195662" cy="26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RESPUESTA</a:t>
            </a:r>
            <a:endParaRPr lang="en-US" sz="790" dirty="0"/>
          </a:p>
        </p:txBody>
      </p:sp>
      <p:sp>
        <p:nvSpPr>
          <p:cNvPr id="17" name="Shape 15"/>
          <p:cNvSpPr/>
          <p:nvPr/>
        </p:nvSpPr>
        <p:spPr>
          <a:xfrm>
            <a:off x="8664218" y="1518235"/>
            <a:ext cx="1005073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64218" y="1210125"/>
            <a:ext cx="965611" cy="26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AHORRO AL MES</a:t>
            </a:r>
            <a:endParaRPr lang="en-US" sz="790" dirty="0"/>
          </a:p>
        </p:txBody>
      </p:sp>
      <p:sp>
        <p:nvSpPr>
          <p:cNvPr id="19" name="Shape 17"/>
          <p:cNvSpPr/>
          <p:nvPr/>
        </p:nvSpPr>
        <p:spPr>
          <a:xfrm>
            <a:off x="9669291" y="1518235"/>
            <a:ext cx="2010147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15591" y="1210125"/>
            <a:ext cx="1850148" cy="26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SE HACE</a:t>
            </a:r>
            <a:endParaRPr lang="en-US" sz="790" dirty="0"/>
          </a:p>
        </p:txBody>
      </p:sp>
      <p:sp>
        <p:nvSpPr>
          <p:cNvPr id="21" name="Shape 19"/>
          <p:cNvSpPr/>
          <p:nvPr/>
        </p:nvSpPr>
        <p:spPr>
          <a:xfrm>
            <a:off x="511956" y="1788455"/>
            <a:ext cx="3350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1956" y="1574263"/>
            <a:ext cx="27546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846980" y="1788455"/>
            <a:ext cx="26801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6980" y="1574263"/>
            <a:ext cx="26909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Referidos a dormants de KCash</a:t>
            </a:r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(B0326)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3527176" y="1788455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27176" y="1574263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4643924" y="1788455"/>
            <a:ext cx="7817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43924" y="1574263"/>
            <a:ext cx="73556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5425648" y="1788455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25648" y="1574263"/>
            <a:ext cx="108063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 clientes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6542396" y="1788455"/>
            <a:ext cx="89339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42396" y="1574263"/>
            <a:ext cx="850586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1.02 M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7435795" y="1788455"/>
            <a:ext cx="122842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435795" y="1574263"/>
            <a:ext cx="1195662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 clics por mil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8664218" y="1788455"/>
            <a:ext cx="1005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664218" y="1574263"/>
            <a:ext cx="965611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 mil MXN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9669291" y="1788455"/>
            <a:ext cx="201014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815591" y="1574263"/>
            <a:ext cx="185014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mide antes de cortar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511956" y="2217069"/>
            <a:ext cx="3350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11956" y="1844483"/>
            <a:ext cx="27546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846980" y="2217069"/>
            <a:ext cx="26801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46980" y="1844483"/>
            <a:ext cx="269098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Recordatorio de terminar la verificación</a:t>
            </a:r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(B0000)</a:t>
            </a: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3527176" y="2217069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527176" y="1844483"/>
            <a:ext cx="108063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</a:t>
            </a:r>
            <a:endParaRPr lang="en-US" sz="960" dirty="0"/>
          </a:p>
        </p:txBody>
      </p:sp>
      <p:sp>
        <p:nvSpPr>
          <p:cNvPr id="45" name="Shape 43"/>
          <p:cNvSpPr/>
          <p:nvPr/>
        </p:nvSpPr>
        <p:spPr>
          <a:xfrm>
            <a:off x="4643924" y="2217069"/>
            <a:ext cx="7817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643924" y="1844483"/>
            <a:ext cx="73556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</a:t>
            </a:r>
            <a:endParaRPr lang="en-US" sz="960" dirty="0"/>
          </a:p>
        </p:txBody>
      </p:sp>
      <p:sp>
        <p:nvSpPr>
          <p:cNvPr id="47" name="Shape 45"/>
          <p:cNvSpPr/>
          <p:nvPr/>
        </p:nvSpPr>
        <p:spPr>
          <a:xfrm>
            <a:off x="5425648" y="2217069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425648" y="1844483"/>
            <a:ext cx="108063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 y registrados</a:t>
            </a:r>
            <a:endParaRPr lang="en-US" sz="960" dirty="0"/>
          </a:p>
        </p:txBody>
      </p:sp>
      <p:sp>
        <p:nvSpPr>
          <p:cNvPr id="49" name="Shape 47"/>
          <p:cNvSpPr/>
          <p:nvPr/>
        </p:nvSpPr>
        <p:spPr>
          <a:xfrm>
            <a:off x="6542396" y="2217069"/>
            <a:ext cx="89339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542396" y="1844483"/>
            <a:ext cx="850586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1.45 M</a:t>
            </a:r>
            <a:endParaRPr lang="en-US" sz="960" dirty="0"/>
          </a:p>
        </p:txBody>
      </p:sp>
      <p:sp>
        <p:nvSpPr>
          <p:cNvPr id="51" name="Shape 49"/>
          <p:cNvSpPr/>
          <p:nvPr/>
        </p:nvSpPr>
        <p:spPr>
          <a:xfrm>
            <a:off x="7435795" y="2217069"/>
            <a:ext cx="122842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435795" y="1844483"/>
            <a:ext cx="1195662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30.4 clics por mil</a:t>
            </a:r>
            <a:endParaRPr lang="en-US" sz="960" dirty="0"/>
          </a:p>
        </p:txBody>
      </p:sp>
      <p:sp>
        <p:nvSpPr>
          <p:cNvPr id="53" name="Shape 51"/>
          <p:cNvSpPr/>
          <p:nvPr/>
        </p:nvSpPr>
        <p:spPr>
          <a:xfrm>
            <a:off x="8664218" y="2217069"/>
            <a:ext cx="1005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664218" y="1844483"/>
            <a:ext cx="96561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mil MXN</a:t>
            </a:r>
            <a:endParaRPr lang="en-US" sz="960" dirty="0"/>
          </a:p>
        </p:txBody>
      </p:sp>
      <p:sp>
        <p:nvSpPr>
          <p:cNvPr id="55" name="Shape 53"/>
          <p:cNvSpPr/>
          <p:nvPr/>
        </p:nvSpPr>
        <p:spPr>
          <a:xfrm>
            <a:off x="9669291" y="2217069"/>
            <a:ext cx="201014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815591" y="1844483"/>
            <a:ext cx="1850148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Bajar frecuencia; 30 mil por canal preferido</a:t>
            </a:r>
            <a:endParaRPr lang="en-US" sz="960" dirty="0"/>
          </a:p>
        </p:txBody>
      </p:sp>
      <p:sp>
        <p:nvSpPr>
          <p:cNvPr id="57" name="Shape 55"/>
          <p:cNvSpPr/>
          <p:nvPr/>
        </p:nvSpPr>
        <p:spPr>
          <a:xfrm>
            <a:off x="511956" y="2645683"/>
            <a:ext cx="3350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11956" y="2273097"/>
            <a:ext cx="27546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960" dirty="0"/>
          </a:p>
        </p:txBody>
      </p:sp>
      <p:sp>
        <p:nvSpPr>
          <p:cNvPr id="59" name="Shape 57"/>
          <p:cNvSpPr/>
          <p:nvPr/>
        </p:nvSpPr>
        <p:spPr>
          <a:xfrm>
            <a:off x="846980" y="2645683"/>
            <a:ext cx="26801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46980" y="2273097"/>
            <a:ext cx="269098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Rescate Tasa 0 a leads rezagados</a:t>
            </a:r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(B0171)</a:t>
            </a:r>
            <a:endParaRPr lang="en-US" sz="960" dirty="0"/>
          </a:p>
        </p:txBody>
      </p:sp>
      <p:sp>
        <p:nvSpPr>
          <p:cNvPr id="61" name="Shape 59"/>
          <p:cNvSpPr/>
          <p:nvPr/>
        </p:nvSpPr>
        <p:spPr>
          <a:xfrm>
            <a:off x="3527176" y="2645683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3527176" y="2273097"/>
            <a:ext cx="108063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</a:t>
            </a:r>
            <a:endParaRPr lang="en-US" sz="960" dirty="0"/>
          </a:p>
        </p:txBody>
      </p:sp>
      <p:sp>
        <p:nvSpPr>
          <p:cNvPr id="63" name="Shape 61"/>
          <p:cNvSpPr/>
          <p:nvPr/>
        </p:nvSpPr>
        <p:spPr>
          <a:xfrm>
            <a:off x="4643924" y="2645683"/>
            <a:ext cx="7817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643924" y="2273097"/>
            <a:ext cx="73556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</a:t>
            </a:r>
            <a:endParaRPr lang="en-US" sz="960" dirty="0"/>
          </a:p>
        </p:txBody>
      </p:sp>
      <p:sp>
        <p:nvSpPr>
          <p:cNvPr id="65" name="Shape 63"/>
          <p:cNvSpPr/>
          <p:nvPr/>
        </p:nvSpPr>
        <p:spPr>
          <a:xfrm>
            <a:off x="5425648" y="2645683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425648" y="2273097"/>
            <a:ext cx="108063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 y registrados</a:t>
            </a:r>
            <a:endParaRPr lang="en-US" sz="960" dirty="0"/>
          </a:p>
        </p:txBody>
      </p:sp>
      <p:sp>
        <p:nvSpPr>
          <p:cNvPr id="67" name="Shape 65"/>
          <p:cNvSpPr/>
          <p:nvPr/>
        </p:nvSpPr>
        <p:spPr>
          <a:xfrm>
            <a:off x="6542396" y="2645683"/>
            <a:ext cx="89339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6542396" y="2273097"/>
            <a:ext cx="850586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0.23 M</a:t>
            </a:r>
            <a:endParaRPr lang="en-US" sz="960" dirty="0"/>
          </a:p>
        </p:txBody>
      </p:sp>
      <p:sp>
        <p:nvSpPr>
          <p:cNvPr id="69" name="Shape 67"/>
          <p:cNvSpPr/>
          <p:nvPr/>
        </p:nvSpPr>
        <p:spPr>
          <a:xfrm>
            <a:off x="7435795" y="2645683"/>
            <a:ext cx="122842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7435795" y="2273097"/>
            <a:ext cx="1195662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 de cada 100 leídos</a:t>
            </a:r>
            <a:endParaRPr lang="en-US" sz="960" dirty="0"/>
          </a:p>
        </p:txBody>
      </p:sp>
      <p:sp>
        <p:nvSpPr>
          <p:cNvPr id="71" name="Shape 69"/>
          <p:cNvSpPr/>
          <p:nvPr/>
        </p:nvSpPr>
        <p:spPr>
          <a:xfrm>
            <a:off x="8664218" y="2645683"/>
            <a:ext cx="1005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8664218" y="2273097"/>
            <a:ext cx="96561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 mil MXN</a:t>
            </a:r>
            <a:endParaRPr lang="en-US" sz="960" dirty="0"/>
          </a:p>
        </p:txBody>
      </p:sp>
      <p:sp>
        <p:nvSpPr>
          <p:cNvPr id="73" name="Shape 71"/>
          <p:cNvSpPr/>
          <p:nvPr/>
        </p:nvSpPr>
        <p:spPr>
          <a:xfrm>
            <a:off x="9669291" y="2645683"/>
            <a:ext cx="201014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9815591" y="2273097"/>
            <a:ext cx="1850148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mil se miden; 18 mil se quitan ya</a:t>
            </a:r>
            <a:endParaRPr lang="en-US" sz="960" dirty="0"/>
          </a:p>
        </p:txBody>
      </p:sp>
      <p:sp>
        <p:nvSpPr>
          <p:cNvPr id="75" name="Shape 73"/>
          <p:cNvSpPr/>
          <p:nvPr/>
        </p:nvSpPr>
        <p:spPr>
          <a:xfrm>
            <a:off x="511956" y="3074298"/>
            <a:ext cx="3350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511956" y="2701711"/>
            <a:ext cx="27546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960" dirty="0"/>
          </a:p>
        </p:txBody>
      </p:sp>
      <p:sp>
        <p:nvSpPr>
          <p:cNvPr id="77" name="Shape 75"/>
          <p:cNvSpPr/>
          <p:nvPr/>
        </p:nvSpPr>
        <p:spPr>
          <a:xfrm>
            <a:off x="846980" y="3074298"/>
            <a:ext cx="26801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846980" y="2701711"/>
            <a:ext cx="269098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Descuento a clientes inactivos de Cash</a:t>
            </a:r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(B0209)</a:t>
            </a:r>
            <a:endParaRPr lang="en-US" sz="960" dirty="0"/>
          </a:p>
        </p:txBody>
      </p:sp>
      <p:sp>
        <p:nvSpPr>
          <p:cNvPr id="79" name="Shape 77"/>
          <p:cNvSpPr/>
          <p:nvPr/>
        </p:nvSpPr>
        <p:spPr>
          <a:xfrm>
            <a:off x="3527176" y="3074298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3527176" y="2701711"/>
            <a:ext cx="108063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</a:t>
            </a:r>
            <a:endParaRPr lang="en-US" sz="960" dirty="0"/>
          </a:p>
        </p:txBody>
      </p:sp>
      <p:sp>
        <p:nvSpPr>
          <p:cNvPr id="81" name="Shape 79"/>
          <p:cNvSpPr/>
          <p:nvPr/>
        </p:nvSpPr>
        <p:spPr>
          <a:xfrm>
            <a:off x="4643924" y="3074298"/>
            <a:ext cx="7817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4643924" y="2701711"/>
            <a:ext cx="73556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</a:t>
            </a:r>
            <a:endParaRPr lang="en-US" sz="960" dirty="0"/>
          </a:p>
        </p:txBody>
      </p:sp>
      <p:sp>
        <p:nvSpPr>
          <p:cNvPr id="83" name="Shape 81"/>
          <p:cNvSpPr/>
          <p:nvPr/>
        </p:nvSpPr>
        <p:spPr>
          <a:xfrm>
            <a:off x="5425648" y="3074298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5425648" y="2701711"/>
            <a:ext cx="108063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 clientes</a:t>
            </a:r>
            <a:endParaRPr lang="en-US" sz="960" dirty="0"/>
          </a:p>
        </p:txBody>
      </p:sp>
      <p:sp>
        <p:nvSpPr>
          <p:cNvPr id="85" name="Shape 83"/>
          <p:cNvSpPr/>
          <p:nvPr/>
        </p:nvSpPr>
        <p:spPr>
          <a:xfrm>
            <a:off x="6542396" y="3074298"/>
            <a:ext cx="89339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6542396" y="2701711"/>
            <a:ext cx="850586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1.12 M</a:t>
            </a:r>
            <a:endParaRPr lang="en-US" sz="960" dirty="0"/>
          </a:p>
        </p:txBody>
      </p:sp>
      <p:sp>
        <p:nvSpPr>
          <p:cNvPr id="87" name="Shape 85"/>
          <p:cNvSpPr/>
          <p:nvPr/>
        </p:nvSpPr>
        <p:spPr>
          <a:xfrm>
            <a:off x="7435795" y="3074298"/>
            <a:ext cx="122842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7435795" y="2701711"/>
            <a:ext cx="1195662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5.5 clics por mil</a:t>
            </a:r>
            <a:endParaRPr lang="en-US" sz="960" dirty="0"/>
          </a:p>
        </p:txBody>
      </p:sp>
      <p:sp>
        <p:nvSpPr>
          <p:cNvPr id="89" name="Shape 87"/>
          <p:cNvSpPr/>
          <p:nvPr/>
        </p:nvSpPr>
        <p:spPr>
          <a:xfrm>
            <a:off x="8664218" y="3074298"/>
            <a:ext cx="1005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8664218" y="2701711"/>
            <a:ext cx="96561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 mil MXN</a:t>
            </a:r>
            <a:endParaRPr lang="en-US" sz="960" dirty="0"/>
          </a:p>
        </p:txBody>
      </p:sp>
      <p:sp>
        <p:nvSpPr>
          <p:cNvPr id="91" name="Shape 89"/>
          <p:cNvSpPr/>
          <p:nvPr/>
        </p:nvSpPr>
        <p:spPr>
          <a:xfrm>
            <a:off x="9669291" y="3074298"/>
            <a:ext cx="201014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9815591" y="2701711"/>
            <a:ext cx="1850148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mil se miden; 25 mil se quitan ya</a:t>
            </a:r>
            <a:endParaRPr lang="en-US" sz="960" dirty="0"/>
          </a:p>
        </p:txBody>
      </p:sp>
      <p:sp>
        <p:nvSpPr>
          <p:cNvPr id="93" name="Shape 91"/>
          <p:cNvSpPr/>
          <p:nvPr/>
        </p:nvSpPr>
        <p:spPr>
          <a:xfrm>
            <a:off x="511956" y="3502912"/>
            <a:ext cx="3350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511956" y="3130326"/>
            <a:ext cx="27546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960" dirty="0"/>
          </a:p>
        </p:txBody>
      </p:sp>
      <p:sp>
        <p:nvSpPr>
          <p:cNvPr id="95" name="Shape 93"/>
          <p:cNvSpPr/>
          <p:nvPr/>
        </p:nvSpPr>
        <p:spPr>
          <a:xfrm>
            <a:off x="846980" y="3502912"/>
            <a:ext cx="26801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846980" y="3130326"/>
            <a:ext cx="269098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 a plazos a clientes activos</a:t>
            </a:r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(B0301)</a:t>
            </a:r>
            <a:endParaRPr lang="en-US" sz="960" dirty="0"/>
          </a:p>
        </p:txBody>
      </p:sp>
      <p:sp>
        <p:nvSpPr>
          <p:cNvPr id="97" name="Shape 95"/>
          <p:cNvSpPr/>
          <p:nvPr/>
        </p:nvSpPr>
        <p:spPr>
          <a:xfrm>
            <a:off x="3527176" y="3502912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3527176" y="3130326"/>
            <a:ext cx="108063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Growth</a:t>
            </a:r>
            <a:endParaRPr lang="en-US" sz="960" dirty="0"/>
          </a:p>
        </p:txBody>
      </p:sp>
      <p:sp>
        <p:nvSpPr>
          <p:cNvPr id="99" name="Shape 97"/>
          <p:cNvSpPr/>
          <p:nvPr/>
        </p:nvSpPr>
        <p:spPr>
          <a:xfrm>
            <a:off x="4643924" y="3502912"/>
            <a:ext cx="7817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4643924" y="3130326"/>
            <a:ext cx="73556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</a:t>
            </a:r>
            <a:endParaRPr lang="en-US" sz="960" dirty="0"/>
          </a:p>
        </p:txBody>
      </p:sp>
      <p:sp>
        <p:nvSpPr>
          <p:cNvPr id="101" name="Shape 99"/>
          <p:cNvSpPr/>
          <p:nvPr/>
        </p:nvSpPr>
        <p:spPr>
          <a:xfrm>
            <a:off x="5425648" y="3502912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5425648" y="3130326"/>
            <a:ext cx="108063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Clientes activos</a:t>
            </a:r>
            <a:endParaRPr lang="en-US" sz="960" dirty="0"/>
          </a:p>
        </p:txBody>
      </p:sp>
      <p:sp>
        <p:nvSpPr>
          <p:cNvPr id="103" name="Shape 101"/>
          <p:cNvSpPr/>
          <p:nvPr/>
        </p:nvSpPr>
        <p:spPr>
          <a:xfrm>
            <a:off x="6542396" y="3502912"/>
            <a:ext cx="89339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6542396" y="3130326"/>
            <a:ext cx="850586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0.14 M</a:t>
            </a:r>
            <a:endParaRPr lang="en-US" sz="960" dirty="0"/>
          </a:p>
        </p:txBody>
      </p:sp>
      <p:sp>
        <p:nvSpPr>
          <p:cNvPr id="105" name="Shape 103"/>
          <p:cNvSpPr/>
          <p:nvPr/>
        </p:nvSpPr>
        <p:spPr>
          <a:xfrm>
            <a:off x="7435795" y="3502912"/>
            <a:ext cx="122842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7435795" y="3130326"/>
            <a:ext cx="1195662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 de cada 100 leídos</a:t>
            </a:r>
            <a:endParaRPr lang="en-US" sz="960" dirty="0"/>
          </a:p>
        </p:txBody>
      </p:sp>
      <p:sp>
        <p:nvSpPr>
          <p:cNvPr id="107" name="Shape 105"/>
          <p:cNvSpPr/>
          <p:nvPr/>
        </p:nvSpPr>
        <p:spPr>
          <a:xfrm>
            <a:off x="8664218" y="3502912"/>
            <a:ext cx="1005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8664218" y="3130326"/>
            <a:ext cx="96561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 mil MXN</a:t>
            </a:r>
            <a:endParaRPr lang="en-US" sz="960" dirty="0"/>
          </a:p>
        </p:txBody>
      </p:sp>
      <p:sp>
        <p:nvSpPr>
          <p:cNvPr id="109" name="Shape 107"/>
          <p:cNvSpPr/>
          <p:nvPr/>
        </p:nvSpPr>
        <p:spPr>
          <a:xfrm>
            <a:off x="9669291" y="3502912"/>
            <a:ext cx="201014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9815591" y="3130326"/>
            <a:ext cx="1850148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mil se miden; 17 mil se quitan ya</a:t>
            </a:r>
            <a:endParaRPr lang="en-US" sz="960" dirty="0"/>
          </a:p>
        </p:txBody>
      </p:sp>
      <p:sp>
        <p:nvSpPr>
          <p:cNvPr id="111" name="Shape 109"/>
          <p:cNvSpPr/>
          <p:nvPr/>
        </p:nvSpPr>
        <p:spPr>
          <a:xfrm>
            <a:off x="511956" y="3931526"/>
            <a:ext cx="3350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511956" y="3558940"/>
            <a:ext cx="27546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960" dirty="0"/>
          </a:p>
        </p:txBody>
      </p:sp>
      <p:sp>
        <p:nvSpPr>
          <p:cNvPr id="113" name="Shape 111"/>
          <p:cNvSpPr/>
          <p:nvPr/>
        </p:nvSpPr>
        <p:spPr>
          <a:xfrm>
            <a:off x="846980" y="3931526"/>
            <a:ext cx="26801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846980" y="3558940"/>
            <a:ext cx="269098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Rescate Tasa 0 a leads calientes</a:t>
            </a:r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(B0171)</a:t>
            </a:r>
            <a:endParaRPr lang="en-US" sz="960" dirty="0"/>
          </a:p>
        </p:txBody>
      </p:sp>
      <p:sp>
        <p:nvSpPr>
          <p:cNvPr id="115" name="Shape 113"/>
          <p:cNvSpPr/>
          <p:nvPr/>
        </p:nvSpPr>
        <p:spPr>
          <a:xfrm>
            <a:off x="3527176" y="3931526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3527176" y="3558940"/>
            <a:ext cx="108063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</a:t>
            </a:r>
            <a:endParaRPr lang="en-US" sz="960" dirty="0"/>
          </a:p>
        </p:txBody>
      </p:sp>
      <p:sp>
        <p:nvSpPr>
          <p:cNvPr id="117" name="Shape 115"/>
          <p:cNvSpPr/>
          <p:nvPr/>
        </p:nvSpPr>
        <p:spPr>
          <a:xfrm>
            <a:off x="4643924" y="3931526"/>
            <a:ext cx="7817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4643924" y="3558940"/>
            <a:ext cx="73556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</a:t>
            </a:r>
            <a:endParaRPr lang="en-US" sz="960" dirty="0"/>
          </a:p>
        </p:txBody>
      </p:sp>
      <p:sp>
        <p:nvSpPr>
          <p:cNvPr id="119" name="Shape 117"/>
          <p:cNvSpPr/>
          <p:nvPr/>
        </p:nvSpPr>
        <p:spPr>
          <a:xfrm>
            <a:off x="5425648" y="3931526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5425648" y="3558940"/>
            <a:ext cx="108063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 y registrados</a:t>
            </a:r>
            <a:endParaRPr lang="en-US" sz="960" dirty="0"/>
          </a:p>
        </p:txBody>
      </p:sp>
      <p:sp>
        <p:nvSpPr>
          <p:cNvPr id="121" name="Shape 119"/>
          <p:cNvSpPr/>
          <p:nvPr/>
        </p:nvSpPr>
        <p:spPr>
          <a:xfrm>
            <a:off x="6542396" y="3931526"/>
            <a:ext cx="89339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6542396" y="3558940"/>
            <a:ext cx="850586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0.19 M</a:t>
            </a:r>
            <a:endParaRPr lang="en-US" sz="960" dirty="0"/>
          </a:p>
        </p:txBody>
      </p:sp>
      <p:sp>
        <p:nvSpPr>
          <p:cNvPr id="123" name="Shape 121"/>
          <p:cNvSpPr/>
          <p:nvPr/>
        </p:nvSpPr>
        <p:spPr>
          <a:xfrm>
            <a:off x="7435795" y="3931526"/>
            <a:ext cx="122842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7435795" y="3558940"/>
            <a:ext cx="1195662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 de cada 100 leídos</a:t>
            </a:r>
            <a:endParaRPr lang="en-US" sz="960" dirty="0"/>
          </a:p>
        </p:txBody>
      </p:sp>
      <p:sp>
        <p:nvSpPr>
          <p:cNvPr id="125" name="Shape 123"/>
          <p:cNvSpPr/>
          <p:nvPr/>
        </p:nvSpPr>
        <p:spPr>
          <a:xfrm>
            <a:off x="8664218" y="3931526"/>
            <a:ext cx="1005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8664218" y="3558940"/>
            <a:ext cx="96561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mil MXN</a:t>
            </a:r>
            <a:endParaRPr lang="en-US" sz="960" dirty="0"/>
          </a:p>
        </p:txBody>
      </p:sp>
      <p:sp>
        <p:nvSpPr>
          <p:cNvPr id="127" name="Shape 125"/>
          <p:cNvSpPr/>
          <p:nvPr/>
        </p:nvSpPr>
        <p:spPr>
          <a:xfrm>
            <a:off x="9669291" y="3931526"/>
            <a:ext cx="201014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9815591" y="3558940"/>
            <a:ext cx="1850148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mil se miden; 14 mil se quitan ya</a:t>
            </a:r>
            <a:endParaRPr lang="en-US" sz="960" dirty="0"/>
          </a:p>
        </p:txBody>
      </p:sp>
      <p:sp>
        <p:nvSpPr>
          <p:cNvPr id="129" name="Shape 127"/>
          <p:cNvSpPr/>
          <p:nvPr/>
        </p:nvSpPr>
        <p:spPr>
          <a:xfrm>
            <a:off x="511956" y="4360141"/>
            <a:ext cx="3350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511956" y="3987554"/>
            <a:ext cx="27546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960" dirty="0"/>
          </a:p>
        </p:txBody>
      </p:sp>
      <p:sp>
        <p:nvSpPr>
          <p:cNvPr id="131" name="Shape 129"/>
          <p:cNvSpPr/>
          <p:nvPr/>
        </p:nvSpPr>
        <p:spPr>
          <a:xfrm>
            <a:off x="846980" y="4360141"/>
            <a:ext cx="26801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846980" y="3987554"/>
            <a:ext cx="269098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Referidos a dormants de KPay</a:t>
            </a:r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(B0326)</a:t>
            </a:r>
            <a:endParaRPr lang="en-US" sz="960" dirty="0"/>
          </a:p>
        </p:txBody>
      </p:sp>
      <p:sp>
        <p:nvSpPr>
          <p:cNvPr id="133" name="Shape 131"/>
          <p:cNvSpPr/>
          <p:nvPr/>
        </p:nvSpPr>
        <p:spPr>
          <a:xfrm>
            <a:off x="3527176" y="4360141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3527176" y="3987554"/>
            <a:ext cx="108063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</a:t>
            </a:r>
            <a:endParaRPr lang="en-US" sz="960" dirty="0"/>
          </a:p>
        </p:txBody>
      </p:sp>
      <p:sp>
        <p:nvSpPr>
          <p:cNvPr id="135" name="Shape 133"/>
          <p:cNvSpPr/>
          <p:nvPr/>
        </p:nvSpPr>
        <p:spPr>
          <a:xfrm>
            <a:off x="4643924" y="4360141"/>
            <a:ext cx="781724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6" name="Text 134"/>
          <p:cNvSpPr txBox="1"/>
          <p:nvPr/>
        </p:nvSpPr>
        <p:spPr>
          <a:xfrm>
            <a:off x="4643924" y="3987554"/>
            <a:ext cx="73556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</a:t>
            </a:r>
            <a:endParaRPr lang="en-US" sz="960" dirty="0"/>
          </a:p>
        </p:txBody>
      </p:sp>
      <p:sp>
        <p:nvSpPr>
          <p:cNvPr id="137" name="Shape 135"/>
          <p:cNvSpPr/>
          <p:nvPr/>
        </p:nvSpPr>
        <p:spPr>
          <a:xfrm>
            <a:off x="5425648" y="4360141"/>
            <a:ext cx="1116748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38" name="Text 136"/>
          <p:cNvSpPr txBox="1"/>
          <p:nvPr/>
        </p:nvSpPr>
        <p:spPr>
          <a:xfrm>
            <a:off x="5425648" y="3987554"/>
            <a:ext cx="1080637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 clientes</a:t>
            </a:r>
            <a:endParaRPr lang="en-US" sz="960" dirty="0"/>
          </a:p>
        </p:txBody>
      </p:sp>
      <p:sp>
        <p:nvSpPr>
          <p:cNvPr id="139" name="Shape 137"/>
          <p:cNvSpPr/>
          <p:nvPr/>
        </p:nvSpPr>
        <p:spPr>
          <a:xfrm>
            <a:off x="6542396" y="4360141"/>
            <a:ext cx="893399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0" name="Text 138"/>
          <p:cNvSpPr txBox="1"/>
          <p:nvPr/>
        </p:nvSpPr>
        <p:spPr>
          <a:xfrm>
            <a:off x="6542396" y="3987554"/>
            <a:ext cx="850586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0.57 M</a:t>
            </a:r>
            <a:endParaRPr lang="en-US" sz="960" dirty="0"/>
          </a:p>
        </p:txBody>
      </p:sp>
      <p:sp>
        <p:nvSpPr>
          <p:cNvPr id="141" name="Shape 139"/>
          <p:cNvSpPr/>
          <p:nvPr/>
        </p:nvSpPr>
        <p:spPr>
          <a:xfrm>
            <a:off x="7435795" y="4360141"/>
            <a:ext cx="122842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2" name="Text 140"/>
          <p:cNvSpPr txBox="1"/>
          <p:nvPr/>
        </p:nvSpPr>
        <p:spPr>
          <a:xfrm>
            <a:off x="7435795" y="3987554"/>
            <a:ext cx="1195662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 clics por mil</a:t>
            </a:r>
            <a:endParaRPr lang="en-US" sz="960" dirty="0"/>
          </a:p>
        </p:txBody>
      </p:sp>
      <p:sp>
        <p:nvSpPr>
          <p:cNvPr id="143" name="Shape 141"/>
          <p:cNvSpPr/>
          <p:nvPr/>
        </p:nvSpPr>
        <p:spPr>
          <a:xfrm>
            <a:off x="8664218" y="4360141"/>
            <a:ext cx="1005073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4" name="Text 142"/>
          <p:cNvSpPr txBox="1"/>
          <p:nvPr/>
        </p:nvSpPr>
        <p:spPr>
          <a:xfrm>
            <a:off x="8664218" y="3987554"/>
            <a:ext cx="965611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 mil MXN</a:t>
            </a:r>
            <a:endParaRPr lang="en-US" sz="960" dirty="0"/>
          </a:p>
        </p:txBody>
      </p:sp>
      <p:sp>
        <p:nvSpPr>
          <p:cNvPr id="145" name="Shape 143"/>
          <p:cNvSpPr/>
          <p:nvPr/>
        </p:nvSpPr>
        <p:spPr>
          <a:xfrm>
            <a:off x="9669291" y="4360141"/>
            <a:ext cx="2010147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6" name="Text 144"/>
          <p:cNvSpPr txBox="1"/>
          <p:nvPr/>
        </p:nvSpPr>
        <p:spPr>
          <a:xfrm>
            <a:off x="9815591" y="3987554"/>
            <a:ext cx="1850148" cy="326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mil se miden; 11 mil se quitan ya</a:t>
            </a:r>
            <a:endParaRPr lang="en-US" sz="960" dirty="0"/>
          </a:p>
        </p:txBody>
      </p:sp>
      <p:sp>
        <p:nvSpPr>
          <p:cNvPr id="147" name="Shape 145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148" name="Text 146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149" name="Text 147"/>
          <p:cNvSpPr txBox="1"/>
          <p:nvPr/>
        </p:nvSpPr>
        <p:spPr>
          <a:xfrm>
            <a:off x="1409876" y="6077461"/>
            <a:ext cx="4672689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Marketing el ahorro es de canal y de recuperación, no de apagar.</a:t>
            </a:r>
            <a:endParaRPr lang="en-US" sz="1100" dirty="0"/>
          </a:p>
        </p:txBody>
      </p:sp>
      <p:sp>
        <p:nvSpPr>
          <p:cNvPr id="150" name="Text 148"/>
          <p:cNvSpPr txBox="1"/>
          <p:nvPr/>
        </p:nvSpPr>
        <p:spPr>
          <a:xfrm>
            <a:off x="511956" y="6454684"/>
            <a:ext cx="7439966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E1 por campaña y canal, septiembre 2026; Sheets v4, E9b y E7a. Ahorro = palancas de la lámina 92; respuesta de enero a septiembre.</a:t>
            </a:r>
            <a:endParaRPr lang="en-US" sz="840" dirty="0"/>
          </a:p>
        </p:txBody>
      </p:sp>
      <p:sp>
        <p:nvSpPr>
          <p:cNvPr id="151" name="Text 149"/>
          <p:cNvSpPr txBox="1"/>
          <p:nvPr/>
        </p:nvSpPr>
        <p:spPr>
          <a:xfrm>
            <a:off x="11502205" y="6454684"/>
            <a:ext cx="201148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108</a:t>
            </a:r>
            <a:endParaRPr lang="en-US" sz="84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661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Supuestos de costo: WhatsApp por entregado, correo por enviado, septiembre como base y Braze fijo como X</a:t>
            </a:r>
            <a:endParaRPr lang="en-US" sz="2210" dirty="0"/>
          </a:p>
        </p:txBody>
      </p:sp>
      <p:sp>
        <p:nvSpPr>
          <p:cNvPr id="3" name="Shape 1"/>
          <p:cNvSpPr/>
          <p:nvPr/>
        </p:nvSpPr>
        <p:spPr>
          <a:xfrm>
            <a:off x="511956" y="1388475"/>
            <a:ext cx="2233496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11956" y="1210125"/>
            <a:ext cx="2230887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SUPUESTO</a:t>
            </a:r>
            <a:endParaRPr lang="en-US" sz="790" dirty="0"/>
          </a:p>
        </p:txBody>
      </p:sp>
      <p:sp>
        <p:nvSpPr>
          <p:cNvPr id="5" name="Shape 3"/>
          <p:cNvSpPr/>
          <p:nvPr/>
        </p:nvSpPr>
        <p:spPr>
          <a:xfrm>
            <a:off x="2745452" y="1388475"/>
            <a:ext cx="2903545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45452" y="1210125"/>
            <a:ext cx="2921038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</a:t>
            </a:r>
            <a:endParaRPr lang="en-US" sz="790" dirty="0"/>
          </a:p>
        </p:txBody>
      </p:sp>
      <p:sp>
        <p:nvSpPr>
          <p:cNvPr id="7" name="Shape 5"/>
          <p:cNvSpPr/>
          <p:nvPr/>
        </p:nvSpPr>
        <p:spPr>
          <a:xfrm>
            <a:off x="5648998" y="1388475"/>
            <a:ext cx="6030440" cy="0"/>
          </a:xfrm>
          <a:prstGeom prst="line">
            <a:avLst/>
          </a:prstGeom>
          <a:noFill/>
          <a:ln w="9645">
            <a:solidFill>
              <a:srgbClr val="0B12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48998" y="1210125"/>
            <a:ext cx="6141739" cy="134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790" b="1" spc="5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IMPLICA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511956" y="1658695"/>
            <a:ext cx="22334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1956" y="1444503"/>
            <a:ext cx="22308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Correo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2745452" y="1658695"/>
            <a:ext cx="290354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5452" y="1444503"/>
            <a:ext cx="29210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0.05 MXN por enviado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5648998" y="1658695"/>
            <a:ext cx="603044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48998" y="1444503"/>
            <a:ext cx="614173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cobra todo lo que sale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511956" y="1928915"/>
            <a:ext cx="22334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1956" y="1714723"/>
            <a:ext cx="22308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WhatsApp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2745452" y="1928915"/>
            <a:ext cx="290354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745452" y="1714723"/>
            <a:ext cx="29210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1.00 MXN por entregado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5648998" y="1928915"/>
            <a:ext cx="603044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48998" y="1714723"/>
            <a:ext cx="614173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14.2 M sin entregar no se pagaron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511956" y="2199135"/>
            <a:ext cx="22334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1956" y="1984943"/>
            <a:ext cx="22308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e in-app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2745452" y="2199135"/>
            <a:ext cx="290354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745452" y="1984943"/>
            <a:ext cx="29210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MXN por mensaje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5648998" y="2199135"/>
            <a:ext cx="603044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48998" y="1984943"/>
            <a:ext cx="614173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 costo es el permiso, que no se ve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511956" y="2469355"/>
            <a:ext cx="22334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11956" y="2255163"/>
            <a:ext cx="22308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Gasto de nueve meses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2745452" y="2469355"/>
            <a:ext cx="290354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745452" y="2255163"/>
            <a:ext cx="29210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57.7 M MXN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5648998" y="2469355"/>
            <a:ext cx="603044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648998" y="2255163"/>
            <a:ext cx="614173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71.9 M MXN si WhatsApp se cobrara por enviado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511956" y="2739575"/>
            <a:ext cx="22334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11956" y="2525383"/>
            <a:ext cx="22308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 base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2745452" y="2739575"/>
            <a:ext cx="290354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745452" y="2525383"/>
            <a:ext cx="29210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Septiembre: 4.23 M MXN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5648998" y="2739575"/>
            <a:ext cx="603044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648998" y="2525383"/>
            <a:ext cx="614173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Promedio: 6.41 M MXN al mes; ahorro conservador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511956" y="3009795"/>
            <a:ext cx="22334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11956" y="2795602"/>
            <a:ext cx="22308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Ahorro por campaña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2745452" y="3009795"/>
            <a:ext cx="290354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745452" y="2795602"/>
            <a:ext cx="29210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Costo de septiembre</a:t>
            </a: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5648998" y="3009795"/>
            <a:ext cx="603044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648998" y="2795602"/>
            <a:ext cx="614173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Palancas en orden, sin doble conteo</a:t>
            </a:r>
            <a:endParaRPr lang="en-US" sz="960" dirty="0"/>
          </a:p>
        </p:txBody>
      </p:sp>
      <p:sp>
        <p:nvSpPr>
          <p:cNvPr id="45" name="Shape 43"/>
          <p:cNvSpPr/>
          <p:nvPr/>
        </p:nvSpPr>
        <p:spPr>
          <a:xfrm>
            <a:off x="511956" y="3280015"/>
            <a:ext cx="22334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11956" y="3065822"/>
            <a:ext cx="22308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Lecturas de WhatsApp</a:t>
            </a:r>
            <a:endParaRPr lang="en-US" sz="960" dirty="0"/>
          </a:p>
        </p:txBody>
      </p:sp>
      <p:sp>
        <p:nvSpPr>
          <p:cNvPr id="47" name="Shape 45"/>
          <p:cNvSpPr/>
          <p:nvPr/>
        </p:nvSpPr>
        <p:spPr>
          <a:xfrm>
            <a:off x="2745452" y="3280015"/>
            <a:ext cx="290354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745452" y="3065822"/>
            <a:ext cx="29210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Cuentan las del mes siguiente</a:t>
            </a:r>
            <a:endParaRPr lang="en-US" sz="960" dirty="0"/>
          </a:p>
        </p:txBody>
      </p:sp>
      <p:sp>
        <p:nvSpPr>
          <p:cNvPr id="49" name="Shape 47"/>
          <p:cNvSpPr/>
          <p:nvPr/>
        </p:nvSpPr>
        <p:spPr>
          <a:xfrm>
            <a:off x="5648998" y="3280015"/>
            <a:ext cx="603044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648998" y="3065822"/>
            <a:ext cx="614173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suman a la campaña que las mandó</a:t>
            </a:r>
            <a:endParaRPr lang="en-US" sz="960" dirty="0"/>
          </a:p>
        </p:txBody>
      </p:sp>
      <p:sp>
        <p:nvSpPr>
          <p:cNvPr id="51" name="Shape 49"/>
          <p:cNvSpPr/>
          <p:nvPr/>
        </p:nvSpPr>
        <p:spPr>
          <a:xfrm>
            <a:off x="511956" y="3550234"/>
            <a:ext cx="22334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11956" y="3336042"/>
            <a:ext cx="22308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quien no responde</a:t>
            </a:r>
            <a:endParaRPr lang="en-US" sz="960" dirty="0"/>
          </a:p>
        </p:txBody>
      </p:sp>
      <p:sp>
        <p:nvSpPr>
          <p:cNvPr id="53" name="Shape 51"/>
          <p:cNvSpPr/>
          <p:nvPr/>
        </p:nvSpPr>
        <p:spPr>
          <a:xfrm>
            <a:off x="2745452" y="3550234"/>
            <a:ext cx="290354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2745452" y="3336042"/>
            <a:ext cx="29210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23 % del WhatsApp, 88 % del correo</a:t>
            </a:r>
            <a:endParaRPr lang="en-US" sz="960" dirty="0"/>
          </a:p>
        </p:txBody>
      </p:sp>
      <p:sp>
        <p:nvSpPr>
          <p:cNvPr id="55" name="Shape 53"/>
          <p:cNvSpPr/>
          <p:nvPr/>
        </p:nvSpPr>
        <p:spPr>
          <a:xfrm>
            <a:off x="5648998" y="3550234"/>
            <a:ext cx="603044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648998" y="3336042"/>
            <a:ext cx="614173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Proporción de E9b en 90 días</a:t>
            </a:r>
            <a:endParaRPr lang="en-US" sz="960" dirty="0"/>
          </a:p>
        </p:txBody>
      </p:sp>
      <p:sp>
        <p:nvSpPr>
          <p:cNvPr id="57" name="Shape 55"/>
          <p:cNvSpPr/>
          <p:nvPr/>
        </p:nvSpPr>
        <p:spPr>
          <a:xfrm>
            <a:off x="511956" y="3820454"/>
            <a:ext cx="2233496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11956" y="3606262"/>
            <a:ext cx="2230887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Costo fijo de Braze</a:t>
            </a:r>
            <a:endParaRPr lang="en-US" sz="960" dirty="0"/>
          </a:p>
        </p:txBody>
      </p:sp>
      <p:sp>
        <p:nvSpPr>
          <p:cNvPr id="59" name="Shape 57"/>
          <p:cNvSpPr/>
          <p:nvPr/>
        </p:nvSpPr>
        <p:spPr>
          <a:xfrm>
            <a:off x="2745452" y="3820454"/>
            <a:ext cx="2903545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2745452" y="3606262"/>
            <a:ext cx="2921038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b="1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X, editable</a:t>
            </a:r>
            <a:endParaRPr lang="en-US" sz="960" dirty="0"/>
          </a:p>
        </p:txBody>
      </p:sp>
      <p:sp>
        <p:nvSpPr>
          <p:cNvPr id="61" name="Shape 59"/>
          <p:cNvSpPr/>
          <p:nvPr/>
        </p:nvSpPr>
        <p:spPr>
          <a:xfrm>
            <a:off x="5648998" y="3820454"/>
            <a:ext cx="6030440" cy="0"/>
          </a:xfrm>
          <a:prstGeom prst="line">
            <a:avLst/>
          </a:prstGeom>
          <a:noFill/>
          <a:ln w="9645">
            <a:solidFill>
              <a:srgbClr val="DDE2E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648998" y="3606262"/>
            <a:ext cx="6141739" cy="16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6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entra en el gasto ni en el ahorro: solo se cuentan las tarifas por mensaje</a:t>
            </a:r>
            <a:endParaRPr lang="en-US" sz="960" dirty="0"/>
          </a:p>
        </p:txBody>
      </p:sp>
      <p:sp>
        <p:nvSpPr>
          <p:cNvPr id="63" name="Shape 61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65" name="Text 63"/>
          <p:cNvSpPr txBox="1"/>
          <p:nvPr/>
        </p:nvSpPr>
        <p:spPr>
          <a:xfrm>
            <a:off x="1409876" y="6077461"/>
            <a:ext cx="5859730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Cobrar WhatsApp por enviado subiría el gasto de nueve meses de 57.7 a 71.9 M MXN.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511956" y="6454684"/>
            <a:ext cx="7353813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Braze, envíos por comunicación, mes y canal (E1) y respuesta en 90 días (E9b), enero a septiembre 2026; parámetros del Sheets v4.</a:t>
            </a:r>
            <a:endParaRPr lang="en-US" sz="840" dirty="0"/>
          </a:p>
        </p:txBody>
      </p:sp>
      <p:sp>
        <p:nvSpPr>
          <p:cNvPr id="67" name="Text 65"/>
          <p:cNvSpPr txBox="1"/>
          <p:nvPr/>
        </p:nvSpPr>
        <p:spPr>
          <a:xfrm>
            <a:off x="11502054" y="6454684"/>
            <a:ext cx="201304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109</a:t>
            </a:r>
            <a:endParaRPr lang="en-US" sz="84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1956" y="390033"/>
            <a:ext cx="11521105" cy="330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210" b="1" spc="-30" kern="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qué había dos cifras de ahorro: de 3.2 y 1.6 M a una sola de 2.34 M MXN al mes</a:t>
            </a:r>
            <a:endParaRPr lang="en-US" sz="221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56" y="830553"/>
            <a:ext cx="7289909" cy="50518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94390" y="830553"/>
            <a:ext cx="3711198" cy="1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79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DICE LA GRÁFICA</a:t>
            </a:r>
            <a:endParaRPr lang="en-US" sz="790" dirty="0"/>
          </a:p>
        </p:txBody>
      </p:sp>
      <p:sp>
        <p:nvSpPr>
          <p:cNvPr id="5" name="Shape 2"/>
          <p:cNvSpPr/>
          <p:nvPr/>
        </p:nvSpPr>
        <p:spPr>
          <a:xfrm>
            <a:off x="8094390" y="1043790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94390" y="1043790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68" dirty="0"/>
          </a:p>
        </p:txBody>
      </p:sp>
      <p:sp>
        <p:nvSpPr>
          <p:cNvPr id="7" name="Text 4"/>
          <p:cNvSpPr txBox="1"/>
          <p:nvPr/>
        </p:nvSpPr>
        <p:spPr>
          <a:xfrm>
            <a:off x="8338224" y="1031598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3.18 M MXN al mes cobraba WhatsApp por enviado y no contaba lecturas tardías: corregido da 1.60 M.</a:t>
            </a:r>
            <a:endParaRPr lang="en-US" sz="940" dirty="0"/>
          </a:p>
        </p:txBody>
      </p:sp>
      <p:sp>
        <p:nvSpPr>
          <p:cNvPr id="8" name="Shape 5"/>
          <p:cNvSpPr/>
          <p:nvPr/>
        </p:nvSpPr>
        <p:spPr>
          <a:xfrm>
            <a:off x="8094390" y="1432165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094390" y="1432165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68" dirty="0"/>
          </a:p>
        </p:txBody>
      </p:sp>
      <p:sp>
        <p:nvSpPr>
          <p:cNvPr id="10" name="Text 7"/>
          <p:cNvSpPr txBox="1"/>
          <p:nvPr/>
        </p:nvSpPr>
        <p:spPr>
          <a:xfrm>
            <a:off x="8338224" y="1419973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las lecturas tardías cuatro WhatsApp leen 60 % o más; Product Growth sube a 81 %.</a:t>
            </a:r>
            <a:endParaRPr lang="en-US" sz="940" dirty="0"/>
          </a:p>
        </p:txBody>
      </p:sp>
      <p:sp>
        <p:nvSpPr>
          <p:cNvPr id="11" name="Shape 8"/>
          <p:cNvSpPr/>
          <p:nvPr/>
        </p:nvSpPr>
        <p:spPr>
          <a:xfrm>
            <a:off x="8094390" y="1820540"/>
            <a:ext cx="164573" cy="164573"/>
          </a:xfrm>
          <a:prstGeom prst="ellipse">
            <a:avLst/>
          </a:prstGeom>
          <a:solidFill>
            <a:srgbClr val="E8EEF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94390" y="1820540"/>
            <a:ext cx="164573" cy="164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68" dirty="0"/>
          </a:p>
        </p:txBody>
      </p:sp>
      <p:sp>
        <p:nvSpPr>
          <p:cNvPr id="13" name="Text 10"/>
          <p:cNvSpPr txBox="1"/>
          <p:nvPr/>
        </p:nvSpPr>
        <p:spPr>
          <a:xfrm>
            <a:off x="8338224" y="1808348"/>
            <a:ext cx="3460049" cy="315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40" dirty="0">
                <a:solidFill>
                  <a:srgbClr val="3B45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cifra única usa septiembre, cuenta solo a quien no responde y suma otras palancas sin doble conteo.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8094390" y="2208931"/>
            <a:ext cx="3585349" cy="596503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5" name="Shape 12"/>
          <p:cNvSpPr/>
          <p:nvPr/>
        </p:nvSpPr>
        <p:spPr>
          <a:xfrm>
            <a:off x="8108858" y="2208931"/>
            <a:ext cx="0" cy="596503"/>
          </a:xfrm>
          <a:prstGeom prst="line">
            <a:avLst/>
          </a:prstGeom>
          <a:noFill/>
          <a:ln w="28936">
            <a:solidFill>
              <a:srgbClr val="0B122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33041" y="2269817"/>
            <a:ext cx="3455380" cy="130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70" b="1" spc="80" kern="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 RAÍZ</a:t>
            </a:r>
            <a:endParaRPr lang="en-US" sz="770" dirty="0"/>
          </a:p>
        </p:txBody>
      </p:sp>
      <p:sp>
        <p:nvSpPr>
          <p:cNvPr id="17" name="Text 14"/>
          <p:cNvSpPr txBox="1"/>
          <p:nvPr/>
        </p:nvSpPr>
        <p:spPr>
          <a:xfrm>
            <a:off x="8233041" y="2430773"/>
            <a:ext cx="3288818" cy="30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2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cifra usó supuestos distintos de cobro, de mes y de qué contar; la propuesta los fija una vez.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511956" y="5992160"/>
            <a:ext cx="11167783" cy="352808"/>
          </a:xfrm>
          <a:prstGeom prst="rect">
            <a:avLst/>
          </a:prstGeom>
          <a:solidFill>
            <a:srgbClr val="E8EEF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70350" y="6116043"/>
            <a:ext cx="616853" cy="13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820" b="1" spc="100" kern="0" dirty="0">
                <a:solidFill>
                  <a:srgbClr val="1F4F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WHAT</a:t>
            </a:r>
            <a:endParaRPr lang="en-US" sz="820" dirty="0"/>
          </a:p>
        </p:txBody>
      </p:sp>
      <p:sp>
        <p:nvSpPr>
          <p:cNvPr id="20" name="Text 17"/>
          <p:cNvSpPr txBox="1"/>
          <p:nvPr/>
        </p:nvSpPr>
        <p:spPr>
          <a:xfrm>
            <a:off x="1409876" y="6077461"/>
            <a:ext cx="5951160" cy="182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110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Usar solo 2.34 M MXN al mes (28 M al año); las otras dos cifras quedan reemplazadas.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11956" y="6454684"/>
            <a:ext cx="8147036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nota de campañas (muestra C), Sheets v4 y E1 de septiembre 2026. Montos incrementales en el orden de esta cascada; por palanca, ver lámina 92.</a:t>
            </a:r>
            <a:endParaRPr lang="en-US" sz="840" dirty="0"/>
          </a:p>
        </p:txBody>
      </p:sp>
      <p:sp>
        <p:nvSpPr>
          <p:cNvPr id="22" name="Text 19"/>
          <p:cNvSpPr txBox="1"/>
          <p:nvPr/>
        </p:nvSpPr>
        <p:spPr>
          <a:xfrm>
            <a:off x="11524962" y="6454684"/>
            <a:ext cx="177709" cy="135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840" dirty="0">
                <a:solidFill>
                  <a:srgbClr val="6B748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110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117</Slides>
  <Notes>117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117</vt:i4>
      </vt:variant>
    </vt:vector>
  </HeadingPairs>
  <TitlesOfParts>
    <vt:vector size="1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Braze en Kueski</dc:title>
  <dc:subject>PptxGenJS Presentation</dc:subject>
  <dc:creator>PptxGenJS</dc:creator>
  <cp:lastModifiedBy>PptxGenJS</cp:lastModifiedBy>
  <cp:revision>1</cp:revision>
  <dcterms:created xsi:type="dcterms:W3CDTF">2026-10-19T22:14:23Z</dcterms:created>
  <dcterms:modified xsi:type="dcterms:W3CDTF">2026-10-19T22:14:23Z</dcterms:modified>
</cp:coreProperties>
</file>