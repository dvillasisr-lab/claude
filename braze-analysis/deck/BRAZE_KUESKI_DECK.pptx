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A1D24"/>
                </a:solidFill>
                <a:latin typeface="Calibri"/>
              </a:rPr>
              <a:t>Usuarios (M), según a cuántos canales respondieron en 9 meses</a:t>
            </a:r>
          </a:p>
        </c:rich>
      </c:tx>
      <c:layout/>
      <c:overlay val="0"/>
    </c:title>
    <c:autoTitleDeleted val="0"/>
    <c:plotArea>
      <c:barChart>
        <c:barDir val="col"/>
        <c:grouping val="stacked"/>
        <c:ser>
          <c:idx val="0"/>
          <c:order val="0"/>
          <c:tx>
            <c:strRef>
              <c:f>Sheet1!$B$1</c:f>
              <c:strCache>
                <c:ptCount val="1"/>
                <c:pt idx="0">
                  <c:v>base</c:v>
                </c:pt>
              </c:strCache>
            </c:strRef>
          </c:tx>
          <c:spPr>
            <a:noFill/>
          </c:spPr>
          <c:cat>
            <c:strRef>
              <c:f>Sheet1!$A$2:$A$5</c:f>
              <c:strCache>
                <c:ptCount val="4"/>
                <c:pt idx="0">
                  <c:v>Usuarios en la base</c:v>
                </c:pt>
                <c:pt idx="1">
                  <c:v>Nunca respondieron (1 % de las conversiones)</c:v>
                </c:pt>
                <c:pt idx="2">
                  <c:v>Respondieron a 1 canal (13 %)</c:v>
                </c:pt>
                <c:pt idx="3">
                  <c:v>Responden a 2 o más canales (86 %)</c:v>
                </c:pt>
              </c:strCache>
            </c:strRef>
          </c:cat>
          <c:val>
            <c:numRef>
              <c:f>Sheet1!$B$2:$B$5</c:f>
              <c:numCache>
                <c:formatCode>General</c:formatCode>
                <c:ptCount val="4"/>
                <c:pt idx="0">
                  <c:v>0</c:v>
                </c:pt>
                <c:pt idx="1">
                  <c:v>5.296505999999999</c:v>
                </c:pt>
                <c:pt idx="2">
                  <c:v>2.2074119999999993</c:v>
                </c:pt>
                <c:pt idx="3">
                  <c:v>0</c:v>
                </c:pt>
              </c:numCache>
            </c:numRef>
          </c:val>
        </c:ser>
        <c:ser>
          <c:idx val="1"/>
          <c:order val="1"/>
          <c:tx>
            <c:strRef>
              <c:f>Sheet1!$C$1</c:f>
              <c:strCache>
                <c:ptCount val="1"/>
                <c:pt idx="0">
                  <c:v>Totales</c:v>
                </c:pt>
              </c:strCache>
            </c:strRef>
          </c:tx>
          <c:spPr>
            <a:solidFill>
              <a:srgbClr val="5B6270"/>
            </a:solidFill>
          </c:spPr>
          <c:dPt>
            <c:idx val="3"/>
            <c:spPr>
              <a:solidFill>
                <a:srgbClr val="1F4FD8"/>
              </a:solidFill>
            </c:spPr>
          </c:dPt>
          <c:dLbls>
            <c:numFmt formatCode="0.00&quot; M&quot;;;" sourceLinked="0"/>
            <c:txPr>
              <a:bodyPr/>
              <a:lstStyle/>
              <a:p>
                <a:pPr>
                  <a:defRPr sz="900">
                    <a:solidFill>
                      <a:srgbClr val="1A1D24"/>
                    </a:solidFill>
                    <a:latin typeface="Calibri"/>
                  </a:defRPr>
                </a:pPr>
              </a:p>
            </c:txPr>
            <c:dLblPos val="inEnd"/>
            <c:showLegendKey val="0"/>
            <c:showVal val="1"/>
            <c:showCatName val="0"/>
            <c:showSerName val="0"/>
            <c:showPercent val="0"/>
            <c:showBubbleSize val="0"/>
            <c:showLeaderLines val="1"/>
          </c:dLbls>
          <c:cat>
            <c:strRef>
              <c:f>Sheet1!$A$2:$A$5</c:f>
              <c:strCache>
                <c:ptCount val="4"/>
                <c:pt idx="0">
                  <c:v>Usuarios en la base</c:v>
                </c:pt>
                <c:pt idx="1">
                  <c:v>Nunca respondieron (1 % de las conversiones)</c:v>
                </c:pt>
                <c:pt idx="2">
                  <c:v>Respondieron a 1 canal (13 %)</c:v>
                </c:pt>
                <c:pt idx="3">
                  <c:v>Responden a 2 o más canales (86 %)</c:v>
                </c:pt>
              </c:strCache>
            </c:strRef>
          </c:cat>
          <c:val>
            <c:numRef>
              <c:f>Sheet1!$C$2:$C$5</c:f>
              <c:numCache>
                <c:formatCode>General</c:formatCode>
                <c:ptCount val="4"/>
                <c:pt idx="0">
                  <c:v>19.538178</c:v>
                </c:pt>
                <c:pt idx="1">
                  <c:v>0</c:v>
                </c:pt>
                <c:pt idx="2">
                  <c:v>0</c:v>
                </c:pt>
                <c:pt idx="3">
                  <c:v>2.207412</c:v>
                </c:pt>
              </c:numCache>
            </c:numRef>
          </c:val>
        </c:ser>
        <c:ser>
          <c:idx val="2"/>
          <c:order val="2"/>
          <c:tx>
            <c:strRef>
              <c:f>Sheet1!$D$1</c:f>
              <c:strCache>
                <c:ptCount val="1"/>
                <c:pt idx="0">
                  <c:v>Ahorro</c:v>
                </c:pt>
              </c:strCache>
            </c:strRef>
          </c:tx>
          <c:spPr>
            <a:solidFill>
              <a:srgbClr val="B5342B"/>
            </a:solidFill>
          </c:spPr>
          <c:dLbls>
            <c:numFmt formatCode="&quot;−&quot;0.00&quot; M&quot;;;" sourceLinked="0"/>
            <c:txPr>
              <a:bodyPr/>
              <a:lstStyle/>
              <a:p>
                <a:pPr>
                  <a:defRPr sz="900">
                    <a:solidFill>
                      <a:srgbClr val="1A1D24"/>
                    </a:solidFill>
                    <a:latin typeface="Calibri"/>
                  </a:defRPr>
                </a:pPr>
              </a:p>
            </c:txPr>
            <c:dLblPos val="inEnd"/>
            <c:showLegendKey val="0"/>
            <c:showVal val="1"/>
            <c:showCatName val="0"/>
            <c:showSerName val="0"/>
            <c:showPercent val="0"/>
            <c:showBubbleSize val="0"/>
            <c:showLeaderLines val="1"/>
          </c:dLbls>
          <c:cat>
            <c:strRef>
              <c:f>Sheet1!$A$2:$A$5</c:f>
              <c:strCache>
                <c:ptCount val="4"/>
                <c:pt idx="0">
                  <c:v>Usuarios en la base</c:v>
                </c:pt>
                <c:pt idx="1">
                  <c:v>Nunca respondieron (1 % de las conversiones)</c:v>
                </c:pt>
                <c:pt idx="2">
                  <c:v>Respondieron a 1 canal (13 %)</c:v>
                </c:pt>
                <c:pt idx="3">
                  <c:v>Responden a 2 o más canales (86 %)</c:v>
                </c:pt>
              </c:strCache>
            </c:strRef>
          </c:cat>
          <c:val>
            <c:numRef>
              <c:f>Sheet1!$D$2:$D$5</c:f>
              <c:numCache>
                <c:formatCode>General</c:formatCode>
                <c:ptCount val="4"/>
                <c:pt idx="0">
                  <c:v>0</c:v>
                </c:pt>
                <c:pt idx="1">
                  <c:v>14.241672</c:v>
                </c:pt>
                <c:pt idx="2">
                  <c:v>3.089094</c:v>
                </c:pt>
                <c:pt idx="3">
                  <c:v>0</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E3E6EB"/>
            </a:solidFill>
          </a:ln>
        </c:spPr>
        <c:txPr>
          <a:bodyPr/>
          <a:lstStyle/>
          <a:p>
            <a:pPr>
              <a:defRPr sz="900">
                <a:solidFill>
                  <a:srgbClr val="5B6270"/>
                </a:solidFill>
                <a:latin typeface="Calibri"/>
              </a:defRPr>
            </a:pPr>
          </a:p>
        </c:txPr>
        <c:crossAx val="-2113994440"/>
        <c:crosses val="autoZero"/>
        <c:auto val="1"/>
        <c:lblAlgn val="ctr"/>
        <c:lblOffset val="100"/>
        <c:noMultiLvlLbl val="0"/>
      </c:catAx>
      <c:valAx>
        <c:axId val="-2113994440"/>
        <c:scaling/>
        <c:delete/>
        <c:axPos val="l"/>
        <c:majorTickMark val="out"/>
        <c:minorTickMark val="none"/>
        <c:tickLblPos val="nextTo"/>
        <c:spPr>
          <a:ln>
            <a:solidFill>
              <a:srgbClr val="E3E6EB"/>
            </a:solidFill>
          </a:ln>
        </c:spPr>
        <c:txPr>
          <a:bodyPr/>
          <a:lstStyle/>
          <a:p>
            <a:pPr>
              <a:defRPr sz="900">
                <a:solidFill>
                  <a:srgbClr val="5B6270"/>
                </a:solidFill>
                <a:latin typeface="Calibri"/>
              </a:defRPr>
            </a:pPr>
          </a:p>
        </c:txPr>
        <c:crossAx val="-2068027336"/>
        <c:crosses val="autoZero"/>
      </c:valAx>
    </c:plotArea>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A1D24"/>
                </a:solidFill>
                <a:latin typeface="Calibri"/>
              </a:rPr>
              <a:t>% de los envíos del mes que fueron a usuarios que nunca respondieron en 9 meses, por canal</a:t>
            </a:r>
          </a:p>
        </c:rich>
      </c:tx>
      <c:layout/>
      <c:overlay val="0"/>
    </c:title>
    <c:autoTitleDeleted val="0"/>
    <c:plotArea>
      <c:lineChart>
        <c:grouping val="standard"/>
        <c:varyColors val="0"/>
        <c:ser>
          <c:idx val="0"/>
          <c:order val="0"/>
          <c:tx>
            <c:strRef>
              <c:f>Sheet1!$B$1</c:f>
              <c:strCache>
                <c:ptCount val="1"/>
                <c:pt idx="0">
                  <c:v>Email</c:v>
                </c:pt>
              </c:strCache>
            </c:strRef>
          </c:tx>
          <c:spPr>
            <a:ln w="28575">
              <a:solidFill>
                <a:srgbClr val="1F4FD8"/>
              </a:solidFill>
            </a:ln>
          </c:spPr>
          <c:marker>
            <c:symbol val="circle"/>
            <c:size val="7"/>
            <c:spPr>
              <a:solidFill>
                <a:srgbClr val="1F4FD8"/>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21.149862189296627</c:v>
                </c:pt>
                <c:pt idx="1">
                  <c:v>15.811314785349925</c:v>
                </c:pt>
                <c:pt idx="2">
                  <c:v>15.023975326188536</c:v>
                </c:pt>
                <c:pt idx="3">
                  <c:v>14.108334355122047</c:v>
                </c:pt>
                <c:pt idx="4">
                  <c:v>14.568744659276083</c:v>
                </c:pt>
                <c:pt idx="5">
                  <c:v>33.1278328706663</c:v>
                </c:pt>
                <c:pt idx="6">
                  <c:v>14.287911229345834</c:v>
                </c:pt>
                <c:pt idx="7">
                  <c:v>14.93818874945628</c:v>
                </c:pt>
                <c:pt idx="8">
                  <c:v>16.192086899818147</c:v>
                </c:pt>
              </c:numCache>
            </c:numRef>
          </c:val>
          <c:smooth val="0"/>
        </c:ser>
        <c:ser>
          <c:idx val="1"/>
          <c:order val="1"/>
          <c:tx>
            <c:strRef>
              <c:f>Sheet1!$C$1</c:f>
              <c:strCache>
                <c:ptCount val="1"/>
                <c:pt idx="0">
                  <c:v>Push</c:v>
                </c:pt>
              </c:strCache>
            </c:strRef>
          </c:tx>
          <c:spPr>
            <a:ln w="28575">
              <a:solidFill>
                <a:srgbClr val="B5342B"/>
              </a:solidFill>
            </a:ln>
          </c:spPr>
          <c:marker>
            <c:symbol val="circle"/>
            <c:size val="7"/>
            <c:spPr>
              <a:solidFill>
                <a:srgbClr val="B5342B"/>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Sheet1!$C$2:$C$10</c:f>
              <c:numCache>
                <c:formatCode>General</c:formatCode>
                <c:ptCount val="9"/>
                <c:pt idx="0">
                  <c:v>15.29109458274443</c:v>
                </c:pt>
                <c:pt idx="1">
                  <c:v>15.1554826583622</c:v>
                </c:pt>
                <c:pt idx="2">
                  <c:v>16.545272120070727</c:v>
                </c:pt>
                <c:pt idx="3">
                  <c:v>14.738644470740258</c:v>
                </c:pt>
                <c:pt idx="4">
                  <c:v>13.481753809688886</c:v>
                </c:pt>
                <c:pt idx="5">
                  <c:v>13.250161271234045</c:v>
                </c:pt>
                <c:pt idx="6">
                  <c:v>9.116178885908989</c:v>
                </c:pt>
                <c:pt idx="7">
                  <c:v>11.010815026124789</c:v>
                </c:pt>
                <c:pt idx="8">
                  <c:v>5.117195211613647</c:v>
                </c:pt>
              </c:numCache>
            </c:numRef>
          </c:val>
          <c:smooth val="0"/>
        </c:ser>
        <c:ser>
          <c:idx val="2"/>
          <c:order val="2"/>
          <c:tx>
            <c:strRef>
              <c:f>Sheet1!$D$1</c:f>
              <c:strCache>
                <c:ptCount val="1"/>
                <c:pt idx="0">
                  <c:v>WhatsApp</c:v>
                </c:pt>
              </c:strCache>
            </c:strRef>
          </c:tx>
          <c:spPr>
            <a:ln w="28575">
              <a:solidFill>
                <a:srgbClr val="1F9E89"/>
              </a:solidFill>
            </a:ln>
          </c:spPr>
          <c:marker>
            <c:symbol val="circle"/>
            <c:size val="7"/>
            <c:spPr>
              <a:solidFill>
                <a:srgbClr val="1F9E89"/>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Sheet1!$D$2:$D$10</c:f>
              <c:numCache>
                <c:formatCode>General</c:formatCode>
                <c:ptCount val="9"/>
                <c:pt idx="0">
                  <c:v>9.661481223991464</c:v>
                </c:pt>
                <c:pt idx="1">
                  <c:v>8.826701280372953</c:v>
                </c:pt>
                <c:pt idx="2">
                  <c:v>6.248001299886452</c:v>
                </c:pt>
                <c:pt idx="3">
                  <c:v>16.185727199849904</c:v>
                </c:pt>
                <c:pt idx="4">
                  <c:v>11.038833581604266</c:v>
                </c:pt>
                <c:pt idx="5">
                  <c:v>6.322718507015055</c:v>
                </c:pt>
                <c:pt idx="6">
                  <c:v>10.262559308914257</c:v>
                </c:pt>
                <c:pt idx="7">
                  <c:v>7.5115087545772035</c:v>
                </c:pt>
                <c:pt idx="8">
                  <c:v>8.139538883182384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3E6EB"/>
            </a:solidFill>
          </a:ln>
        </c:spPr>
        <c:txPr>
          <a:bodyPr/>
          <a:lstStyle/>
          <a:p>
            <a:pPr>
              <a:defRPr sz="1000">
                <a:solidFill>
                  <a:srgbClr val="5B6270"/>
                </a:solidFill>
                <a:latin typeface="Calibri"/>
              </a:defRPr>
            </a:pPr>
          </a:p>
        </c:txPr>
        <c:crossAx val="2140495176"/>
        <c:crosses val="autoZero"/>
        <c:auto val="1"/>
        <c:lblAlgn val="ctr"/>
        <c:lblOffset val="100"/>
        <c:noMultiLvlLbl val="0"/>
      </c:catAx>
      <c:valAx>
        <c:axId val="2140495176"/>
        <c:scaling>
          <c:max val="40.0"/>
          <c:min val="0.0"/>
        </c:scaling>
        <c:delete/>
        <c:axPos val="l"/>
        <c:majorTickMark val="out"/>
        <c:minorTickMark val="none"/>
        <c:tickLblPos val="nextTo"/>
        <c:spPr>
          <a:ln>
            <a:solidFill>
              <a:srgbClr val="E3E6EB"/>
            </a:solidFill>
          </a:ln>
        </c:spPr>
        <c:txPr>
          <a:bodyPr/>
          <a:lstStyle/>
          <a:p>
            <a:pPr>
              <a:defRPr sz="900">
                <a:solidFill>
                  <a:srgbClr val="5B6270"/>
                </a:solidFill>
                <a:latin typeface="Calibri"/>
              </a:defRPr>
            </a:pPr>
          </a:p>
        </c:txPr>
        <c:crossAx val="2118791784"/>
        <c:crosses val="autoZero"/>
      </c:valAx>
    </c:plotArea>
    <c:legend>
      <c:legendPos val="t"/>
      <c:layout/>
      <c:overlay val="0"/>
      <c:txPr>
        <a:bodyPr/>
        <a:lstStyle/>
        <a:p>
          <a:pPr>
            <a:defRPr sz="900"/>
          </a:pPr>
        </a:p>
      </c:txPr>
    </c:legend>
    <c:plotVisOnly val="1"/>
    <c:dispBlanksAs val="gap"/>
    <c:showDLblsOverMax val="0"/>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A1D24"/>
                </a:solidFill>
                <a:latin typeface="Calibri"/>
              </a:rPr>
              <a:t>Entrega de WhatsApp (%)</a:t>
            </a:r>
          </a:p>
        </c:rich>
      </c:tx>
      <c:layout/>
      <c:overlay val="0"/>
    </c:title>
    <c:autoTitleDeleted val="0"/>
    <c:plotArea>
      <c:lineChart>
        <c:grouping val="standard"/>
        <c:varyColors val="0"/>
        <c:ser>
          <c:idx val="0"/>
          <c:order val="0"/>
          <c:tx>
            <c:strRef>
              <c:f>Sheet1!$B$1</c:f>
              <c:strCache>
                <c:ptCount val="1"/>
                <c:pt idx="0">
                  <c:v>Entrega de WhatsApp (%)</c:v>
                </c:pt>
              </c:strCache>
            </c:strRef>
          </c:tx>
          <c:spPr>
            <a:ln w="28575">
              <a:solidFill>
                <a:srgbClr val="1F4FD8"/>
              </a:solidFill>
            </a:ln>
          </c:spPr>
          <c:marker>
            <c:symbol val="circle"/>
            <c:size val="7"/>
            <c:spPr>
              <a:solidFill>
                <a:srgbClr val="1F4FD8"/>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80</c:v>
                </c:pt>
                <c:pt idx="1">
                  <c:v>77</c:v>
                </c:pt>
                <c:pt idx="2">
                  <c:v>74</c:v>
                </c:pt>
                <c:pt idx="3">
                  <c:v>69</c:v>
                </c:pt>
                <c:pt idx="4">
                  <c:v>67</c:v>
                </c:pt>
                <c:pt idx="5">
                  <c:v>74</c:v>
                </c:pt>
                <c:pt idx="6">
                  <c:v>73</c:v>
                </c:pt>
                <c:pt idx="7">
                  <c:v>78</c:v>
                </c:pt>
                <c:pt idx="8">
                  <c:v>77</c:v>
                </c:pt>
              </c:numCache>
            </c:numRef>
          </c:val>
          <c:smooth val="0"/>
        </c:ser>
        <c:dLbls>
          <c:numFmt formatCode="0&quot; %&quot;" sourceLinked="0"/>
          <c:txPr>
            <a:bodyPr/>
            <a:lstStyle/>
            <a:p>
              <a:pPr>
                <a:defRPr sz="900">
                  <a:solidFill>
                    <a:srgbClr val="1A1D24"/>
                  </a:solidFill>
                  <a:latin typeface="Calibri"/>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E3E6EB"/>
            </a:solidFill>
          </a:ln>
        </c:spPr>
        <c:txPr>
          <a:bodyPr/>
          <a:lstStyle/>
          <a:p>
            <a:pPr>
              <a:defRPr sz="1000">
                <a:solidFill>
                  <a:srgbClr val="5B6270"/>
                </a:solidFill>
                <a:latin typeface="Calibri"/>
              </a:defRPr>
            </a:pPr>
          </a:p>
        </c:txPr>
        <c:crossAx val="2140495176"/>
        <c:crosses val="autoZero"/>
        <c:auto val="1"/>
        <c:lblAlgn val="ctr"/>
        <c:lblOffset val="100"/>
        <c:noMultiLvlLbl val="0"/>
      </c:catAx>
      <c:valAx>
        <c:axId val="2140495176"/>
        <c:scaling>
          <c:max val="90.0"/>
          <c:min val="60.0"/>
        </c:scaling>
        <c:delete/>
        <c:axPos val="l"/>
        <c:majorTickMark val="out"/>
        <c:minorTickMark val="none"/>
        <c:tickLblPos val="nextTo"/>
        <c:spPr>
          <a:ln>
            <a:solidFill>
              <a:srgbClr val="E3E6EB"/>
            </a:solidFill>
          </a:ln>
        </c:spPr>
        <c:txPr>
          <a:bodyPr/>
          <a:lstStyle/>
          <a:p>
            <a:pPr>
              <a:defRPr sz="900">
                <a:solidFill>
                  <a:srgbClr val="5B6270"/>
                </a:solidFill>
                <a:latin typeface="Calibri"/>
              </a:defRPr>
            </a:pPr>
          </a:p>
        </c:txPr>
        <c:crossAx val="2118791784"/>
        <c:crosses val="autoZero"/>
      </c:valAx>
    </c:plotArea>
    <c:plotVisOnly val="1"/>
    <c:dispBlanksAs val="gap"/>
    <c:showDLblsOverMax val="0"/>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A1D24"/>
                </a:solidFill>
                <a:latin typeface="Calibri"/>
              </a:rPr>
              <a:t>Usuarios (M) que recibieron 2, 3 a 4, 5 a 7 u 8 o más campañas distintas en un mismo día, por mes (color más oscuro = más campañas)</a:t>
            </a:r>
          </a:p>
        </c:rich>
      </c:tx>
      <c:layout/>
      <c:overlay val="0"/>
    </c:title>
    <c:autoTitleDeleted val="0"/>
    <c:plotArea>
      <c:lineChart>
        <c:grouping val="standard"/>
        <c:varyColors val="0"/>
        <c:ser>
          <c:idx val="0"/>
          <c:order val="0"/>
          <c:tx>
            <c:strRef>
              <c:f>Sheet1!$B$1</c:f>
              <c:strCache>
                <c:ptCount val="1"/>
                <c:pt idx="0">
                  <c:v>2 campañas</c:v>
                </c:pt>
              </c:strCache>
            </c:strRef>
          </c:tx>
          <c:spPr>
            <a:ln w="28575">
              <a:solidFill>
                <a:srgbClr val="C3D0F2"/>
              </a:solidFill>
            </a:ln>
          </c:spPr>
          <c:marker>
            <c:symbol val="circle"/>
            <c:size val="7"/>
            <c:spPr>
              <a:solidFill>
                <a:srgbClr val="C3D0F2"/>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2.464154</c:v>
                </c:pt>
                <c:pt idx="1">
                  <c:v>2.520085</c:v>
                </c:pt>
                <c:pt idx="2">
                  <c:v>2.387843</c:v>
                </c:pt>
                <c:pt idx="3">
                  <c:v>2.454034</c:v>
                </c:pt>
                <c:pt idx="4">
                  <c:v>2.94041</c:v>
                </c:pt>
                <c:pt idx="5">
                  <c:v>3.302729</c:v>
                </c:pt>
                <c:pt idx="6">
                  <c:v>2.034295</c:v>
                </c:pt>
                <c:pt idx="7">
                  <c:v>2.449071</c:v>
                </c:pt>
                <c:pt idx="8">
                  <c:v>1.647381</c:v>
                </c:pt>
              </c:numCache>
            </c:numRef>
          </c:val>
          <c:smooth val="0"/>
        </c:ser>
        <c:ser>
          <c:idx val="1"/>
          <c:order val="1"/>
          <c:tx>
            <c:strRef>
              <c:f>Sheet1!$C$1</c:f>
              <c:strCache>
                <c:ptCount val="1"/>
                <c:pt idx="0">
                  <c:v>3 a 4 campañas</c:v>
                </c:pt>
              </c:strCache>
            </c:strRef>
          </c:tx>
          <c:spPr>
            <a:ln w="28575">
              <a:solidFill>
                <a:srgbClr val="869ACF"/>
              </a:solidFill>
            </a:ln>
          </c:spPr>
          <c:marker>
            <c:symbol val="circle"/>
            <c:size val="7"/>
            <c:spPr>
              <a:solidFill>
                <a:srgbClr val="869ACF"/>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Sheet1!$C$2:$C$10</c:f>
              <c:numCache>
                <c:formatCode>General</c:formatCode>
                <c:ptCount val="9"/>
                <c:pt idx="0">
                  <c:v>1.007472</c:v>
                </c:pt>
                <c:pt idx="1">
                  <c:v>1.209868</c:v>
                </c:pt>
                <c:pt idx="2">
                  <c:v>1.193131</c:v>
                </c:pt>
                <c:pt idx="3">
                  <c:v>1.064597</c:v>
                </c:pt>
                <c:pt idx="4">
                  <c:v>1.307939</c:v>
                </c:pt>
                <c:pt idx="5">
                  <c:v>1.542418</c:v>
                </c:pt>
                <c:pt idx="6">
                  <c:v>1.171349</c:v>
                </c:pt>
                <c:pt idx="7">
                  <c:v>1.547447</c:v>
                </c:pt>
                <c:pt idx="8">
                  <c:v>1.076239</c:v>
                </c:pt>
              </c:numCache>
            </c:numRef>
          </c:val>
          <c:smooth val="0"/>
        </c:ser>
        <c:ser>
          <c:idx val="2"/>
          <c:order val="2"/>
          <c:tx>
            <c:strRef>
              <c:f>Sheet1!$D$1</c:f>
              <c:strCache>
                <c:ptCount val="1"/>
                <c:pt idx="0">
                  <c:v>5 a 7 campañas</c:v>
                </c:pt>
              </c:strCache>
            </c:strRef>
          </c:tx>
          <c:spPr>
            <a:ln w="28575">
              <a:solidFill>
                <a:srgbClr val="4A64AC"/>
              </a:solidFill>
            </a:ln>
          </c:spPr>
          <c:marker>
            <c:symbol val="circle"/>
            <c:size val="7"/>
            <c:spPr>
              <a:solidFill>
                <a:srgbClr val="4A64AC"/>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Sheet1!$D$2:$D$10</c:f>
              <c:numCache>
                <c:formatCode>General</c:formatCode>
                <c:ptCount val="9"/>
                <c:pt idx="0">
                  <c:v>0.274983</c:v>
                </c:pt>
                <c:pt idx="1">
                  <c:v>0.441049</c:v>
                </c:pt>
                <c:pt idx="2">
                  <c:v>0.344793</c:v>
                </c:pt>
                <c:pt idx="3">
                  <c:v>0.341889</c:v>
                </c:pt>
                <c:pt idx="4">
                  <c:v>0.490254</c:v>
                </c:pt>
                <c:pt idx="5">
                  <c:v>0.620122</c:v>
                </c:pt>
                <c:pt idx="6">
                  <c:v>0.448846</c:v>
                </c:pt>
                <c:pt idx="7">
                  <c:v>0.48715</c:v>
                </c:pt>
                <c:pt idx="8">
                  <c:v>0.366827</c:v>
                </c:pt>
              </c:numCache>
            </c:numRef>
          </c:val>
          <c:smooth val="0"/>
        </c:ser>
        <c:ser>
          <c:idx val="3"/>
          <c:order val="3"/>
          <c:tx>
            <c:strRef>
              <c:f>Sheet1!$E$1</c:f>
              <c:strCache>
                <c:ptCount val="1"/>
                <c:pt idx="0">
                  <c:v>8+ campañas</c:v>
                </c:pt>
              </c:strCache>
            </c:strRef>
          </c:tx>
          <c:spPr>
            <a:ln w="28575">
              <a:solidFill>
                <a:srgbClr val="0E2E8A"/>
              </a:solidFill>
            </a:ln>
          </c:spPr>
          <c:marker>
            <c:symbol val="circle"/>
            <c:size val="7"/>
            <c:spPr>
              <a:solidFill>
                <a:srgbClr val="0E2E8A"/>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Sheet1!$E$2:$E$10</c:f>
              <c:numCache>
                <c:formatCode>General</c:formatCode>
                <c:ptCount val="9"/>
                <c:pt idx="0">
                  <c:v>0.019097</c:v>
                </c:pt>
                <c:pt idx="1">
                  <c:v>0.052857</c:v>
                </c:pt>
                <c:pt idx="2">
                  <c:v>0.034583</c:v>
                </c:pt>
                <c:pt idx="3">
                  <c:v>0.02497</c:v>
                </c:pt>
                <c:pt idx="4">
                  <c:v>0.086862</c:v>
                </c:pt>
                <c:pt idx="5">
                  <c:v>0.093611</c:v>
                </c:pt>
                <c:pt idx="6">
                  <c:v>0.079844</c:v>
                </c:pt>
                <c:pt idx="7">
                  <c:v>0.057952</c:v>
                </c:pt>
                <c:pt idx="8">
                  <c:v>0.041832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3E6EB"/>
            </a:solidFill>
          </a:ln>
        </c:spPr>
        <c:txPr>
          <a:bodyPr/>
          <a:lstStyle/>
          <a:p>
            <a:pPr>
              <a:defRPr sz="1000">
                <a:solidFill>
                  <a:srgbClr val="5B6270"/>
                </a:solidFill>
                <a:latin typeface="Calibri"/>
              </a:defRPr>
            </a:pPr>
          </a:p>
        </c:txPr>
        <c:crossAx val="2140495176"/>
        <c:crosses val="autoZero"/>
        <c:auto val="1"/>
        <c:lblAlgn val="ctr"/>
        <c:lblOffset val="100"/>
        <c:noMultiLvlLbl val="0"/>
      </c:catAx>
      <c:valAx>
        <c:axId val="2140495176"/>
        <c:scaling>
          <c:min val="0.0"/>
        </c:scaling>
        <c:delete/>
        <c:axPos val="l"/>
        <c:majorTickMark val="out"/>
        <c:minorTickMark val="none"/>
        <c:tickLblPos val="nextTo"/>
        <c:spPr>
          <a:ln>
            <a:solidFill>
              <a:srgbClr val="E3E6EB"/>
            </a:solidFill>
          </a:ln>
        </c:spPr>
        <c:txPr>
          <a:bodyPr/>
          <a:lstStyle/>
          <a:p>
            <a:pPr>
              <a:defRPr sz="900">
                <a:solidFill>
                  <a:srgbClr val="5B6270"/>
                </a:solidFill>
                <a:latin typeface="Calibri"/>
              </a:defRPr>
            </a:pPr>
          </a:p>
        </c:txPr>
        <c:crossAx val="2118791784"/>
        <c:crosses val="autoZero"/>
      </c:valAx>
    </c:plotArea>
    <c:legend>
      <c:legendPos val="t"/>
      <c:layout/>
      <c:overlay val="0"/>
      <c:txPr>
        <a:bodyPr/>
        <a:lstStyle/>
        <a:p>
          <a:pPr>
            <a:defRPr sz="900"/>
          </a:pPr>
        </a:p>
      </c:txPr>
    </c:legend>
    <c:plotVisOnly val="1"/>
    <c:dispBlanksAs val="gap"/>
    <c:showDLblsOverMax val="0"/>
  </c:chart>
  <c:txPr>
    <a:bodyPr/>
    <a:lstStyle/>
    <a:p>
      <a:pPr>
        <a:defRPr sz="10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A1D24"/>
                </a:solidFill>
                <a:latin typeface="Calibri"/>
              </a:rPr>
              <a:t>Bajas de email por mil usuario-días, según campañas distintas recibidas ese día</a:t>
            </a:r>
          </a:p>
        </c:rich>
      </c:tx>
      <c:layout/>
      <c:overlay val="0"/>
    </c:title>
    <c:autoTitleDeleted val="0"/>
    <c:plotArea>
      <c:lineChart>
        <c:grouping val="standard"/>
        <c:varyColors val="0"/>
        <c:ser>
          <c:idx val="0"/>
          <c:order val="0"/>
          <c:tx>
            <c:strRef>
              <c:f>Sheet1!$B$1</c:f>
              <c:strCache>
                <c:ptCount val="1"/>
                <c:pt idx="0">
                  <c:v>1 campaña</c:v>
                </c:pt>
              </c:strCache>
            </c:strRef>
          </c:tx>
          <c:spPr>
            <a:ln w="28575">
              <a:solidFill>
                <a:srgbClr val="C3D0F2"/>
              </a:solidFill>
            </a:ln>
          </c:spPr>
          <c:marker>
            <c:symbol val="circle"/>
            <c:size val="7"/>
            <c:spPr>
              <a:solidFill>
                <a:srgbClr val="C3D0F2"/>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0.5698773293381861</c:v>
                </c:pt>
                <c:pt idx="1">
                  <c:v>0.4901943928098436</c:v>
                </c:pt>
                <c:pt idx="2">
                  <c:v>0.380389309490063</c:v>
                </c:pt>
                <c:pt idx="3">
                  <c:v>0.33683398374683793</c:v>
                </c:pt>
                <c:pt idx="4">
                  <c:v>0.28088523996231946</c:v>
                </c:pt>
                <c:pt idx="5">
                  <c:v>0.2586591777143712</c:v>
                </c:pt>
                <c:pt idx="6">
                  <c:v>0.298346766397925</c:v>
                </c:pt>
                <c:pt idx="7">
                  <c:v>0.31118993390848754</c:v>
                </c:pt>
                <c:pt idx="8">
                  <c:v>0.3430820842399282</c:v>
                </c:pt>
              </c:numCache>
            </c:numRef>
          </c:val>
          <c:smooth val="0"/>
        </c:ser>
        <c:ser>
          <c:idx val="1"/>
          <c:order val="1"/>
          <c:tx>
            <c:strRef>
              <c:f>Sheet1!$C$1</c:f>
              <c:strCache>
                <c:ptCount val="1"/>
                <c:pt idx="0">
                  <c:v>2 campañas</c:v>
                </c:pt>
              </c:strCache>
            </c:strRef>
          </c:tx>
          <c:spPr>
            <a:ln w="28575">
              <a:solidFill>
                <a:srgbClr val="95A7D8"/>
              </a:solidFill>
            </a:ln>
          </c:spPr>
          <c:marker>
            <c:symbol val="circle"/>
            <c:size val="7"/>
            <c:spPr>
              <a:solidFill>
                <a:srgbClr val="95A7D8"/>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Sheet1!$C$2:$C$10</c:f>
              <c:numCache>
                <c:formatCode>General</c:formatCode>
                <c:ptCount val="9"/>
                <c:pt idx="0">
                  <c:v>0.5330049781043527</c:v>
                </c:pt>
                <c:pt idx="1">
                  <c:v>0.4391494119725969</c:v>
                </c:pt>
                <c:pt idx="2">
                  <c:v>0.4670872103016814</c:v>
                </c:pt>
                <c:pt idx="3">
                  <c:v>0.42099585488712343</c:v>
                </c:pt>
                <c:pt idx="4">
                  <c:v>0.34001761849957735</c:v>
                </c:pt>
                <c:pt idx="5">
                  <c:v>0.25984259340405</c:v>
                </c:pt>
                <c:pt idx="6">
                  <c:v>0.339519012899854</c:v>
                </c:pt>
                <c:pt idx="7">
                  <c:v>0.3330904788859743</c:v>
                </c:pt>
                <c:pt idx="8">
                  <c:v>0.3936085054817724</c:v>
                </c:pt>
              </c:numCache>
            </c:numRef>
          </c:val>
          <c:smooth val="0"/>
        </c:ser>
        <c:ser>
          <c:idx val="2"/>
          <c:order val="2"/>
          <c:tx>
            <c:strRef>
              <c:f>Sheet1!$D$1</c:f>
              <c:strCache>
                <c:ptCount val="1"/>
                <c:pt idx="0">
                  <c:v>3 a 4 campañas</c:v>
                </c:pt>
              </c:strCache>
            </c:strRef>
          </c:tx>
          <c:spPr>
            <a:ln w="28575">
              <a:solidFill>
                <a:srgbClr val="687FBE"/>
              </a:solidFill>
            </a:ln>
          </c:spPr>
          <c:marker>
            <c:symbol val="circle"/>
            <c:size val="7"/>
            <c:spPr>
              <a:solidFill>
                <a:srgbClr val="687FBE"/>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Sheet1!$D$2:$D$10</c:f>
              <c:numCache>
                <c:formatCode>General</c:formatCode>
                <c:ptCount val="9"/>
                <c:pt idx="0">
                  <c:v>0.5338601202279937</c:v>
                </c:pt>
                <c:pt idx="1">
                  <c:v>0.3988561961714344</c:v>
                </c:pt>
                <c:pt idx="2">
                  <c:v>0.4526398930676226</c:v>
                </c:pt>
                <c:pt idx="3">
                  <c:v>0.4300525062611531</c:v>
                </c:pt>
                <c:pt idx="4">
                  <c:v>0.35267202980109463</c:v>
                </c:pt>
                <c:pt idx="5">
                  <c:v>0.3391799132626078</c:v>
                </c:pt>
                <c:pt idx="6">
                  <c:v>0.505623969242455</c:v>
                </c:pt>
                <c:pt idx="7">
                  <c:v>0.4141622218995291</c:v>
                </c:pt>
                <c:pt idx="8">
                  <c:v>0.5103152071094883</c:v>
                </c:pt>
              </c:numCache>
            </c:numRef>
          </c:val>
          <c:smooth val="0"/>
        </c:ser>
        <c:ser>
          <c:idx val="3"/>
          <c:order val="3"/>
          <c:tx>
            <c:strRef>
              <c:f>Sheet1!$E$1</c:f>
              <c:strCache>
                <c:ptCount val="1"/>
                <c:pt idx="0">
                  <c:v>5 a 7 campañas</c:v>
                </c:pt>
              </c:strCache>
            </c:strRef>
          </c:tx>
          <c:spPr>
            <a:ln w="28575">
              <a:solidFill>
                <a:srgbClr val="3B56A4"/>
              </a:solidFill>
            </a:ln>
          </c:spPr>
          <c:marker>
            <c:symbol val="circle"/>
            <c:size val="7"/>
            <c:spPr>
              <a:solidFill>
                <a:srgbClr val="3B56A4"/>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Sheet1!$E$2:$E$10</c:f>
              <c:numCache>
                <c:formatCode>General</c:formatCode>
                <c:ptCount val="9"/>
                <c:pt idx="0">
                  <c:v>0.5037275841225065</c:v>
                </c:pt>
                <c:pt idx="1">
                  <c:v>0.37622433230869207</c:v>
                </c:pt>
                <c:pt idx="2">
                  <c:v>0.5178087702255678</c:v>
                </c:pt>
                <c:pt idx="3">
                  <c:v>0.4560874557786886</c:v>
                </c:pt>
                <c:pt idx="4">
                  <c:v>0.2849108114210645</c:v>
                </c:pt>
                <c:pt idx="5">
                  <c:v>0.38569950220657995</c:v>
                </c:pt>
                <c:pt idx="6">
                  <c:v>0.6777681965661981</c:v>
                </c:pt>
                <c:pt idx="7">
                  <c:v>0.584281159448651</c:v>
                </c:pt>
                <c:pt idx="8">
                  <c:v>0.7202340760747243</c:v>
                </c:pt>
              </c:numCache>
            </c:numRef>
          </c:val>
          <c:smooth val="0"/>
        </c:ser>
        <c:ser>
          <c:idx val="4"/>
          <c:order val="4"/>
          <c:tx>
            <c:strRef>
              <c:f>Sheet1!$F$1</c:f>
              <c:strCache>
                <c:ptCount val="1"/>
                <c:pt idx="0">
                  <c:v>8+ campañas</c:v>
                </c:pt>
              </c:strCache>
            </c:strRef>
          </c:tx>
          <c:spPr>
            <a:ln w="28575">
              <a:solidFill>
                <a:srgbClr val="0E2E8A"/>
              </a:solidFill>
            </a:ln>
          </c:spPr>
          <c:marker>
            <c:symbol val="circle"/>
            <c:size val="7"/>
            <c:spPr>
              <a:solidFill>
                <a:srgbClr val="0E2E8A"/>
              </a:solidFill>
              <a:ln>
                <a:solidFill>
                  <a:srgbClr val="FFFFFF"/>
                </a:solidFill>
              </a:ln>
            </c:spPr>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Sheet1!$F$2:$F$10</c:f>
              <c:numCache>
                <c:formatCode>General</c:formatCode>
                <c:ptCount val="9"/>
                <c:pt idx="0">
                  <c:v>0.4725401659141027</c:v>
                </c:pt>
                <c:pt idx="1">
                  <c:v>0.5328005328005329</c:v>
                </c:pt>
                <c:pt idx="2">
                  <c:v>0.6306685086191363</c:v>
                </c:pt>
                <c:pt idx="3">
                  <c:v>0.34886425304287155</c:v>
                </c:pt>
                <c:pt idx="4">
                  <c:v>0.3683919690550746</c:v>
                </c:pt>
                <c:pt idx="5">
                  <c:v>0.5915578963437905</c:v>
                </c:pt>
                <c:pt idx="6">
                  <c:v>1.0057288351368554</c:v>
                </c:pt>
                <c:pt idx="7">
                  <c:v>1.143846920600683</c:v>
                </c:pt>
                <c:pt idx="8">
                  <c:v>1.1976318524879106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3E6EB"/>
            </a:solidFill>
          </a:ln>
        </c:spPr>
        <c:txPr>
          <a:bodyPr/>
          <a:lstStyle/>
          <a:p>
            <a:pPr>
              <a:defRPr sz="1000">
                <a:solidFill>
                  <a:srgbClr val="5B6270"/>
                </a:solidFill>
                <a:latin typeface="Calibri"/>
              </a:defRPr>
            </a:pPr>
          </a:p>
        </c:txPr>
        <c:crossAx val="2140495176"/>
        <c:crosses val="autoZero"/>
        <c:auto val="1"/>
        <c:lblAlgn val="ctr"/>
        <c:lblOffset val="100"/>
        <c:noMultiLvlLbl val="0"/>
      </c:catAx>
      <c:valAx>
        <c:axId val="2140495176"/>
        <c:scaling>
          <c:max val="1.5"/>
          <c:min val="0.0"/>
        </c:scaling>
        <c:delete/>
        <c:axPos val="l"/>
        <c:majorTickMark val="out"/>
        <c:minorTickMark val="none"/>
        <c:tickLblPos val="nextTo"/>
        <c:spPr>
          <a:ln>
            <a:solidFill>
              <a:srgbClr val="E3E6EB"/>
            </a:solidFill>
          </a:ln>
        </c:spPr>
        <c:txPr>
          <a:bodyPr/>
          <a:lstStyle/>
          <a:p>
            <a:pPr>
              <a:defRPr sz="900">
                <a:solidFill>
                  <a:srgbClr val="5B6270"/>
                </a:solidFill>
                <a:latin typeface="Calibri"/>
              </a:defRPr>
            </a:pPr>
          </a:p>
        </c:txPr>
        <c:crossAx val="2118791784"/>
        <c:crosses val="autoZero"/>
      </c:valAx>
    </c:plotArea>
    <c:legend>
      <c:legendPos val="t"/>
      <c:layout/>
      <c:overlay val="0"/>
      <c:txPr>
        <a:bodyPr/>
        <a:lstStyle/>
        <a:p>
          <a:pPr>
            <a:defRPr sz="900"/>
          </a:pPr>
        </a:p>
      </c:txPr>
    </c:legend>
    <c:plotVisOnly val="1"/>
    <c:dispBlanksAs val="gap"/>
    <c:showDLblsOverMax val="0"/>
  </c:chart>
  <c:txPr>
    <a:bodyPr/>
    <a:lstStyle/>
    <a:p>
      <a:pPr>
        <a:defRPr sz="10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A1D24"/>
                </a:solidFill>
                <a:latin typeface="Calibri"/>
              </a:rPr>
              <a:t>Email: clic por pieza. En verde las 38 que pasan 1.5 %</a:t>
            </a:r>
          </a:p>
        </c:rich>
      </c:tx>
      <c:layout/>
      <c:overlay val="0"/>
    </c:title>
    <c:plotArea>
      <c:scatterChart>
        <c:scatterStyle val="lineMarker"/>
        <c:varyColors val="0"/>
        <c:ser>
          <c:idx val="0"/>
          <c:order val="0"/>
          <c:tx>
            <c:strRef>
              <c:f>Sheet1!$B$1</c:f>
              <c:strCache>
                <c:ptCount val="1"/>
                <c:pt idx="0">
                  <c:v>No pasa el mínimo</c:v>
                </c:pt>
              </c:strCache>
            </c:strRef>
          </c:tx>
          <c:spPr>
            <a:ln w="47625">
              <a:noFill/>
            </a:ln>
          </c:spPr>
          <c:marker>
            <c:symbol val="circle"/>
            <c:size val="6"/>
            <c:spPr>
              <a:solidFill>
                <a:srgbClr val="A3AAB5"/>
              </a:solidFill>
              <a:ln>
                <a:solidFill>
                  <a:srgbClr val="FFFFFF"/>
                </a:solidFill>
              </a:ln>
            </c:spPr>
          </c:marker>
          <c:xVal>
            <c:numRef>
              <c:f>Sheet1!$A$2:$A$271</c:f>
              <c:numCache>
                <c:formatCode>General</c:formatCode>
                <c:ptCount val="270"/>
                <c:pt idx="0">
                  <c:v>14317229.0</c:v>
                </c:pt>
                <c:pt idx="1">
                  <c:v>6062829.0</c:v>
                </c:pt>
                <c:pt idx="2">
                  <c:v>4374965.0</c:v>
                </c:pt>
                <c:pt idx="3">
                  <c:v>4289547.0</c:v>
                </c:pt>
                <c:pt idx="4">
                  <c:v>4115414.0</c:v>
                </c:pt>
                <c:pt idx="5">
                  <c:v>4972600.0</c:v>
                </c:pt>
                <c:pt idx="6">
                  <c:v>3383985.0</c:v>
                </c:pt>
                <c:pt idx="7">
                  <c:v>2960194.0</c:v>
                </c:pt>
                <c:pt idx="8">
                  <c:v>2759921.0</c:v>
                </c:pt>
                <c:pt idx="9">
                  <c:v>2723153.0</c:v>
                </c:pt>
                <c:pt idx="10">
                  <c:v>2471688.0</c:v>
                </c:pt>
                <c:pt idx="11">
                  <c:v>2368864.0</c:v>
                </c:pt>
                <c:pt idx="12">
                  <c:v>2330705.0</c:v>
                </c:pt>
                <c:pt idx="13">
                  <c:v>2411629.0</c:v>
                </c:pt>
                <c:pt idx="14">
                  <c:v>1883549.0</c:v>
                </c:pt>
                <c:pt idx="15">
                  <c:v>1836861.0</c:v>
                </c:pt>
                <c:pt idx="16">
                  <c:v>1718398.0</c:v>
                </c:pt>
                <c:pt idx="17">
                  <c:v>1593110.0</c:v>
                </c:pt>
                <c:pt idx="18">
                  <c:v>1628737.0</c:v>
                </c:pt>
                <c:pt idx="19">
                  <c:v>1518722.0</c:v>
                </c:pt>
                <c:pt idx="20">
                  <c:v>9829253.0</c:v>
                </c:pt>
                <c:pt idx="21">
                  <c:v>1212232.0</c:v>
                </c:pt>
                <c:pt idx="22">
                  <c:v>1224654.0</c:v>
                </c:pt>
                <c:pt idx="23">
                  <c:v>1228595.0</c:v>
                </c:pt>
                <c:pt idx="24">
                  <c:v>1181667.0</c:v>
                </c:pt>
                <c:pt idx="25">
                  <c:v>1165301.0</c:v>
                </c:pt>
                <c:pt idx="26">
                  <c:v>1155566.0</c:v>
                </c:pt>
                <c:pt idx="27">
                  <c:v>4812414.0</c:v>
                </c:pt>
                <c:pt idx="28">
                  <c:v>1147964.0</c:v>
                </c:pt>
                <c:pt idx="29">
                  <c:v>1156408.0</c:v>
                </c:pt>
                <c:pt idx="30">
                  <c:v>1140133.0</c:v>
                </c:pt>
                <c:pt idx="31">
                  <c:v>1126817.0</c:v>
                </c:pt>
                <c:pt idx="32">
                  <c:v>1129626.0</c:v>
                </c:pt>
                <c:pt idx="33">
                  <c:v>1107792.0</c:v>
                </c:pt>
                <c:pt idx="34">
                  <c:v>6731897.0</c:v>
                </c:pt>
                <c:pt idx="35">
                  <c:v>1098733.0</c:v>
                </c:pt>
                <c:pt idx="36">
                  <c:v>1078109.0</c:v>
                </c:pt>
                <c:pt idx="37">
                  <c:v>1105810.0</c:v>
                </c:pt>
                <c:pt idx="38">
                  <c:v>4044641.0</c:v>
                </c:pt>
                <c:pt idx="39">
                  <c:v>1038158.0</c:v>
                </c:pt>
                <c:pt idx="40">
                  <c:v>1067987.0</c:v>
                </c:pt>
                <c:pt idx="41">
                  <c:v>1028475.0</c:v>
                </c:pt>
                <c:pt idx="42">
                  <c:v>1018191.0</c:v>
                </c:pt>
                <c:pt idx="43">
                  <c:v>3989758.0</c:v>
                </c:pt>
                <c:pt idx="44">
                  <c:v>4509870.0</c:v>
                </c:pt>
                <c:pt idx="45">
                  <c:v>959918.0</c:v>
                </c:pt>
                <c:pt idx="46">
                  <c:v>954476.0</c:v>
                </c:pt>
                <c:pt idx="47">
                  <c:v>947665.0</c:v>
                </c:pt>
                <c:pt idx="48">
                  <c:v>951528.0</c:v>
                </c:pt>
                <c:pt idx="49">
                  <c:v>926992.0</c:v>
                </c:pt>
                <c:pt idx="50">
                  <c:v>914756.0</c:v>
                </c:pt>
                <c:pt idx="51">
                  <c:v>909657.0</c:v>
                </c:pt>
                <c:pt idx="52">
                  <c:v>883748.0</c:v>
                </c:pt>
                <c:pt idx="53">
                  <c:v>874276.0</c:v>
                </c:pt>
                <c:pt idx="54">
                  <c:v>818413.0</c:v>
                </c:pt>
                <c:pt idx="55">
                  <c:v>807674.0</c:v>
                </c:pt>
                <c:pt idx="56">
                  <c:v>824987.0</c:v>
                </c:pt>
                <c:pt idx="57">
                  <c:v>819208.0</c:v>
                </c:pt>
                <c:pt idx="58">
                  <c:v>798483.0</c:v>
                </c:pt>
                <c:pt idx="59">
                  <c:v>776528.0</c:v>
                </c:pt>
                <c:pt idx="60">
                  <c:v>793275.0</c:v>
                </c:pt>
                <c:pt idx="61">
                  <c:v>772592.0</c:v>
                </c:pt>
                <c:pt idx="62">
                  <c:v>764850.0</c:v>
                </c:pt>
                <c:pt idx="63">
                  <c:v>736261.0</c:v>
                </c:pt>
                <c:pt idx="64">
                  <c:v>711816.0</c:v>
                </c:pt>
                <c:pt idx="65">
                  <c:v>675470.0</c:v>
                </c:pt>
                <c:pt idx="66">
                  <c:v>611962.0</c:v>
                </c:pt>
                <c:pt idx="67">
                  <c:v>617940.0</c:v>
                </c:pt>
                <c:pt idx="68">
                  <c:v>591228.0</c:v>
                </c:pt>
                <c:pt idx="69">
                  <c:v>593976.0</c:v>
                </c:pt>
                <c:pt idx="70">
                  <c:v>4108174.0</c:v>
                </c:pt>
                <c:pt idx="71">
                  <c:v>554219.0</c:v>
                </c:pt>
                <c:pt idx="72">
                  <c:v>558815.0</c:v>
                </c:pt>
                <c:pt idx="73">
                  <c:v>547056.0</c:v>
                </c:pt>
                <c:pt idx="74">
                  <c:v>548359.0</c:v>
                </c:pt>
                <c:pt idx="75">
                  <c:v>549788.0</c:v>
                </c:pt>
                <c:pt idx="76">
                  <c:v>548080.0</c:v>
                </c:pt>
                <c:pt idx="77">
                  <c:v>544052.0</c:v>
                </c:pt>
                <c:pt idx="78">
                  <c:v>539868.0</c:v>
                </c:pt>
                <c:pt idx="79">
                  <c:v>532618.0</c:v>
                </c:pt>
                <c:pt idx="80">
                  <c:v>523665.0</c:v>
                </c:pt>
                <c:pt idx="81">
                  <c:v>515104.0</c:v>
                </c:pt>
                <c:pt idx="82">
                  <c:v>502951.0</c:v>
                </c:pt>
                <c:pt idx="83">
                  <c:v>533007.0</c:v>
                </c:pt>
                <c:pt idx="84">
                  <c:v>525560.0</c:v>
                </c:pt>
                <c:pt idx="85">
                  <c:v>526682.0</c:v>
                </c:pt>
                <c:pt idx="86">
                  <c:v>528541.0</c:v>
                </c:pt>
                <c:pt idx="87">
                  <c:v>505196.0</c:v>
                </c:pt>
                <c:pt idx="88">
                  <c:v>504864.0</c:v>
                </c:pt>
                <c:pt idx="89">
                  <c:v>503515.0</c:v>
                </c:pt>
                <c:pt idx="90">
                  <c:v>503212.0</c:v>
                </c:pt>
                <c:pt idx="91">
                  <c:v>1674104.0</c:v>
                </c:pt>
                <c:pt idx="92">
                  <c:v>494007.0</c:v>
                </c:pt>
                <c:pt idx="93">
                  <c:v>490472.0</c:v>
                </c:pt>
                <c:pt idx="94">
                  <c:v>494939.0</c:v>
                </c:pt>
                <c:pt idx="95">
                  <c:v>489861.0</c:v>
                </c:pt>
                <c:pt idx="96">
                  <c:v>495419.0</c:v>
                </c:pt>
                <c:pt idx="97">
                  <c:v>491811.0</c:v>
                </c:pt>
                <c:pt idx="98">
                  <c:v>483610.0</c:v>
                </c:pt>
                <c:pt idx="99">
                  <c:v>487793.0</c:v>
                </c:pt>
                <c:pt idx="100">
                  <c:v>491637.0</c:v>
                </c:pt>
                <c:pt idx="101">
                  <c:v>491499.0</c:v>
                </c:pt>
                <c:pt idx="102">
                  <c:v>484207.0</c:v>
                </c:pt>
                <c:pt idx="103">
                  <c:v>487883.0</c:v>
                </c:pt>
                <c:pt idx="104">
                  <c:v>486044.0</c:v>
                </c:pt>
                <c:pt idx="105">
                  <c:v>484179.0</c:v>
                </c:pt>
                <c:pt idx="106">
                  <c:v>478303.0</c:v>
                </c:pt>
                <c:pt idx="107">
                  <c:v>477628.0</c:v>
                </c:pt>
                <c:pt idx="108">
                  <c:v>474747.0</c:v>
                </c:pt>
                <c:pt idx="109">
                  <c:v>465658.0</c:v>
                </c:pt>
                <c:pt idx="110">
                  <c:v>460788.0</c:v>
                </c:pt>
                <c:pt idx="111">
                  <c:v>470671.0</c:v>
                </c:pt>
                <c:pt idx="112">
                  <c:v>468322.0</c:v>
                </c:pt>
                <c:pt idx="113">
                  <c:v>469563.0</c:v>
                </c:pt>
                <c:pt idx="114">
                  <c:v>467777.0</c:v>
                </c:pt>
                <c:pt idx="115">
                  <c:v>464693.0</c:v>
                </c:pt>
                <c:pt idx="116">
                  <c:v>439563.0</c:v>
                </c:pt>
                <c:pt idx="117">
                  <c:v>433964.0</c:v>
                </c:pt>
                <c:pt idx="118">
                  <c:v>445000.0</c:v>
                </c:pt>
                <c:pt idx="119">
                  <c:v>3536273.0</c:v>
                </c:pt>
                <c:pt idx="120">
                  <c:v>440119.0</c:v>
                </c:pt>
                <c:pt idx="121">
                  <c:v>417382.0</c:v>
                </c:pt>
                <c:pt idx="122">
                  <c:v>410917.0</c:v>
                </c:pt>
                <c:pt idx="123">
                  <c:v>427904.0</c:v>
                </c:pt>
                <c:pt idx="124">
                  <c:v>421144.0</c:v>
                </c:pt>
                <c:pt idx="125">
                  <c:v>410677.0</c:v>
                </c:pt>
                <c:pt idx="126">
                  <c:v>410586.0</c:v>
                </c:pt>
                <c:pt idx="127">
                  <c:v>398602.0</c:v>
                </c:pt>
                <c:pt idx="128">
                  <c:v>401426.0</c:v>
                </c:pt>
                <c:pt idx="129">
                  <c:v>414817.0</c:v>
                </c:pt>
                <c:pt idx="130">
                  <c:v>411031.0</c:v>
                </c:pt>
                <c:pt idx="131">
                  <c:v>406634.0</c:v>
                </c:pt>
                <c:pt idx="132">
                  <c:v>399708.0</c:v>
                </c:pt>
                <c:pt idx="133">
                  <c:v>407918.0</c:v>
                </c:pt>
                <c:pt idx="134">
                  <c:v>404611.0</c:v>
                </c:pt>
                <c:pt idx="135">
                  <c:v>397934.0</c:v>
                </c:pt>
                <c:pt idx="136">
                  <c:v>397007.0</c:v>
                </c:pt>
                <c:pt idx="137">
                  <c:v>396045.0</c:v>
                </c:pt>
                <c:pt idx="138">
                  <c:v>385314.0</c:v>
                </c:pt>
                <c:pt idx="139">
                  <c:v>377809.0</c:v>
                </c:pt>
                <c:pt idx="140">
                  <c:v>360696.0</c:v>
                </c:pt>
                <c:pt idx="141">
                  <c:v>357019.0</c:v>
                </c:pt>
                <c:pt idx="142">
                  <c:v>369120.0</c:v>
                </c:pt>
                <c:pt idx="143">
                  <c:v>374805.0</c:v>
                </c:pt>
                <c:pt idx="144">
                  <c:v>369985.0</c:v>
                </c:pt>
                <c:pt idx="145">
                  <c:v>359204.0</c:v>
                </c:pt>
                <c:pt idx="146">
                  <c:v>354528.0</c:v>
                </c:pt>
                <c:pt idx="147">
                  <c:v>353446.0</c:v>
                </c:pt>
                <c:pt idx="148">
                  <c:v>348719.0</c:v>
                </c:pt>
                <c:pt idx="149">
                  <c:v>350984.0</c:v>
                </c:pt>
                <c:pt idx="150">
                  <c:v>355584.0</c:v>
                </c:pt>
                <c:pt idx="151">
                  <c:v>357476.0</c:v>
                </c:pt>
                <c:pt idx="152">
                  <c:v>346672.0</c:v>
                </c:pt>
                <c:pt idx="153">
                  <c:v>354248.0</c:v>
                </c:pt>
                <c:pt idx="154">
                  <c:v>348640.0</c:v>
                </c:pt>
                <c:pt idx="155">
                  <c:v>344988.0</c:v>
                </c:pt>
                <c:pt idx="156">
                  <c:v>339988.0</c:v>
                </c:pt>
                <c:pt idx="157">
                  <c:v>453308.0</c:v>
                </c:pt>
                <c:pt idx="158">
                  <c:v>338002.0</c:v>
                </c:pt>
                <c:pt idx="159">
                  <c:v>337974.0</c:v>
                </c:pt>
                <c:pt idx="160">
                  <c:v>343896.0</c:v>
                </c:pt>
                <c:pt idx="161">
                  <c:v>335023.0</c:v>
                </c:pt>
                <c:pt idx="162">
                  <c:v>347763.0</c:v>
                </c:pt>
                <c:pt idx="163">
                  <c:v>330230.0</c:v>
                </c:pt>
                <c:pt idx="164">
                  <c:v>326444.0</c:v>
                </c:pt>
                <c:pt idx="165">
                  <c:v>328036.0</c:v>
                </c:pt>
                <c:pt idx="166">
                  <c:v>328297.0</c:v>
                </c:pt>
                <c:pt idx="167">
                  <c:v>331114.0</c:v>
                </c:pt>
                <c:pt idx="168">
                  <c:v>1002113.0</c:v>
                </c:pt>
                <c:pt idx="169">
                  <c:v>316271.0</c:v>
                </c:pt>
                <c:pt idx="170">
                  <c:v>326306.0</c:v>
                </c:pt>
                <c:pt idx="171">
                  <c:v>318966.0</c:v>
                </c:pt>
                <c:pt idx="172">
                  <c:v>324236.0</c:v>
                </c:pt>
                <c:pt idx="173">
                  <c:v>324111.0</c:v>
                </c:pt>
                <c:pt idx="174">
                  <c:v>313753.0</c:v>
                </c:pt>
                <c:pt idx="175">
                  <c:v>312661.0</c:v>
                </c:pt>
                <c:pt idx="176">
                  <c:v>307275.0</c:v>
                </c:pt>
                <c:pt idx="177">
                  <c:v>308918.0</c:v>
                </c:pt>
                <c:pt idx="178">
                  <c:v>307175.0</c:v>
                </c:pt>
                <c:pt idx="179">
                  <c:v>304916.0</c:v>
                </c:pt>
                <c:pt idx="180">
                  <c:v>308384.0</c:v>
                </c:pt>
                <c:pt idx="181">
                  <c:v>307861.0</c:v>
                </c:pt>
                <c:pt idx="182">
                  <c:v>304280.0</c:v>
                </c:pt>
                <c:pt idx="183">
                  <c:v>289420.0</c:v>
                </c:pt>
                <c:pt idx="184">
                  <c:v>293049.0</c:v>
                </c:pt>
                <c:pt idx="185">
                  <c:v>286130.0</c:v>
                </c:pt>
                <c:pt idx="186">
                  <c:v>280063.0</c:v>
                </c:pt>
                <c:pt idx="187">
                  <c:v>390378.0</c:v>
                </c:pt>
                <c:pt idx="188">
                  <c:v>283944.0</c:v>
                </c:pt>
                <c:pt idx="189">
                  <c:v>299586.0</c:v>
                </c:pt>
                <c:pt idx="190">
                  <c:v>2301568.0</c:v>
                </c:pt>
                <c:pt idx="191">
                  <c:v>273882.0</c:v>
                </c:pt>
                <c:pt idx="192">
                  <c:v>264047.0</c:v>
                </c:pt>
                <c:pt idx="193">
                  <c:v>276814.0</c:v>
                </c:pt>
                <c:pt idx="194">
                  <c:v>270601.0</c:v>
                </c:pt>
                <c:pt idx="195">
                  <c:v>270195.0</c:v>
                </c:pt>
                <c:pt idx="196">
                  <c:v>278766.0</c:v>
                </c:pt>
                <c:pt idx="197">
                  <c:v>258625.0</c:v>
                </c:pt>
                <c:pt idx="198">
                  <c:v>265106.0</c:v>
                </c:pt>
                <c:pt idx="199">
                  <c:v>254409.0</c:v>
                </c:pt>
                <c:pt idx="200">
                  <c:v>263341.0</c:v>
                </c:pt>
                <c:pt idx="201">
                  <c:v>252463.0</c:v>
                </c:pt>
                <c:pt idx="202">
                  <c:v>261025.0</c:v>
                </c:pt>
                <c:pt idx="203">
                  <c:v>257695.0</c:v>
                </c:pt>
                <c:pt idx="204">
                  <c:v>256512.0</c:v>
                </c:pt>
                <c:pt idx="205">
                  <c:v>257509.0</c:v>
                </c:pt>
                <c:pt idx="206">
                  <c:v>256189.0</c:v>
                </c:pt>
                <c:pt idx="207">
                  <c:v>251551.0</c:v>
                </c:pt>
                <c:pt idx="208">
                  <c:v>243920.0</c:v>
                </c:pt>
                <c:pt idx="209">
                  <c:v>251134.0</c:v>
                </c:pt>
                <c:pt idx="210">
                  <c:v>240341.0</c:v>
                </c:pt>
                <c:pt idx="211">
                  <c:v>250055.0</c:v>
                </c:pt>
                <c:pt idx="212">
                  <c:v>241448.0</c:v>
                </c:pt>
                <c:pt idx="213">
                  <c:v>244282.0</c:v>
                </c:pt>
                <c:pt idx="214">
                  <c:v>241518.0</c:v>
                </c:pt>
                <c:pt idx="215">
                  <c:v>2008412.0</c:v>
                </c:pt>
                <c:pt idx="216">
                  <c:v>243963.0</c:v>
                </c:pt>
                <c:pt idx="217">
                  <c:v>237741.0</c:v>
                </c:pt>
                <c:pt idx="218">
                  <c:v>237795.0</c:v>
                </c:pt>
                <c:pt idx="219">
                  <c:v>237719.0</c:v>
                </c:pt>
                <c:pt idx="220">
                  <c:v>238297.0</c:v>
                </c:pt>
                <c:pt idx="221">
                  <c:v>234125.0</c:v>
                </c:pt>
                <c:pt idx="222">
                  <c:v>223125.0</c:v>
                </c:pt>
                <c:pt idx="223">
                  <c:v>235739.0</c:v>
                </c:pt>
                <c:pt idx="224">
                  <c:v>231498.0</c:v>
                </c:pt>
                <c:pt idx="225">
                  <c:v>232654.0</c:v>
                </c:pt>
                <c:pt idx="226">
                  <c:v>230537.0</c:v>
                </c:pt>
                <c:pt idx="227">
                  <c:v>228375.0</c:v>
                </c:pt>
                <c:pt idx="228">
                  <c:v>225752.0</c:v>
                </c:pt>
                <c:pt idx="229">
                  <c:v>454041.0</c:v>
                </c:pt>
                <c:pt idx="230">
                  <c:v>221031.0</c:v>
                </c:pt>
                <c:pt idx="231">
                  <c:v>221252.0</c:v>
                </c:pt>
                <c:pt idx="232">
                  <c:v>223268.0</c:v>
                </c:pt>
                <c:pt idx="233">
                  <c:v>212593.0</c:v>
                </c:pt>
                <c:pt idx="234">
                  <c:v>214422.0</c:v>
                </c:pt>
                <c:pt idx="235">
                  <c:v>216063.0</c:v>
                </c:pt>
                <c:pt idx="236">
                  <c:v>217030.0</c:v>
                </c:pt>
                <c:pt idx="237">
                  <c:v>209287.0</c:v>
                </c:pt>
                <c:pt idx="238">
                  <c:v>215937.0</c:v>
                </c:pt>
                <c:pt idx="239">
                  <c:v>206074.0</c:v>
                </c:pt>
                <c:pt idx="240">
                  <c:v>205163.0</c:v>
                </c:pt>
                <c:pt idx="241">
                  <c:v>496936.0</c:v>
                </c:pt>
                <c:pt idx="242">
                  <c:v>209384.0</c:v>
                </c:pt>
                <c:pt idx="243">
                  <c:v>209072.0</c:v>
                </c:pt>
                <c:pt idx="244">
                  <c:v>205581.0</c:v>
                </c:pt>
                <c:pt idx="245">
                  <c:v>865864.0</c:v>
                </c:pt>
                <c:pt idx="246">
                  <c:v>208919.0</c:v>
                </c:pt>
                <c:pt idx="247">
                  <c:v>202035.0</c:v>
                </c:pt>
                <c:pt idx="248">
                  <c:v>206676.0</c:v>
                </c:pt>
                <c:pt idx="249">
                  <c:v>839501.0</c:v>
                </c:pt>
                <c:pt idx="250">
                  <c:v>240298.0</c:v>
                </c:pt>
                <c:pt idx="251">
                  <c:v>833481.0</c:v>
                </c:pt>
                <c:pt idx="252">
                  <c:v>1007018.0</c:v>
                </c:pt>
                <c:pt idx="253">
                  <c:v>503430.0</c:v>
                </c:pt>
                <c:pt idx="254">
                  <c:v>779542.0</c:v>
                </c:pt>
                <c:pt idx="255">
                  <c:v>431434.0</c:v>
                </c:pt>
                <c:pt idx="256">
                  <c:v>510666.0</c:v>
                </c:pt>
                <c:pt idx="257">
                  <c:v>645426.0</c:v>
                </c:pt>
                <c:pt idx="258">
                  <c:v>649614.0</c:v>
                </c:pt>
                <c:pt idx="259">
                  <c:v>360139.0</c:v>
                </c:pt>
                <c:pt idx="260">
                  <c:v>512903.0</c:v>
                </c:pt>
                <c:pt idx="261">
                  <c:v>366848.0</c:v>
                </c:pt>
                <c:pt idx="262">
                  <c:v>214450.0</c:v>
                </c:pt>
                <c:pt idx="263">
                  <c:v>233972.0</c:v>
                </c:pt>
                <c:pt idx="264">
                  <c:v>765311.0</c:v>
                </c:pt>
                <c:pt idx="265">
                  <c:v>277011.0</c:v>
                </c:pt>
                <c:pt idx="266">
                  <c:v>206946.0</c:v>
                </c:pt>
                <c:pt idx="267">
                  <c:v>305066.0</c:v>
                </c:pt>
                <c:pt idx="268">
                  <c:v>283499.0</c:v>
                </c:pt>
                <c:pt idx="269">
                  <c:v>286658.0</c:v>
                </c:pt>
              </c:numCache>
            </c:numRef>
          </c:xVal>
          <c:yVal>
            <c:numRef>
              <c:f>Sheet1!$B$2:$B$271</c:f>
              <c:numCache>
                <c:formatCode>General</c:formatCode>
                <c:ptCount val="270"/>
                <c:pt idx="0">
                  <c:v>0.11174648390411301</c:v>
                </c:pt>
                <c:pt idx="1">
                  <c:v>0.21979838125073295</c:v>
                </c:pt>
                <c:pt idx="2">
                  <c:v>0.32130542758627784</c:v>
                </c:pt>
                <c:pt idx="3">
                  <c:v>0.2577195214319834</c:v>
                </c:pt>
                <c:pt idx="4">
                  <c:v>0.2643962430025266</c:v>
                </c:pt>
                <c:pt idx="5">
                  <c:v>0.1914692514982102</c:v>
                </c:pt>
                <c:pt idx="6">
                  <c:v>0.2981396194132066</c:v>
                </c:pt>
                <c:pt idx="7">
                  <c:v>0.3310256017004291</c:v>
                </c:pt>
                <c:pt idx="8">
                  <c:v>0.2884865182735303</c:v>
                </c:pt>
                <c:pt idx="9">
                  <c:v>0.2869467855827418</c:v>
                </c:pt>
                <c:pt idx="10">
                  <c:v>0.07298655817400902</c:v>
                </c:pt>
                <c:pt idx="11">
                  <c:v>0.33243782673889255</c:v>
                </c:pt>
                <c:pt idx="12">
                  <c:v>0.09113122424330836</c:v>
                </c:pt>
                <c:pt idx="13">
                  <c:v>0.34391691259310614</c:v>
                </c:pt>
                <c:pt idx="14">
                  <c:v>0.09561736912604875</c:v>
                </c:pt>
                <c:pt idx="15">
                  <c:v>0.7125743319717714</c:v>
                </c:pt>
                <c:pt idx="16">
                  <c:v>0.09805644559642178</c:v>
                </c:pt>
                <c:pt idx="17">
                  <c:v>0.19289314611043806</c:v>
                </c:pt>
                <c:pt idx="18">
                  <c:v>0.23822139485994362</c:v>
                </c:pt>
                <c:pt idx="19">
                  <c:v>0.14479279288770427</c:v>
                </c:pt>
                <c:pt idx="20">
                  <c:v>0.408779792319925</c:v>
                </c:pt>
                <c:pt idx="21">
                  <c:v>0.38870447241122164</c:v>
                </c:pt>
                <c:pt idx="22">
                  <c:v>0.2351684639089898</c:v>
                </c:pt>
                <c:pt idx="23">
                  <c:v>0.4073759049971716</c:v>
                </c:pt>
                <c:pt idx="24">
                  <c:v>0.19007046824528398</c:v>
                </c:pt>
                <c:pt idx="25">
                  <c:v>0.1546381578665083</c:v>
                </c:pt>
                <c:pt idx="26">
                  <c:v>0.17705609199301467</c:v>
                </c:pt>
                <c:pt idx="27">
                  <c:v>0.13571151609150833</c:v>
                </c:pt>
                <c:pt idx="28">
                  <c:v>0.22692349237432533</c:v>
                </c:pt>
                <c:pt idx="29">
                  <c:v>0.1818562306729113</c:v>
                </c:pt>
                <c:pt idx="30">
                  <c:v>0.17954045712210767</c:v>
                </c:pt>
                <c:pt idx="31">
                  <c:v>0.09291659603999584</c:v>
                </c:pt>
                <c:pt idx="32">
                  <c:v>0.193161276387052</c:v>
                </c:pt>
                <c:pt idx="33">
                  <c:v>0.05416179210537718</c:v>
                </c:pt>
                <c:pt idx="34">
                  <c:v>0.12183787125679434</c:v>
                </c:pt>
                <c:pt idx="35">
                  <c:v>0.18976402820339427</c:v>
                </c:pt>
                <c:pt idx="36">
                  <c:v>0.12818740962184713</c:v>
                </c:pt>
                <c:pt idx="37">
                  <c:v>1.0360731047829193</c:v>
                </c:pt>
                <c:pt idx="38">
                  <c:v>0.4414730503893918</c:v>
                </c:pt>
                <c:pt idx="39">
                  <c:v>0.08842584654744268</c:v>
                </c:pt>
                <c:pt idx="40">
                  <c:v>0.6238839985879978</c:v>
                </c:pt>
                <c:pt idx="41">
                  <c:v>0.0652422275699458</c:v>
                </c:pt>
                <c:pt idx="42">
                  <c:v>0.1653913656671489</c:v>
                </c:pt>
                <c:pt idx="43">
                  <c:v>0.6628722844844224</c:v>
                </c:pt>
                <c:pt idx="44">
                  <c:v>0.17774348262810236</c:v>
                </c:pt>
                <c:pt idx="45">
                  <c:v>0.05000427119816484</c:v>
                </c:pt>
                <c:pt idx="46">
                  <c:v>0.06328079490736278</c:v>
                </c:pt>
                <c:pt idx="47">
                  <c:v>0.07418233236428484</c:v>
                </c:pt>
                <c:pt idx="48">
                  <c:v>0.13840895906373749</c:v>
                </c:pt>
                <c:pt idx="49">
                  <c:v>0.06828537894609663</c:v>
                </c:pt>
                <c:pt idx="50">
                  <c:v>0.16944409219507717</c:v>
                </c:pt>
                <c:pt idx="51">
                  <c:v>0.5610906088778518</c:v>
                </c:pt>
                <c:pt idx="52">
                  <c:v>0.09267347705454496</c:v>
                </c:pt>
                <c:pt idx="53">
                  <c:v>1.102054728712672</c:v>
                </c:pt>
                <c:pt idx="54">
                  <c:v>0.3399261741932252</c:v>
                </c:pt>
                <c:pt idx="55">
                  <c:v>0.054229800637385875</c:v>
                </c:pt>
                <c:pt idx="56">
                  <c:v>0.0872741025010091</c:v>
                </c:pt>
                <c:pt idx="57">
                  <c:v>0.13732776047108916</c:v>
                </c:pt>
                <c:pt idx="58">
                  <c:v>1.017930250237012</c:v>
                </c:pt>
                <c:pt idx="59">
                  <c:v>0.1285208002802217</c:v>
                </c:pt>
                <c:pt idx="60">
                  <c:v>0.05924805395354701</c:v>
                </c:pt>
                <c:pt idx="61">
                  <c:v>0.12322157102325677</c:v>
                </c:pt>
                <c:pt idx="62">
                  <c:v>0.12368438255867163</c:v>
                </c:pt>
                <c:pt idx="63">
                  <c:v>0.7301758479669573</c:v>
                </c:pt>
                <c:pt idx="64">
                  <c:v>0.2462715083673309</c:v>
                </c:pt>
                <c:pt idx="65">
                  <c:v>0.859697691977438</c:v>
                </c:pt>
                <c:pt idx="66">
                  <c:v>0.0609514969883751</c:v>
                </c:pt>
                <c:pt idx="67">
                  <c:v>0.1271968152247791</c:v>
                </c:pt>
                <c:pt idx="68">
                  <c:v>1.0028280122051052</c:v>
                </c:pt>
                <c:pt idx="69">
                  <c:v>0.044109526310827374</c:v>
                </c:pt>
                <c:pt idx="70">
                  <c:v>1.4438044737150861</c:v>
                </c:pt>
                <c:pt idx="71">
                  <c:v>0.20010140395764128</c:v>
                </c:pt>
                <c:pt idx="72">
                  <c:v>0.033821568855524634</c:v>
                </c:pt>
                <c:pt idx="73">
                  <c:v>0.17420520019888275</c:v>
                </c:pt>
                <c:pt idx="74">
                  <c:v>0.11671186211952389</c:v>
                </c:pt>
                <c:pt idx="75">
                  <c:v>0.03219422759318137</c:v>
                </c:pt>
                <c:pt idx="76">
                  <c:v>0.2811633338198803</c:v>
                </c:pt>
                <c:pt idx="77">
                  <c:v>0.1051370089623786</c:v>
                </c:pt>
                <c:pt idx="78">
                  <c:v>0.0994687590299851</c:v>
                </c:pt>
                <c:pt idx="79">
                  <c:v>0.24970992343480694</c:v>
                </c:pt>
                <c:pt idx="80">
                  <c:v>0.11992399721195802</c:v>
                </c:pt>
                <c:pt idx="81">
                  <c:v>0.25082313474560475</c:v>
                </c:pt>
                <c:pt idx="82">
                  <c:v>0.23203055566049177</c:v>
                </c:pt>
                <c:pt idx="83">
                  <c:v>0.34896352205505743</c:v>
                </c:pt>
                <c:pt idx="84">
                  <c:v>0.10046426668696248</c:v>
                </c:pt>
                <c:pt idx="85">
                  <c:v>0.03360661651622801</c:v>
                </c:pt>
                <c:pt idx="86">
                  <c:v>0.10292484405183325</c:v>
                </c:pt>
                <c:pt idx="87">
                  <c:v>0.40954401855913347</c:v>
                </c:pt>
                <c:pt idx="88">
                  <c:v>0.0932924510363187</c:v>
                </c:pt>
                <c:pt idx="89">
                  <c:v>0.7862725042948076</c:v>
                </c:pt>
                <c:pt idx="90">
                  <c:v>1.4021923165584287</c:v>
                </c:pt>
                <c:pt idx="91">
                  <c:v>1.3038019143374606</c:v>
                </c:pt>
                <c:pt idx="92">
                  <c:v>0.4445281139740935</c:v>
                </c:pt>
                <c:pt idx="93">
                  <c:v>0.45751847200247925</c:v>
                </c:pt>
                <c:pt idx="94">
                  <c:v>0.06202784585575192</c:v>
                </c:pt>
                <c:pt idx="95">
                  <c:v>0.14146870234617576</c:v>
                </c:pt>
                <c:pt idx="96">
                  <c:v>0.41318560652700037</c:v>
                </c:pt>
                <c:pt idx="97">
                  <c:v>0.13094461083627654</c:v>
                </c:pt>
                <c:pt idx="98">
                  <c:v>0.032670953867786026</c:v>
                </c:pt>
                <c:pt idx="99">
                  <c:v>0.2263255110261935</c:v>
                </c:pt>
                <c:pt idx="100">
                  <c:v>0.3911422451930998</c:v>
                </c:pt>
                <c:pt idx="101">
                  <c:v>0.23479193243526436</c:v>
                </c:pt>
                <c:pt idx="102">
                  <c:v>0.22201248639528134</c:v>
                </c:pt>
                <c:pt idx="103">
                  <c:v>0.3545932118971147</c:v>
                </c:pt>
                <c:pt idx="104">
                  <c:v>0.1469002806330291</c:v>
                </c:pt>
                <c:pt idx="105">
                  <c:v>0.1910450473894985</c:v>
                </c:pt>
                <c:pt idx="106">
                  <c:v>0.17373924060689563</c:v>
                </c:pt>
                <c:pt idx="107">
                  <c:v>0.23595769092264274</c:v>
                </c:pt>
                <c:pt idx="108">
                  <c:v>0.05350218116175563</c:v>
                </c:pt>
                <c:pt idx="109">
                  <c:v>0.37173204368871576</c:v>
                </c:pt>
                <c:pt idx="110">
                  <c:v>0.3320398968723144</c:v>
                </c:pt>
                <c:pt idx="111">
                  <c:v>0.12556541618242892</c:v>
                </c:pt>
                <c:pt idx="112">
                  <c:v>0.9183852135923574</c:v>
                </c:pt>
                <c:pt idx="113">
                  <c:v>0.20465837384972838</c:v>
                </c:pt>
                <c:pt idx="114">
                  <c:v>0.1620430247746255</c:v>
                </c:pt>
                <c:pt idx="115">
                  <c:v>0.16376403345864904</c:v>
                </c:pt>
                <c:pt idx="116">
                  <c:v>0.04094976146763945</c:v>
                </c:pt>
                <c:pt idx="117">
                  <c:v>0.09125180890580785</c:v>
                </c:pt>
                <c:pt idx="118">
                  <c:v>0.2539325842696629</c:v>
                </c:pt>
                <c:pt idx="119">
                  <c:v>1.28813584245334</c:v>
                </c:pt>
                <c:pt idx="120">
                  <c:v>0.5932486441167047</c:v>
                </c:pt>
                <c:pt idx="121">
                  <c:v>1.0134600917145444</c:v>
                </c:pt>
                <c:pt idx="122">
                  <c:v>0.20393412781656636</c:v>
                </c:pt>
                <c:pt idx="123">
                  <c:v>0.1252617409512414</c:v>
                </c:pt>
                <c:pt idx="124">
                  <c:v>0.039891343578443476</c:v>
                </c:pt>
                <c:pt idx="125">
                  <c:v>0.7614256459455971</c:v>
                </c:pt>
                <c:pt idx="126">
                  <c:v>0.13833886201672732</c:v>
                </c:pt>
                <c:pt idx="127">
                  <c:v>0.10587001570488859</c:v>
                </c:pt>
                <c:pt idx="128">
                  <c:v>0.6177975517280894</c:v>
                </c:pt>
                <c:pt idx="129">
                  <c:v>0.5807380121836858</c:v>
                </c:pt>
                <c:pt idx="130">
                  <c:v>1.2371329656400611</c:v>
                </c:pt>
                <c:pt idx="131">
                  <c:v>0.04279032250131568</c:v>
                </c:pt>
                <c:pt idx="132">
                  <c:v>0.6004383199735807</c:v>
                </c:pt>
                <c:pt idx="133">
                  <c:v>0.22430978775145985</c:v>
                </c:pt>
                <c:pt idx="134">
                  <c:v>0.4436359861694319</c:v>
                </c:pt>
                <c:pt idx="135">
                  <c:v>0.07890755753466655</c:v>
                </c:pt>
                <c:pt idx="136">
                  <c:v>0.506792071676318</c:v>
                </c:pt>
                <c:pt idx="137">
                  <c:v>0.1876049438826396</c:v>
                </c:pt>
                <c:pt idx="138">
                  <c:v>0.07759904908723794</c:v>
                </c:pt>
                <c:pt idx="139">
                  <c:v>1.237397732716796</c:v>
                </c:pt>
                <c:pt idx="140">
                  <c:v>1.3102446381440327</c:v>
                </c:pt>
                <c:pt idx="141">
                  <c:v>0.5915651547956832</c:v>
                </c:pt>
                <c:pt idx="142">
                  <c:v>0.6751192024273949</c:v>
                </c:pt>
                <c:pt idx="143">
                  <c:v>0.4028761622710476</c:v>
                </c:pt>
                <c:pt idx="144">
                  <c:v>0.27784910199062124</c:v>
                </c:pt>
                <c:pt idx="145">
                  <c:v>0.09159140766806606</c:v>
                </c:pt>
                <c:pt idx="146">
                  <c:v>0.429585251376478</c:v>
                </c:pt>
                <c:pt idx="147">
                  <c:v>0.09223474024320547</c:v>
                </c:pt>
                <c:pt idx="148">
                  <c:v>0.040720465475067316</c:v>
                </c:pt>
                <c:pt idx="149">
                  <c:v>0.043876643949581746</c:v>
                </c:pt>
                <c:pt idx="150">
                  <c:v>0.54698749100072</c:v>
                </c:pt>
                <c:pt idx="151">
                  <c:v>0.3756895567814343</c:v>
                </c:pt>
                <c:pt idx="152">
                  <c:v>0.11538284026399594</c:v>
                </c:pt>
                <c:pt idx="153">
                  <c:v>0.10472889049479461</c:v>
                </c:pt>
                <c:pt idx="154">
                  <c:v>1.356700321248279</c:v>
                </c:pt>
                <c:pt idx="155">
                  <c:v>0.09507577075144642</c:v>
                </c:pt>
                <c:pt idx="156">
                  <c:v>0.03970728378648658</c:v>
                </c:pt>
                <c:pt idx="157">
                  <c:v>1.407431591765422</c:v>
                </c:pt>
                <c:pt idx="158">
                  <c:v>0.021005792865130976</c:v>
                </c:pt>
                <c:pt idx="159">
                  <c:v>0.08314249025072934</c:v>
                </c:pt>
                <c:pt idx="160">
                  <c:v>0.11980366157210319</c:v>
                </c:pt>
                <c:pt idx="161">
                  <c:v>0.5387689800401764</c:v>
                </c:pt>
                <c:pt idx="162">
                  <c:v>0.38877051325184103</c:v>
                </c:pt>
                <c:pt idx="163">
                  <c:v>0.05935257244950489</c:v>
                </c:pt>
                <c:pt idx="164">
                  <c:v>0.05667128205756577</c:v>
                </c:pt>
                <c:pt idx="165">
                  <c:v>0.11431672133546318</c:v>
                </c:pt>
                <c:pt idx="166">
                  <c:v>0.6113366859886018</c:v>
                </c:pt>
                <c:pt idx="167">
                  <c:v>0.2159377132951189</c:v>
                </c:pt>
                <c:pt idx="168">
                  <c:v>0.9474979368594161</c:v>
                </c:pt>
                <c:pt idx="169">
                  <c:v>1.4712066550521545</c:v>
                </c:pt>
                <c:pt idx="170">
                  <c:v>0.1330039901197036</c:v>
                </c:pt>
                <c:pt idx="171">
                  <c:v>0.13794573716320863</c:v>
                </c:pt>
                <c:pt idx="172">
                  <c:v>0.3565304284533488</c:v>
                </c:pt>
                <c:pt idx="173">
                  <c:v>0.13328766996491942</c:v>
                </c:pt>
                <c:pt idx="174">
                  <c:v>0.14629342189556754</c:v>
                </c:pt>
                <c:pt idx="175">
                  <c:v>0.7768797515520004</c:v>
                </c:pt>
                <c:pt idx="176">
                  <c:v>0.07127166219184769</c:v>
                </c:pt>
                <c:pt idx="177">
                  <c:v>0.22692105995765866</c:v>
                </c:pt>
                <c:pt idx="178">
                  <c:v>0.2422072108732807</c:v>
                </c:pt>
                <c:pt idx="179">
                  <c:v>0.46275039683060254</c:v>
                </c:pt>
                <c:pt idx="180">
                  <c:v>0.1293841444432915</c:v>
                </c:pt>
                <c:pt idx="181">
                  <c:v>0.44208262819908983</c:v>
                </c:pt>
                <c:pt idx="182">
                  <c:v>0.9504403838569738</c:v>
                </c:pt>
                <c:pt idx="183">
                  <c:v>0.036970492709557046</c:v>
                </c:pt>
                <c:pt idx="184">
                  <c:v>0.5166371494186979</c:v>
                </c:pt>
                <c:pt idx="185">
                  <c:v>0.03320169153881103</c:v>
                </c:pt>
                <c:pt idx="186">
                  <c:v>0.9619264236975252</c:v>
                </c:pt>
                <c:pt idx="187">
                  <c:v>0.40012500704445436</c:v>
                </c:pt>
                <c:pt idx="188">
                  <c:v>0.4025441636379004</c:v>
                </c:pt>
                <c:pt idx="189">
                  <c:v>0.3678409538496458</c:v>
                </c:pt>
                <c:pt idx="190">
                  <c:v>0.5955939602914188</c:v>
                </c:pt>
                <c:pt idx="191">
                  <c:v>0.22272365471261346</c:v>
                </c:pt>
                <c:pt idx="192">
                  <c:v>1.0369366059830258</c:v>
                </c:pt>
                <c:pt idx="193">
                  <c:v>0.37461978079143393</c:v>
                </c:pt>
                <c:pt idx="194">
                  <c:v>0.18255660548187183</c:v>
                </c:pt>
                <c:pt idx="195">
                  <c:v>0.23797627639297544</c:v>
                </c:pt>
                <c:pt idx="196">
                  <c:v>0.3884978799423172</c:v>
                </c:pt>
                <c:pt idx="197">
                  <c:v>0.6163363943934268</c:v>
                </c:pt>
                <c:pt idx="198">
                  <c:v>0.6736927870361289</c:v>
                </c:pt>
                <c:pt idx="199">
                  <c:v>0.5003753798018152</c:v>
                </c:pt>
                <c:pt idx="200">
                  <c:v>0.32999039268476993</c:v>
                </c:pt>
                <c:pt idx="201">
                  <c:v>0.39490935305371483</c:v>
                </c:pt>
                <c:pt idx="202">
                  <c:v>0.21032468154391343</c:v>
                </c:pt>
                <c:pt idx="203">
                  <c:v>0.5498748520537845</c:v>
                </c:pt>
                <c:pt idx="204">
                  <c:v>0.805810254491018</c:v>
                </c:pt>
                <c:pt idx="205">
                  <c:v>0.1572760563708453</c:v>
                </c:pt>
                <c:pt idx="206">
                  <c:v>1.0640581757998977</c:v>
                </c:pt>
                <c:pt idx="207">
                  <c:v>0.2369300857480193</c:v>
                </c:pt>
                <c:pt idx="208">
                  <c:v>0.15660872417185961</c:v>
                </c:pt>
                <c:pt idx="209">
                  <c:v>0.16325945511161372</c:v>
                </c:pt>
                <c:pt idx="210">
                  <c:v>0.13938529006702977</c:v>
                </c:pt>
                <c:pt idx="211">
                  <c:v>0.23554817940053188</c:v>
                </c:pt>
                <c:pt idx="212">
                  <c:v>0.08614691362115239</c:v>
                </c:pt>
                <c:pt idx="213">
                  <c:v>0.8465625793140714</c:v>
                </c:pt>
                <c:pt idx="214">
                  <c:v>0.09730123634677333</c:v>
                </c:pt>
                <c:pt idx="215">
                  <c:v>0.7639368814765098</c:v>
                </c:pt>
                <c:pt idx="216">
                  <c:v>0.08320933912109624</c:v>
                </c:pt>
                <c:pt idx="217">
                  <c:v>0.1556315486180339</c:v>
                </c:pt>
                <c:pt idx="218">
                  <c:v>0.8225572446855485</c:v>
                </c:pt>
                <c:pt idx="219">
                  <c:v>0.20654638459694008</c:v>
                </c:pt>
                <c:pt idx="220">
                  <c:v>0.19387570972358023</c:v>
                </c:pt>
                <c:pt idx="221">
                  <c:v>0.18323545114789108</c:v>
                </c:pt>
                <c:pt idx="222">
                  <c:v>0.04929971988795518</c:v>
                </c:pt>
                <c:pt idx="223">
                  <c:v>0.3864443303823296</c:v>
                </c:pt>
                <c:pt idx="224">
                  <c:v>0.3278646035818884</c:v>
                </c:pt>
                <c:pt idx="225">
                  <c:v>0.44658591728489516</c:v>
                </c:pt>
                <c:pt idx="226">
                  <c:v>0.5001366375028737</c:v>
                </c:pt>
                <c:pt idx="227">
                  <c:v>0.3586206896551724</c:v>
                </c:pt>
                <c:pt idx="228">
                  <c:v>0.04429639604521776</c:v>
                </c:pt>
                <c:pt idx="229">
                  <c:v>0.6662393924777719</c:v>
                </c:pt>
                <c:pt idx="230">
                  <c:v>0.33841406861480966</c:v>
                </c:pt>
                <c:pt idx="231">
                  <c:v>0.057852584383418004</c:v>
                </c:pt>
                <c:pt idx="232">
                  <c:v>0.3188992600820539</c:v>
                </c:pt>
                <c:pt idx="233">
                  <c:v>1.356112383756756</c:v>
                </c:pt>
                <c:pt idx="234">
                  <c:v>0.32879088899459946</c:v>
                </c:pt>
                <c:pt idx="235">
                  <c:v>0.31333453668605915</c:v>
                </c:pt>
                <c:pt idx="236">
                  <c:v>0.23775514905773396</c:v>
                </c:pt>
                <c:pt idx="237">
                  <c:v>0.02723532756454056</c:v>
                </c:pt>
                <c:pt idx="238">
                  <c:v>0.1699569781927136</c:v>
                </c:pt>
                <c:pt idx="239">
                  <c:v>0.17323873948193366</c:v>
                </c:pt>
                <c:pt idx="240">
                  <c:v>0.13940135404532006</c:v>
                </c:pt>
                <c:pt idx="241">
                  <c:v>1.1679572419788464</c:v>
                </c:pt>
                <c:pt idx="242">
                  <c:v>0.3973560539487258</c:v>
                </c:pt>
                <c:pt idx="243">
                  <c:v>0.30659294405754955</c:v>
                </c:pt>
                <c:pt idx="244">
                  <c:v>1.0832713139832961</c:v>
                </c:pt>
                <c:pt idx="245">
                  <c:v>0.7913482948823372</c:v>
                </c:pt>
                <c:pt idx="246">
                  <c:v>0.4006337384345129</c:v>
                </c:pt>
                <c:pt idx="247">
                  <c:v>0.1479941594278219</c:v>
                </c:pt>
                <c:pt idx="248">
                  <c:v>0.3246627571658054</c:v>
                </c:pt>
                <c:pt idx="249">
                  <c:v>0.3325785198588209</c:v>
                </c:pt>
                <c:pt idx="250">
                  <c:v>0.39659089963295574</c:v>
                </c:pt>
                <c:pt idx="251">
                  <c:v>1.334523522431825</c:v>
                </c:pt>
                <c:pt idx="252">
                  <c:v>0.13028565527130598</c:v>
                </c:pt>
                <c:pt idx="253">
                  <c:v>0.9766998391037482</c:v>
                </c:pt>
                <c:pt idx="254">
                  <c:v>1.4132657380872358</c:v>
                </c:pt>
                <c:pt idx="255">
                  <c:v>0.2635397302947844</c:v>
                </c:pt>
                <c:pt idx="256">
                  <c:v>0.12591400249869777</c:v>
                </c:pt>
                <c:pt idx="257">
                  <c:v>0.10721600927139595</c:v>
                </c:pt>
                <c:pt idx="258">
                  <c:v>0.6590067332292715</c:v>
                </c:pt>
                <c:pt idx="259">
                  <c:v>0.705283237860937</c:v>
                </c:pt>
                <c:pt idx="260">
                  <c:v>0.3318366240790169</c:v>
                </c:pt>
                <c:pt idx="261">
                  <c:v>0.2785894975575715</c:v>
                </c:pt>
                <c:pt idx="262">
                  <c:v>0.8943809745861506</c:v>
                </c:pt>
                <c:pt idx="263">
                  <c:v>0.8488195168652659</c:v>
                </c:pt>
                <c:pt idx="264">
                  <c:v>0.39644014002150757</c:v>
                </c:pt>
                <c:pt idx="265">
                  <c:v>1.2602387630816105</c:v>
                </c:pt>
                <c:pt idx="266">
                  <c:v>0.9253621717742793</c:v>
                </c:pt>
                <c:pt idx="267">
                  <c:v>1.2859512367815489</c:v>
                </c:pt>
                <c:pt idx="268">
                  <c:v>0.8063520506245172</c:v>
                </c:pt>
                <c:pt idx="269">
                  <c:v>0.4608278854942126</c:v>
                </c:pt>
              </c:numCache>
            </c:numRef>
          </c:yVal>
          <c:smooth val="0"/>
        </c:ser>
        <c:ser>
          <c:idx val="1"/>
          <c:order val="1"/>
          <c:tx>
            <c:strRef>
              <c:f>Sheet1!$B$273</c:f>
              <c:strCache>
                <c:ptCount val="1"/>
                <c:pt idx="0">
                  <c:v>Pasa el mínimo</c:v>
                </c:pt>
              </c:strCache>
            </c:strRef>
          </c:tx>
          <c:spPr>
            <a:ln w="47625">
              <a:noFill/>
            </a:ln>
          </c:spPr>
          <c:marker>
            <c:symbol val="circle"/>
            <c:size val="6"/>
            <c:spPr>
              <a:solidFill>
                <a:srgbClr val="1F9E89"/>
              </a:solidFill>
              <a:ln>
                <a:solidFill>
                  <a:srgbClr val="FFFFFF"/>
                </a:solidFill>
              </a:ln>
            </c:spPr>
          </c:marker>
          <c:xVal>
            <c:numRef>
              <c:f>Sheet1!$A$274:$A$311</c:f>
              <c:numCache>
                <c:formatCode>General</c:formatCode>
                <c:ptCount val="38"/>
                <c:pt idx="0">
                  <c:v>4181413.0</c:v>
                </c:pt>
                <c:pt idx="1">
                  <c:v>9567510.0</c:v>
                </c:pt>
                <c:pt idx="2">
                  <c:v>9064240.0</c:v>
                </c:pt>
                <c:pt idx="3">
                  <c:v>3319863.0</c:v>
                </c:pt>
                <c:pt idx="4">
                  <c:v>4094222.0</c:v>
                </c:pt>
                <c:pt idx="5">
                  <c:v>2136770.0</c:v>
                </c:pt>
                <c:pt idx="6">
                  <c:v>565301.0</c:v>
                </c:pt>
                <c:pt idx="7">
                  <c:v>2017406.0</c:v>
                </c:pt>
                <c:pt idx="8">
                  <c:v>1691445.0</c:v>
                </c:pt>
                <c:pt idx="9">
                  <c:v>2457912.0</c:v>
                </c:pt>
                <c:pt idx="10">
                  <c:v>499873.0</c:v>
                </c:pt>
                <c:pt idx="11">
                  <c:v>476330.0</c:v>
                </c:pt>
                <c:pt idx="12">
                  <c:v>1254000.0</c:v>
                </c:pt>
                <c:pt idx="13">
                  <c:v>435806.0</c:v>
                </c:pt>
                <c:pt idx="14">
                  <c:v>708647.0</c:v>
                </c:pt>
                <c:pt idx="15">
                  <c:v>1260313.0</c:v>
                </c:pt>
                <c:pt idx="16">
                  <c:v>476918.0</c:v>
                </c:pt>
                <c:pt idx="17">
                  <c:v>1295098.0</c:v>
                </c:pt>
                <c:pt idx="18">
                  <c:v>293980.0</c:v>
                </c:pt>
                <c:pt idx="19">
                  <c:v>211812.0</c:v>
                </c:pt>
                <c:pt idx="20">
                  <c:v>208721.0</c:v>
                </c:pt>
                <c:pt idx="21">
                  <c:v>230814.0</c:v>
                </c:pt>
                <c:pt idx="22">
                  <c:v>302213.0</c:v>
                </c:pt>
                <c:pt idx="23">
                  <c:v>509196.0</c:v>
                </c:pt>
                <c:pt idx="24">
                  <c:v>715800.0</c:v>
                </c:pt>
                <c:pt idx="25">
                  <c:v>214102.0</c:v>
                </c:pt>
                <c:pt idx="26">
                  <c:v>1178540.0</c:v>
                </c:pt>
                <c:pt idx="27">
                  <c:v>621988.0</c:v>
                </c:pt>
                <c:pt idx="28">
                  <c:v>402928.0</c:v>
                </c:pt>
                <c:pt idx="29">
                  <c:v>788094.0</c:v>
                </c:pt>
                <c:pt idx="30">
                  <c:v>243309.0</c:v>
                </c:pt>
                <c:pt idx="31">
                  <c:v>761697.0</c:v>
                </c:pt>
                <c:pt idx="32">
                  <c:v>438463.0</c:v>
                </c:pt>
                <c:pt idx="33">
                  <c:v>316342.0</c:v>
                </c:pt>
                <c:pt idx="34">
                  <c:v>533113.0</c:v>
                </c:pt>
                <c:pt idx="35">
                  <c:v>327642.0</c:v>
                </c:pt>
                <c:pt idx="36">
                  <c:v>423983.0</c:v>
                </c:pt>
                <c:pt idx="37">
                  <c:v>300967.0</c:v>
                </c:pt>
              </c:numCache>
            </c:numRef>
          </c:xVal>
          <c:yVal>
            <c:numRef>
              <c:f>Sheet1!$B$274:$B$311</c:f>
              <c:numCache>
                <c:formatCode>General</c:formatCode>
                <c:ptCount val="38"/>
                <c:pt idx="0">
                  <c:v>2.1212685759574574</c:v>
                </c:pt>
                <c:pt idx="1">
                  <c:v>3.03577419830238</c:v>
                </c:pt>
                <c:pt idx="2">
                  <c:v>3.797207487886464</c:v>
                </c:pt>
                <c:pt idx="3">
                  <c:v>2.7787893657057534</c:v>
                </c:pt>
                <c:pt idx="4">
                  <c:v>4.0</c:v>
                </c:pt>
                <c:pt idx="5">
                  <c:v>1.7463742003116853</c:v>
                </c:pt>
                <c:pt idx="6">
                  <c:v>1.639126766094523</c:v>
                </c:pt>
                <c:pt idx="7">
                  <c:v>2.943235025572443</c:v>
                </c:pt>
                <c:pt idx="8">
                  <c:v>2.142014667931857</c:v>
                </c:pt>
                <c:pt idx="9">
                  <c:v>2.5387808839372608</c:v>
                </c:pt>
                <c:pt idx="10">
                  <c:v>4.0</c:v>
                </c:pt>
                <c:pt idx="11">
                  <c:v>1.5119769907417127</c:v>
                </c:pt>
                <c:pt idx="12">
                  <c:v>3.6655502392344497</c:v>
                </c:pt>
                <c:pt idx="13">
                  <c:v>1.520630739365681</c:v>
                </c:pt>
                <c:pt idx="14">
                  <c:v>4.0</c:v>
                </c:pt>
                <c:pt idx="15">
                  <c:v>1.7176685474163957</c:v>
                </c:pt>
                <c:pt idx="16">
                  <c:v>1.9106009838169244</c:v>
                </c:pt>
                <c:pt idx="17">
                  <c:v>2.616404318437678</c:v>
                </c:pt>
                <c:pt idx="18">
                  <c:v>2.753588679502007</c:v>
                </c:pt>
                <c:pt idx="19">
                  <c:v>3.6589050667573133</c:v>
                </c:pt>
                <c:pt idx="20">
                  <c:v>1.7041888453964862</c:v>
                </c:pt>
                <c:pt idx="21">
                  <c:v>1.6311835503912242</c:v>
                </c:pt>
                <c:pt idx="22">
                  <c:v>3.0998004718526335</c:v>
                </c:pt>
                <c:pt idx="23">
                  <c:v>1.507278140441009</c:v>
                </c:pt>
                <c:pt idx="24">
                  <c:v>1.9874266554903603</c:v>
                </c:pt>
                <c:pt idx="25">
                  <c:v>2.179802150376923</c:v>
                </c:pt>
                <c:pt idx="26">
                  <c:v>4.0</c:v>
                </c:pt>
                <c:pt idx="27">
                  <c:v>3.1683891007543554</c:v>
                </c:pt>
                <c:pt idx="28">
                  <c:v>3.80837271174999</c:v>
                </c:pt>
                <c:pt idx="29">
                  <c:v>4.0</c:v>
                </c:pt>
                <c:pt idx="30">
                  <c:v>1.7089380170893802</c:v>
                </c:pt>
                <c:pt idx="31">
                  <c:v>4.0</c:v>
                </c:pt>
                <c:pt idx="32">
                  <c:v>1.5298896372099813</c:v>
                </c:pt>
                <c:pt idx="33">
                  <c:v>1.5634977334656794</c:v>
                </c:pt>
                <c:pt idx="34">
                  <c:v>1.977066775711716</c:v>
                </c:pt>
                <c:pt idx="35">
                  <c:v>2.9318585529327743</c:v>
                </c:pt>
                <c:pt idx="36">
                  <c:v>4.0</c:v>
                </c:pt>
                <c:pt idx="37">
                  <c:v>1.9972289320756096</c:v>
                </c:pt>
              </c:numCache>
            </c:numRef>
          </c:yVal>
          <c:smooth val="0"/>
        </c:ser>
        <c:axId val="-2128940872"/>
        <c:axId val="-2129643912"/>
      </c:scatterChart>
      <c:valAx>
        <c:axId val="-2128940872"/>
        <c:scaling>
          <c:logBase val="10"/>
          <c:orientation val="minMax"/>
          <c:max val="20000000.0"/>
          <c:min val="200000.0"/>
        </c:scaling>
        <c:delete val="0"/>
        <c:axPos val="b"/>
        <c:numFmt formatCode="#,##0,,&quot;M&quot;" sourceLinked="0"/>
        <c:majorTickMark val="out"/>
        <c:minorTickMark val="none"/>
        <c:tickLblPos val="nextTo"/>
        <c:txPr>
          <a:bodyPr/>
          <a:lstStyle/>
          <a:p>
            <a:pPr>
              <a:defRPr sz="900"/>
            </a:pPr>
          </a:p>
        </c:txPr>
        <c:crossAx val="-2129643912"/>
        <c:crosses val="autoZero"/>
        <c:crossBetween val="midCat"/>
      </c:valAx>
      <c:valAx>
        <c:axId val="-2129643912"/>
        <c:scaling>
          <c:orientation val="minMax"/>
          <c:max val="4.0"/>
          <c:min val="0.0"/>
        </c:scaling>
        <c:delete val="0"/>
        <c:axPos val="l"/>
        <c:majorGridlines>
          <c:spPr>
            <a:ln>
              <a:solidFill>
                <a:srgbClr val="E3E6EB"/>
              </a:solidFill>
            </a:ln>
          </c:spPr>
        </c:majorGridlines>
        <c:numFmt formatCode="0.0&quot; %&quot;" sourceLinked="0"/>
        <c:majorTickMark val="out"/>
        <c:minorTickMark val="none"/>
        <c:tickLblPos val="nextTo"/>
        <c:txPr>
          <a:bodyPr/>
          <a:lstStyle/>
          <a:p>
            <a:pPr>
              <a:defRPr sz="900"/>
            </a:pPr>
          </a:p>
        </c:txPr>
        <c:crossAx val="-2128940872"/>
        <c:crosses val="autoZero"/>
        <c:crossBetween val="midCat"/>
      </c:valAx>
    </c:plotArea>
    <c:legend>
      <c:legendPos val="t"/>
      <c:layout/>
      <c:overlay val="0"/>
      <c:txPr>
        <a:bodyPr/>
        <a:lstStyle/>
        <a:p>
          <a:pPr>
            <a:defRPr sz="900"/>
          </a:pPr>
        </a:p>
      </c:txPr>
    </c:legend>
    <c:plotVisOnly val="1"/>
    <c:dispBlanksAs val="gap"/>
    <c:showDLblsOverMax val="0"/>
  </c:chart>
  <c:txPr>
    <a:bodyPr/>
    <a:lstStyle/>
    <a:p>
      <a:pPr>
        <a:defRPr sz="9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A1D24"/>
                </a:solidFill>
                <a:latin typeface="Calibri"/>
              </a:rPr>
              <a:t>Push: apertura por pieza. En verde las 26 que pasan 3 %</a:t>
            </a:r>
          </a:p>
        </c:rich>
      </c:tx>
      <c:layout/>
      <c:overlay val="0"/>
    </c:title>
    <c:plotArea>
      <c:scatterChart>
        <c:scatterStyle val="lineMarker"/>
        <c:varyColors val="0"/>
        <c:ser>
          <c:idx val="0"/>
          <c:order val="0"/>
          <c:tx>
            <c:strRef>
              <c:f>Sheet1!$B$1</c:f>
              <c:strCache>
                <c:ptCount val="1"/>
                <c:pt idx="0">
                  <c:v>No pasa el mínimo</c:v>
                </c:pt>
              </c:strCache>
            </c:strRef>
          </c:tx>
          <c:spPr>
            <a:ln w="47625">
              <a:noFill/>
            </a:ln>
          </c:spPr>
          <c:marker>
            <c:symbol val="circle"/>
            <c:size val="6"/>
            <c:spPr>
              <a:solidFill>
                <a:srgbClr val="A3AAB5"/>
              </a:solidFill>
              <a:ln>
                <a:solidFill>
                  <a:srgbClr val="FFFFFF"/>
                </a:solidFill>
              </a:ln>
            </c:spPr>
          </c:marker>
          <c:xVal>
            <c:numRef>
              <c:f>Sheet1!$A$2:$A$289</c:f>
              <c:numCache>
                <c:formatCode>General</c:formatCode>
                <c:ptCount val="288"/>
                <c:pt idx="0">
                  <c:v>4247081.0</c:v>
                </c:pt>
                <c:pt idx="1">
                  <c:v>4082774.0</c:v>
                </c:pt>
                <c:pt idx="2">
                  <c:v>3923496.0</c:v>
                </c:pt>
                <c:pt idx="3">
                  <c:v>2806436.0</c:v>
                </c:pt>
                <c:pt idx="4">
                  <c:v>2690842.0</c:v>
                </c:pt>
                <c:pt idx="5">
                  <c:v>2613317.0</c:v>
                </c:pt>
                <c:pt idx="6">
                  <c:v>2464325.0</c:v>
                </c:pt>
                <c:pt idx="7">
                  <c:v>2411225.0</c:v>
                </c:pt>
                <c:pt idx="8">
                  <c:v>2268414.0</c:v>
                </c:pt>
                <c:pt idx="9">
                  <c:v>2138056.0</c:v>
                </c:pt>
                <c:pt idx="10">
                  <c:v>1996803.0</c:v>
                </c:pt>
                <c:pt idx="11">
                  <c:v>1937450.0</c:v>
                </c:pt>
                <c:pt idx="12">
                  <c:v>1872378.0</c:v>
                </c:pt>
                <c:pt idx="13">
                  <c:v>1866452.0</c:v>
                </c:pt>
                <c:pt idx="14">
                  <c:v>1722624.0</c:v>
                </c:pt>
                <c:pt idx="15">
                  <c:v>1656772.0</c:v>
                </c:pt>
                <c:pt idx="16">
                  <c:v>1611288.0</c:v>
                </c:pt>
                <c:pt idx="17">
                  <c:v>1609232.0</c:v>
                </c:pt>
                <c:pt idx="18">
                  <c:v>1602467.0</c:v>
                </c:pt>
                <c:pt idx="19">
                  <c:v>1602200.0</c:v>
                </c:pt>
                <c:pt idx="20">
                  <c:v>1601318.0</c:v>
                </c:pt>
                <c:pt idx="21">
                  <c:v>1599574.0</c:v>
                </c:pt>
                <c:pt idx="22">
                  <c:v>1592188.0</c:v>
                </c:pt>
                <c:pt idx="23">
                  <c:v>1578211.0</c:v>
                </c:pt>
                <c:pt idx="24">
                  <c:v>1577891.0</c:v>
                </c:pt>
                <c:pt idx="25">
                  <c:v>1575191.0</c:v>
                </c:pt>
                <c:pt idx="26">
                  <c:v>1572238.0</c:v>
                </c:pt>
                <c:pt idx="27">
                  <c:v>1563428.0</c:v>
                </c:pt>
                <c:pt idx="28">
                  <c:v>1551272.0</c:v>
                </c:pt>
                <c:pt idx="29">
                  <c:v>1546837.0</c:v>
                </c:pt>
                <c:pt idx="30">
                  <c:v>1524064.0</c:v>
                </c:pt>
                <c:pt idx="31">
                  <c:v>1506165.0</c:v>
                </c:pt>
                <c:pt idx="32">
                  <c:v>1467350.0</c:v>
                </c:pt>
                <c:pt idx="33">
                  <c:v>1466494.0</c:v>
                </c:pt>
                <c:pt idx="34">
                  <c:v>1386427.0</c:v>
                </c:pt>
                <c:pt idx="35">
                  <c:v>1357073.0</c:v>
                </c:pt>
                <c:pt idx="36">
                  <c:v>1349107.0</c:v>
                </c:pt>
                <c:pt idx="37">
                  <c:v>1344494.0</c:v>
                </c:pt>
                <c:pt idx="38">
                  <c:v>1317609.0</c:v>
                </c:pt>
                <c:pt idx="39">
                  <c:v>1310454.0</c:v>
                </c:pt>
                <c:pt idx="40">
                  <c:v>1302325.0</c:v>
                </c:pt>
                <c:pt idx="41">
                  <c:v>1295482.0</c:v>
                </c:pt>
                <c:pt idx="42">
                  <c:v>1287237.0</c:v>
                </c:pt>
                <c:pt idx="43">
                  <c:v>1282554.0</c:v>
                </c:pt>
                <c:pt idx="44">
                  <c:v>1277853.0</c:v>
                </c:pt>
                <c:pt idx="45">
                  <c:v>1260495.0</c:v>
                </c:pt>
                <c:pt idx="46">
                  <c:v>1253050.0</c:v>
                </c:pt>
                <c:pt idx="47">
                  <c:v>1245291.0</c:v>
                </c:pt>
                <c:pt idx="48">
                  <c:v>1219347.0</c:v>
                </c:pt>
                <c:pt idx="49">
                  <c:v>1214849.0</c:v>
                </c:pt>
                <c:pt idx="50">
                  <c:v>1170430.0</c:v>
                </c:pt>
                <c:pt idx="51">
                  <c:v>1120849.0</c:v>
                </c:pt>
                <c:pt idx="52">
                  <c:v>1096349.0</c:v>
                </c:pt>
                <c:pt idx="53">
                  <c:v>1084699.0</c:v>
                </c:pt>
                <c:pt idx="54">
                  <c:v>1071349.0</c:v>
                </c:pt>
                <c:pt idx="55">
                  <c:v>1069840.0</c:v>
                </c:pt>
                <c:pt idx="56">
                  <c:v>1006841.0</c:v>
                </c:pt>
                <c:pt idx="57">
                  <c:v>954345.0</c:v>
                </c:pt>
                <c:pt idx="58">
                  <c:v>924472.0</c:v>
                </c:pt>
                <c:pt idx="59">
                  <c:v>922622.0</c:v>
                </c:pt>
                <c:pt idx="60">
                  <c:v>913534.0</c:v>
                </c:pt>
                <c:pt idx="61">
                  <c:v>901765.0</c:v>
                </c:pt>
                <c:pt idx="62">
                  <c:v>1257035.0</c:v>
                </c:pt>
                <c:pt idx="63">
                  <c:v>858826.0</c:v>
                </c:pt>
                <c:pt idx="64">
                  <c:v>822078.0</c:v>
                </c:pt>
                <c:pt idx="65">
                  <c:v>785797.0</c:v>
                </c:pt>
                <c:pt idx="66">
                  <c:v>780318.0</c:v>
                </c:pt>
                <c:pt idx="67">
                  <c:v>767420.0</c:v>
                </c:pt>
                <c:pt idx="68">
                  <c:v>1139298.0</c:v>
                </c:pt>
                <c:pt idx="69">
                  <c:v>708048.0</c:v>
                </c:pt>
                <c:pt idx="70">
                  <c:v>679190.0</c:v>
                </c:pt>
                <c:pt idx="71">
                  <c:v>677951.0</c:v>
                </c:pt>
                <c:pt idx="72">
                  <c:v>672744.0</c:v>
                </c:pt>
                <c:pt idx="73">
                  <c:v>665402.0</c:v>
                </c:pt>
                <c:pt idx="74">
                  <c:v>649396.0</c:v>
                </c:pt>
                <c:pt idx="75">
                  <c:v>647262.0</c:v>
                </c:pt>
                <c:pt idx="76">
                  <c:v>639458.0</c:v>
                </c:pt>
                <c:pt idx="77">
                  <c:v>627525.0</c:v>
                </c:pt>
                <c:pt idx="78">
                  <c:v>624585.0</c:v>
                </c:pt>
                <c:pt idx="79">
                  <c:v>621732.0</c:v>
                </c:pt>
                <c:pt idx="80">
                  <c:v>616936.0</c:v>
                </c:pt>
                <c:pt idx="81">
                  <c:v>608361.0</c:v>
                </c:pt>
                <c:pt idx="82">
                  <c:v>604133.0</c:v>
                </c:pt>
                <c:pt idx="83">
                  <c:v>603328.0</c:v>
                </c:pt>
                <c:pt idx="84">
                  <c:v>603215.0</c:v>
                </c:pt>
                <c:pt idx="85">
                  <c:v>593608.0</c:v>
                </c:pt>
                <c:pt idx="86">
                  <c:v>575670.0</c:v>
                </c:pt>
                <c:pt idx="87">
                  <c:v>561282.0</c:v>
                </c:pt>
                <c:pt idx="88">
                  <c:v>560198.0</c:v>
                </c:pt>
                <c:pt idx="89">
                  <c:v>559108.0</c:v>
                </c:pt>
                <c:pt idx="90">
                  <c:v>558792.0</c:v>
                </c:pt>
                <c:pt idx="91">
                  <c:v>554628.0</c:v>
                </c:pt>
                <c:pt idx="92">
                  <c:v>553214.0</c:v>
                </c:pt>
                <c:pt idx="93">
                  <c:v>544756.0</c:v>
                </c:pt>
                <c:pt idx="94">
                  <c:v>768864.0</c:v>
                </c:pt>
                <c:pt idx="95">
                  <c:v>539335.0</c:v>
                </c:pt>
                <c:pt idx="96">
                  <c:v>532524.0</c:v>
                </c:pt>
                <c:pt idx="97">
                  <c:v>523910.0</c:v>
                </c:pt>
                <c:pt idx="98">
                  <c:v>520888.0</c:v>
                </c:pt>
                <c:pt idx="99">
                  <c:v>520530.0</c:v>
                </c:pt>
                <c:pt idx="100">
                  <c:v>517729.0</c:v>
                </c:pt>
                <c:pt idx="101">
                  <c:v>516376.0</c:v>
                </c:pt>
                <c:pt idx="102">
                  <c:v>491172.0</c:v>
                </c:pt>
                <c:pt idx="103">
                  <c:v>488860.0</c:v>
                </c:pt>
                <c:pt idx="104">
                  <c:v>487195.0</c:v>
                </c:pt>
                <c:pt idx="105">
                  <c:v>624908.0</c:v>
                </c:pt>
                <c:pt idx="106">
                  <c:v>483313.0</c:v>
                </c:pt>
                <c:pt idx="107">
                  <c:v>480751.0</c:v>
                </c:pt>
                <c:pt idx="108">
                  <c:v>502811.0</c:v>
                </c:pt>
                <c:pt idx="109">
                  <c:v>478953.0</c:v>
                </c:pt>
                <c:pt idx="110">
                  <c:v>477966.0</c:v>
                </c:pt>
                <c:pt idx="111">
                  <c:v>476929.0</c:v>
                </c:pt>
                <c:pt idx="112">
                  <c:v>472445.0</c:v>
                </c:pt>
                <c:pt idx="113">
                  <c:v>460659.0</c:v>
                </c:pt>
                <c:pt idx="114">
                  <c:v>459805.0</c:v>
                </c:pt>
                <c:pt idx="115">
                  <c:v>452423.0</c:v>
                </c:pt>
                <c:pt idx="116">
                  <c:v>432951.0</c:v>
                </c:pt>
                <c:pt idx="117">
                  <c:v>431654.0</c:v>
                </c:pt>
                <c:pt idx="118">
                  <c:v>428054.0</c:v>
                </c:pt>
                <c:pt idx="119">
                  <c:v>425786.0</c:v>
                </c:pt>
                <c:pt idx="120">
                  <c:v>424011.0</c:v>
                </c:pt>
                <c:pt idx="121">
                  <c:v>422114.0</c:v>
                </c:pt>
                <c:pt idx="122">
                  <c:v>421256.0</c:v>
                </c:pt>
                <c:pt idx="123">
                  <c:v>1699145.0</c:v>
                </c:pt>
                <c:pt idx="124">
                  <c:v>414003.0</c:v>
                </c:pt>
                <c:pt idx="125">
                  <c:v>409763.0</c:v>
                </c:pt>
                <c:pt idx="126">
                  <c:v>409679.0</c:v>
                </c:pt>
                <c:pt idx="127">
                  <c:v>407288.0</c:v>
                </c:pt>
                <c:pt idx="128">
                  <c:v>406252.0</c:v>
                </c:pt>
                <c:pt idx="129">
                  <c:v>402434.0</c:v>
                </c:pt>
                <c:pt idx="130">
                  <c:v>399066.0</c:v>
                </c:pt>
                <c:pt idx="131">
                  <c:v>395656.0</c:v>
                </c:pt>
                <c:pt idx="132">
                  <c:v>394502.0</c:v>
                </c:pt>
                <c:pt idx="133">
                  <c:v>1501455.0</c:v>
                </c:pt>
                <c:pt idx="134">
                  <c:v>392075.0</c:v>
                </c:pt>
                <c:pt idx="135">
                  <c:v>390677.0</c:v>
                </c:pt>
                <c:pt idx="136">
                  <c:v>377963.0</c:v>
                </c:pt>
                <c:pt idx="137">
                  <c:v>377467.0</c:v>
                </c:pt>
                <c:pt idx="138">
                  <c:v>376870.0</c:v>
                </c:pt>
                <c:pt idx="139">
                  <c:v>375328.0</c:v>
                </c:pt>
                <c:pt idx="140">
                  <c:v>363791.0</c:v>
                </c:pt>
                <c:pt idx="141">
                  <c:v>360102.0</c:v>
                </c:pt>
                <c:pt idx="142">
                  <c:v>359902.0</c:v>
                </c:pt>
                <c:pt idx="143">
                  <c:v>356502.0</c:v>
                </c:pt>
                <c:pt idx="144">
                  <c:v>344455.0</c:v>
                </c:pt>
                <c:pt idx="145">
                  <c:v>344299.0</c:v>
                </c:pt>
                <c:pt idx="146">
                  <c:v>341393.0</c:v>
                </c:pt>
                <c:pt idx="147">
                  <c:v>341323.0</c:v>
                </c:pt>
                <c:pt idx="148">
                  <c:v>341284.0</c:v>
                </c:pt>
                <c:pt idx="149">
                  <c:v>340480.0</c:v>
                </c:pt>
                <c:pt idx="150">
                  <c:v>340359.0</c:v>
                </c:pt>
                <c:pt idx="151">
                  <c:v>340241.0</c:v>
                </c:pt>
                <c:pt idx="152">
                  <c:v>339846.0</c:v>
                </c:pt>
                <c:pt idx="153">
                  <c:v>339750.0</c:v>
                </c:pt>
                <c:pt idx="154">
                  <c:v>339336.0</c:v>
                </c:pt>
                <c:pt idx="155">
                  <c:v>339164.0</c:v>
                </c:pt>
                <c:pt idx="156">
                  <c:v>339157.0</c:v>
                </c:pt>
                <c:pt idx="157">
                  <c:v>338713.0</c:v>
                </c:pt>
                <c:pt idx="158">
                  <c:v>338571.0</c:v>
                </c:pt>
                <c:pt idx="159">
                  <c:v>338549.0</c:v>
                </c:pt>
                <c:pt idx="160">
                  <c:v>338061.0</c:v>
                </c:pt>
                <c:pt idx="161">
                  <c:v>337579.0</c:v>
                </c:pt>
                <c:pt idx="162">
                  <c:v>336947.0</c:v>
                </c:pt>
                <c:pt idx="163">
                  <c:v>333658.0</c:v>
                </c:pt>
                <c:pt idx="164">
                  <c:v>333576.0</c:v>
                </c:pt>
                <c:pt idx="165">
                  <c:v>333181.0</c:v>
                </c:pt>
                <c:pt idx="166">
                  <c:v>331844.0</c:v>
                </c:pt>
                <c:pt idx="167">
                  <c:v>331786.0</c:v>
                </c:pt>
                <c:pt idx="168">
                  <c:v>338912.0</c:v>
                </c:pt>
                <c:pt idx="169">
                  <c:v>327154.0</c:v>
                </c:pt>
                <c:pt idx="170">
                  <c:v>325876.0</c:v>
                </c:pt>
                <c:pt idx="171">
                  <c:v>320870.0</c:v>
                </c:pt>
                <c:pt idx="172">
                  <c:v>319544.0</c:v>
                </c:pt>
                <c:pt idx="173">
                  <c:v>318782.0</c:v>
                </c:pt>
                <c:pt idx="174">
                  <c:v>318600.0</c:v>
                </c:pt>
                <c:pt idx="175">
                  <c:v>316384.0</c:v>
                </c:pt>
                <c:pt idx="176">
                  <c:v>316299.0</c:v>
                </c:pt>
                <c:pt idx="177">
                  <c:v>356955.0</c:v>
                </c:pt>
                <c:pt idx="178">
                  <c:v>314704.0</c:v>
                </c:pt>
                <c:pt idx="179">
                  <c:v>314702.0</c:v>
                </c:pt>
                <c:pt idx="180">
                  <c:v>312099.0</c:v>
                </c:pt>
                <c:pt idx="181">
                  <c:v>311379.0</c:v>
                </c:pt>
                <c:pt idx="182">
                  <c:v>309999.0</c:v>
                </c:pt>
                <c:pt idx="183">
                  <c:v>308320.0</c:v>
                </c:pt>
                <c:pt idx="184">
                  <c:v>308187.0</c:v>
                </c:pt>
                <c:pt idx="185">
                  <c:v>306680.0</c:v>
                </c:pt>
                <c:pt idx="186">
                  <c:v>305989.0</c:v>
                </c:pt>
                <c:pt idx="187">
                  <c:v>305870.0</c:v>
                </c:pt>
                <c:pt idx="188">
                  <c:v>305296.0</c:v>
                </c:pt>
                <c:pt idx="189">
                  <c:v>305130.0</c:v>
                </c:pt>
                <c:pt idx="190">
                  <c:v>304669.0</c:v>
                </c:pt>
                <c:pt idx="191">
                  <c:v>304495.0</c:v>
                </c:pt>
                <c:pt idx="192">
                  <c:v>300980.0</c:v>
                </c:pt>
                <c:pt idx="193">
                  <c:v>300089.0</c:v>
                </c:pt>
                <c:pt idx="194">
                  <c:v>299481.0</c:v>
                </c:pt>
                <c:pt idx="195">
                  <c:v>299128.0</c:v>
                </c:pt>
                <c:pt idx="196">
                  <c:v>298354.0</c:v>
                </c:pt>
                <c:pt idx="197">
                  <c:v>295102.0</c:v>
                </c:pt>
                <c:pt idx="198">
                  <c:v>304521.0</c:v>
                </c:pt>
                <c:pt idx="199">
                  <c:v>293493.0</c:v>
                </c:pt>
                <c:pt idx="200">
                  <c:v>293120.0</c:v>
                </c:pt>
                <c:pt idx="201">
                  <c:v>292893.0</c:v>
                </c:pt>
                <c:pt idx="202">
                  <c:v>292216.0</c:v>
                </c:pt>
                <c:pt idx="203">
                  <c:v>319090.0</c:v>
                </c:pt>
                <c:pt idx="204">
                  <c:v>287443.0</c:v>
                </c:pt>
                <c:pt idx="205">
                  <c:v>286821.0</c:v>
                </c:pt>
                <c:pt idx="206">
                  <c:v>286656.0</c:v>
                </c:pt>
                <c:pt idx="207">
                  <c:v>283220.0</c:v>
                </c:pt>
                <c:pt idx="208">
                  <c:v>282631.0</c:v>
                </c:pt>
                <c:pt idx="209">
                  <c:v>280159.0</c:v>
                </c:pt>
                <c:pt idx="210">
                  <c:v>279873.0</c:v>
                </c:pt>
                <c:pt idx="211">
                  <c:v>278317.0</c:v>
                </c:pt>
                <c:pt idx="212">
                  <c:v>277404.0</c:v>
                </c:pt>
                <c:pt idx="213">
                  <c:v>276881.0</c:v>
                </c:pt>
                <c:pt idx="214">
                  <c:v>275136.0</c:v>
                </c:pt>
                <c:pt idx="215">
                  <c:v>273306.0</c:v>
                </c:pt>
                <c:pt idx="216">
                  <c:v>272019.0</c:v>
                </c:pt>
                <c:pt idx="217">
                  <c:v>270360.0</c:v>
                </c:pt>
                <c:pt idx="218">
                  <c:v>269623.0</c:v>
                </c:pt>
                <c:pt idx="219">
                  <c:v>269480.0</c:v>
                </c:pt>
                <c:pt idx="220">
                  <c:v>269317.0</c:v>
                </c:pt>
                <c:pt idx="221">
                  <c:v>268438.0</c:v>
                </c:pt>
                <c:pt idx="222">
                  <c:v>267675.0</c:v>
                </c:pt>
                <c:pt idx="223">
                  <c:v>262884.0</c:v>
                </c:pt>
                <c:pt idx="224">
                  <c:v>260602.0</c:v>
                </c:pt>
                <c:pt idx="225">
                  <c:v>260540.0</c:v>
                </c:pt>
                <c:pt idx="226">
                  <c:v>257845.0</c:v>
                </c:pt>
                <c:pt idx="227">
                  <c:v>257002.0</c:v>
                </c:pt>
                <c:pt idx="228">
                  <c:v>256818.0</c:v>
                </c:pt>
                <c:pt idx="229">
                  <c:v>266773.0</c:v>
                </c:pt>
                <c:pt idx="230">
                  <c:v>255501.0</c:v>
                </c:pt>
                <c:pt idx="231">
                  <c:v>254344.0</c:v>
                </c:pt>
                <c:pt idx="232">
                  <c:v>291789.0</c:v>
                </c:pt>
                <c:pt idx="233">
                  <c:v>252896.0</c:v>
                </c:pt>
                <c:pt idx="234">
                  <c:v>250817.0</c:v>
                </c:pt>
                <c:pt idx="235">
                  <c:v>248786.0</c:v>
                </c:pt>
                <c:pt idx="236">
                  <c:v>246454.0</c:v>
                </c:pt>
                <c:pt idx="237">
                  <c:v>262757.0</c:v>
                </c:pt>
                <c:pt idx="238">
                  <c:v>244221.0</c:v>
                </c:pt>
                <c:pt idx="239">
                  <c:v>244180.0</c:v>
                </c:pt>
                <c:pt idx="240">
                  <c:v>243823.0</c:v>
                </c:pt>
                <c:pt idx="241">
                  <c:v>243339.0</c:v>
                </c:pt>
                <c:pt idx="242">
                  <c:v>243247.0</c:v>
                </c:pt>
                <c:pt idx="243">
                  <c:v>242744.0</c:v>
                </c:pt>
                <c:pt idx="244">
                  <c:v>238626.0</c:v>
                </c:pt>
                <c:pt idx="245">
                  <c:v>236405.0</c:v>
                </c:pt>
                <c:pt idx="246">
                  <c:v>234426.0</c:v>
                </c:pt>
                <c:pt idx="247">
                  <c:v>234104.0</c:v>
                </c:pt>
                <c:pt idx="248">
                  <c:v>230328.0</c:v>
                </c:pt>
                <c:pt idx="249">
                  <c:v>228716.0</c:v>
                </c:pt>
                <c:pt idx="250">
                  <c:v>228054.0</c:v>
                </c:pt>
                <c:pt idx="251">
                  <c:v>224525.0</c:v>
                </c:pt>
                <c:pt idx="252">
                  <c:v>224406.0</c:v>
                </c:pt>
                <c:pt idx="253">
                  <c:v>224393.0</c:v>
                </c:pt>
                <c:pt idx="254">
                  <c:v>220653.0</c:v>
                </c:pt>
                <c:pt idx="255">
                  <c:v>220453.0</c:v>
                </c:pt>
                <c:pt idx="256">
                  <c:v>219946.0</c:v>
                </c:pt>
                <c:pt idx="257">
                  <c:v>219708.0</c:v>
                </c:pt>
                <c:pt idx="258">
                  <c:v>218397.0</c:v>
                </c:pt>
                <c:pt idx="259">
                  <c:v>217511.0</c:v>
                </c:pt>
                <c:pt idx="260">
                  <c:v>216931.0</c:v>
                </c:pt>
                <c:pt idx="261">
                  <c:v>214897.0</c:v>
                </c:pt>
                <c:pt idx="262">
                  <c:v>214346.0</c:v>
                </c:pt>
                <c:pt idx="263">
                  <c:v>213645.0</c:v>
                </c:pt>
                <c:pt idx="264">
                  <c:v>212875.0</c:v>
                </c:pt>
                <c:pt idx="265">
                  <c:v>212644.0</c:v>
                </c:pt>
                <c:pt idx="266">
                  <c:v>212446.0</c:v>
                </c:pt>
                <c:pt idx="267">
                  <c:v>209827.0</c:v>
                </c:pt>
                <c:pt idx="268">
                  <c:v>209689.0</c:v>
                </c:pt>
                <c:pt idx="269">
                  <c:v>209391.0</c:v>
                </c:pt>
                <c:pt idx="270">
                  <c:v>209090.0</c:v>
                </c:pt>
                <c:pt idx="271">
                  <c:v>208489.0</c:v>
                </c:pt>
                <c:pt idx="272">
                  <c:v>207437.0</c:v>
                </c:pt>
                <c:pt idx="273">
                  <c:v>207028.0</c:v>
                </c:pt>
                <c:pt idx="274">
                  <c:v>206014.0</c:v>
                </c:pt>
                <c:pt idx="275">
                  <c:v>205991.0</c:v>
                </c:pt>
                <c:pt idx="276">
                  <c:v>205640.0</c:v>
                </c:pt>
                <c:pt idx="277">
                  <c:v>205609.0</c:v>
                </c:pt>
                <c:pt idx="278">
                  <c:v>205492.0</c:v>
                </c:pt>
                <c:pt idx="279">
                  <c:v>203541.0</c:v>
                </c:pt>
                <c:pt idx="280">
                  <c:v>203200.0</c:v>
                </c:pt>
                <c:pt idx="281">
                  <c:v>204261.0</c:v>
                </c:pt>
                <c:pt idx="282">
                  <c:v>644635.0</c:v>
                </c:pt>
                <c:pt idx="283">
                  <c:v>276163.0</c:v>
                </c:pt>
                <c:pt idx="284">
                  <c:v>942374.0</c:v>
                </c:pt>
                <c:pt idx="285">
                  <c:v>472225.0</c:v>
                </c:pt>
                <c:pt idx="286">
                  <c:v>502486.0</c:v>
                </c:pt>
                <c:pt idx="287">
                  <c:v>222551.0</c:v>
                </c:pt>
              </c:numCache>
            </c:numRef>
          </c:xVal>
          <c:yVal>
            <c:numRef>
              <c:f>Sheet1!$B$2:$B$289</c:f>
              <c:numCache>
                <c:formatCode>General</c:formatCode>
                <c:ptCount val="288"/>
                <c:pt idx="0">
                  <c:v>0.5623862601160656</c:v>
                </c:pt>
                <c:pt idx="1">
                  <c:v>0.5385309106014685</c:v>
                </c:pt>
                <c:pt idx="2">
                  <c:v>0.8821724298941557</c:v>
                </c:pt>
                <c:pt idx="3">
                  <c:v>1.0795186492761637</c:v>
                </c:pt>
                <c:pt idx="4">
                  <c:v>1.2025975512497575</c:v>
                </c:pt>
                <c:pt idx="5">
                  <c:v>0.9226588278421638</c:v>
                </c:pt>
                <c:pt idx="6">
                  <c:v>0.9517007699877248</c:v>
                </c:pt>
                <c:pt idx="7">
                  <c:v>1.2895105185123745</c:v>
                </c:pt>
                <c:pt idx="8">
                  <c:v>0.6003313328166728</c:v>
                </c:pt>
                <c:pt idx="9">
                  <c:v>1.0035752103780256</c:v>
                </c:pt>
                <c:pt idx="10">
                  <c:v>0.9798663163066161</c:v>
                </c:pt>
                <c:pt idx="11">
                  <c:v>0.9301401326485845</c:v>
                </c:pt>
                <c:pt idx="12">
                  <c:v>0.006836226445728373</c:v>
                </c:pt>
                <c:pt idx="13">
                  <c:v>1.2246765520892045</c:v>
                </c:pt>
                <c:pt idx="14">
                  <c:v>1.5229092361420715</c:v>
                </c:pt>
                <c:pt idx="15">
                  <c:v>0.7232739326835558</c:v>
                </c:pt>
                <c:pt idx="16">
                  <c:v>0.7119770022491324</c:v>
                </c:pt>
                <c:pt idx="17">
                  <c:v>1.4936938862761864</c:v>
                </c:pt>
                <c:pt idx="18">
                  <c:v>0.7957106136975052</c:v>
                </c:pt>
                <c:pt idx="19">
                  <c:v>0.5547996504805892</c:v>
                </c:pt>
                <c:pt idx="20">
                  <c:v>0.5484856849170496</c:v>
                </c:pt>
                <c:pt idx="21">
                  <c:v>0.6708661181039451</c:v>
                </c:pt>
                <c:pt idx="22">
                  <c:v>0.5653226880242785</c:v>
                </c:pt>
                <c:pt idx="23">
                  <c:v>1.407036194780039</c:v>
                </c:pt>
                <c:pt idx="24">
                  <c:v>0.7194413302313024</c:v>
                </c:pt>
                <c:pt idx="25">
                  <c:v>0.7633994861575517</c:v>
                </c:pt>
                <c:pt idx="26">
                  <c:v>0.9570433992817882</c:v>
                </c:pt>
                <c:pt idx="27">
                  <c:v>0.9091560340482581</c:v>
                </c:pt>
                <c:pt idx="28">
                  <c:v>0.6172354042360076</c:v>
                </c:pt>
                <c:pt idx="29">
                  <c:v>0.9890505593026285</c:v>
                </c:pt>
                <c:pt idx="30">
                  <c:v>1.751763705461188</c:v>
                </c:pt>
                <c:pt idx="31">
                  <c:v>1.8059110389631945</c:v>
                </c:pt>
                <c:pt idx="32">
                  <c:v>0.5524244386138276</c:v>
                </c:pt>
                <c:pt idx="33">
                  <c:v>1.0956744453096978</c:v>
                </c:pt>
                <c:pt idx="34">
                  <c:v>0.5785374924175597</c:v>
                </c:pt>
                <c:pt idx="35">
                  <c:v>1.2280105786497852</c:v>
                </c:pt>
                <c:pt idx="36">
                  <c:v>0.5836453298366994</c:v>
                </c:pt>
                <c:pt idx="37">
                  <c:v>0.7799216656972809</c:v>
                </c:pt>
                <c:pt idx="38">
                  <c:v>0.4429994027059621</c:v>
                </c:pt>
                <c:pt idx="39">
                  <c:v>0.7784325127017049</c:v>
                </c:pt>
                <c:pt idx="40">
                  <c:v>0.6605877949052655</c:v>
                </c:pt>
                <c:pt idx="41">
                  <c:v>0.5141715593115149</c:v>
                </c:pt>
                <c:pt idx="42">
                  <c:v>0.46580388848362814</c:v>
                </c:pt>
                <c:pt idx="43">
                  <c:v>0.8090887401232228</c:v>
                </c:pt>
                <c:pt idx="44">
                  <c:v>1.2997582664046647</c:v>
                </c:pt>
                <c:pt idx="45">
                  <c:v>0.5571620672830911</c:v>
                </c:pt>
                <c:pt idx="46">
                  <c:v>0.32361039064682173</c:v>
                </c:pt>
                <c:pt idx="47">
                  <c:v>1.2709479149853327</c:v>
                </c:pt>
                <c:pt idx="48">
                  <c:v>0.603191708348813</c:v>
                </c:pt>
                <c:pt idx="49">
                  <c:v>0.6465824147692429</c:v>
                </c:pt>
                <c:pt idx="50">
                  <c:v>0.8717309023179515</c:v>
                </c:pt>
                <c:pt idx="51">
                  <c:v>0.3938978399409733</c:v>
                </c:pt>
                <c:pt idx="52">
                  <c:v>1.7899409768239858</c:v>
                </c:pt>
                <c:pt idx="53">
                  <c:v>0.849728818778297</c:v>
                </c:pt>
                <c:pt idx="54">
                  <c:v>1.390023232392059</c:v>
                </c:pt>
                <c:pt idx="55">
                  <c:v>1.0624953264039483</c:v>
                </c:pt>
                <c:pt idx="56">
                  <c:v>1.7322496799395337</c:v>
                </c:pt>
                <c:pt idx="57">
                  <c:v>0.3688393610277206</c:v>
                </c:pt>
                <c:pt idx="58">
                  <c:v>0.608888100450852</c:v>
                </c:pt>
                <c:pt idx="59">
                  <c:v>0.4646539969781774</c:v>
                </c:pt>
                <c:pt idx="60">
                  <c:v>0.6225274592954395</c:v>
                </c:pt>
                <c:pt idx="61">
                  <c:v>1.3619956418800907</c:v>
                </c:pt>
                <c:pt idx="62">
                  <c:v>0.5389666954380745</c:v>
                </c:pt>
                <c:pt idx="63">
                  <c:v>0.708292482994227</c:v>
                </c:pt>
                <c:pt idx="64">
                  <c:v>0.6181895148635531</c:v>
                </c:pt>
                <c:pt idx="65">
                  <c:v>2.169898841558316</c:v>
                </c:pt>
                <c:pt idx="66">
                  <c:v>0.3522922705871196</c:v>
                </c:pt>
                <c:pt idx="67">
                  <c:v>1.740376847098069</c:v>
                </c:pt>
                <c:pt idx="68">
                  <c:v>0.6405698947948649</c:v>
                </c:pt>
                <c:pt idx="69">
                  <c:v>1.6169807696653333</c:v>
                </c:pt>
                <c:pt idx="70">
                  <c:v>0.39252639173132703</c:v>
                </c:pt>
                <c:pt idx="71">
                  <c:v>0.5143439570116425</c:v>
                </c:pt>
                <c:pt idx="72">
                  <c:v>0.5135683112744224</c:v>
                </c:pt>
                <c:pt idx="73">
                  <c:v>0.9636280023204018</c:v>
                </c:pt>
                <c:pt idx="74">
                  <c:v>1.0817744488724907</c:v>
                </c:pt>
                <c:pt idx="75">
                  <c:v>2.9975496784918625</c:v>
                </c:pt>
                <c:pt idx="76">
                  <c:v>0.511214184512509</c:v>
                </c:pt>
                <c:pt idx="77">
                  <c:v>0.3910601171268077</c:v>
                </c:pt>
                <c:pt idx="78">
                  <c:v>0.41227374976984715</c:v>
                </c:pt>
                <c:pt idx="79">
                  <c:v>0.3606055342173155</c:v>
                </c:pt>
                <c:pt idx="80">
                  <c:v>0.6475550138101845</c:v>
                </c:pt>
                <c:pt idx="81">
                  <c:v>1.0459250346422602</c:v>
                </c:pt>
                <c:pt idx="82">
                  <c:v>1.2055292460435036</c:v>
                </c:pt>
                <c:pt idx="83">
                  <c:v>0.9323286835684735</c:v>
                </c:pt>
                <c:pt idx="84">
                  <c:v>1.0715913894714157</c:v>
                </c:pt>
                <c:pt idx="85">
                  <c:v>0.6131992830285307</c:v>
                </c:pt>
                <c:pt idx="86">
                  <c:v>1.2359511525700488</c:v>
                </c:pt>
                <c:pt idx="87">
                  <c:v>1.3073642126417737</c:v>
                </c:pt>
                <c:pt idx="88">
                  <c:v>0.7322411004680488</c:v>
                </c:pt>
                <c:pt idx="89">
                  <c:v>0.6002418137461815</c:v>
                </c:pt>
                <c:pt idx="90">
                  <c:v>1.15857063093244</c:v>
                </c:pt>
                <c:pt idx="91">
                  <c:v>1.169612785506682</c:v>
                </c:pt>
                <c:pt idx="92">
                  <c:v>0.7814335862794506</c:v>
                </c:pt>
                <c:pt idx="93">
                  <c:v>0.9387689167260205</c:v>
                </c:pt>
                <c:pt idx="94">
                  <c:v>0.9175875057227286</c:v>
                </c:pt>
                <c:pt idx="95">
                  <c:v>0.5925816051248296</c:v>
                </c:pt>
                <c:pt idx="96">
                  <c:v>0.5079583267608596</c:v>
                </c:pt>
                <c:pt idx="97">
                  <c:v>2.6987459678189003</c:v>
                </c:pt>
                <c:pt idx="98">
                  <c:v>0.7039901091981385</c:v>
                </c:pt>
                <c:pt idx="99">
                  <c:v>0.20632816552360095</c:v>
                </c:pt>
                <c:pt idx="100">
                  <c:v>0.9377492858232782</c:v>
                </c:pt>
                <c:pt idx="101">
                  <c:v>1.241730831796985</c:v>
                </c:pt>
                <c:pt idx="102">
                  <c:v>0.47010008713851764</c:v>
                </c:pt>
                <c:pt idx="103">
                  <c:v>0.8401178251442131</c:v>
                </c:pt>
                <c:pt idx="104">
                  <c:v>0.5831340633627192</c:v>
                </c:pt>
                <c:pt idx="105">
                  <c:v>2.5202109750555284</c:v>
                </c:pt>
                <c:pt idx="106">
                  <c:v>0.925073399639571</c:v>
                </c:pt>
                <c:pt idx="107">
                  <c:v>0.7161711572102815</c:v>
                </c:pt>
                <c:pt idx="108">
                  <c:v>1.7254992432544236</c:v>
                </c:pt>
                <c:pt idx="109">
                  <c:v>1.1890519529056087</c:v>
                </c:pt>
                <c:pt idx="110">
                  <c:v>0.5546419619805593</c:v>
                </c:pt>
                <c:pt idx="111">
                  <c:v>0.8191995034900373</c:v>
                </c:pt>
                <c:pt idx="112">
                  <c:v>0.7960715003862884</c:v>
                </c:pt>
                <c:pt idx="113">
                  <c:v>0.6421235664558816</c:v>
                </c:pt>
                <c:pt idx="114">
                  <c:v>0.5648046454475266</c:v>
                </c:pt>
                <c:pt idx="115">
                  <c:v>1.001054323056078</c:v>
                </c:pt>
                <c:pt idx="116">
                  <c:v>1.197364135895286</c:v>
                </c:pt>
                <c:pt idx="117">
                  <c:v>0.8775547081690428</c:v>
                </c:pt>
                <c:pt idx="118">
                  <c:v>1.335579155900891</c:v>
                </c:pt>
                <c:pt idx="119">
                  <c:v>0.5044787757230158</c:v>
                </c:pt>
                <c:pt idx="120">
                  <c:v>0.843374346420258</c:v>
                </c:pt>
                <c:pt idx="121">
                  <c:v>0.43779642466253194</c:v>
                </c:pt>
                <c:pt idx="122">
                  <c:v>1.1109634046755417</c:v>
                </c:pt>
                <c:pt idx="123">
                  <c:v>1.4516124286037977</c:v>
                </c:pt>
                <c:pt idx="124">
                  <c:v>1.0598957012388799</c:v>
                </c:pt>
                <c:pt idx="125">
                  <c:v>0.9683646400480278</c:v>
                </c:pt>
                <c:pt idx="126">
                  <c:v>1.6769226638416908</c:v>
                </c:pt>
                <c:pt idx="127">
                  <c:v>0.7984522008996091</c:v>
                </c:pt>
                <c:pt idx="128">
                  <c:v>0.7042426868052342</c:v>
                </c:pt>
                <c:pt idx="129">
                  <c:v>0.4882788233598553</c:v>
                </c:pt>
                <c:pt idx="130">
                  <c:v>1.3093072323876251</c:v>
                </c:pt>
                <c:pt idx="131">
                  <c:v>2.4609762015488204</c:v>
                </c:pt>
                <c:pt idx="132">
                  <c:v>0.7082346857557122</c:v>
                </c:pt>
                <c:pt idx="133">
                  <c:v>0.8913354046574823</c:v>
                </c:pt>
                <c:pt idx="134">
                  <c:v>0.4249187017789964</c:v>
                </c:pt>
                <c:pt idx="135">
                  <c:v>1.6952623266790725</c:v>
                </c:pt>
                <c:pt idx="136">
                  <c:v>0.8672806597471181</c:v>
                </c:pt>
                <c:pt idx="137">
                  <c:v>0.018544667480865876</c:v>
                </c:pt>
                <c:pt idx="138">
                  <c:v>0.5681004059755353</c:v>
                </c:pt>
                <c:pt idx="139">
                  <c:v>0.9522337795208458</c:v>
                </c:pt>
                <c:pt idx="140">
                  <c:v>0.04673012801306244</c:v>
                </c:pt>
                <c:pt idx="141">
                  <c:v>0.5093001427373355</c:v>
                </c:pt>
                <c:pt idx="142">
                  <c:v>2.5879267133830877</c:v>
                </c:pt>
                <c:pt idx="143">
                  <c:v>2.841218282085374</c:v>
                </c:pt>
                <c:pt idx="144">
                  <c:v>1.3276044766370063</c:v>
                </c:pt>
                <c:pt idx="145">
                  <c:v>0.43682961611854815</c:v>
                </c:pt>
                <c:pt idx="146">
                  <c:v>0.7774031687820195</c:v>
                </c:pt>
                <c:pt idx="147">
                  <c:v>0.7939693486814542</c:v>
                </c:pt>
                <c:pt idx="148">
                  <c:v>0.9470118728097421</c:v>
                </c:pt>
                <c:pt idx="149">
                  <c:v>0.8596687030075187</c:v>
                </c:pt>
                <c:pt idx="150">
                  <c:v>0.9725025634697482</c:v>
                </c:pt>
                <c:pt idx="151">
                  <c:v>1.0395572550045409</c:v>
                </c:pt>
                <c:pt idx="152">
                  <c:v>0.8324358680108049</c:v>
                </c:pt>
                <c:pt idx="153">
                  <c:v>0.6083885209713025</c:v>
                </c:pt>
                <c:pt idx="154">
                  <c:v>1.3429167550746164</c:v>
                </c:pt>
                <c:pt idx="155">
                  <c:v>0.6651649349577196</c:v>
                </c:pt>
                <c:pt idx="156">
                  <c:v>0.8665603245694472</c:v>
                </c:pt>
                <c:pt idx="157">
                  <c:v>1.2754160602043618</c:v>
                </c:pt>
                <c:pt idx="158">
                  <c:v>1.1879339931653923</c:v>
                </c:pt>
                <c:pt idx="159">
                  <c:v>0.7656203385625123</c:v>
                </c:pt>
                <c:pt idx="160">
                  <c:v>1.4414558319356565</c:v>
                </c:pt>
                <c:pt idx="161">
                  <c:v>2.0955094955551146</c:v>
                </c:pt>
                <c:pt idx="162">
                  <c:v>0.8651212208448212</c:v>
                </c:pt>
                <c:pt idx="163">
                  <c:v>0.9329912665064227</c:v>
                </c:pt>
                <c:pt idx="164">
                  <c:v>0.8267980909897594</c:v>
                </c:pt>
                <c:pt idx="165">
                  <c:v>2.8687110009274237</c:v>
                </c:pt>
                <c:pt idx="166">
                  <c:v>1.4585166524029363</c:v>
                </c:pt>
                <c:pt idx="167">
                  <c:v>2.4759935621153395</c:v>
                </c:pt>
                <c:pt idx="168">
                  <c:v>2.061597110754414</c:v>
                </c:pt>
                <c:pt idx="169">
                  <c:v>0.6177518844336306</c:v>
                </c:pt>
                <c:pt idx="170">
                  <c:v>0.6388933213860487</c:v>
                </c:pt>
                <c:pt idx="171">
                  <c:v>0.8358525259450867</c:v>
                </c:pt>
                <c:pt idx="172">
                  <c:v>0.7989510051823849</c:v>
                </c:pt>
                <c:pt idx="173">
                  <c:v>1.3849590001944903</c:v>
                </c:pt>
                <c:pt idx="174">
                  <c:v>1.692090395480226</c:v>
                </c:pt>
                <c:pt idx="175">
                  <c:v>1.8505992717710125</c:v>
                </c:pt>
                <c:pt idx="176">
                  <c:v>1.6007006029105373</c:v>
                </c:pt>
                <c:pt idx="177">
                  <c:v>2.996456135927498</c:v>
                </c:pt>
                <c:pt idx="178">
                  <c:v>1.2446616503126748</c:v>
                </c:pt>
                <c:pt idx="179">
                  <c:v>1.7689750938983546</c:v>
                </c:pt>
                <c:pt idx="180">
                  <c:v>0.9855847022899785</c:v>
                </c:pt>
                <c:pt idx="181">
                  <c:v>0.8661470426714711</c:v>
                </c:pt>
                <c:pt idx="182">
                  <c:v>1.1958103090655132</c:v>
                </c:pt>
                <c:pt idx="183">
                  <c:v>1.5308770108977685</c:v>
                </c:pt>
                <c:pt idx="184">
                  <c:v>1.0746721957772392</c:v>
                </c:pt>
                <c:pt idx="185">
                  <c:v>2.8818312247293596</c:v>
                </c:pt>
                <c:pt idx="186">
                  <c:v>0.9199677112575942</c:v>
                </c:pt>
                <c:pt idx="187">
                  <c:v>1.6408931899172852</c:v>
                </c:pt>
                <c:pt idx="188">
                  <c:v>0.8644070017294692</c:v>
                </c:pt>
                <c:pt idx="189">
                  <c:v>1.2148920132402583</c:v>
                </c:pt>
                <c:pt idx="190">
                  <c:v>1.579418976003466</c:v>
                </c:pt>
                <c:pt idx="191">
                  <c:v>0.7093712540435804</c:v>
                </c:pt>
                <c:pt idx="192">
                  <c:v>0.0239218552727756</c:v>
                </c:pt>
                <c:pt idx="193">
                  <c:v>0.016328489214866255</c:v>
                </c:pt>
                <c:pt idx="194">
                  <c:v>1.4264677892754465</c:v>
                </c:pt>
                <c:pt idx="195">
                  <c:v>0.1791875050145757</c:v>
                </c:pt>
                <c:pt idx="196">
                  <c:v>1.7730615309330526</c:v>
                </c:pt>
                <c:pt idx="197">
                  <c:v>0.9735616837568027</c:v>
                </c:pt>
                <c:pt idx="198">
                  <c:v>1.2442491650822112</c:v>
                </c:pt>
                <c:pt idx="199">
                  <c:v>1.1441499456545812</c:v>
                </c:pt>
                <c:pt idx="200">
                  <c:v>0.6935725982532751</c:v>
                </c:pt>
                <c:pt idx="201">
                  <c:v>0.9692959544953277</c:v>
                </c:pt>
                <c:pt idx="202">
                  <c:v>1.155994196074137</c:v>
                </c:pt>
                <c:pt idx="203">
                  <c:v>2.006017111159861</c:v>
                </c:pt>
                <c:pt idx="204">
                  <c:v>0.5719394801751999</c:v>
                </c:pt>
                <c:pt idx="205">
                  <c:v>1.0867405106320667</c:v>
                </c:pt>
                <c:pt idx="206">
                  <c:v>0.9743385800401876</c:v>
                </c:pt>
                <c:pt idx="207">
                  <c:v>0.8089118000141233</c:v>
                </c:pt>
                <c:pt idx="208">
                  <c:v>0.9821994048777382</c:v>
                </c:pt>
                <c:pt idx="209">
                  <c:v>1.246435060090877</c:v>
                </c:pt>
                <c:pt idx="210">
                  <c:v>0.7503403329367249</c:v>
                </c:pt>
                <c:pt idx="211">
                  <c:v>1.0757517507015382</c:v>
                </c:pt>
                <c:pt idx="212">
                  <c:v>1.1214690487520007</c:v>
                </c:pt>
                <c:pt idx="213">
                  <c:v>0.5840054030431846</c:v>
                </c:pt>
                <c:pt idx="214">
                  <c:v>0.6731216561991161</c:v>
                </c:pt>
                <c:pt idx="215">
                  <c:v>0.01719684163538305</c:v>
                </c:pt>
                <c:pt idx="216">
                  <c:v>1.11646612920421</c:v>
                </c:pt>
                <c:pt idx="217">
                  <c:v>0.29923065542239974</c:v>
                </c:pt>
                <c:pt idx="218">
                  <c:v>0.7896210634849401</c:v>
                </c:pt>
                <c:pt idx="219">
                  <c:v>0.6108059967344516</c:v>
                </c:pt>
                <c:pt idx="220">
                  <c:v>0.16486148293646521</c:v>
                </c:pt>
                <c:pt idx="221">
                  <c:v>1.2155507044457192</c:v>
                </c:pt>
                <c:pt idx="222">
                  <c:v>0.50919958905389</c:v>
                </c:pt>
                <c:pt idx="223">
                  <c:v>0.7714429177888347</c:v>
                </c:pt>
                <c:pt idx="224">
                  <c:v>0.733685850453949</c:v>
                </c:pt>
                <c:pt idx="225">
                  <c:v>0.7423044446150303</c:v>
                </c:pt>
                <c:pt idx="226">
                  <c:v>0.498749248579573</c:v>
                </c:pt>
                <c:pt idx="227">
                  <c:v>0.7396829596656835</c:v>
                </c:pt>
                <c:pt idx="228">
                  <c:v>0.4497348316706773</c:v>
                </c:pt>
                <c:pt idx="229">
                  <c:v>1.1380462040761246</c:v>
                </c:pt>
                <c:pt idx="230">
                  <c:v>0.393344840137612</c:v>
                </c:pt>
                <c:pt idx="231">
                  <c:v>0.5075802849683893</c:v>
                </c:pt>
                <c:pt idx="232">
                  <c:v>1.6655871194596095</c:v>
                </c:pt>
                <c:pt idx="233">
                  <c:v>1.4416993546754397</c:v>
                </c:pt>
                <c:pt idx="234">
                  <c:v>0.85998955413708</c:v>
                </c:pt>
                <c:pt idx="235">
                  <c:v>1.1560136020515623</c:v>
                </c:pt>
                <c:pt idx="236">
                  <c:v>0.9790873753317049</c:v>
                </c:pt>
                <c:pt idx="237">
                  <c:v>2.628664507510742</c:v>
                </c:pt>
                <c:pt idx="238">
                  <c:v>0.23871821014572867</c:v>
                </c:pt>
                <c:pt idx="239">
                  <c:v>1.0123679253010074</c:v>
                </c:pt>
                <c:pt idx="240">
                  <c:v>0.9465883038105511</c:v>
                </c:pt>
                <c:pt idx="241">
                  <c:v>0.44916762212386835</c:v>
                </c:pt>
                <c:pt idx="242">
                  <c:v>0.8086430665126394</c:v>
                </c:pt>
                <c:pt idx="243">
                  <c:v>1.6787232640147645</c:v>
                </c:pt>
                <c:pt idx="244">
                  <c:v>0.5439474323837302</c:v>
                </c:pt>
                <c:pt idx="245">
                  <c:v>0.35066940208540426</c:v>
                </c:pt>
                <c:pt idx="246">
                  <c:v>0.683371298405467</c:v>
                </c:pt>
                <c:pt idx="247">
                  <c:v>0.8333902880770939</c:v>
                </c:pt>
                <c:pt idx="248">
                  <c:v>0.41462609843353826</c:v>
                </c:pt>
                <c:pt idx="249">
                  <c:v>0.5312264992392312</c:v>
                </c:pt>
                <c:pt idx="250">
                  <c:v>0.4297227849544406</c:v>
                </c:pt>
                <c:pt idx="251">
                  <c:v>0.5576216456964703</c:v>
                </c:pt>
                <c:pt idx="252">
                  <c:v>2.478543354455763</c:v>
                </c:pt>
                <c:pt idx="253">
                  <c:v>1.1604640073442576</c:v>
                </c:pt>
                <c:pt idx="254">
                  <c:v>1.2086851300458186</c:v>
                </c:pt>
                <c:pt idx="255">
                  <c:v>1.5563408073376184</c:v>
                </c:pt>
                <c:pt idx="256">
                  <c:v>0.5283114946395934</c:v>
                </c:pt>
                <c:pt idx="257">
                  <c:v>1.0245416643909189</c:v>
                </c:pt>
                <c:pt idx="258">
                  <c:v>0.6868226211898515</c:v>
                </c:pt>
                <c:pt idx="259">
                  <c:v>0.5921539600296077</c:v>
                </c:pt>
                <c:pt idx="260">
                  <c:v>0.6813226325421448</c:v>
                </c:pt>
                <c:pt idx="261">
                  <c:v>0.8101555628975742</c:v>
                </c:pt>
                <c:pt idx="262">
                  <c:v>1.5712912767208158</c:v>
                </c:pt>
                <c:pt idx="263">
                  <c:v>2.398839195862295</c:v>
                </c:pt>
                <c:pt idx="264">
                  <c:v>0.5482090428655314</c:v>
                </c:pt>
                <c:pt idx="265">
                  <c:v>0.9950903858091458</c:v>
                </c:pt>
                <c:pt idx="266">
                  <c:v>0.49706749009159973</c:v>
                </c:pt>
                <c:pt idx="267">
                  <c:v>0.5128034047095941</c:v>
                </c:pt>
                <c:pt idx="268">
                  <c:v>1.1745966645842176</c:v>
                </c:pt>
                <c:pt idx="269">
                  <c:v>0.47709786953593997</c:v>
                </c:pt>
                <c:pt idx="270">
                  <c:v>0.8709168300731742</c:v>
                </c:pt>
                <c:pt idx="271">
                  <c:v>0.5827645583220218</c:v>
                </c:pt>
                <c:pt idx="272">
                  <c:v>0.5780068165274276</c:v>
                </c:pt>
                <c:pt idx="273">
                  <c:v>1.143323608400796</c:v>
                </c:pt>
                <c:pt idx="274">
                  <c:v>1.6717310474045453</c:v>
                </c:pt>
                <c:pt idx="275">
                  <c:v>1.0854843172759976</c:v>
                </c:pt>
                <c:pt idx="276">
                  <c:v>0.8544057576347014</c:v>
                </c:pt>
                <c:pt idx="277">
                  <c:v>0.39541070672976375</c:v>
                </c:pt>
                <c:pt idx="278">
                  <c:v>0.765479921359469</c:v>
                </c:pt>
                <c:pt idx="279">
                  <c:v>0.9894812347389469</c:v>
                </c:pt>
                <c:pt idx="280">
                  <c:v>0.7642716535433071</c:v>
                </c:pt>
                <c:pt idx="281">
                  <c:v>1.6718805841545865</c:v>
                </c:pt>
                <c:pt idx="282">
                  <c:v>0.0</c:v>
                </c:pt>
                <c:pt idx="283">
                  <c:v>0.8726730228162354</c:v>
                </c:pt>
                <c:pt idx="284">
                  <c:v>0.019312926714871167</c:v>
                </c:pt>
                <c:pt idx="285">
                  <c:v>2.5358674360739055</c:v>
                </c:pt>
                <c:pt idx="286">
                  <c:v>1.9313970936503704</c:v>
                </c:pt>
                <c:pt idx="287">
                  <c:v>0.999770839043635</c:v>
                </c:pt>
              </c:numCache>
            </c:numRef>
          </c:yVal>
          <c:smooth val="0"/>
        </c:ser>
        <c:ser>
          <c:idx val="1"/>
          <c:order val="1"/>
          <c:tx>
            <c:strRef>
              <c:f>Sheet1!$B$291</c:f>
              <c:strCache>
                <c:ptCount val="1"/>
                <c:pt idx="0">
                  <c:v>Pasa el mínimo</c:v>
                </c:pt>
              </c:strCache>
            </c:strRef>
          </c:tx>
          <c:spPr>
            <a:ln w="47625">
              <a:noFill/>
            </a:ln>
          </c:spPr>
          <c:marker>
            <c:symbol val="circle"/>
            <c:size val="6"/>
            <c:spPr>
              <a:solidFill>
                <a:srgbClr val="1F9E89"/>
              </a:solidFill>
              <a:ln>
                <a:solidFill>
                  <a:srgbClr val="FFFFFF"/>
                </a:solidFill>
              </a:ln>
            </c:spPr>
          </c:marker>
          <c:xVal>
            <c:numRef>
              <c:f>Sheet1!$A$292:$A$317</c:f>
              <c:numCache>
                <c:formatCode>General</c:formatCode>
                <c:ptCount val="26"/>
                <c:pt idx="0">
                  <c:v>5610145.0</c:v>
                </c:pt>
                <c:pt idx="1">
                  <c:v>738237.0</c:v>
                </c:pt>
                <c:pt idx="2">
                  <c:v>2003640.0</c:v>
                </c:pt>
                <c:pt idx="3">
                  <c:v>2945050.0</c:v>
                </c:pt>
                <c:pt idx="4">
                  <c:v>508713.0</c:v>
                </c:pt>
                <c:pt idx="5">
                  <c:v>2599413.0</c:v>
                </c:pt>
                <c:pt idx="6">
                  <c:v>2033884.0</c:v>
                </c:pt>
                <c:pt idx="7">
                  <c:v>1538243.0</c:v>
                </c:pt>
                <c:pt idx="8">
                  <c:v>335882.0</c:v>
                </c:pt>
                <c:pt idx="9">
                  <c:v>310096.0</c:v>
                </c:pt>
                <c:pt idx="10">
                  <c:v>880762.0</c:v>
                </c:pt>
                <c:pt idx="11">
                  <c:v>886916.0</c:v>
                </c:pt>
                <c:pt idx="12">
                  <c:v>277500.0</c:v>
                </c:pt>
                <c:pt idx="13">
                  <c:v>313061.0</c:v>
                </c:pt>
                <c:pt idx="14">
                  <c:v>205352.0</c:v>
                </c:pt>
                <c:pt idx="15">
                  <c:v>327528.0</c:v>
                </c:pt>
                <c:pt idx="16">
                  <c:v>501128.0</c:v>
                </c:pt>
                <c:pt idx="17">
                  <c:v>465803.0</c:v>
                </c:pt>
                <c:pt idx="18">
                  <c:v>340056.0</c:v>
                </c:pt>
                <c:pt idx="19">
                  <c:v>564172.0</c:v>
                </c:pt>
                <c:pt idx="20">
                  <c:v>339708.0</c:v>
                </c:pt>
                <c:pt idx="21">
                  <c:v>487914.0</c:v>
                </c:pt>
                <c:pt idx="22">
                  <c:v>521166.0</c:v>
                </c:pt>
                <c:pt idx="23">
                  <c:v>226837.0</c:v>
                </c:pt>
                <c:pt idx="24">
                  <c:v>212376.0</c:v>
                </c:pt>
                <c:pt idx="25">
                  <c:v>287782.0</c:v>
                </c:pt>
              </c:numCache>
            </c:numRef>
          </c:xVal>
          <c:yVal>
            <c:numRef>
              <c:f>Sheet1!$B$292:$B$317</c:f>
              <c:numCache>
                <c:formatCode>General</c:formatCode>
                <c:ptCount val="26"/>
                <c:pt idx="0">
                  <c:v>3.109812669726005</c:v>
                </c:pt>
                <c:pt idx="1">
                  <c:v>4.196890700411927</c:v>
                </c:pt>
                <c:pt idx="2">
                  <c:v>8.0</c:v>
                </c:pt>
                <c:pt idx="3">
                  <c:v>5.830529193052749</c:v>
                </c:pt>
                <c:pt idx="4">
                  <c:v>3.107449583556937</c:v>
                </c:pt>
                <c:pt idx="5">
                  <c:v>5.302543304969237</c:v>
                </c:pt>
                <c:pt idx="6">
                  <c:v>3.3779212580461815</c:v>
                </c:pt>
                <c:pt idx="7">
                  <c:v>8.0</c:v>
                </c:pt>
                <c:pt idx="8">
                  <c:v>5.5156275120429195</c:v>
                </c:pt>
                <c:pt idx="9">
                  <c:v>3.241899282802745</c:v>
                </c:pt>
                <c:pt idx="10">
                  <c:v>6.727015924846894</c:v>
                </c:pt>
                <c:pt idx="11">
                  <c:v>8.0</c:v>
                </c:pt>
                <c:pt idx="12">
                  <c:v>3.036036036036036</c:v>
                </c:pt>
                <c:pt idx="13">
                  <c:v>7.297299887242422</c:v>
                </c:pt>
                <c:pt idx="14">
                  <c:v>3.1716272546651605</c:v>
                </c:pt>
                <c:pt idx="15">
                  <c:v>4.40206638821719</c:v>
                </c:pt>
                <c:pt idx="16">
                  <c:v>6.37182516243355</c:v>
                </c:pt>
                <c:pt idx="17">
                  <c:v>8.0</c:v>
                </c:pt>
                <c:pt idx="18">
                  <c:v>3.6508692685910558</c:v>
                </c:pt>
                <c:pt idx="19">
                  <c:v>3.54714519685486</c:v>
                </c:pt>
                <c:pt idx="20">
                  <c:v>4.144441696986824</c:v>
                </c:pt>
                <c:pt idx="21">
                  <c:v>4.492799960648803</c:v>
                </c:pt>
                <c:pt idx="22">
                  <c:v>4.86524447105145</c:v>
                </c:pt>
                <c:pt idx="23">
                  <c:v>8.0</c:v>
                </c:pt>
                <c:pt idx="24">
                  <c:v>8.0</c:v>
                </c:pt>
                <c:pt idx="25">
                  <c:v>6.8190505313049465</c:v>
                </c:pt>
              </c:numCache>
            </c:numRef>
          </c:yVal>
          <c:smooth val="0"/>
        </c:ser>
        <c:axId val="-2128940872"/>
        <c:axId val="-2129643912"/>
      </c:scatterChart>
      <c:valAx>
        <c:axId val="-2128940872"/>
        <c:scaling>
          <c:logBase val="10"/>
          <c:orientation val="minMax"/>
          <c:max val="20000000.0"/>
          <c:min val="200000.0"/>
        </c:scaling>
        <c:delete val="0"/>
        <c:axPos val="b"/>
        <c:numFmt formatCode="#,##0,,&quot;M&quot;" sourceLinked="0"/>
        <c:majorTickMark val="out"/>
        <c:minorTickMark val="none"/>
        <c:tickLblPos val="nextTo"/>
        <c:txPr>
          <a:bodyPr/>
          <a:lstStyle/>
          <a:p>
            <a:pPr>
              <a:defRPr sz="900"/>
            </a:pPr>
          </a:p>
        </c:txPr>
        <c:crossAx val="-2129643912"/>
        <c:crosses val="autoZero"/>
        <c:crossBetween val="midCat"/>
      </c:valAx>
      <c:valAx>
        <c:axId val="-2129643912"/>
        <c:scaling>
          <c:orientation val="minMax"/>
          <c:max val="8.0"/>
          <c:min val="0.0"/>
        </c:scaling>
        <c:delete val="0"/>
        <c:axPos val="l"/>
        <c:majorGridlines>
          <c:spPr>
            <a:ln>
              <a:solidFill>
                <a:srgbClr val="E3E6EB"/>
              </a:solidFill>
            </a:ln>
          </c:spPr>
        </c:majorGridlines>
        <c:numFmt formatCode="0.0&quot; %&quot;" sourceLinked="0"/>
        <c:majorTickMark val="out"/>
        <c:minorTickMark val="none"/>
        <c:tickLblPos val="nextTo"/>
        <c:txPr>
          <a:bodyPr/>
          <a:lstStyle/>
          <a:p>
            <a:pPr>
              <a:defRPr sz="900"/>
            </a:pPr>
          </a:p>
        </c:txPr>
        <c:crossAx val="-2128940872"/>
        <c:crosses val="autoZero"/>
        <c:crossBetween val="midCat"/>
      </c:valAx>
    </c:plotArea>
    <c:plotVisOnly val="1"/>
    <c:dispBlanksAs val="gap"/>
    <c:showDLblsOverMax val="0"/>
  </c:chart>
  <c:txPr>
    <a:bodyPr/>
    <a:lstStyle/>
    <a:p>
      <a:pPr>
        <a:defRPr sz="90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A1D24"/>
                </a:solidFill>
                <a:latin typeface="Calibri"/>
              </a:rPr>
              <a:t>MXN al mes (M)</a:t>
            </a:r>
          </a:p>
        </c:rich>
      </c:tx>
      <c:layout/>
      <c:overlay val="0"/>
    </c:title>
    <c:autoTitleDeleted val="0"/>
    <c:plotArea>
      <c:barChart>
        <c:barDir val="col"/>
        <c:grouping val="stacked"/>
        <c:ser>
          <c:idx val="0"/>
          <c:order val="0"/>
          <c:tx>
            <c:strRef>
              <c:f>Sheet1!$B$1</c:f>
              <c:strCache>
                <c:ptCount val="1"/>
                <c:pt idx="0">
                  <c:v>base</c:v>
                </c:pt>
              </c:strCache>
            </c:strRef>
          </c:tx>
          <c:spPr>
            <a:noFill/>
          </c:spPr>
          <c:cat>
            <c:strRef>
              <c:f>Sheet1!$A$2:$A$6</c:f>
              <c:strCache>
                <c:ptCount val="5"/>
                <c:pt idx="0">
                  <c:v>Gasto al mes hoy</c:v>
                </c:pt>
                <c:pt idx="1">
                  <c:v>Apagar (48)</c:v>
                </c:pt>
                <c:pt idx="2">
                  <c:v>Limpiar base WhatsApp (56)</c:v>
                </c:pt>
                <c:pt idx="3">
                  <c:v>Rehacer o re-segmentar (162)</c:v>
                </c:pt>
                <c:pt idx="4">
                  <c:v>Gasto al mes después</c:v>
                </c:pt>
              </c:strCache>
            </c:strRef>
          </c:cat>
          <c:val>
            <c:numRef>
              <c:f>Sheet1!$B$2:$B$6</c:f>
              <c:numCache>
                <c:formatCode>General</c:formatCode>
                <c:ptCount val="5"/>
                <c:pt idx="0">
                  <c:v>0</c:v>
                </c:pt>
                <c:pt idx="1">
                  <c:v>3.66</c:v>
                </c:pt>
                <c:pt idx="2">
                  <c:v>3.42</c:v>
                </c:pt>
                <c:pt idx="3">
                  <c:v>3.2199999999999998</c:v>
                </c:pt>
                <c:pt idx="4">
                  <c:v>0</c:v>
                </c:pt>
              </c:numCache>
            </c:numRef>
          </c:val>
        </c:ser>
        <c:ser>
          <c:idx val="1"/>
          <c:order val="1"/>
          <c:tx>
            <c:strRef>
              <c:f>Sheet1!$C$1</c:f>
              <c:strCache>
                <c:ptCount val="1"/>
                <c:pt idx="0">
                  <c:v>Totales</c:v>
                </c:pt>
              </c:strCache>
            </c:strRef>
          </c:tx>
          <c:spPr>
            <a:solidFill>
              <a:srgbClr val="5B6270"/>
            </a:solidFill>
          </c:spPr>
          <c:dPt>
            <c:idx val="4"/>
            <c:spPr>
              <a:solidFill>
                <a:srgbClr val="1F4FD8"/>
              </a:solidFill>
            </c:spPr>
          </c:dPt>
          <c:dLbls>
            <c:numFmt formatCode="0.00&quot; M&quot;;;" sourceLinked="0"/>
            <c:txPr>
              <a:bodyPr/>
              <a:lstStyle/>
              <a:p>
                <a:pPr>
                  <a:defRPr sz="900">
                    <a:solidFill>
                      <a:srgbClr val="1A1D24"/>
                    </a:solidFill>
                    <a:latin typeface="Calibri"/>
                  </a:defRPr>
                </a:pPr>
              </a:p>
            </c:txPr>
            <c:dLblPos val="inEnd"/>
            <c:showLegendKey val="0"/>
            <c:showVal val="1"/>
            <c:showCatName val="0"/>
            <c:showSerName val="0"/>
            <c:showPercent val="0"/>
            <c:showBubbleSize val="0"/>
            <c:showLeaderLines val="1"/>
          </c:dLbls>
          <c:cat>
            <c:strRef>
              <c:f>Sheet1!$A$2:$A$6</c:f>
              <c:strCache>
                <c:ptCount val="5"/>
                <c:pt idx="0">
                  <c:v>Gasto al mes hoy</c:v>
                </c:pt>
                <c:pt idx="1">
                  <c:v>Apagar (48)</c:v>
                </c:pt>
                <c:pt idx="2">
                  <c:v>Limpiar base WhatsApp (56)</c:v>
                </c:pt>
                <c:pt idx="3">
                  <c:v>Rehacer o re-segmentar (162)</c:v>
                </c:pt>
                <c:pt idx="4">
                  <c:v>Gasto al mes después</c:v>
                </c:pt>
              </c:strCache>
            </c:strRef>
          </c:cat>
          <c:val>
            <c:numRef>
              <c:f>Sheet1!$C$2:$C$6</c:f>
              <c:numCache>
                <c:formatCode>General</c:formatCode>
                <c:ptCount val="5"/>
                <c:pt idx="0">
                  <c:v>4.82</c:v>
                </c:pt>
                <c:pt idx="1">
                  <c:v>0</c:v>
                </c:pt>
                <c:pt idx="2">
                  <c:v>0</c:v>
                </c:pt>
                <c:pt idx="3">
                  <c:v>0</c:v>
                </c:pt>
                <c:pt idx="4">
                  <c:v>3.22</c:v>
                </c:pt>
              </c:numCache>
            </c:numRef>
          </c:val>
        </c:ser>
        <c:ser>
          <c:idx val="2"/>
          <c:order val="2"/>
          <c:tx>
            <c:strRef>
              <c:f>Sheet1!$D$1</c:f>
              <c:strCache>
                <c:ptCount val="1"/>
                <c:pt idx="0">
                  <c:v>Ahorro</c:v>
                </c:pt>
              </c:strCache>
            </c:strRef>
          </c:tx>
          <c:spPr>
            <a:solidFill>
              <a:srgbClr val="B5342B"/>
            </a:solidFill>
          </c:spPr>
          <c:dLbls>
            <c:numFmt formatCode="&quot;−&quot;0.00&quot; M&quot;;;" sourceLinked="0"/>
            <c:txPr>
              <a:bodyPr/>
              <a:lstStyle/>
              <a:p>
                <a:pPr>
                  <a:defRPr sz="900">
                    <a:solidFill>
                      <a:srgbClr val="1A1D24"/>
                    </a:solidFill>
                    <a:latin typeface="Calibri"/>
                  </a:defRPr>
                </a:pPr>
              </a:p>
            </c:txPr>
            <c:dLblPos val="inEnd"/>
            <c:showLegendKey val="0"/>
            <c:showVal val="1"/>
            <c:showCatName val="0"/>
            <c:showSerName val="0"/>
            <c:showPercent val="0"/>
            <c:showBubbleSize val="0"/>
            <c:showLeaderLines val="1"/>
          </c:dLbls>
          <c:cat>
            <c:strRef>
              <c:f>Sheet1!$A$2:$A$6</c:f>
              <c:strCache>
                <c:ptCount val="5"/>
                <c:pt idx="0">
                  <c:v>Gasto al mes hoy</c:v>
                </c:pt>
                <c:pt idx="1">
                  <c:v>Apagar (48)</c:v>
                </c:pt>
                <c:pt idx="2">
                  <c:v>Limpiar base WhatsApp (56)</c:v>
                </c:pt>
                <c:pt idx="3">
                  <c:v>Rehacer o re-segmentar (162)</c:v>
                </c:pt>
                <c:pt idx="4">
                  <c:v>Gasto al mes después</c:v>
                </c:pt>
              </c:strCache>
            </c:strRef>
          </c:cat>
          <c:val>
            <c:numRef>
              <c:f>Sheet1!$D$2:$D$6</c:f>
              <c:numCache>
                <c:formatCode>General</c:formatCode>
                <c:ptCount val="5"/>
                <c:pt idx="0">
                  <c:v>0</c:v>
                </c:pt>
                <c:pt idx="1">
                  <c:v>1.16</c:v>
                </c:pt>
                <c:pt idx="2">
                  <c:v>0.24</c:v>
                </c:pt>
                <c:pt idx="3">
                  <c:v>0.2</c:v>
                </c:pt>
                <c:pt idx="4">
                  <c:v>0</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E3E6EB"/>
            </a:solidFill>
          </a:ln>
        </c:spPr>
        <c:txPr>
          <a:bodyPr/>
          <a:lstStyle/>
          <a:p>
            <a:pPr>
              <a:defRPr sz="900">
                <a:solidFill>
                  <a:srgbClr val="5B6270"/>
                </a:solidFill>
                <a:latin typeface="Calibri"/>
              </a:defRPr>
            </a:pPr>
          </a:p>
        </c:txPr>
        <c:crossAx val="-2113994440"/>
        <c:crosses val="autoZero"/>
        <c:auto val="1"/>
        <c:lblAlgn val="ctr"/>
        <c:lblOffset val="100"/>
        <c:noMultiLvlLbl val="0"/>
      </c:catAx>
      <c:valAx>
        <c:axId val="-2113994440"/>
        <c:scaling/>
        <c:delete/>
        <c:axPos val="l"/>
        <c:majorTickMark val="out"/>
        <c:minorTickMark val="none"/>
        <c:tickLblPos val="nextTo"/>
        <c:spPr>
          <a:ln>
            <a:solidFill>
              <a:srgbClr val="E3E6EB"/>
            </a:solidFill>
          </a:ln>
        </c:spPr>
        <c:txPr>
          <a:bodyPr/>
          <a:lstStyle/>
          <a:p>
            <a:pPr>
              <a:defRPr sz="900">
                <a:solidFill>
                  <a:srgbClr val="5B6270"/>
                </a:solidFill>
                <a:latin typeface="Calibri"/>
              </a:defRPr>
            </a:pPr>
          </a:p>
        </c:txPr>
        <c:crossAx val="-2068027336"/>
        <c:crosses val="autoZero"/>
      </c:valAx>
    </c:plotArea>
    <c:dispBlanksAs val="gap"/>
  </c:chart>
  <c:txPr>
    <a:bodyPr/>
    <a:lstStyle/>
    <a:p>
      <a:pPr>
        <a:defRPr sz="1000">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chart" Target="../charts/char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5486400" cy="365760"/>
          </a:xfrm>
          <a:prstGeom prst="rect">
            <a:avLst/>
          </a:prstGeom>
          <a:noFill/>
        </p:spPr>
        <p:txBody>
          <a:bodyPr wrap="square" lIns="18288" rIns="18288" tIns="18288" bIns="18288" anchor="t">
            <a:spAutoFit/>
          </a:bodyPr>
          <a:lstStyle/>
          <a:p>
            <a:pPr algn="l"/>
            <a:r>
              <a:rPr sz="1100" b="1">
                <a:solidFill>
                  <a:srgbClr val="1F4FD8"/>
                </a:solidFill>
                <a:latin typeface="Calibri"/>
              </a:rPr>
              <a:t>KUESKI · BRAZE</a:t>
            </a:r>
          </a:p>
        </p:txBody>
      </p:sp>
      <p:sp>
        <p:nvSpPr>
          <p:cNvPr id="5" name="TextBox 4"/>
          <p:cNvSpPr txBox="1"/>
          <p:nvPr/>
        </p:nvSpPr>
        <p:spPr>
          <a:xfrm>
            <a:off x="822960" y="2103120"/>
            <a:ext cx="8686800" cy="1645920"/>
          </a:xfrm>
          <a:prstGeom prst="rect">
            <a:avLst/>
          </a:prstGeom>
          <a:noFill/>
        </p:spPr>
        <p:txBody>
          <a:bodyPr wrap="square" lIns="18288" rIns="18288" tIns="18288" bIns="18288" anchor="t">
            <a:spAutoFit/>
          </a:bodyPr>
          <a:lstStyle/>
          <a:p>
            <a:pPr algn="l"/>
            <a:r>
              <a:rPr sz="4000" b="1">
                <a:solidFill>
                  <a:srgbClr val="1A1D24"/>
                </a:solidFill>
                <a:latin typeface="Calibri"/>
              </a:rPr>
              <a:t>Braze en Kueski: mandar menos y a quien sí</a:t>
            </a:r>
          </a:p>
        </p:txBody>
      </p:sp>
      <p:sp>
        <p:nvSpPr>
          <p:cNvPr id="6" name="TextBox 5"/>
          <p:cNvSpPr txBox="1"/>
          <p:nvPr/>
        </p:nvSpPr>
        <p:spPr>
          <a:xfrm>
            <a:off x="822960" y="3840480"/>
            <a:ext cx="8686800" cy="548640"/>
          </a:xfrm>
          <a:prstGeom prst="rect">
            <a:avLst/>
          </a:prstGeom>
          <a:noFill/>
        </p:spPr>
        <p:txBody>
          <a:bodyPr wrap="square" lIns="18288" rIns="18288" tIns="18288" bIns="18288" anchor="t">
            <a:spAutoFit/>
          </a:bodyPr>
          <a:lstStyle/>
          <a:p>
            <a:pPr algn="l"/>
            <a:r>
              <a:rPr sz="1800" b="0">
                <a:solidFill>
                  <a:srgbClr val="5B6270"/>
                </a:solidFill>
                <a:latin typeface="Calibri"/>
              </a:rPr>
              <a:t>Auditoría de comunicaciones, enero a septiembre de 2026</a:t>
            </a:r>
          </a:p>
        </p:txBody>
      </p:sp>
      <p:sp>
        <p:nvSpPr>
          <p:cNvPr id="7" name="TextBox 6"/>
          <p:cNvSpPr txBox="1"/>
          <p:nvPr/>
        </p:nvSpPr>
        <p:spPr>
          <a:xfrm>
            <a:off x="822960" y="5120640"/>
            <a:ext cx="8686800" cy="365760"/>
          </a:xfrm>
          <a:prstGeom prst="rect">
            <a:avLst/>
          </a:prstGeom>
          <a:noFill/>
        </p:spPr>
        <p:txBody>
          <a:bodyPr wrap="square" lIns="18288" rIns="18288" tIns="18288" bIns="18288" anchor="t">
            <a:spAutoFit/>
          </a:bodyPr>
          <a:lstStyle/>
          <a:p>
            <a:pPr algn="l"/>
            <a:r>
              <a:rPr sz="1200" b="0">
                <a:solidFill>
                  <a:srgbClr val="8A909B"/>
                </a:solidFill>
                <a:latin typeface="Calibri"/>
              </a:rPr>
              <a:t>Business case y plan de acción. 15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RESUMEN EJECUTIVO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2200" b="1">
                <a:solidFill>
                  <a:srgbClr val="1A1D24"/>
                </a:solidFill>
                <a:latin typeface="Calibri"/>
              </a:rPr>
              <a:t>Mandar menos y a quien sí ahorra 1.6 M MXN al mes y recupera la respuesta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(Insights, Plan_accion, Estándares); análisis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a:t>
            </a:r>
          </a:p>
        </p:txBody>
      </p:sp>
      <p:sp>
        <p:nvSpPr>
          <p:cNvPr id="8" name="TextBox 7"/>
          <p:cNvSpPr txBox="1"/>
          <p:nvPr/>
        </p:nvSpPr>
        <p:spPr>
          <a:xfrm>
            <a:off x="548640" y="1783080"/>
            <a:ext cx="3413760" cy="274320"/>
          </a:xfrm>
          <a:prstGeom prst="rect">
            <a:avLst/>
          </a:prstGeom>
          <a:noFill/>
        </p:spPr>
        <p:txBody>
          <a:bodyPr wrap="square" lIns="18288" rIns="18288" tIns="18288" bIns="18288" anchor="t">
            <a:spAutoFit/>
          </a:bodyPr>
          <a:lstStyle/>
          <a:p>
            <a:pPr algn="l"/>
            <a:r>
              <a:rPr sz="1000" b="1">
                <a:solidFill>
                  <a:srgbClr val="1F4FD8"/>
                </a:solidFill>
                <a:latin typeface="Calibri"/>
              </a:rPr>
              <a:t>QUÉ PASA</a:t>
            </a:r>
          </a:p>
        </p:txBody>
      </p:sp>
      <p:sp>
        <p:nvSpPr>
          <p:cNvPr id="9" name="TextBox 8"/>
          <p:cNvSpPr txBox="1"/>
          <p:nvPr/>
        </p:nvSpPr>
        <p:spPr>
          <a:xfrm>
            <a:off x="548640" y="2103120"/>
            <a:ext cx="3413760" cy="3383280"/>
          </a:xfrm>
          <a:prstGeom prst="rect">
            <a:avLst/>
          </a:prstGeom>
          <a:noFill/>
        </p:spPr>
        <p:txBody>
          <a:bodyPr wrap="square">
            <a:spAutoFit/>
          </a:bodyPr>
          <a:lstStyle/>
          <a:p>
            <a:pPr>
              <a:spcAft>
                <a:spcPts val="600"/>
              </a:spcAft>
            </a:pPr>
            <a:r>
              <a:rPr sz="1150">
                <a:solidFill>
                  <a:srgbClr val="1A1D24"/>
                </a:solidFill>
                <a:latin typeface="Calibri"/>
              </a:rPr>
              <a:t>•  Kueski mandó 667 M mensajes en 9 meses y gastó 57.7 M MXN. El volumen subió 86 % hasta junio y la respuesta cayó: 19 de 24 indicadores están debajo del estándar.</a:t>
            </a:r>
          </a:p>
          <a:p>
            <a:pPr>
              <a:spcAft>
                <a:spcPts val="600"/>
              </a:spcAft>
            </a:pPr>
            <a:r>
              <a:rPr sz="1150">
                <a:solidFill>
                  <a:srgbClr val="1A1D24"/>
                </a:solidFill>
                <a:latin typeface="Calibri"/>
              </a:rPr>
              <a:t>•  73 % de los usuarios no respondió a nada. 59 % de los mensajes van a un canal que el usuario nunca abrió (18.7 M MXN).</a:t>
            </a:r>
          </a:p>
          <a:p>
            <a:pPr>
              <a:spcAft>
                <a:spcPts val="600"/>
              </a:spcAft>
            </a:pPr>
            <a:r>
              <a:rPr sz="1150">
                <a:solidFill>
                  <a:srgbClr val="1A1D24"/>
                </a:solidFill>
                <a:latin typeface="Calibri"/>
              </a:rPr>
              <a:t>•  43.8 M mensajes promocionales llegaron a usuarios bloqueados, 80 mil emails a dados de baja y 1 de cada 4 WhatsApp no llega y se paga.</a:t>
            </a:r>
          </a:p>
        </p:txBody>
      </p:sp>
      <p:sp>
        <p:nvSpPr>
          <p:cNvPr id="10" name="TextBox 9"/>
          <p:cNvSpPr txBox="1"/>
          <p:nvPr/>
        </p:nvSpPr>
        <p:spPr>
          <a:xfrm>
            <a:off x="4236720" y="1783080"/>
            <a:ext cx="3413760" cy="274320"/>
          </a:xfrm>
          <a:prstGeom prst="rect">
            <a:avLst/>
          </a:prstGeom>
          <a:noFill/>
        </p:spPr>
        <p:txBody>
          <a:bodyPr wrap="square" lIns="18288" rIns="18288" tIns="18288" bIns="18288" anchor="t">
            <a:spAutoFit/>
          </a:bodyPr>
          <a:lstStyle/>
          <a:p>
            <a:pPr algn="l"/>
            <a:r>
              <a:rPr sz="1000" b="1">
                <a:solidFill>
                  <a:srgbClr val="1F4FD8"/>
                </a:solidFill>
                <a:latin typeface="Calibri"/>
              </a:rPr>
              <a:t>POR QUÉ</a:t>
            </a:r>
          </a:p>
        </p:txBody>
      </p:sp>
      <p:sp>
        <p:nvSpPr>
          <p:cNvPr id="11" name="TextBox 10"/>
          <p:cNvSpPr txBox="1"/>
          <p:nvPr/>
        </p:nvSpPr>
        <p:spPr>
          <a:xfrm>
            <a:off x="4236720" y="2103120"/>
            <a:ext cx="3413760" cy="3383280"/>
          </a:xfrm>
          <a:prstGeom prst="rect">
            <a:avLst/>
          </a:prstGeom>
          <a:noFill/>
        </p:spPr>
        <p:txBody>
          <a:bodyPr wrap="square">
            <a:spAutoFit/>
          </a:bodyPr>
          <a:lstStyle/>
          <a:p>
            <a:pPr>
              <a:spcAft>
                <a:spcPts val="600"/>
              </a:spcAft>
            </a:pPr>
            <a:r>
              <a:rPr sz="1150">
                <a:solidFill>
                  <a:srgbClr val="1A1D24"/>
                </a:solidFill>
                <a:latin typeface="Calibri"/>
              </a:rPr>
              <a:t>•  Se manda por volumen, no por señal: 5 % de los usuarios recibe 41 o más mensajes al mes y los equipos chocan en los mismos usuarios el mismo día.</a:t>
            </a:r>
          </a:p>
          <a:p>
            <a:pPr>
              <a:spcAft>
                <a:spcPts val="600"/>
              </a:spcAft>
            </a:pPr>
            <a:r>
              <a:rPr sz="1150">
                <a:solidFill>
                  <a:srgbClr val="1A1D24"/>
                </a:solidFill>
                <a:latin typeface="Calibri"/>
              </a:rPr>
              <a:t>•  No hay grupo de control en ningún Canvas ni una prueba A/B de mensaje: nadie puede decir cuánto vende Braze.</a:t>
            </a:r>
          </a:p>
          <a:p>
            <a:pPr>
              <a:spcAft>
                <a:spcPts val="600"/>
              </a:spcAft>
            </a:pPr>
            <a:r>
              <a:rPr sz="1150">
                <a:solidFill>
                  <a:srgbClr val="1A1D24"/>
                </a:solidFill>
                <a:latin typeface="Calibri"/>
              </a:rPr>
              <a:t>•  749 piezas sin ticket y 731 formas de escribir la audiencia: no hay dueños ni reglas.</a:t>
            </a:r>
          </a:p>
        </p:txBody>
      </p:sp>
      <p:sp>
        <p:nvSpPr>
          <p:cNvPr id="12" name="TextBox 11"/>
          <p:cNvSpPr txBox="1"/>
          <p:nvPr/>
        </p:nvSpPr>
        <p:spPr>
          <a:xfrm>
            <a:off x="7924799" y="1783080"/>
            <a:ext cx="3413760" cy="274320"/>
          </a:xfrm>
          <a:prstGeom prst="rect">
            <a:avLst/>
          </a:prstGeom>
          <a:noFill/>
        </p:spPr>
        <p:txBody>
          <a:bodyPr wrap="square" lIns="18288" rIns="18288" tIns="18288" bIns="18288" anchor="t">
            <a:spAutoFit/>
          </a:bodyPr>
          <a:lstStyle/>
          <a:p>
            <a:pPr algn="l"/>
            <a:r>
              <a:rPr sz="1000" b="1">
                <a:solidFill>
                  <a:srgbClr val="1F4FD8"/>
                </a:solidFill>
                <a:latin typeface="Calibri"/>
              </a:rPr>
              <a:t>QUÉ HACER</a:t>
            </a:r>
          </a:p>
        </p:txBody>
      </p:sp>
      <p:sp>
        <p:nvSpPr>
          <p:cNvPr id="13" name="TextBox 12"/>
          <p:cNvSpPr txBox="1"/>
          <p:nvPr/>
        </p:nvSpPr>
        <p:spPr>
          <a:xfrm>
            <a:off x="7924799" y="2103120"/>
            <a:ext cx="3413760" cy="3383280"/>
          </a:xfrm>
          <a:prstGeom prst="rect">
            <a:avLst/>
          </a:prstGeom>
          <a:noFill/>
        </p:spPr>
        <p:txBody>
          <a:bodyPr wrap="square">
            <a:spAutoFit/>
          </a:bodyPr>
          <a:lstStyle/>
          <a:p>
            <a:pPr>
              <a:spcAft>
                <a:spcPts val="600"/>
              </a:spcAft>
            </a:pPr>
            <a:r>
              <a:rPr sz="1150">
                <a:solidFill>
                  <a:srgbClr val="1A1D24"/>
                </a:solidFill>
                <a:latin typeface="Calibri"/>
              </a:rPr>
              <a:t>•  Ejecutar el plan por campaña: 582 campañas a tocar, 1.6 M MXN al mes de ahorro (33 % del gasto) y 27 M mensajes menos al mes (42 %).</a:t>
            </a:r>
          </a:p>
          <a:p>
            <a:pPr>
              <a:spcAft>
                <a:spcPts val="600"/>
              </a:spcAft>
            </a:pPr>
            <a:r>
              <a:rPr sz="1150">
                <a:solidFill>
                  <a:srgbClr val="1A1D24"/>
                </a:solidFill>
                <a:latin typeface="Calibri"/>
              </a:rPr>
              <a:t>•  Adoptar el playbook: 12 reglas, exclusiones, canal y frecuencia por usuario, control del 10 % en toda pieza.</a:t>
            </a:r>
          </a:p>
          <a:p>
            <a:pPr>
              <a:spcAft>
                <a:spcPts val="600"/>
              </a:spcAft>
            </a:pPr>
            <a:r>
              <a:rPr sz="1150">
                <a:solidFill>
                  <a:srgbClr val="1A1D24"/>
                </a:solidFill>
                <a:latin typeface="Calibri"/>
              </a:rPr>
              <a:t>•  Configurar Braze una vez (topes, control nativo, horas de silencio, re-elegibilidad) y nombrar un dueño por cosa. 90 días.</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Decisión que se pide hoy: aprobar el plan por campaña y el playbook, y nombrar un dueño de Braze. El ahorro empieza en la semana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Con 18 extracciones agregadas se puede decir qué pieza, de qué equipo y en qué mes causó cada problema: no hace falta acceso a Braze para auditar</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pestañas Léeme y Parámetros; Databricks braze.*</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a:t>
            </a:r>
          </a:p>
        </p:txBody>
      </p:sp>
      <p:sp>
        <p:nvSpPr>
          <p:cNvPr id="8" name="Rectangle 7"/>
          <p:cNvSpPr/>
          <p:nvPr/>
        </p:nvSpPr>
        <p:spPr>
          <a:xfrm>
            <a:off x="548640" y="1783080"/>
            <a:ext cx="204216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892807"/>
            <a:ext cx="2042160" cy="548640"/>
          </a:xfrm>
          <a:prstGeom prst="rect">
            <a:avLst/>
          </a:prstGeom>
          <a:noFill/>
        </p:spPr>
        <p:txBody>
          <a:bodyPr wrap="square" lIns="18288" rIns="18288" tIns="18288" bIns="18288" anchor="t">
            <a:spAutoFit/>
          </a:bodyPr>
          <a:lstStyle/>
          <a:p>
            <a:pPr algn="l"/>
            <a:r>
              <a:rPr sz="2600" b="1">
                <a:solidFill>
                  <a:srgbClr val="1F4FD8"/>
                </a:solidFill>
                <a:latin typeface="Calibri"/>
              </a:rPr>
              <a:t>667 M</a:t>
            </a:r>
          </a:p>
        </p:txBody>
      </p:sp>
      <p:sp>
        <p:nvSpPr>
          <p:cNvPr id="10" name="TextBox 9"/>
          <p:cNvSpPr txBox="1"/>
          <p:nvPr/>
        </p:nvSpPr>
        <p:spPr>
          <a:xfrm>
            <a:off x="548640" y="2496312"/>
            <a:ext cx="2042160" cy="365760"/>
          </a:xfrm>
          <a:prstGeom prst="rect">
            <a:avLst/>
          </a:prstGeom>
          <a:noFill/>
        </p:spPr>
        <p:txBody>
          <a:bodyPr wrap="square" lIns="18288" rIns="18288" tIns="18288" bIns="18288" anchor="t">
            <a:spAutoFit/>
          </a:bodyPr>
          <a:lstStyle/>
          <a:p>
            <a:pPr algn="l"/>
            <a:r>
              <a:rPr sz="1200" b="1">
                <a:solidFill>
                  <a:srgbClr val="1A1D24"/>
                </a:solidFill>
                <a:latin typeface="Calibri"/>
              </a:rPr>
              <a:t>mensajes enviados</a:t>
            </a:r>
          </a:p>
        </p:txBody>
      </p:sp>
      <p:sp>
        <p:nvSpPr>
          <p:cNvPr id="11" name="TextBox 10"/>
          <p:cNvSpPr txBox="1"/>
          <p:nvPr/>
        </p:nvSpPr>
        <p:spPr>
          <a:xfrm>
            <a:off x="548640" y="2807208"/>
            <a:ext cx="2042160" cy="548640"/>
          </a:xfrm>
          <a:prstGeom prst="rect">
            <a:avLst/>
          </a:prstGeom>
          <a:noFill/>
        </p:spPr>
        <p:txBody>
          <a:bodyPr wrap="square" lIns="18288" rIns="18288" tIns="18288" bIns="18288" anchor="t">
            <a:spAutoFit/>
          </a:bodyPr>
          <a:lstStyle/>
          <a:p>
            <a:pPr algn="l"/>
            <a:r>
              <a:rPr sz="950" b="0">
                <a:solidFill>
                  <a:srgbClr val="5B6270"/>
                </a:solidFill>
                <a:latin typeface="Calibri"/>
              </a:rPr>
              <a:t>email, push, WhatsApp, in-app</a:t>
            </a:r>
          </a:p>
        </p:txBody>
      </p:sp>
      <p:sp>
        <p:nvSpPr>
          <p:cNvPr id="12" name="Rectangle 11"/>
          <p:cNvSpPr/>
          <p:nvPr/>
        </p:nvSpPr>
        <p:spPr>
          <a:xfrm>
            <a:off x="2865120" y="1783080"/>
            <a:ext cx="204216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5120" y="1892807"/>
            <a:ext cx="2042160" cy="548640"/>
          </a:xfrm>
          <a:prstGeom prst="rect">
            <a:avLst/>
          </a:prstGeom>
          <a:noFill/>
        </p:spPr>
        <p:txBody>
          <a:bodyPr wrap="square" lIns="18288" rIns="18288" tIns="18288" bIns="18288" anchor="t">
            <a:spAutoFit/>
          </a:bodyPr>
          <a:lstStyle/>
          <a:p>
            <a:pPr algn="l"/>
            <a:r>
              <a:rPr sz="2600" b="1">
                <a:solidFill>
                  <a:srgbClr val="1F4FD8"/>
                </a:solidFill>
                <a:latin typeface="Calibri"/>
              </a:rPr>
              <a:t>57.7 M MXN</a:t>
            </a:r>
          </a:p>
        </p:txBody>
      </p:sp>
      <p:sp>
        <p:nvSpPr>
          <p:cNvPr id="14" name="TextBox 13"/>
          <p:cNvSpPr txBox="1"/>
          <p:nvPr/>
        </p:nvSpPr>
        <p:spPr>
          <a:xfrm>
            <a:off x="2865120" y="2496312"/>
            <a:ext cx="2042160" cy="365760"/>
          </a:xfrm>
          <a:prstGeom prst="rect">
            <a:avLst/>
          </a:prstGeom>
          <a:noFill/>
        </p:spPr>
        <p:txBody>
          <a:bodyPr wrap="square" lIns="18288" rIns="18288" tIns="18288" bIns="18288" anchor="t">
            <a:spAutoFit/>
          </a:bodyPr>
          <a:lstStyle/>
          <a:p>
            <a:pPr algn="l"/>
            <a:r>
              <a:rPr sz="1200" b="1">
                <a:solidFill>
                  <a:srgbClr val="1A1D24"/>
                </a:solidFill>
                <a:latin typeface="Calibri"/>
              </a:rPr>
              <a:t>costo variable</a:t>
            </a:r>
          </a:p>
        </p:txBody>
      </p:sp>
      <p:sp>
        <p:nvSpPr>
          <p:cNvPr id="15" name="TextBox 14"/>
          <p:cNvSpPr txBox="1"/>
          <p:nvPr/>
        </p:nvSpPr>
        <p:spPr>
          <a:xfrm>
            <a:off x="2865120" y="2807208"/>
            <a:ext cx="2042160" cy="548640"/>
          </a:xfrm>
          <a:prstGeom prst="rect">
            <a:avLst/>
          </a:prstGeom>
          <a:noFill/>
        </p:spPr>
        <p:txBody>
          <a:bodyPr wrap="square" lIns="18288" rIns="18288" tIns="18288" bIns="18288" anchor="t">
            <a:spAutoFit/>
          </a:bodyPr>
          <a:lstStyle/>
          <a:p>
            <a:pPr algn="l"/>
            <a:r>
              <a:rPr sz="950" b="0">
                <a:solidFill>
                  <a:srgbClr val="5B6270"/>
                </a:solidFill>
                <a:latin typeface="Calibri"/>
              </a:rPr>
              <a:t>email 0.05, WhatsApp 1.00 por entregado</a:t>
            </a:r>
          </a:p>
        </p:txBody>
      </p:sp>
      <p:sp>
        <p:nvSpPr>
          <p:cNvPr id="16" name="Rectangle 15"/>
          <p:cNvSpPr/>
          <p:nvPr/>
        </p:nvSpPr>
        <p:spPr>
          <a:xfrm>
            <a:off x="5181599" y="1783080"/>
            <a:ext cx="204216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1599" y="1892807"/>
            <a:ext cx="2042160" cy="548640"/>
          </a:xfrm>
          <a:prstGeom prst="rect">
            <a:avLst/>
          </a:prstGeom>
          <a:noFill/>
        </p:spPr>
        <p:txBody>
          <a:bodyPr wrap="square" lIns="18288" rIns="18288" tIns="18288" bIns="18288" anchor="t">
            <a:spAutoFit/>
          </a:bodyPr>
          <a:lstStyle/>
          <a:p>
            <a:pPr algn="l"/>
            <a:r>
              <a:rPr sz="2600" b="1">
                <a:solidFill>
                  <a:srgbClr val="1F4FD8"/>
                </a:solidFill>
                <a:latin typeface="Calibri"/>
              </a:rPr>
              <a:t>3,439</a:t>
            </a:r>
          </a:p>
        </p:txBody>
      </p:sp>
      <p:sp>
        <p:nvSpPr>
          <p:cNvPr id="18" name="TextBox 17"/>
          <p:cNvSpPr txBox="1"/>
          <p:nvPr/>
        </p:nvSpPr>
        <p:spPr>
          <a:xfrm>
            <a:off x="5181599" y="2496312"/>
            <a:ext cx="2042160" cy="365760"/>
          </a:xfrm>
          <a:prstGeom prst="rect">
            <a:avLst/>
          </a:prstGeom>
          <a:noFill/>
        </p:spPr>
        <p:txBody>
          <a:bodyPr wrap="square" lIns="18288" rIns="18288" tIns="18288" bIns="18288" anchor="t">
            <a:spAutoFit/>
          </a:bodyPr>
          <a:lstStyle/>
          <a:p>
            <a:pPr algn="l"/>
            <a:r>
              <a:rPr sz="1200" b="1">
                <a:solidFill>
                  <a:srgbClr val="1A1D24"/>
                </a:solidFill>
                <a:latin typeface="Calibri"/>
              </a:rPr>
              <a:t>comunicaciones</a:t>
            </a:r>
          </a:p>
        </p:txBody>
      </p:sp>
      <p:sp>
        <p:nvSpPr>
          <p:cNvPr id="19" name="TextBox 18"/>
          <p:cNvSpPr txBox="1"/>
          <p:nvPr/>
        </p:nvSpPr>
        <p:spPr>
          <a:xfrm>
            <a:off x="5181599" y="2807208"/>
            <a:ext cx="2042160" cy="548640"/>
          </a:xfrm>
          <a:prstGeom prst="rect">
            <a:avLst/>
          </a:prstGeom>
          <a:noFill/>
        </p:spPr>
        <p:txBody>
          <a:bodyPr wrap="square" lIns="18288" rIns="18288" tIns="18288" bIns="18288" anchor="t">
            <a:spAutoFit/>
          </a:bodyPr>
          <a:lstStyle/>
          <a:p>
            <a:pPr algn="l"/>
            <a:r>
              <a:rPr sz="950" b="0">
                <a:solidFill>
                  <a:srgbClr val="5B6270"/>
                </a:solidFill>
                <a:latin typeface="Calibri"/>
              </a:rPr>
              <a:t>1,822 familias, 1,913 campañas por canal</a:t>
            </a:r>
          </a:p>
        </p:txBody>
      </p:sp>
      <p:sp>
        <p:nvSpPr>
          <p:cNvPr id="20" name="Rectangle 19"/>
          <p:cNvSpPr/>
          <p:nvPr/>
        </p:nvSpPr>
        <p:spPr>
          <a:xfrm>
            <a:off x="548640" y="3246120"/>
            <a:ext cx="204216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355848"/>
            <a:ext cx="2042160" cy="548640"/>
          </a:xfrm>
          <a:prstGeom prst="rect">
            <a:avLst/>
          </a:prstGeom>
          <a:noFill/>
        </p:spPr>
        <p:txBody>
          <a:bodyPr wrap="square" lIns="18288" rIns="18288" tIns="18288" bIns="18288" anchor="t">
            <a:spAutoFit/>
          </a:bodyPr>
          <a:lstStyle/>
          <a:p>
            <a:pPr algn="l"/>
            <a:r>
              <a:rPr sz="2600" b="1">
                <a:solidFill>
                  <a:srgbClr val="1F4FD8"/>
                </a:solidFill>
                <a:latin typeface="Calibri"/>
              </a:rPr>
              <a:t>19.5 M</a:t>
            </a:r>
          </a:p>
        </p:txBody>
      </p:sp>
      <p:sp>
        <p:nvSpPr>
          <p:cNvPr id="22" name="TextBox 21"/>
          <p:cNvSpPr txBox="1"/>
          <p:nvPr/>
        </p:nvSpPr>
        <p:spPr>
          <a:xfrm>
            <a:off x="548640" y="3959352"/>
            <a:ext cx="2042160" cy="365760"/>
          </a:xfrm>
          <a:prstGeom prst="rect">
            <a:avLst/>
          </a:prstGeom>
          <a:noFill/>
        </p:spPr>
        <p:txBody>
          <a:bodyPr wrap="square" lIns="18288" rIns="18288" tIns="18288" bIns="18288" anchor="t">
            <a:spAutoFit/>
          </a:bodyPr>
          <a:lstStyle/>
          <a:p>
            <a:pPr algn="l"/>
            <a:r>
              <a:rPr sz="1200" b="1">
                <a:solidFill>
                  <a:srgbClr val="1A1D24"/>
                </a:solidFill>
                <a:latin typeface="Calibri"/>
              </a:rPr>
              <a:t>usuarios alcanzados</a:t>
            </a:r>
          </a:p>
        </p:txBody>
      </p:sp>
      <p:sp>
        <p:nvSpPr>
          <p:cNvPr id="23" name="TextBox 22"/>
          <p:cNvSpPr txBox="1"/>
          <p:nvPr/>
        </p:nvSpPr>
        <p:spPr>
          <a:xfrm>
            <a:off x="548640" y="4270248"/>
            <a:ext cx="2042160" cy="548640"/>
          </a:xfrm>
          <a:prstGeom prst="rect">
            <a:avLst/>
          </a:prstGeom>
          <a:noFill/>
        </p:spPr>
        <p:txBody>
          <a:bodyPr wrap="square" lIns="18288" rIns="18288" tIns="18288" bIns="18288" anchor="t">
            <a:spAutoFit/>
          </a:bodyPr>
          <a:lstStyle/>
          <a:p>
            <a:pPr algn="l"/>
            <a:r>
              <a:rPr sz="950" b="0">
                <a:solidFill>
                  <a:srgbClr val="5B6270"/>
                </a:solidFill>
                <a:latin typeface="Calibri"/>
              </a:rPr>
              <a:t>20.1 M con email en el periodo</a:t>
            </a:r>
          </a:p>
        </p:txBody>
      </p:sp>
      <p:sp>
        <p:nvSpPr>
          <p:cNvPr id="24" name="Rectangle 23"/>
          <p:cNvSpPr/>
          <p:nvPr/>
        </p:nvSpPr>
        <p:spPr>
          <a:xfrm>
            <a:off x="2865120" y="3246120"/>
            <a:ext cx="204216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65120" y="3355848"/>
            <a:ext cx="2042160" cy="548640"/>
          </a:xfrm>
          <a:prstGeom prst="rect">
            <a:avLst/>
          </a:prstGeom>
          <a:noFill/>
        </p:spPr>
        <p:txBody>
          <a:bodyPr wrap="square" lIns="18288" rIns="18288" tIns="18288" bIns="18288" anchor="t">
            <a:spAutoFit/>
          </a:bodyPr>
          <a:lstStyle/>
          <a:p>
            <a:pPr algn="l"/>
            <a:r>
              <a:rPr sz="2600" b="1">
                <a:solidFill>
                  <a:srgbClr val="1F4FD8"/>
                </a:solidFill>
                <a:latin typeface="Calibri"/>
              </a:rPr>
              <a:t>5</a:t>
            </a:r>
          </a:p>
        </p:txBody>
      </p:sp>
      <p:sp>
        <p:nvSpPr>
          <p:cNvPr id="26" name="TextBox 25"/>
          <p:cNvSpPr txBox="1"/>
          <p:nvPr/>
        </p:nvSpPr>
        <p:spPr>
          <a:xfrm>
            <a:off x="2865120" y="3959352"/>
            <a:ext cx="2042160" cy="365760"/>
          </a:xfrm>
          <a:prstGeom prst="rect">
            <a:avLst/>
          </a:prstGeom>
          <a:noFill/>
        </p:spPr>
        <p:txBody>
          <a:bodyPr wrap="square" lIns="18288" rIns="18288" tIns="18288" bIns="18288" anchor="t">
            <a:spAutoFit/>
          </a:bodyPr>
          <a:lstStyle/>
          <a:p>
            <a:pPr algn="l"/>
            <a:r>
              <a:rPr sz="1200" b="1">
                <a:solidFill>
                  <a:srgbClr val="1A1D24"/>
                </a:solidFill>
                <a:latin typeface="Calibri"/>
              </a:rPr>
              <a:t>equipos</a:t>
            </a:r>
          </a:p>
        </p:txBody>
      </p:sp>
      <p:sp>
        <p:nvSpPr>
          <p:cNvPr id="27" name="TextBox 26"/>
          <p:cNvSpPr txBox="1"/>
          <p:nvPr/>
        </p:nvSpPr>
        <p:spPr>
          <a:xfrm>
            <a:off x="2865120" y="4270248"/>
            <a:ext cx="2042160" cy="548640"/>
          </a:xfrm>
          <a:prstGeom prst="rect">
            <a:avLst/>
          </a:prstGeom>
          <a:noFill/>
        </p:spPr>
        <p:txBody>
          <a:bodyPr wrap="square" lIns="18288" rIns="18288" tIns="18288" bIns="18288" anchor="t">
            <a:spAutoFit/>
          </a:bodyPr>
          <a:lstStyle/>
          <a:p>
            <a:pPr algn="l"/>
            <a:r>
              <a:rPr sz="950" b="0">
                <a:solidFill>
                  <a:srgbClr val="5B6270"/>
                </a:solidFill>
                <a:latin typeface="Calibri"/>
              </a:rPr>
              <a:t>Marketing, Product Growth, Sales, Collections, Others</a:t>
            </a:r>
          </a:p>
        </p:txBody>
      </p:sp>
      <p:sp>
        <p:nvSpPr>
          <p:cNvPr id="28" name="Rectangle 27"/>
          <p:cNvSpPr/>
          <p:nvPr/>
        </p:nvSpPr>
        <p:spPr>
          <a:xfrm>
            <a:off x="5181599" y="3246120"/>
            <a:ext cx="204216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81599" y="3355848"/>
            <a:ext cx="2042160" cy="548640"/>
          </a:xfrm>
          <a:prstGeom prst="rect">
            <a:avLst/>
          </a:prstGeom>
          <a:noFill/>
        </p:spPr>
        <p:txBody>
          <a:bodyPr wrap="square" lIns="18288" rIns="18288" tIns="18288" bIns="18288" anchor="t">
            <a:spAutoFit/>
          </a:bodyPr>
          <a:lstStyle/>
          <a:p>
            <a:pPr algn="l"/>
            <a:r>
              <a:rPr sz="2600" b="1">
                <a:solidFill>
                  <a:srgbClr val="1F4FD8"/>
                </a:solidFill>
                <a:latin typeface="Calibri"/>
              </a:rPr>
              <a:t>18</a:t>
            </a:r>
          </a:p>
        </p:txBody>
      </p:sp>
      <p:sp>
        <p:nvSpPr>
          <p:cNvPr id="30" name="TextBox 29"/>
          <p:cNvSpPr txBox="1"/>
          <p:nvPr/>
        </p:nvSpPr>
        <p:spPr>
          <a:xfrm>
            <a:off x="5181599" y="3959352"/>
            <a:ext cx="2042160" cy="365760"/>
          </a:xfrm>
          <a:prstGeom prst="rect">
            <a:avLst/>
          </a:prstGeom>
          <a:noFill/>
        </p:spPr>
        <p:txBody>
          <a:bodyPr wrap="square" lIns="18288" rIns="18288" tIns="18288" bIns="18288" anchor="t">
            <a:spAutoFit/>
          </a:bodyPr>
          <a:lstStyle/>
          <a:p>
            <a:pPr algn="l"/>
            <a:r>
              <a:rPr sz="1200" b="1">
                <a:solidFill>
                  <a:srgbClr val="1A1D24"/>
                </a:solidFill>
                <a:latin typeface="Calibri"/>
              </a:rPr>
              <a:t>extracciones</a:t>
            </a:r>
          </a:p>
        </p:txBody>
      </p:sp>
      <p:sp>
        <p:nvSpPr>
          <p:cNvPr id="31" name="TextBox 30"/>
          <p:cNvSpPr txBox="1"/>
          <p:nvPr/>
        </p:nvSpPr>
        <p:spPr>
          <a:xfrm>
            <a:off x="5181599" y="4270248"/>
            <a:ext cx="2042160" cy="548640"/>
          </a:xfrm>
          <a:prstGeom prst="rect">
            <a:avLst/>
          </a:prstGeom>
          <a:noFill/>
        </p:spPr>
        <p:txBody>
          <a:bodyPr wrap="square" lIns="18288" rIns="18288" tIns="18288" bIns="18288" anchor="t">
            <a:spAutoFit/>
          </a:bodyPr>
          <a:lstStyle/>
          <a:p>
            <a:pPr algn="l"/>
            <a:r>
              <a:rPr sz="950" b="0">
                <a:solidFill>
                  <a:srgbClr val="5B6270"/>
                </a:solidFill>
                <a:latin typeface="Calibri"/>
              </a:rPr>
              <a:t>E1 a E18b, agregadas, sin datos personales</a:t>
            </a:r>
          </a:p>
        </p:txBody>
      </p:sp>
      <p:sp>
        <p:nvSpPr>
          <p:cNvPr id="32" name="TextBox 31"/>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667 M mensajes, 3,439 comunicaciones y 9 meses (enero a septiembre de 2026) en 18 extracciones agregadas de Databricks, sin datos personales.</a:t>
            </a:r>
          </a:p>
          <a:p>
            <a:pPr>
              <a:spcAft>
                <a:spcPts val="350"/>
              </a:spcAft>
            </a:pPr>
            <a:r>
              <a:rPr sz="850" b="1">
                <a:solidFill>
                  <a:srgbClr val="1F4FD8"/>
                </a:solidFill>
                <a:latin typeface="Calibri"/>
              </a:rPr>
              <a:t>2.  </a:t>
            </a:r>
            <a:r>
              <a:rPr sz="850" b="0">
                <a:solidFill>
                  <a:srgbClr val="5B6270"/>
                </a:solidFill>
                <a:latin typeface="Calibri"/>
              </a:rPr>
              <a:t>Respuesta: clic en email, apertura en push, lectura en WhatsApp, clic en in-app. Abrir un email no cuenta.</a:t>
            </a:r>
          </a:p>
          <a:p>
            <a:pPr>
              <a:spcAft>
                <a:spcPts val="350"/>
              </a:spcAft>
            </a:pPr>
            <a:r>
              <a:rPr sz="850" b="1">
                <a:solidFill>
                  <a:srgbClr val="1F4FD8"/>
                </a:solidFill>
                <a:latin typeface="Calibri"/>
              </a:rPr>
              <a:t>3.  </a:t>
            </a:r>
            <a:r>
              <a:rPr sz="850" b="0">
                <a:solidFill>
                  <a:srgbClr val="5B6270"/>
                </a:solidFill>
                <a:latin typeface="Calibri"/>
              </a:rPr>
              <a:t>'Sin segmento': pieza a toda la base o a una etapa ('Todos', 'Leads', 'Nuevos registrados') sin filtro de comportamiento. 'Con señal': audiencia definida por lo que el usuario hizo.</a:t>
            </a:r>
          </a:p>
          <a:p>
            <a:pPr>
              <a:spcAft>
                <a:spcPts val="350"/>
              </a:spcAft>
            </a:pPr>
            <a:r>
              <a:rPr sz="850" b="1">
                <a:solidFill>
                  <a:srgbClr val="1F4FD8"/>
                </a:solidFill>
                <a:latin typeface="Calibri"/>
              </a:rPr>
              <a:t>4.  </a:t>
            </a:r>
            <a:r>
              <a:rPr sz="850" b="0">
                <a:solidFill>
                  <a:srgbClr val="5B6270"/>
                </a:solidFill>
                <a:latin typeface="Calibri"/>
              </a:rPr>
              <a:t>Conversión a 7 días solo como referencia (no hay grupo de control); costo variable sin el fijo de Braze (pendiente de Finanzas).</a:t>
            </a:r>
          </a:p>
          <a:p>
            <a:pPr>
              <a:spcAft>
                <a:spcPts val="350"/>
              </a:spcAft>
            </a:pPr>
            <a:r>
              <a:rPr sz="850" b="1">
                <a:solidFill>
                  <a:srgbClr val="B5342B"/>
                </a:solidFill>
                <a:latin typeface="Calibri"/>
              </a:rPr>
              <a:t>5.  </a:t>
            </a:r>
            <a:r>
              <a:rPr sz="700" b="1">
                <a:solidFill>
                  <a:srgbClr val="B5342B"/>
                </a:solidFill>
                <a:latin typeface="Calibri"/>
              </a:rPr>
              <a:t>CAUSA RAÍZ · MÉTODO  </a:t>
            </a:r>
            <a:r>
              <a:rPr sz="850" b="1">
                <a:solidFill>
                  <a:srgbClr val="1A1D24"/>
                </a:solidFill>
                <a:latin typeface="Calibri"/>
              </a:rPr>
              <a:t>Cada lámina cruza pieza, equipo, canal, mes y usuario: por eso puede decir quién, qué y cuándo, y por eso el plan se mide campaña por campaña.</a:t>
            </a:r>
          </a:p>
        </p:txBody>
      </p:sp>
      <p:cxnSp>
        <p:nvCxnSpPr>
          <p:cNvPr id="33" name="Connector 32"/>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Con datos agregados de toda la base se atribuye cada hallazgo a piezas, equipos y meses concretos.</a:t>
            </a:r>
          </a:p>
          <a:p>
            <a:r>
              <a:rPr sz="700" b="1">
                <a:solidFill>
                  <a:srgbClr val="1F4FD8"/>
                </a:solidFill>
                <a:latin typeface="Calibri"/>
              </a:rPr>
              <a:t>O  </a:t>
            </a:r>
            <a:r>
              <a:rPr sz="750">
                <a:solidFill>
                  <a:srgbClr val="5B6270"/>
                </a:solidFill>
                <a:latin typeface="Calibri"/>
              </a:rPr>
              <a:t>Las mismas 18 consultas se corren cada mes: la auditoría se vuelve tablero.</a:t>
            </a:r>
          </a:p>
          <a:p>
            <a:r>
              <a:rPr sz="700" b="1">
                <a:solidFill>
                  <a:srgbClr val="1F4FD8"/>
                </a:solidFill>
                <a:latin typeface="Calibri"/>
              </a:rPr>
              <a:t>G  </a:t>
            </a:r>
            <a:r>
              <a:rPr sz="750">
                <a:solidFill>
                  <a:srgbClr val="5B6270"/>
                </a:solidFill>
                <a:latin typeface="Calibri"/>
              </a:rPr>
              <a:t>No hace falta acceso a Braze para auditar; sí para configurar lo que el plan pide.</a:t>
            </a:r>
          </a:p>
        </p:txBody>
      </p:sp>
      <p:sp>
        <p:nvSpPr>
          <p:cNvPr id="35" name="TextBox 34"/>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Las definiciones de esta lámina son las del tablero mensual: CRM las publica en la pestaña Léeme del Sheets y ningún equipo reporta 'respuesta' con otra definición. Datos corre las 18 consultas el día 1 de cada mes. Métrica: una sola definición por indicador en todos los reportes de Braze.</a:t>
            </a:r>
          </a:p>
        </p:txBody>
      </p:sp>
      <p:sp>
        <p:nvSpPr>
          <p:cNvPr id="36" name="TextBox 35"/>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Cada acción del plan se mide campaña por campaña desde el primer mes con el mismo Sheets; no hace falta acceso a Braze para auditar.</a:t>
            </a:r>
          </a:p>
        </p:txBody>
      </p:sp>
      <p:sp>
        <p:nvSpPr>
          <p:cNvPr id="37" name="Rectangle 36"/>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Las cifras salen de datos agregados de toda la base, no de muestras: lo que se decida aquí se ejecuta y se mide campaña por campaña.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WhatsApp es 8 % de los envíos y 71 % del costo, y lo deciden dos equipos: Marketing (22.9 M MXN) y Product Growth (11.4 M) lo usan como canal masivo a leads rezagados y churn</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B_Canales B2 (E4a)</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71 %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del costo variable es WhatsApp, con 8 % de los envíos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22.9 M MXN</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WhatsApp de Marketing en 9 meses; Product Growth 11.4 M</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1.2 M MXN al mes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 WhatsApp a churn y rezagados; por push costaría 0</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4.png"/>
          <p:cNvPicPr>
            <a:picLocks noChangeAspect="1"/>
          </p:cNvPicPr>
          <p:nvPr/>
        </p:nvPicPr>
        <p:blipFill>
          <a:blip r:embed="rId2"/>
          <a:stretch>
            <a:fillRect/>
          </a:stretch>
        </p:blipFill>
        <p:spPr>
          <a:xfrm>
            <a:off x="548640" y="2560320"/>
            <a:ext cx="5853470"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57.7 M MXN de costo variable en 9 meses; 41 M (71 %) es WhatsApp con 55 M enviados y 41 M entregados, 8 % del volumen.</a:t>
            </a:r>
          </a:p>
          <a:p>
            <a:pPr>
              <a:spcAft>
                <a:spcPts val="350"/>
              </a:spcAft>
            </a:pPr>
            <a:r>
              <a:rPr sz="900" b="1">
                <a:solidFill>
                  <a:srgbClr val="1F4FD8"/>
                </a:solidFill>
                <a:latin typeface="Calibri"/>
              </a:rPr>
              <a:t>2.  </a:t>
            </a:r>
            <a:r>
              <a:rPr sz="900" b="0">
                <a:solidFill>
                  <a:srgbClr val="5B6270"/>
                </a:solidFill>
                <a:latin typeface="Calibri"/>
              </a:rPr>
              <a:t>Marketing puso 22.9 M MXN y Product Growth 11.4 M: 83 % del WhatsApp. Sales (5.9 M) lo usa con recurrentes de KPay que leen 78 %.</a:t>
            </a:r>
          </a:p>
          <a:p>
            <a:pPr>
              <a:spcAft>
                <a:spcPts val="350"/>
              </a:spcAft>
            </a:pPr>
            <a:r>
              <a:rPr sz="900" b="1">
                <a:solidFill>
                  <a:srgbClr val="1F4FD8"/>
                </a:solidFill>
                <a:latin typeface="Calibri"/>
              </a:rPr>
              <a:t>3.  </a:t>
            </a:r>
            <a:r>
              <a:rPr sz="900" b="0">
                <a:solidFill>
                  <a:srgbClr val="5B6270"/>
                </a:solidFill>
                <a:latin typeface="Calibri"/>
              </a:rPr>
              <a:t>Marketing lo manda a leads de bases rezagadas (RescateTasa0) y Product Growth a churn de 12 meses: audiencias que leen 55 a 62 % y que por push cuestan cero.</a:t>
            </a:r>
          </a:p>
          <a:p>
            <a:pPr>
              <a:spcAft>
                <a:spcPts val="350"/>
              </a:spcAft>
            </a:pPr>
            <a:r>
              <a:rPr sz="900" b="1">
                <a:solidFill>
                  <a:srgbClr val="1F4FD8"/>
                </a:solidFill>
                <a:latin typeface="Calibri"/>
              </a:rPr>
              <a:t>4.  </a:t>
            </a:r>
            <a:r>
              <a:rPr sz="900" b="0">
                <a:solidFill>
                  <a:srgbClr val="5B6270"/>
                </a:solidFill>
                <a:latin typeface="Calibri"/>
              </a:rPr>
              <a:t>Se eligió WhatsApp porque su lectura (69 %) se ve alta frente al 0.93 % de clic de email; nadie compara costo por respuesta.</a:t>
            </a:r>
          </a:p>
          <a:p>
            <a:pPr>
              <a:spcAft>
                <a:spcPts val="350"/>
              </a:spcAft>
            </a:pPr>
            <a:r>
              <a:rPr sz="900" b="1">
                <a:solidFill>
                  <a:srgbClr val="B5342B"/>
                </a:solidFill>
                <a:latin typeface="Calibri"/>
              </a:rPr>
              <a:t>5.  </a:t>
            </a:r>
            <a:r>
              <a:rPr sz="700" b="1">
                <a:solidFill>
                  <a:srgbClr val="B5342B"/>
                </a:solidFill>
                <a:latin typeface="Calibri"/>
              </a:rPr>
              <a:t>CAUSA RAÍZ · CANAL EQUIVOCADO  </a:t>
            </a:r>
            <a:r>
              <a:rPr sz="900" b="1">
                <a:solidFill>
                  <a:srgbClr val="1A1D24"/>
                </a:solidFill>
                <a:latin typeface="Calibri"/>
              </a:rPr>
              <a:t>No hay regla de canal por costo ni dueño del presupuesto de WhatsApp: cada equipo elige canal sin ver el costo.</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Si WhatsApp se asignara por costo por respuesta no iría a churn ni a rezagados: push cuesta 0 y la lectura de esos grupos no justifica 1 MXN.</a:t>
            </a:r>
          </a:p>
          <a:p>
            <a:r>
              <a:rPr sz="700" b="1">
                <a:solidFill>
                  <a:srgbClr val="1F4FD8"/>
                </a:solidFill>
                <a:latin typeface="Calibri"/>
              </a:rPr>
              <a:t>O  </a:t>
            </a:r>
            <a:r>
              <a:rPr sz="750">
                <a:solidFill>
                  <a:srgbClr val="5B6270"/>
                </a:solidFill>
                <a:latin typeface="Calibri"/>
              </a:rPr>
              <a:t>Los equipos eligen WhatsApp por costumbre y por la lectura visible; el costo no está en su tablero.</a:t>
            </a:r>
          </a:p>
          <a:p>
            <a:r>
              <a:rPr sz="700" b="1">
                <a:solidFill>
                  <a:srgbClr val="1F4FD8"/>
                </a:solidFill>
                <a:latin typeface="Calibri"/>
              </a:rPr>
              <a:t>G  </a:t>
            </a:r>
            <a:r>
              <a:rPr sz="750">
                <a:solidFill>
                  <a:srgbClr val="5B6270"/>
                </a:solidFill>
                <a:latin typeface="Calibri"/>
              </a:rPr>
              <a:t>No hay dueño del presupuesto de WhatsApp ni comité que apruebe audiencias de más de 100 mil en ese canal.</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MarTech crea en Braze el segmento EXC-WA_SinSeñal (sin lectura de WhatsApp en 90 días) y lo pone como exclusión en las piezas de WhatsApp de Marketing (23 a limpiar) y Product Growth (churn). Semana 2: Finanzas y CRM fijan tope mensual de WhatsApp por equipo y lo ponen en el tablero. Métrica: WhatsApp a churn y rezagados, hoy 1.2 M MXN al mes, meta 0 en 60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Cerca de 1 M MXN al mes pasa de WhatsApp a push sin costo (16 % del gasto variable), la lectura del canal vuelve arriba de 67 % y el número conserva su tope ante Meta.</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dinero está en WhatsApp y lo deciden dos equipos. La primera decisión es una regla de canal por costo: WhatsApp solo a quien ya lo lee; churn y rezagados van por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Cuando el volumen del mes sube, la respuesta baja en los cuatro canales a la vez: junio dobló enero (109 M) y fue el peor mes de email, push y WhatsApp</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B_Canales B1 (E4a). Respuesta: clic sobre entregados (email), apertura (push), lectura sobre entregados (WhatsApp), clic sobre impresiones (in-app)</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a:t>
            </a:r>
          </a:p>
        </p:txBody>
      </p:sp>
      <p:pic>
        <p:nvPicPr>
          <p:cNvPr id="8" name="Picture 7" descr="r5.png"/>
          <p:cNvPicPr>
            <a:picLocks noChangeAspect="1"/>
          </p:cNvPicPr>
          <p:nvPr/>
        </p:nvPicPr>
        <p:blipFill>
          <a:blip r:embed="rId2"/>
          <a:stretch>
            <a:fillRect/>
          </a:stretch>
        </p:blipFill>
        <p:spPr>
          <a:xfrm>
            <a:off x="548640" y="1783080"/>
            <a:ext cx="6949440" cy="1933955"/>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Junio: 109 M envíos, 86 % más que enero; clic de email 0.67 % (1.20 % en enero) y apertura de push 1.05 %. Septiembre bajó a 65 M y el push abrió 2.12 %, el mejor del año.</a:t>
            </a:r>
          </a:p>
          <a:p>
            <a:pPr>
              <a:spcAft>
                <a:spcPts val="350"/>
              </a:spcAft>
            </a:pPr>
            <a:r>
              <a:rPr sz="850" b="1">
                <a:solidFill>
                  <a:srgbClr val="1F4FD8"/>
                </a:solidFill>
                <a:latin typeface="Calibri"/>
              </a:rPr>
              <a:t>2.  </a:t>
            </a:r>
            <a:r>
              <a:rPr sz="850" b="0">
                <a:solidFill>
                  <a:srgbClr val="5B6270"/>
                </a:solidFill>
                <a:latin typeface="Calibri"/>
              </a:rPr>
              <a:t>El volumen extra fue masivo sin segmento: BillPay Intro por email a 16 M usuarios (NewProducts) encima de Hot Sale, y 139 piezas nuevas de push de Marketing, NewProducts y Product Growth.</a:t>
            </a:r>
          </a:p>
          <a:p>
            <a:pPr>
              <a:spcAft>
                <a:spcPts val="350"/>
              </a:spcAft>
            </a:pPr>
            <a:r>
              <a:rPr sz="850" b="1">
                <a:solidFill>
                  <a:srgbClr val="1F4FD8"/>
                </a:solidFill>
                <a:latin typeface="Calibri"/>
              </a:rPr>
              <a:t>3.  </a:t>
            </a:r>
            <a:r>
              <a:rPr sz="850" b="0">
                <a:solidFill>
                  <a:srgbClr val="5B6270"/>
                </a:solidFill>
                <a:latin typeface="Calibri"/>
              </a:rPr>
              <a:t>Esas piezas van a 'Todos' y Leads, que responden 0.1 a 0.3 %: hunden la tasa del canal y compiten en la misma bandeja con las piezas que sí responden.</a:t>
            </a:r>
          </a:p>
          <a:p>
            <a:pPr>
              <a:spcAft>
                <a:spcPts val="350"/>
              </a:spcAft>
            </a:pPr>
            <a:r>
              <a:rPr sz="850" b="1">
                <a:solidFill>
                  <a:srgbClr val="1F4FD8"/>
                </a:solidFill>
                <a:latin typeface="Calibri"/>
              </a:rPr>
              <a:t>4.  </a:t>
            </a:r>
            <a:r>
              <a:rPr sz="850" b="0">
                <a:solidFill>
                  <a:srgbClr val="5B6270"/>
                </a:solidFill>
                <a:latin typeface="Calibri"/>
              </a:rPr>
              <a:t>Tres equipos lanzaron el mismo mes sin calendario común ni prueba al 10 %; nadie vio el volumen total antes de activar.</a:t>
            </a:r>
          </a:p>
          <a:p>
            <a:pPr>
              <a:spcAft>
                <a:spcPts val="350"/>
              </a:spcAft>
            </a:pPr>
            <a:r>
              <a:rPr sz="850" b="1">
                <a:solidFill>
                  <a:srgbClr val="B5342B"/>
                </a:solidFill>
                <a:latin typeface="Calibri"/>
              </a:rPr>
              <a:t>5.  </a:t>
            </a:r>
            <a:r>
              <a:rPr sz="700" b="1">
                <a:solidFill>
                  <a:srgbClr val="B5342B"/>
                </a:solidFill>
                <a:latin typeface="Calibri"/>
              </a:rPr>
              <a:t>CAUSA RAÍZ · SATURACIÓN  </a:t>
            </a:r>
            <a:r>
              <a:rPr sz="850" b="1">
                <a:solidFill>
                  <a:srgbClr val="1A1D24"/>
                </a:solidFill>
                <a:latin typeface="Calibri"/>
              </a:rPr>
              <a:t>No hay tope de volumen ni comité que apruebe envíos a más de 1 M de usuarios: cada equipo decide su masivo solo.</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respuesta cae por los masivos sin segmento, no por fatiga general: las piezas que ya existían abrieron 3.1 % en junio.</a:t>
            </a:r>
          </a:p>
          <a:p>
            <a:r>
              <a:rPr sz="700" b="1">
                <a:solidFill>
                  <a:srgbClr val="1F4FD8"/>
                </a:solidFill>
                <a:latin typeface="Calibri"/>
              </a:rPr>
              <a:t>O  </a:t>
            </a:r>
            <a:r>
              <a:rPr sz="750">
                <a:solidFill>
                  <a:srgbClr val="5B6270"/>
                </a:solidFill>
                <a:latin typeface="Calibri"/>
              </a:rPr>
              <a:t>Los lanzamientos de producto se mandan a toda la base porque es lo más rápido de configurar en Braze.</a:t>
            </a:r>
          </a:p>
          <a:p>
            <a:r>
              <a:rPr sz="700" b="1">
                <a:solidFill>
                  <a:srgbClr val="1F4FD8"/>
                </a:solidFill>
                <a:latin typeface="Calibri"/>
              </a:rPr>
              <a:t>G  </a:t>
            </a:r>
            <a:r>
              <a:rPr sz="750">
                <a:solidFill>
                  <a:srgbClr val="5B6270"/>
                </a:solidFill>
                <a:latin typeface="Calibri"/>
              </a:rPr>
              <a:t>Nadie aprueba ni ve el calendario conjunto de los cinco equipos.</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Dirección fija la regla 'más de 1 M de usuarios obliga prueba al 10 % y segmento con señal'. Semana 2: CRM arma el calendario único (fecha, equipo, pieza, audiencia, canal) y un comité quincenal de 30 min aprueba los masivos. Braze: Rate Limiting por campaña. Métrica: envíos a más de 1 M sin prueba, meta 0.</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Con el volumen de enero (59 M al mes) el email dio el mismo número de clics que junio con 109 M, y sin las 63 mil bajas de junio: la mitad de los envíos, el mismo resultado.</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Subir volumen no sube resultados, los baja. Ningún envío a más de 1 M sin prueba al 10 % y segmento, aprobado en un calendario común.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Cada millón de emails extra en la semana baja el clic 0.05 puntos y cada millón de push baja la apertura 0.11: el volumen semanal explica 60 % y 53 % de la respuesta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Serie semanal (E4a). Tasa sobre entregados (email) y sobre enviados (push)</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6</a:t>
            </a:r>
          </a:p>
        </p:txBody>
      </p:sp>
      <p:pic>
        <p:nvPicPr>
          <p:cNvPr id="8" name="Picture 7" descr="r6.png"/>
          <p:cNvPicPr>
            <a:picLocks noChangeAspect="1"/>
          </p:cNvPicPr>
          <p:nvPr/>
        </p:nvPicPr>
        <p:blipFill>
          <a:blip r:embed="rId2"/>
          <a:stretch>
            <a:fillRect/>
          </a:stretch>
        </p:blipFill>
        <p:spPr>
          <a:xfrm>
            <a:off x="548640" y="1783080"/>
            <a:ext cx="6445857" cy="2926080"/>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Semanas con 5 M de emails dan 1.14 % de clic; con 25 M, 0.16 %. Push: R² 0.53. WhatsApp no depende del volumen (R² 0.01): ahí manda la audiencia.</a:t>
            </a:r>
          </a:p>
          <a:p>
            <a:pPr>
              <a:spcAft>
                <a:spcPts val="350"/>
              </a:spcAft>
            </a:pPr>
            <a:r>
              <a:rPr sz="900" b="1">
                <a:solidFill>
                  <a:srgbClr val="1F4FD8"/>
                </a:solidFill>
                <a:latin typeface="Calibri"/>
              </a:rPr>
              <a:t>2.  </a:t>
            </a:r>
            <a:r>
              <a:rPr sz="900" b="0">
                <a:solidFill>
                  <a:srgbClr val="5B6270"/>
                </a:solidFill>
                <a:latin typeface="Calibri"/>
              </a:rPr>
              <a:t>Las semanas arriba de 10 M de email y 8 M de push son las de lanzamientos a 'Todos': BillPay Intro (1 de junio, 16 M), AnotayGana y Mundial (Product Growth y Marketing, junio).</a:t>
            </a:r>
          </a:p>
          <a:p>
            <a:pPr>
              <a:spcAft>
                <a:spcPts val="350"/>
              </a:spcAft>
            </a:pPr>
            <a:r>
              <a:rPr sz="900" b="1">
                <a:solidFill>
                  <a:srgbClr val="1F4FD8"/>
                </a:solidFill>
                <a:latin typeface="Calibri"/>
              </a:rPr>
              <a:t>3.  </a:t>
            </a:r>
            <a:r>
              <a:rPr sz="900" b="0">
                <a:solidFill>
                  <a:srgbClr val="5B6270"/>
                </a:solidFill>
                <a:latin typeface="Calibri"/>
              </a:rPr>
              <a:t>Esas piezas responden 0.1 a 0.3 % y pesan tanto que arrastran la tasa semanal del canal; sin la semana de BillPay el R² se mantiene.</a:t>
            </a:r>
          </a:p>
          <a:p>
            <a:pPr>
              <a:spcAft>
                <a:spcPts val="350"/>
              </a:spcAft>
            </a:pPr>
            <a:r>
              <a:rPr sz="900" b="1">
                <a:solidFill>
                  <a:srgbClr val="1F4FD8"/>
                </a:solidFill>
                <a:latin typeface="Calibri"/>
              </a:rPr>
              <a:t>4.  </a:t>
            </a:r>
            <a:r>
              <a:rPr sz="900" b="0">
                <a:solidFill>
                  <a:srgbClr val="5B6270"/>
                </a:solidFill>
                <a:latin typeface="Calibri"/>
              </a:rPr>
              <a:t>Nadie mira el volumen semanal total: cada equipo ve su pieza y el tablero es mensual.</a:t>
            </a:r>
          </a:p>
          <a:p>
            <a:pPr>
              <a:spcAft>
                <a:spcPts val="350"/>
              </a:spcAft>
            </a:pPr>
            <a:r>
              <a:rPr sz="900" b="1">
                <a:solidFill>
                  <a:srgbClr val="B5342B"/>
                </a:solidFill>
                <a:latin typeface="Calibri"/>
              </a:rPr>
              <a:t>5.  </a:t>
            </a:r>
            <a:r>
              <a:rPr sz="700" b="1">
                <a:solidFill>
                  <a:srgbClr val="B5342B"/>
                </a:solidFill>
                <a:latin typeface="Calibri"/>
              </a:rPr>
              <a:t>CAUSA RAÍZ · SATURACIÓN  </a:t>
            </a:r>
            <a:r>
              <a:rPr sz="900" b="1">
                <a:solidFill>
                  <a:srgbClr val="1A1D24"/>
                </a:solidFill>
                <a:latin typeface="Calibri"/>
              </a:rPr>
              <a:t>No existe tope semanal de volumen por canal ni quien lo vigile.</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relación es por composición: las semanas grandes son las de masivos sin segmento.</a:t>
            </a:r>
          </a:p>
          <a:p>
            <a:r>
              <a:rPr sz="700" b="1">
                <a:solidFill>
                  <a:srgbClr val="1F4FD8"/>
                </a:solidFill>
                <a:latin typeface="Calibri"/>
              </a:rPr>
              <a:t>O  </a:t>
            </a:r>
            <a:r>
              <a:rPr sz="750">
                <a:solidFill>
                  <a:srgbClr val="5B6270"/>
                </a:solidFill>
                <a:latin typeface="Calibri"/>
              </a:rPr>
              <a:t>El tablero mensual esconde la semana: la caída se detecta cuando ya salió el siguiente envío.</a:t>
            </a:r>
          </a:p>
          <a:p>
            <a:r>
              <a:rPr sz="700" b="1">
                <a:solidFill>
                  <a:srgbClr val="1F4FD8"/>
                </a:solidFill>
                <a:latin typeface="Calibri"/>
              </a:rPr>
              <a:t>G  </a:t>
            </a:r>
            <a:r>
              <a:rPr sz="750">
                <a:solidFill>
                  <a:srgbClr val="5B6270"/>
                </a:solidFill>
                <a:latin typeface="Calibri"/>
              </a:rPr>
              <a:t>No hay tope semanal aprobado ni dueño del volumen total de la empresa.</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CRM publica tablero semanal por canal (volumen, respuesta, bajas) en Databricks. Regla: 10 M de emails y 8 M de push por semana en todo Kueski; pasar el tope requiere aprobación del comité. Braze: Rate Limiting por campaña y Frequency Capping global (MarTech). Métrica: clic semanal de email, hoy 0.9 %, meta 1.2 %.</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Un tope de 10 M de emails y 8 M de push por semana recupera 0.3 puntos de clic (de 0.9 a 1.2 %) y 0.5 de apertura sin tocar una sola pieza.</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tope semanal de volumen es la regla más barata del plan: se configura en Braze (rate limit y frequency cap) y recupera 0.3 puntos de clic.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El push se recuperó solo cuando bajó el volumen (julio: 1.77 %); WhatsApp lleva desde julio entre 80 y 87 % de su respuesta de enero aunque manda menos: son dos problemas distintos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F_Serie semanal (E4a). Semanas completas del 5 de enero al 21 de septiembre</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7</a:t>
            </a:r>
          </a:p>
        </p:txBody>
      </p:sp>
      <p:pic>
        <p:nvPicPr>
          <p:cNvPr id="8" name="Picture 7" descr="r7.png"/>
          <p:cNvPicPr>
            <a:picLocks noChangeAspect="1"/>
          </p:cNvPicPr>
          <p:nvPr/>
        </p:nvPicPr>
        <p:blipFill>
          <a:blip r:embed="rId2"/>
          <a:stretch>
            <a:fillRect/>
          </a:stretch>
        </p:blipFill>
        <p:spPr>
          <a:xfrm>
            <a:off x="548640" y="1783080"/>
            <a:ext cx="6134678" cy="2926080"/>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Push: la semana del 15 de junio el volumen fue 3.4 veces el de enero y la apertura cayó a la mitad; en julio el volumen bajó y la apertura volvió a 1.77 %.</a:t>
            </a:r>
          </a:p>
          <a:p>
            <a:pPr>
              <a:spcAft>
                <a:spcPts val="350"/>
              </a:spcAft>
            </a:pPr>
            <a:r>
              <a:rPr sz="900" b="1">
                <a:solidFill>
                  <a:srgbClr val="1F4FD8"/>
                </a:solidFill>
                <a:latin typeface="Calibri"/>
              </a:rPr>
              <a:t>2.  </a:t>
            </a:r>
            <a:r>
              <a:rPr sz="900" b="0">
                <a:solidFill>
                  <a:srgbClr val="5B6270"/>
                </a:solidFill>
                <a:latin typeface="Calibri"/>
              </a:rPr>
              <a:t>Email solo se disparó la semana del 1 de junio (BillPay Intro a 16 M); fuera de eso se mueve entre 0.6 y 1.5 veces enero.</a:t>
            </a:r>
          </a:p>
          <a:p>
            <a:pPr>
              <a:spcAft>
                <a:spcPts val="350"/>
              </a:spcAft>
            </a:pPr>
            <a:r>
              <a:rPr sz="900" b="1">
                <a:solidFill>
                  <a:srgbClr val="1F4FD8"/>
                </a:solidFill>
                <a:latin typeface="Calibri"/>
              </a:rPr>
              <a:t>3.  </a:t>
            </a:r>
            <a:r>
              <a:rPr sz="900" b="0">
                <a:solidFill>
                  <a:srgbClr val="5B6270"/>
                </a:solidFill>
                <a:latin typeface="Calibri"/>
              </a:rPr>
              <a:t>WhatsApp baja volumen desde marzo y la lectura no se recupera: la base que queda son leads rezagados (Marketing) y churn (Product Growth).</a:t>
            </a:r>
          </a:p>
          <a:p>
            <a:pPr>
              <a:spcAft>
                <a:spcPts val="350"/>
              </a:spcAft>
            </a:pPr>
            <a:r>
              <a:rPr sz="900" b="1">
                <a:solidFill>
                  <a:srgbClr val="1F4FD8"/>
                </a:solidFill>
                <a:latin typeface="Calibri"/>
              </a:rPr>
              <a:t>4.  </a:t>
            </a:r>
            <a:r>
              <a:rPr sz="900" b="0">
                <a:solidFill>
                  <a:srgbClr val="5B6270"/>
                </a:solidFill>
                <a:latin typeface="Calibri"/>
              </a:rPr>
              <a:t>En push la causa fue volumen nuevo puntual; en WhatsApp la causa es a quién se manda.</a:t>
            </a:r>
          </a:p>
          <a:p>
            <a:pPr>
              <a:spcAft>
                <a:spcPts val="350"/>
              </a:spcAft>
            </a:pPr>
            <a:r>
              <a:rPr sz="900" b="1">
                <a:solidFill>
                  <a:srgbClr val="B5342B"/>
                </a:solidFill>
                <a:latin typeface="Calibri"/>
              </a:rPr>
              <a:t>5.  </a:t>
            </a:r>
            <a:r>
              <a:rPr sz="700" b="1">
                <a:solidFill>
                  <a:srgbClr val="B5342B"/>
                </a:solidFill>
                <a:latin typeface="Calibri"/>
              </a:rPr>
              <a:t>CAUSA RAÍZ · SATURACIÓN  </a:t>
            </a:r>
            <a:r>
              <a:rPr sz="900" b="1">
                <a:solidFill>
                  <a:srgbClr val="1A1D24"/>
                </a:solidFill>
                <a:latin typeface="Calibri"/>
              </a:rPr>
              <a:t>Se trata a los canales con la misma palanca (mandar más o menos) cuando uno necesita tope y el otro cambiar la base.</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Push es fatiga por volumen y se recupera; WhatsApp es mezcla de audiencia y no se recupera mandando menos.</a:t>
            </a:r>
          </a:p>
          <a:p>
            <a:r>
              <a:rPr sz="700" b="1">
                <a:solidFill>
                  <a:srgbClr val="1F4FD8"/>
                </a:solidFill>
                <a:latin typeface="Calibri"/>
              </a:rPr>
              <a:t>O  </a:t>
            </a:r>
            <a:r>
              <a:rPr sz="750">
                <a:solidFill>
                  <a:srgbClr val="5B6270"/>
                </a:solidFill>
                <a:latin typeface="Calibri"/>
              </a:rPr>
              <a:t>Marketing y Product Growth movieron WhatsApp a bases frías cuando se agotaron las calientes.</a:t>
            </a:r>
          </a:p>
          <a:p>
            <a:r>
              <a:rPr sz="700" b="1">
                <a:solidFill>
                  <a:srgbClr val="1F4FD8"/>
                </a:solidFill>
                <a:latin typeface="Calibri"/>
              </a:rPr>
              <a:t>G  </a:t>
            </a:r>
            <a:r>
              <a:rPr sz="750">
                <a:solidFill>
                  <a:srgbClr val="5B6270"/>
                </a:solidFill>
                <a:latin typeface="Calibri"/>
              </a:rPr>
              <a:t>No hay criterio de entrada al canal WhatsApp por equipo.</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Push: tope semanal y un solo push a 'Todos' por semana en toda la empresa (Frequency Capping, semana 2, CRM y MarTech). WhatsApp: exclusión EXC-WA_SinSeñal en todas las piezas y las bases rezagadas y churn salen del canal (semana 1, Marketing y Product Growth). Métrica: apertura semanal de push, meta 2 %; lectura de WhatsApp, meta 70 %.</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Push vuelve a 1.8 a 2.1 % solo con bajar volumen (ya pasó en julio y septiembre); WhatsApp recupera 10 puntos de lectura (64 a 74 %) solo si cambia la base.</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Palancas distintas: en push se apaga volumen; en WhatsApp se cambia la audiencia. Mandar menos WhatsApp a la misma base no arregla nada.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El salto de push de junio lo pusieron 139 piezas nuevas (37 familias) de Marketing, NewProducts y Product Growth: abrieron 0.87 % contra 3.11 % de las piezas que ya existían</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F_Piezas (E1). Piezas de push con envíos en junio y sin envíos en mayo, agrupadas por familia; apertura = aperturas / envíos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8</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43 M</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push de junio vinieron de 139 piezas nuevas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0.87 % vs 3.11 %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apertura de las piezas nuevas contra las que ya existían</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 en 11 días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veces repitió NewProducts el push de BillPay a 1.6 M usuarios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8.png"/>
          <p:cNvPicPr>
            <a:picLocks noChangeAspect="1"/>
          </p:cNvPicPr>
          <p:nvPr/>
        </p:nvPicPr>
        <p:blipFill>
          <a:blip r:embed="rId2"/>
          <a:stretch>
            <a:fillRect/>
          </a:stretch>
        </p:blipFill>
        <p:spPr>
          <a:xfrm>
            <a:off x="548640" y="2560320"/>
            <a:ext cx="6174360"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Junio: 46.8 M push contra 35.1 M en mayo; 43 M salieron de piezas que no existían en mayo (Marketing 25.6 M, NewProducts 9.4 M, Product Growth 5.5 M).</a:t>
            </a:r>
          </a:p>
          <a:p>
            <a:pPr>
              <a:spcAft>
                <a:spcPts val="350"/>
              </a:spcAft>
            </a:pPr>
            <a:r>
              <a:rPr sz="850" b="1">
                <a:solidFill>
                  <a:srgbClr val="1F4FD8"/>
                </a:solidFill>
                <a:latin typeface="Calibri"/>
              </a:rPr>
              <a:t>2.  </a:t>
            </a:r>
            <a:r>
              <a:rPr sz="850" b="0">
                <a:solidFill>
                  <a:srgbClr val="5B6270"/>
                </a:solidFill>
                <a:latin typeface="Calibri"/>
              </a:rPr>
              <a:t>Son lanzamientos a toda la base: BillPay, TopUp, AnotayGana, Mundial, Día del Padre, con audiencias de 1.1 a 3.2 M usuarios y 0.87 % de apertura.</a:t>
            </a:r>
          </a:p>
          <a:p>
            <a:pPr>
              <a:spcAft>
                <a:spcPts val="350"/>
              </a:spcAft>
            </a:pPr>
            <a:r>
              <a:rPr sz="850" b="1">
                <a:solidFill>
                  <a:srgbClr val="1F4FD8"/>
                </a:solidFill>
                <a:latin typeface="Calibri"/>
              </a:rPr>
              <a:t>3.  </a:t>
            </a:r>
            <a:r>
              <a:rPr sz="850" b="0">
                <a:solidFill>
                  <a:srgbClr val="5B6270"/>
                </a:solidFill>
                <a:latin typeface="Calibri"/>
              </a:rPr>
              <a:t>NewProducts repitió el recordatorio de BillPay 3 veces en 11 días (3, 6 y 12 de junio) y el de TopUp 2 veces, a los mismos 1.6 M usuarios, sin filtrar a quien ya abrió.</a:t>
            </a:r>
          </a:p>
          <a:p>
            <a:pPr>
              <a:spcAft>
                <a:spcPts val="350"/>
              </a:spcAft>
            </a:pPr>
            <a:r>
              <a:rPr sz="850" b="1">
                <a:solidFill>
                  <a:srgbClr val="1F4FD8"/>
                </a:solidFill>
                <a:latin typeface="Calibri"/>
              </a:rPr>
              <a:t>4.  </a:t>
            </a:r>
            <a:r>
              <a:rPr sz="850" b="0">
                <a:solidFill>
                  <a:srgbClr val="5B6270"/>
                </a:solidFill>
                <a:latin typeface="Calibri"/>
              </a:rPr>
              <a:t>Las piezas de siempre abrieron 3.11 %: no fue fatiga del canal, fue lo nuevo. Tres equipos lanzaron el mismo mes sin verse.</a:t>
            </a:r>
          </a:p>
          <a:p>
            <a:pPr>
              <a:spcAft>
                <a:spcPts val="350"/>
              </a:spcAft>
            </a:pPr>
            <a:r>
              <a:rPr sz="850" b="1">
                <a:solidFill>
                  <a:srgbClr val="B5342B"/>
                </a:solidFill>
                <a:latin typeface="Calibri"/>
              </a:rPr>
              <a:t>5.  </a:t>
            </a:r>
            <a:r>
              <a:rPr sz="700" b="1">
                <a:solidFill>
                  <a:srgbClr val="B5342B"/>
                </a:solidFill>
                <a:latin typeface="Calibri"/>
              </a:rPr>
              <a:t>CAUSA RAÍZ · SATURACIÓN  </a:t>
            </a:r>
            <a:r>
              <a:rPr sz="850" b="1">
                <a:solidFill>
                  <a:srgbClr val="1A1D24"/>
                </a:solidFill>
                <a:latin typeface="Calibri"/>
              </a:rPr>
              <a:t>No hay calendario común ni regla de 'un push a Todos por semana en toda la empresa', y los recordatorios no excluyen a quien ya abrió.</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Si el push se hubiera cansado por volumen total, las piezas existentes también habrían caído; abrieron 3.11 %.</a:t>
            </a:r>
          </a:p>
          <a:p>
            <a:r>
              <a:rPr sz="700" b="1">
                <a:solidFill>
                  <a:srgbClr val="1F4FD8"/>
                </a:solidFill>
                <a:latin typeface="Calibri"/>
              </a:rPr>
              <a:t>O  </a:t>
            </a:r>
            <a:r>
              <a:rPr sz="750">
                <a:solidFill>
                  <a:srgbClr val="5B6270"/>
                </a:solidFill>
                <a:latin typeface="Calibri"/>
              </a:rPr>
              <a:t>Los recordatorios se programan como envíos nuevos, no como paso de Canvas con filtro 'no abrió'.</a:t>
            </a:r>
          </a:p>
          <a:p>
            <a:r>
              <a:rPr sz="700" b="1">
                <a:solidFill>
                  <a:srgbClr val="1F4FD8"/>
                </a:solidFill>
                <a:latin typeface="Calibri"/>
              </a:rPr>
              <a:t>G  </a:t>
            </a:r>
            <a:r>
              <a:rPr sz="750">
                <a:solidFill>
                  <a:srgbClr val="5B6270"/>
                </a:solidFill>
                <a:latin typeface="Calibri"/>
              </a:rPr>
              <a:t>Cada equipo lanza producto sin pasar por un calendario conjunto.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NewProducts y Marketing convierten sus recordatorios en pasos de Canvas con Decision Split 'abrió el anterior' (solo a quien no abrió). Semana 2: CRM fija en el calendario único un push a 'Todos' por semana en todo Kueski; MarTech activa Frequency Capping de 1 push promocional al día. Métrica: apertura de piezas nuevas en su primer mes, meta 2 %.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La mitad de esos 43 M push, con la apertura de las piezas existentes (3.1 %), habría dado 668 mil aperturas contra 374 mil: más resultado con la mitad de los envíos.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Un lanzamiento masivo no se repite tres veces en 11 días ni coincide con el de otro equipo. Regla: un push a 'Todos' por semana en toda la empresa y recordatorios solo a quien no abrió.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WhatsApp bajó de 5.3 M a 3.1 M entregados al mes y de 70.5 a 63.3 % de lectura: Marketing y Product Growth movieron el canal a leads rezagados y churn (leen 50 a 62 %), que son 39 % de las entregas desde julio</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F_Piezas (E1). Entregas y lecturas de WhatsApp por pieza; audiencia según el nombre de la pieza</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9</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71 % a 63 %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lectura de WhatsApp, primer contra segundo semestre</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39 %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 entregado de julio a septiembre va a rezagados y churn</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1.2 M MXN al mes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 WhatsApp a esas audiencias; por push costaría cero</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9.png"/>
          <p:cNvPicPr>
            <a:picLocks noChangeAspect="1"/>
          </p:cNvPicPr>
          <p:nvPr/>
        </p:nvPicPr>
        <p:blipFill>
          <a:blip r:embed="rId2"/>
          <a:stretch>
            <a:fillRect/>
          </a:stretch>
        </p:blipFill>
        <p:spPr>
          <a:xfrm>
            <a:off x="548640" y="2560320"/>
            <a:ext cx="6366933"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Lectura 71 % de enero a junio contra 63 % de julio a septiembre; entregados al mes de 5.3 M a 3.1 M.</a:t>
            </a:r>
          </a:p>
          <a:p>
            <a:pPr>
              <a:spcAft>
                <a:spcPts val="350"/>
              </a:spcAft>
            </a:pPr>
            <a:r>
              <a:rPr sz="850" b="1">
                <a:solidFill>
                  <a:srgbClr val="1F4FD8"/>
                </a:solidFill>
                <a:latin typeface="Calibri"/>
              </a:rPr>
              <a:t>2.  </a:t>
            </a:r>
            <a:r>
              <a:rPr sz="850" b="0">
                <a:solidFill>
                  <a:srgbClr val="5B6270"/>
                </a:solidFill>
                <a:latin typeface="Calibri"/>
              </a:rPr>
              <a:t>Churn e inactivos pasaron de 13 a 22 % de las entregas (leen 55 %); Leads y Recurrentes siguen leyendo 67 a 68 %: la caída es de mezcla.</a:t>
            </a:r>
          </a:p>
          <a:p>
            <a:pPr>
              <a:spcAft>
                <a:spcPts val="350"/>
              </a:spcAft>
            </a:pPr>
            <a:r>
              <a:rPr sz="850" b="1">
                <a:solidFill>
                  <a:srgbClr val="1F4FD8"/>
                </a:solidFill>
                <a:latin typeface="Calibri"/>
              </a:rPr>
              <a:t>3.  </a:t>
            </a:r>
            <a:r>
              <a:rPr sz="850" b="0">
                <a:solidFill>
                  <a:srgbClr val="5B6270"/>
                </a:solidFill>
                <a:latin typeface="Calibri"/>
              </a:rPr>
              <a:t>Las piezas: RescateTasa0 a la base rezagada (Marketing) y Churn 12 meses (Product Growth), 225 a 310 mil usuarios al mes y 2.5 M MXN en el trimestre.</a:t>
            </a:r>
          </a:p>
          <a:p>
            <a:pPr>
              <a:spcAft>
                <a:spcPts val="350"/>
              </a:spcAft>
            </a:pPr>
            <a:r>
              <a:rPr sz="850" b="1">
                <a:solidFill>
                  <a:srgbClr val="1F4FD8"/>
                </a:solidFill>
                <a:latin typeface="Calibri"/>
              </a:rPr>
              <a:t>4.  </a:t>
            </a:r>
            <a:r>
              <a:rPr sz="850" b="0">
                <a:solidFill>
                  <a:srgbClr val="5B6270"/>
                </a:solidFill>
                <a:latin typeface="Calibri"/>
              </a:rPr>
              <a:t>Se mandan por WhatsApp porque por email esas bases responden 0.1 a 0.2 %: el canal caro se usa para rescatar lo que no responde en los baratos.</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No hay criterio de entrada al canal (señal previa) ni costo por respuesta en el tablero de quien decide la pieza.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caída es de mezcla, no de canal: las audiencias calientes siguen leyendo 67 % o más.</a:t>
            </a:r>
          </a:p>
          <a:p>
            <a:r>
              <a:rPr sz="700" b="1">
                <a:solidFill>
                  <a:srgbClr val="1F4FD8"/>
                </a:solidFill>
                <a:latin typeface="Calibri"/>
              </a:rPr>
              <a:t>O  </a:t>
            </a:r>
            <a:r>
              <a:rPr sz="750">
                <a:solidFill>
                  <a:srgbClr val="5B6270"/>
                </a:solidFill>
                <a:latin typeface="Calibri"/>
              </a:rPr>
              <a:t>Rescate y churn se mandan por WhatsApp porque los otros canales ya fallaron con ellos.</a:t>
            </a:r>
          </a:p>
          <a:p>
            <a:r>
              <a:rPr sz="700" b="1">
                <a:solidFill>
                  <a:srgbClr val="1F4FD8"/>
                </a:solidFill>
                <a:latin typeface="Calibri"/>
              </a:rPr>
              <a:t>G  </a:t>
            </a:r>
            <a:r>
              <a:rPr sz="750">
                <a:solidFill>
                  <a:srgbClr val="5B6270"/>
                </a:solidFill>
                <a:latin typeface="Calibri"/>
              </a:rPr>
              <a:t>El costo del WhatsApp no lo ve quien activa la pieza; no hay tope por equipo.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Marketing pausa RescateTasa0 WhatsApp a BBDD rezagada y Product Growth pausa Churn 12 meses WhatsApp; ambos pasan la misma oferta a push. Semana 2: MarTech crea EXC-WA_SinSeñal (sin lectura en 90 días) y la aplica a toda pieza de WhatsApp; Finanzas fija tope mensual por equipo. Métrica: lectura de WhatsApp, hoy 63 %, meta 70 % en 60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Churn y rezagados son 39 % de lo entregado desde julio (1.2 M MXN al mes); por push cuestan cero y la lectura del canal vuelve arriba de 67 %.</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WhatsApp a 1 MXN se reserva a Active, Recurrentes y Precobranza. Churn, inactivos y bases rezagadas van por push; si no responden ahí, no van.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Dentro de un mes la respuesta se mueve más que entre meses: en junio el clic de email abrió en 0.36 % y cerró en 1.00 %; el tablero mensual no lo vio a tiempo</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Serie semanal (E4a). Semanas asignadas al mes de su lunes; 38 semanas completas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10</a:t>
            </a:r>
          </a:p>
        </p:txBody>
      </p:sp>
      <p:pic>
        <p:nvPicPr>
          <p:cNvPr id="8" name="Picture 7" descr="r10.png"/>
          <p:cNvPicPr>
            <a:picLocks noChangeAspect="1"/>
          </p:cNvPicPr>
          <p:nvPr/>
        </p:nvPicPr>
        <p:blipFill>
          <a:blip r:embed="rId2"/>
          <a:stretch>
            <a:fillRect/>
          </a:stretch>
        </p:blipFill>
        <p:spPr>
          <a:xfrm>
            <a:off x="548640" y="1783080"/>
            <a:ext cx="6101017" cy="2926080"/>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La mecha de junio en email (0.36 a 1.14 %) es más larga que todo el movimiento de enero a septiembre; el promedio mensual (0.6 %) no describe ninguna semana.</a:t>
            </a:r>
          </a:p>
          <a:p>
            <a:pPr>
              <a:spcAft>
                <a:spcPts val="350"/>
              </a:spcAft>
            </a:pPr>
            <a:r>
              <a:rPr sz="900" b="1">
                <a:solidFill>
                  <a:srgbClr val="1F4FD8"/>
                </a:solidFill>
                <a:latin typeface="Calibri"/>
              </a:rPr>
              <a:t>2.  </a:t>
            </a:r>
            <a:r>
              <a:rPr sz="900" b="0">
                <a:solidFill>
                  <a:srgbClr val="5B6270"/>
                </a:solidFill>
                <a:latin typeface="Calibri"/>
              </a:rPr>
              <a:t>La semana del 0.36 % es la del 1 de junio: BillPay Intro de NewProducts a 16 M usuarios con 0.1 % de clic.</a:t>
            </a:r>
          </a:p>
          <a:p>
            <a:pPr>
              <a:spcAft>
                <a:spcPts val="350"/>
              </a:spcAft>
            </a:pPr>
            <a:r>
              <a:rPr sz="900" b="1">
                <a:solidFill>
                  <a:srgbClr val="1F4FD8"/>
                </a:solidFill>
                <a:latin typeface="Calibri"/>
              </a:rPr>
              <a:t>3.  </a:t>
            </a:r>
            <a:r>
              <a:rPr sz="900" b="0">
                <a:solidFill>
                  <a:srgbClr val="5B6270"/>
                </a:solidFill>
                <a:latin typeface="Calibri"/>
              </a:rPr>
              <a:t>Con tablero mensual la alerta llegó en julio, cuando ya habían salido los tres recordatorios de BillPay.</a:t>
            </a:r>
          </a:p>
          <a:p>
            <a:pPr>
              <a:spcAft>
                <a:spcPts val="350"/>
              </a:spcAft>
            </a:pPr>
            <a:r>
              <a:rPr sz="900" b="1">
                <a:solidFill>
                  <a:srgbClr val="1F4FD8"/>
                </a:solidFill>
                <a:latin typeface="Calibri"/>
              </a:rPr>
              <a:t>4.  </a:t>
            </a:r>
            <a:r>
              <a:rPr sz="900" b="0">
                <a:solidFill>
                  <a:srgbClr val="5B6270"/>
                </a:solidFill>
                <a:latin typeface="Calibri"/>
              </a:rPr>
              <a:t>WhatsApp cierra 8 de 9 meses igual o abajo de donde abrió: es tendencia de audiencia, no ruido semanal.</a:t>
            </a:r>
          </a:p>
          <a:p>
            <a:pPr>
              <a:spcAft>
                <a:spcPts val="350"/>
              </a:spcAft>
            </a:pPr>
            <a:r>
              <a:rPr sz="900" b="1">
                <a:solidFill>
                  <a:srgbClr val="B5342B"/>
                </a:solidFill>
                <a:latin typeface="Calibri"/>
              </a:rPr>
              <a:t>5.  </a:t>
            </a:r>
            <a:r>
              <a:rPr sz="700" b="1">
                <a:solidFill>
                  <a:srgbClr val="B5342B"/>
                </a:solidFill>
                <a:latin typeface="Calibri"/>
              </a:rPr>
              <a:t>CAUSA RAÍZ · SIN MEDICIÓN  </a:t>
            </a:r>
            <a:r>
              <a:rPr sz="900" b="1">
                <a:solidFill>
                  <a:srgbClr val="1A1D24"/>
                </a:solidFill>
                <a:latin typeface="Calibri"/>
              </a:rPr>
              <a:t>Se mide y se decide por mes; no hay tablero semanal ni alerta cuando una semana cae debajo del mínimo.</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Una sola semana de masivo mueve más que el año: el promedio mensual esconde el daño.</a:t>
            </a:r>
          </a:p>
          <a:p>
            <a:r>
              <a:rPr sz="700" b="1">
                <a:solidFill>
                  <a:srgbClr val="1F4FD8"/>
                </a:solidFill>
                <a:latin typeface="Calibri"/>
              </a:rPr>
              <a:t>O  </a:t>
            </a:r>
            <a:r>
              <a:rPr sz="750">
                <a:solidFill>
                  <a:srgbClr val="5B6270"/>
                </a:solidFill>
                <a:latin typeface="Calibri"/>
              </a:rPr>
              <a:t>La revisión es mensual porque así están los reportes que se exportan de Braze.</a:t>
            </a:r>
          </a:p>
          <a:p>
            <a:r>
              <a:rPr sz="700" b="1">
                <a:solidFill>
                  <a:srgbClr val="1F4FD8"/>
                </a:solidFill>
                <a:latin typeface="Calibri"/>
              </a:rPr>
              <a:t>G  </a:t>
            </a:r>
            <a:r>
              <a:rPr sz="750">
                <a:solidFill>
                  <a:srgbClr val="5B6270"/>
                </a:solidFill>
                <a:latin typeface="Calibri"/>
              </a:rPr>
              <a:t>Nadie tiene la función de frenar un envío con base en la semana anterior.</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Datos publica el tablero semanal por canal y equipo (Databricks, actualizado cada lunes). Regla: una semana debajo del mínimo del canal frena el siguiente envío de esa pieza hasta revisión del dueño; CRM ejecuta. Métrica: semanas debajo del mínimo detectadas en 7 días, meta 100 %.</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Una semana como la del 1 de junio (0.36 %) se detecta en 7 días y se frena el segundo envío antes de salir: 2 de los 3 recordatorios de BillPay no habrían salido.</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Medir y decidir por semana, no por mes. Una semana de masivo hunde la respuesta y la siguiente se recupera: el tablero del playbook es semanal por canal.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CONTEXTO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19 de 24 indicadores están en rojo y los 5 que cumplen son los que no dependen de la audiencia: el problema es cómo se opera Braze, no una campaña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Estándares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11</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19 de 24</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indicadores debajo del estándar</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0.92 %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email contra 1.5 % de estándar</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1.53 %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apertura de push contra 3 %</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40" cy="2011672"/>
        </p:xfrm>
        <a:graphic>
          <a:graphicData uri="http://schemas.openxmlformats.org/drawingml/2006/table">
            <a:tbl>
              <a:tblPr firstRow="1" bandRow="1">
                <a:tableStyleId>{5C22544A-7EE6-4342-B048-85BDC9FD1C3A}</a:tableStyleId>
              </a:tblPr>
              <a:tblGrid>
                <a:gridCol w="3366135"/>
                <a:gridCol w="1085850"/>
                <a:gridCol w="868680"/>
                <a:gridCol w="1628775"/>
              </a:tblGrid>
              <a:tr h="154744">
                <a:tc>
                  <a:txBody>
                    <a:bodyPr wrap="square"/>
                    <a:lstStyle/>
                    <a:p>
                      <a:r>
                        <a:rPr sz="650" b="1">
                          <a:solidFill>
                            <a:srgbClr val="5B6270"/>
                          </a:solidFill>
                          <a:latin typeface="Calibri"/>
                        </a:rPr>
                        <a:t>Indicador</a:t>
                      </a:r>
                    </a:p>
                  </a:txBody>
                  <a:tcPr marL="45720" marR="45720" marT="18288" marB="18288">
                    <a:solidFill>
                      <a:srgbClr val="FFFFFF"/>
                    </a:solidFill>
                  </a:tcPr>
                </a:tc>
                <a:tc>
                  <a:txBody>
                    <a:bodyPr wrap="square"/>
                    <a:lstStyle/>
                    <a:p>
                      <a:r>
                        <a:rPr sz="650" b="1">
                          <a:solidFill>
                            <a:srgbClr val="5B6270"/>
                          </a:solidFill>
                          <a:latin typeface="Calibri"/>
                        </a:rPr>
                        <a:t>Hoy</a:t>
                      </a:r>
                    </a:p>
                  </a:txBody>
                  <a:tcPr marL="45720" marR="45720" marT="18288" marB="18288">
                    <a:solidFill>
                      <a:srgbClr val="FFFFFF"/>
                    </a:solidFill>
                  </a:tcPr>
                </a:tc>
                <a:tc>
                  <a:txBody>
                    <a:bodyPr wrap="square"/>
                    <a:lstStyle/>
                    <a:p>
                      <a:r>
                        <a:rPr sz="650" b="1">
                          <a:solidFill>
                            <a:srgbClr val="5B6270"/>
                          </a:solidFill>
                          <a:latin typeface="Calibri"/>
                        </a:rPr>
                        <a:t>Estándar</a:t>
                      </a:r>
                    </a:p>
                  </a:txBody>
                  <a:tcPr marL="45720" marR="45720" marT="18288" marB="18288">
                    <a:solidFill>
                      <a:srgbClr val="FFFFFF"/>
                    </a:solidFill>
                  </a:tcPr>
                </a:tc>
                <a:tc>
                  <a:txBody>
                    <a:bodyPr wrap="square"/>
                    <a:lstStyle/>
                    <a:p>
                      <a:r>
                        <a:rPr sz="650" b="1">
                          <a:solidFill>
                            <a:srgbClr val="5B6270"/>
                          </a:solidFill>
                          <a:latin typeface="Calibri"/>
                        </a:rPr>
                        <a:t>Estado</a:t>
                      </a:r>
                    </a:p>
                  </a:txBody>
                  <a:tcPr marL="45720" marR="45720" marT="18288" marB="18288">
                    <a:solidFill>
                      <a:srgbClr val="FFFFFF"/>
                    </a:solidFill>
                  </a:tcPr>
                </a:tc>
              </a:tr>
              <a:tr h="154744">
                <a:tc>
                  <a:txBody>
                    <a:bodyPr wrap="square"/>
                    <a:lstStyle/>
                    <a:p>
                      <a:r>
                        <a:rPr sz="750" b="1">
                          <a:solidFill>
                            <a:srgbClr val="1A1D24"/>
                          </a:solidFill>
                          <a:latin typeface="Calibri"/>
                        </a:rPr>
                        <a:t>Clic de email</a:t>
                      </a:r>
                    </a:p>
                  </a:txBody>
                  <a:tcPr marL="45720" marR="45720" marT="18288" marB="18288">
                    <a:solidFill>
                      <a:srgbClr val="FFFFFF"/>
                    </a:solidFill>
                  </a:tcPr>
                </a:tc>
                <a:tc>
                  <a:txBody>
                    <a:bodyPr wrap="square"/>
                    <a:lstStyle/>
                    <a:p>
                      <a:r>
                        <a:rPr sz="750" b="0">
                          <a:solidFill>
                            <a:srgbClr val="1A1D24"/>
                          </a:solidFill>
                          <a:latin typeface="Calibri"/>
                        </a:rPr>
                        <a:t>0.92 %</a:t>
                      </a:r>
                    </a:p>
                  </a:txBody>
                  <a:tcPr marL="45720" marR="45720" marT="18288" marB="18288">
                    <a:solidFill>
                      <a:srgbClr val="FFFFFF"/>
                    </a:solidFill>
                  </a:tcPr>
                </a:tc>
                <a:tc>
                  <a:txBody>
                    <a:bodyPr wrap="square"/>
                    <a:lstStyle/>
                    <a:p>
                      <a:r>
                        <a:rPr sz="750" b="0">
                          <a:solidFill>
                            <a:srgbClr val="1A1D24"/>
                          </a:solidFill>
                          <a:latin typeface="Calibri"/>
                        </a:rPr>
                        <a:t>1.5 %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Bajas de email por mil</a:t>
                      </a:r>
                    </a:p>
                  </a:txBody>
                  <a:tcPr marL="45720" marR="45720" marT="18288" marB="18288">
                    <a:solidFill>
                      <a:srgbClr val="F6F7F9"/>
                    </a:solidFill>
                  </a:tcPr>
                </a:tc>
                <a:tc>
                  <a:txBody>
                    <a:bodyPr wrap="square"/>
                    <a:lstStyle/>
                    <a:p>
                      <a:r>
                        <a:rPr sz="750" b="0">
                          <a:solidFill>
                            <a:srgbClr val="1A1D24"/>
                          </a:solidFill>
                          <a:latin typeface="Calibri"/>
                        </a:rPr>
                        <a:t>3.13</a:t>
                      </a:r>
                    </a:p>
                  </a:txBody>
                  <a:tcPr marL="45720" marR="45720" marT="18288" marB="18288">
                    <a:solidFill>
                      <a:srgbClr val="F6F7F9"/>
                    </a:solidFill>
                  </a:tcPr>
                </a:tc>
                <a:tc>
                  <a:txBody>
                    <a:bodyPr wrap="square"/>
                    <a:lstStyle/>
                    <a:p>
                      <a:r>
                        <a:rPr sz="750" b="0">
                          <a:solidFill>
                            <a:srgbClr val="1A1D24"/>
                          </a:solidFill>
                          <a:latin typeface="Calibri"/>
                        </a:rPr>
                        <a:t>2.5</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Apertura de push</a:t>
                      </a:r>
                    </a:p>
                  </a:txBody>
                  <a:tcPr marL="45720" marR="45720" marT="18288" marB="18288">
                    <a:solidFill>
                      <a:srgbClr val="FFFFFF"/>
                    </a:solidFill>
                  </a:tcPr>
                </a:tc>
                <a:tc>
                  <a:txBody>
                    <a:bodyPr wrap="square"/>
                    <a:lstStyle/>
                    <a:p>
                      <a:r>
                        <a:rPr sz="750" b="0">
                          <a:solidFill>
                            <a:srgbClr val="1A1D24"/>
                          </a:solidFill>
                          <a:latin typeface="Calibri"/>
                        </a:rPr>
                        <a:t>1.53 %</a:t>
                      </a:r>
                    </a:p>
                  </a:txBody>
                  <a:tcPr marL="45720" marR="45720" marT="18288" marB="18288">
                    <a:solidFill>
                      <a:srgbClr val="FFFFFF"/>
                    </a:solidFill>
                  </a:tcPr>
                </a:tc>
                <a:tc>
                  <a:txBody>
                    <a:bodyPr wrap="square"/>
                    <a:lstStyle/>
                    <a:p>
                      <a:r>
                        <a:rPr sz="750" b="0">
                          <a:solidFill>
                            <a:srgbClr val="1A1D24"/>
                          </a:solidFill>
                          <a:latin typeface="Calibri"/>
                        </a:rPr>
                        <a:t>3 %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Entrega de WhatsApp</a:t>
                      </a:r>
                    </a:p>
                  </a:txBody>
                  <a:tcPr marL="45720" marR="45720" marT="18288" marB="18288">
                    <a:solidFill>
                      <a:srgbClr val="F6F7F9"/>
                    </a:solidFill>
                  </a:tcPr>
                </a:tc>
                <a:tc>
                  <a:txBody>
                    <a:bodyPr wrap="square"/>
                    <a:lstStyle/>
                    <a:p>
                      <a:r>
                        <a:rPr sz="750" b="0">
                          <a:solidFill>
                            <a:srgbClr val="1A1D24"/>
                          </a:solidFill>
                          <a:latin typeface="Calibri"/>
                        </a:rPr>
                        <a:t>74 %</a:t>
                      </a:r>
                    </a:p>
                  </a:txBody>
                  <a:tcPr marL="45720" marR="45720" marT="18288" marB="18288">
                    <a:solidFill>
                      <a:srgbClr val="F6F7F9"/>
                    </a:solidFill>
                  </a:tcPr>
                </a:tc>
                <a:tc>
                  <a:txBody>
                    <a:bodyPr wrap="square"/>
                    <a:lstStyle/>
                    <a:p>
                      <a:r>
                        <a:rPr sz="750" b="0">
                          <a:solidFill>
                            <a:srgbClr val="1A1D24"/>
                          </a:solidFill>
                          <a:latin typeface="Calibri"/>
                        </a:rPr>
                        <a:t>90 %</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Lectura de WhatsApp</a:t>
                      </a:r>
                    </a:p>
                  </a:txBody>
                  <a:tcPr marL="45720" marR="45720" marT="18288" marB="18288">
                    <a:solidFill>
                      <a:srgbClr val="FFFFFF"/>
                    </a:solidFill>
                  </a:tcPr>
                </a:tc>
                <a:tc>
                  <a:txBody>
                    <a:bodyPr wrap="square"/>
                    <a:lstStyle/>
                    <a:p>
                      <a:r>
                        <a:rPr sz="750" b="0">
                          <a:solidFill>
                            <a:srgbClr val="1A1D24"/>
                          </a:solidFill>
                          <a:latin typeface="Calibri"/>
                        </a:rPr>
                        <a:t>69 %</a:t>
                      </a:r>
                    </a:p>
                  </a:txBody>
                  <a:tcPr marL="45720" marR="45720" marT="18288" marB="18288">
                    <a:solidFill>
                      <a:srgbClr val="FFFFFF"/>
                    </a:solidFill>
                  </a:tcPr>
                </a:tc>
                <a:tc>
                  <a:txBody>
                    <a:bodyPr wrap="square"/>
                    <a:lstStyle/>
                    <a:p>
                      <a:r>
                        <a:rPr sz="750" b="0">
                          <a:solidFill>
                            <a:srgbClr val="1A1D24"/>
                          </a:solidFill>
                          <a:latin typeface="Calibri"/>
                        </a:rPr>
                        <a:t>70 %</a:t>
                      </a:r>
                    </a:p>
                  </a:txBody>
                  <a:tcPr marL="45720" marR="45720" marT="18288" marB="18288">
                    <a:solidFill>
                      <a:srgbClr val="FFFFFF"/>
                    </a:solidFill>
                  </a:tcPr>
                </a:tc>
                <a:tc>
                  <a:txBody>
                    <a:bodyPr wrap="square"/>
                    <a:lstStyle/>
                    <a:p>
                      <a:r>
                        <a:rPr sz="750" b="1">
                          <a:solidFill>
                            <a:srgbClr val="B8860B"/>
                          </a:solidFill>
                          <a:latin typeface="Calibri"/>
                        </a:rPr>
                        <a:t>Debajo por poco</a:t>
                      </a:r>
                    </a:p>
                  </a:txBody>
                  <a:tcPr marL="45720" marR="45720" marT="18288" marB="18288">
                    <a:solidFill>
                      <a:srgbClr val="FFFFFF"/>
                    </a:solidFill>
                  </a:tcPr>
                </a:tc>
              </a:tr>
              <a:tr h="154744">
                <a:tc>
                  <a:txBody>
                    <a:bodyPr wrap="square"/>
                    <a:lstStyle/>
                    <a:p>
                      <a:r>
                        <a:rPr sz="750" b="1">
                          <a:solidFill>
                            <a:srgbClr val="1A1D24"/>
                          </a:solidFill>
                          <a:latin typeface="Calibri"/>
                        </a:rPr>
                        <a:t>Mensajes a canal mudo</a:t>
                      </a:r>
                    </a:p>
                  </a:txBody>
                  <a:tcPr marL="45720" marR="45720" marT="18288" marB="18288">
                    <a:solidFill>
                      <a:srgbClr val="F6F7F9"/>
                    </a:solidFill>
                  </a:tcPr>
                </a:tc>
                <a:tc>
                  <a:txBody>
                    <a:bodyPr wrap="square"/>
                    <a:lstStyle/>
                    <a:p>
                      <a:r>
                        <a:rPr sz="750" b="0">
                          <a:solidFill>
                            <a:srgbClr val="1A1D24"/>
                          </a:solidFill>
                          <a:latin typeface="Calibri"/>
                        </a:rPr>
                        <a:t>59 %</a:t>
                      </a:r>
                    </a:p>
                  </a:txBody>
                  <a:tcPr marL="45720" marR="45720" marT="18288" marB="18288">
                    <a:solidFill>
                      <a:srgbClr val="F6F7F9"/>
                    </a:solidFill>
                  </a:tcPr>
                </a:tc>
                <a:tc>
                  <a:txBody>
                    <a:bodyPr wrap="square"/>
                    <a:lstStyle/>
                    <a:p>
                      <a:r>
                        <a:rPr sz="750" b="0">
                          <a:solidFill>
                            <a:srgbClr val="1A1D24"/>
                          </a:solidFill>
                          <a:latin typeface="Calibri"/>
                        </a:rPr>
                        <a:t>20 %</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Usuarios que nunca respondieron</a:t>
                      </a:r>
                    </a:p>
                  </a:txBody>
                  <a:tcPr marL="45720" marR="45720" marT="18288" marB="18288">
                    <a:solidFill>
                      <a:srgbClr val="FFFFFF"/>
                    </a:solidFill>
                  </a:tcPr>
                </a:tc>
                <a:tc>
                  <a:txBody>
                    <a:bodyPr wrap="square"/>
                    <a:lstStyle/>
                    <a:p>
                      <a:r>
                        <a:rPr sz="750" b="0">
                          <a:solidFill>
                            <a:srgbClr val="1A1D24"/>
                          </a:solidFill>
                          <a:latin typeface="Calibri"/>
                        </a:rPr>
                        <a:t>73 %</a:t>
                      </a:r>
                    </a:p>
                  </a:txBody>
                  <a:tcPr marL="45720" marR="45720" marT="18288" marB="18288">
                    <a:solidFill>
                      <a:srgbClr val="FFFFFF"/>
                    </a:solidFill>
                  </a:tcPr>
                </a:tc>
                <a:tc>
                  <a:txBody>
                    <a:bodyPr wrap="square"/>
                    <a:lstStyle/>
                    <a:p>
                      <a:r>
                        <a:rPr sz="750" b="0">
                          <a:solidFill>
                            <a:srgbClr val="1A1D24"/>
                          </a:solidFill>
                          <a:latin typeface="Calibri"/>
                        </a:rPr>
                        <a:t>50 %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Promocional a etapas bloqueadas</a:t>
                      </a:r>
                    </a:p>
                  </a:txBody>
                  <a:tcPr marL="45720" marR="45720" marT="18288" marB="18288">
                    <a:solidFill>
                      <a:srgbClr val="F6F7F9"/>
                    </a:solidFill>
                  </a:tcPr>
                </a:tc>
                <a:tc>
                  <a:txBody>
                    <a:bodyPr wrap="square"/>
                    <a:lstStyle/>
                    <a:p>
                      <a:r>
                        <a:rPr sz="750" b="0">
                          <a:solidFill>
                            <a:srgbClr val="1A1D24"/>
                          </a:solidFill>
                          <a:latin typeface="Calibri"/>
                        </a:rPr>
                        <a:t>43.8 M</a:t>
                      </a:r>
                    </a:p>
                  </a:txBody>
                  <a:tcPr marL="45720" marR="45720" marT="18288" marB="18288">
                    <a:solidFill>
                      <a:srgbClr val="F6F7F9"/>
                    </a:solidFill>
                  </a:tcPr>
                </a:tc>
                <a:tc>
                  <a:txBody>
                    <a:bodyPr wrap="square"/>
                    <a:lstStyle/>
                    <a:p>
                      <a:r>
                        <a:rPr sz="750" b="0">
                          <a:solidFill>
                            <a:srgbClr val="1A1D24"/>
                          </a:solidFill>
                          <a:latin typeface="Calibri"/>
                        </a:rPr>
                        <a:t>0</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Canvas con grupo de control</a:t>
                      </a:r>
                    </a:p>
                  </a:txBody>
                  <a:tcPr marL="45720" marR="45720" marT="18288" marB="18288">
                    <a:solidFill>
                      <a:srgbClr val="FFFFFF"/>
                    </a:solidFill>
                  </a:tcPr>
                </a:tc>
                <a:tc>
                  <a:txBody>
                    <a:bodyPr wrap="square"/>
                    <a:lstStyle/>
                    <a:p>
                      <a:r>
                        <a:rPr sz="750" b="0">
                          <a:solidFill>
                            <a:srgbClr val="1A1D24"/>
                          </a:solidFill>
                          <a:latin typeface="Calibri"/>
                        </a:rPr>
                        <a:t>0 de 3,228</a:t>
                      </a:r>
                    </a:p>
                  </a:txBody>
                  <a:tcPr marL="45720" marR="45720" marT="18288" marB="18288">
                    <a:solidFill>
                      <a:srgbClr val="FFFFFF"/>
                    </a:solidFill>
                  </a:tcPr>
                </a:tc>
                <a:tc>
                  <a:txBody>
                    <a:bodyPr wrap="square"/>
                    <a:lstStyle/>
                    <a:p>
                      <a:r>
                        <a:rPr sz="750" b="0">
                          <a:solidFill>
                            <a:srgbClr val="1A1D24"/>
                          </a:solidFill>
                          <a:latin typeface="Calibri"/>
                        </a:rPr>
                        <a:t>Todos</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Envíos con ticket</a:t>
                      </a:r>
                    </a:p>
                  </a:txBody>
                  <a:tcPr marL="45720" marR="45720" marT="18288" marB="18288">
                    <a:solidFill>
                      <a:srgbClr val="F6F7F9"/>
                    </a:solidFill>
                  </a:tcPr>
                </a:tc>
                <a:tc>
                  <a:txBody>
                    <a:bodyPr wrap="square"/>
                    <a:lstStyle/>
                    <a:p>
                      <a:r>
                        <a:rPr sz="750" b="0">
                          <a:solidFill>
                            <a:srgbClr val="1A1D24"/>
                          </a:solidFill>
                          <a:latin typeface="Calibri"/>
                        </a:rPr>
                        <a:t>87 %</a:t>
                      </a:r>
                    </a:p>
                  </a:txBody>
                  <a:tcPr marL="45720" marR="45720" marT="18288" marB="18288">
                    <a:solidFill>
                      <a:srgbClr val="F6F7F9"/>
                    </a:solidFill>
                  </a:tcPr>
                </a:tc>
                <a:tc>
                  <a:txBody>
                    <a:bodyPr wrap="square"/>
                    <a:lstStyle/>
                    <a:p>
                      <a:r>
                        <a:rPr sz="750" b="0">
                          <a:solidFill>
                            <a:srgbClr val="1A1D24"/>
                          </a:solidFill>
                          <a:latin typeface="Calibri"/>
                        </a:rPr>
                        <a:t>100 %</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Entrega de email</a:t>
                      </a:r>
                    </a:p>
                  </a:txBody>
                  <a:tcPr marL="45720" marR="45720" marT="18288" marB="18288">
                    <a:solidFill>
                      <a:srgbClr val="FFFFFF"/>
                    </a:solidFill>
                  </a:tcPr>
                </a:tc>
                <a:tc>
                  <a:txBody>
                    <a:bodyPr wrap="square"/>
                    <a:lstStyle/>
                    <a:p>
                      <a:r>
                        <a:rPr sz="750" b="0">
                          <a:solidFill>
                            <a:srgbClr val="1A1D24"/>
                          </a:solidFill>
                          <a:latin typeface="Calibri"/>
                        </a:rPr>
                        <a:t>95.1 %</a:t>
                      </a:r>
                    </a:p>
                  </a:txBody>
                  <a:tcPr marL="45720" marR="45720" marT="18288" marB="18288">
                    <a:solidFill>
                      <a:srgbClr val="FFFFFF"/>
                    </a:solidFill>
                  </a:tcPr>
                </a:tc>
                <a:tc>
                  <a:txBody>
                    <a:bodyPr wrap="square"/>
                    <a:lstStyle/>
                    <a:p>
                      <a:r>
                        <a:rPr sz="750" b="0">
                          <a:solidFill>
                            <a:srgbClr val="1A1D24"/>
                          </a:solidFill>
                          <a:latin typeface="Calibri"/>
                        </a:rPr>
                        <a:t>95 %</a:t>
                      </a:r>
                    </a:p>
                  </a:txBody>
                  <a:tcPr marL="45720" marR="45720" marT="18288" marB="18288">
                    <a:solidFill>
                      <a:srgbClr val="FFFFFF"/>
                    </a:solidFill>
                  </a:tcPr>
                </a:tc>
                <a:tc>
                  <a:txBody>
                    <a:bodyPr wrap="square"/>
                    <a:lstStyle/>
                    <a:p>
                      <a:r>
                        <a:rPr sz="750" b="1">
                          <a:solidFill>
                            <a:srgbClr val="2C7A4B"/>
                          </a:solidFill>
                          <a:latin typeface="Calibri"/>
                        </a:rPr>
                        <a:t>Cumple</a:t>
                      </a:r>
                    </a:p>
                  </a:txBody>
                  <a:tcPr marL="45720" marR="45720" marT="18288" marB="18288">
                    <a:solidFill>
                      <a:srgbClr val="FFFFFF"/>
                    </a:solidFill>
                  </a:tcPr>
                </a:tc>
              </a:tr>
              <a:tr h="154744">
                <a:tc>
                  <a:txBody>
                    <a:bodyPr wrap="square"/>
                    <a:lstStyle/>
                    <a:p>
                      <a:r>
                        <a:rPr sz="750" b="1">
                          <a:solidFill>
                            <a:srgbClr val="1A1D24"/>
                          </a:solidFill>
                          <a:latin typeface="Calibri"/>
                        </a:rPr>
                        <a:t>Clic de in-app</a:t>
                      </a:r>
                    </a:p>
                  </a:txBody>
                  <a:tcPr marL="45720" marR="45720" marT="18288" marB="18288">
                    <a:solidFill>
                      <a:srgbClr val="F6F7F9"/>
                    </a:solidFill>
                  </a:tcPr>
                </a:tc>
                <a:tc>
                  <a:txBody>
                    <a:bodyPr wrap="square"/>
                    <a:lstStyle/>
                    <a:p>
                      <a:r>
                        <a:rPr sz="750" b="0">
                          <a:solidFill>
                            <a:srgbClr val="1A1D24"/>
                          </a:solidFill>
                          <a:latin typeface="Calibri"/>
                        </a:rPr>
                        <a:t>38 %</a:t>
                      </a:r>
                    </a:p>
                  </a:txBody>
                  <a:tcPr marL="45720" marR="45720" marT="18288" marB="18288">
                    <a:solidFill>
                      <a:srgbClr val="F6F7F9"/>
                    </a:solidFill>
                  </a:tcPr>
                </a:tc>
                <a:tc>
                  <a:txBody>
                    <a:bodyPr wrap="square"/>
                    <a:lstStyle/>
                    <a:p>
                      <a:r>
                        <a:rPr sz="750" b="0">
                          <a:solidFill>
                            <a:srgbClr val="1A1D24"/>
                          </a:solidFill>
                          <a:latin typeface="Calibri"/>
                        </a:rPr>
                        <a:t>5 a 20 %</a:t>
                      </a:r>
                    </a:p>
                  </a:txBody>
                  <a:tcPr marL="45720" marR="45720" marT="18288" marB="18288">
                    <a:solidFill>
                      <a:srgbClr val="F6F7F9"/>
                    </a:solidFill>
                  </a:tcPr>
                </a:tc>
                <a:tc>
                  <a:txBody>
                    <a:bodyPr wrap="square"/>
                    <a:lstStyle/>
                    <a:p>
                      <a:r>
                        <a:rPr sz="750" b="1">
                          <a:solidFill>
                            <a:srgbClr val="2C7A4B"/>
                          </a:solidFill>
                          <a:latin typeface="Calibri"/>
                        </a:rPr>
                        <a:t>Cumple</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Clic de email 0.92 % contra 1.5 % de estándar; apertura de push 1.53 % contra 3 %; 19 de 24 indicadores debajo del piso de la industria.</a:t>
            </a:r>
          </a:p>
          <a:p>
            <a:pPr>
              <a:spcAft>
                <a:spcPts val="350"/>
              </a:spcAft>
            </a:pPr>
            <a:r>
              <a:rPr sz="850" b="1">
                <a:solidFill>
                  <a:srgbClr val="1F4FD8"/>
                </a:solidFill>
                <a:latin typeface="Calibri"/>
              </a:rPr>
              <a:t>2.  </a:t>
            </a:r>
            <a:r>
              <a:rPr sz="850" b="0">
                <a:solidFill>
                  <a:srgbClr val="5B6270"/>
                </a:solidFill>
                <a:latin typeface="Calibri"/>
              </a:rPr>
              <a:t>Cumplen 5: entrega de email, apertura de email, clic de in-app, toques por pieza y usuario-días con 3 o más piezas. Ninguno depende de a quién se manda.</a:t>
            </a:r>
          </a:p>
          <a:p>
            <a:pPr>
              <a:spcAft>
                <a:spcPts val="350"/>
              </a:spcAft>
            </a:pPr>
            <a:r>
              <a:rPr sz="850" b="1">
                <a:solidFill>
                  <a:srgbClr val="1F4FD8"/>
                </a:solidFill>
                <a:latin typeface="Calibri"/>
              </a:rPr>
              <a:t>3.  </a:t>
            </a:r>
            <a:r>
              <a:rPr sz="850" b="0">
                <a:solidFill>
                  <a:srgbClr val="5B6270"/>
                </a:solidFill>
                <a:latin typeface="Calibri"/>
              </a:rPr>
              <a:t>Los 19 en rojo tienen la misma causa: audiencias masivas sin segmento (Leads, 'Todos'), frecuencia sin tope y canal sin regla de preferencia.</a:t>
            </a:r>
          </a:p>
          <a:p>
            <a:pPr>
              <a:spcAft>
                <a:spcPts val="350"/>
              </a:spcAft>
            </a:pPr>
            <a:r>
              <a:rPr sz="850" b="1">
                <a:solidFill>
                  <a:srgbClr val="1F4FD8"/>
                </a:solidFill>
                <a:latin typeface="Calibri"/>
              </a:rPr>
              <a:t>4.  </a:t>
            </a:r>
            <a:r>
              <a:rPr sz="850" b="0">
                <a:solidFill>
                  <a:srgbClr val="5B6270"/>
                </a:solidFill>
                <a:latin typeface="Calibri"/>
              </a:rPr>
              <a:t>Ninguna pieza masiva llega al piso; las que lo pasan (Precobranza, Veriff, Payment Confirmation) van a quien hizo algo.</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Braze se opera por equipo, sin reglas comunes de audiencia, frecuencia y canal, y sin un estándar contra el que revisar.</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Si fuera copy, los indicadores estarían cerca del piso; están a la mitad.</a:t>
            </a:r>
          </a:p>
          <a:p>
            <a:r>
              <a:rPr sz="700" b="1">
                <a:solidFill>
                  <a:srgbClr val="1F4FD8"/>
                </a:solidFill>
                <a:latin typeface="Calibri"/>
              </a:rPr>
              <a:t>O  </a:t>
            </a:r>
            <a:r>
              <a:rPr sz="750">
                <a:solidFill>
                  <a:srgbClr val="5B6270"/>
                </a:solidFill>
                <a:latin typeface="Calibri"/>
              </a:rPr>
              <a:t>Los equipos no conocen el estándar ni lo ven en su tablero.</a:t>
            </a:r>
          </a:p>
          <a:p>
            <a:r>
              <a:rPr sz="700" b="1">
                <a:solidFill>
                  <a:srgbClr val="1F4FD8"/>
                </a:solidFill>
                <a:latin typeface="Calibri"/>
              </a:rPr>
              <a:t>G  </a:t>
            </a:r>
            <a:r>
              <a:rPr sz="750">
                <a:solidFill>
                  <a:srgbClr val="5B6270"/>
                </a:solidFill>
                <a:latin typeface="Calibri"/>
              </a:rPr>
              <a:t>No hay dueño de los estándares ni revisión mensual contra ellos.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Dirección aprueba los 24 estándares (pestaña Estándares) como tablero oficial. Semana 2: CRM los publica por equipo y pieza; dos meses en rojo abren ticket al dueño. Las 12 reglas del playbook atacan 15 de los 19. Métrica: indicadores en verde, hoy 5, meta 15 a los 90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Las 12 reglas atacan 15 de los 19 en rojo; en 90 días la meta es 10 en verde: clic 1.5 %, apertura 3 %, bajas 2.5 por mil.</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No es una campaña ni un equipo: es la forma de operar Braze. Se corrige con reglas y configuración de cuenta, no pieza por pieza.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1280160"/>
          </a:xfrm>
          <a:prstGeom prst="rect">
            <a:avLst/>
          </a:prstGeom>
          <a:noFill/>
        </p:spPr>
        <p:txBody>
          <a:bodyPr wrap="square" lIns="18288" rIns="18288" tIns="18288" bIns="18288" anchor="t">
            <a:spAutoFit/>
          </a:bodyPr>
          <a:lstStyle/>
          <a:p>
            <a:pPr algn="l"/>
            <a:r>
              <a:rPr sz="7200" b="1">
                <a:solidFill>
                  <a:srgbClr val="FFFFFF"/>
                </a:solidFill>
                <a:latin typeface="Calibri"/>
              </a:rPr>
              <a:t>A</a:t>
            </a:r>
          </a:p>
        </p:txBody>
      </p:sp>
      <p:sp>
        <p:nvSpPr>
          <p:cNvPr id="4" name="TextBox 3"/>
          <p:cNvSpPr txBox="1"/>
          <p:nvPr/>
        </p:nvSpPr>
        <p:spPr>
          <a:xfrm>
            <a:off x="822960" y="2926080"/>
            <a:ext cx="9144000" cy="1097280"/>
          </a:xfrm>
          <a:prstGeom prst="rect">
            <a:avLst/>
          </a:prstGeom>
          <a:noFill/>
        </p:spPr>
        <p:txBody>
          <a:bodyPr wrap="square" lIns="18288" rIns="18288" tIns="18288" bIns="18288" anchor="t">
            <a:spAutoFit/>
          </a:bodyPr>
          <a:lstStyle/>
          <a:p>
            <a:pPr algn="l"/>
            <a:r>
              <a:rPr sz="3200" b="1">
                <a:solidFill>
                  <a:srgbClr val="FFFFFF"/>
                </a:solidFill>
                <a:latin typeface="Calibri"/>
              </a:rPr>
              <a:t>Mandamos a quien no responde</a:t>
            </a:r>
          </a:p>
        </p:txBody>
      </p:sp>
      <p:sp>
        <p:nvSpPr>
          <p:cNvPr id="5" name="TextBox 4"/>
          <p:cNvSpPr txBox="1"/>
          <p:nvPr/>
        </p:nvSpPr>
        <p:spPr>
          <a:xfrm>
            <a:off x="822960" y="4023360"/>
            <a:ext cx="9144000" cy="731520"/>
          </a:xfrm>
          <a:prstGeom prst="rect">
            <a:avLst/>
          </a:prstGeom>
          <a:noFill/>
        </p:spPr>
        <p:txBody>
          <a:bodyPr wrap="square" lIns="18288" rIns="18288" tIns="18288" bIns="18288" anchor="t">
            <a:spAutoFit/>
          </a:bodyPr>
          <a:lstStyle/>
          <a:p>
            <a:pPr algn="l"/>
            <a:r>
              <a:rPr sz="1600" b="0">
                <a:solidFill>
                  <a:srgbClr val="FFFFFF"/>
                </a:solidFill>
                <a:latin typeface="Calibri"/>
              </a:rPr>
              <a:t>La mitad del esfuerzo va a usuarios que no pueden o no quieren responder</a:t>
            </a:r>
          </a:p>
        </p:txBody>
      </p:sp>
      <p:sp>
        <p:nvSpPr>
          <p:cNvPr id="6" name="TextBox 5"/>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FFFFF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73 % de los usuarios no respondió a nada en 9 meses y recibe 24 % de los mensajes; el 11 % que responde a varios canales recibe 52 % y aporta 86 % de las conversiones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J_Canal (E7b)</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13</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73 %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usuarios (14.2 M) no respondió a nada en 9 meses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24 %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mensajes (160 M) van a esos usuarios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86 %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las conversiones salen del 11 % que responde en varios canales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13.png"/>
          <p:cNvPicPr>
            <a:picLocks noChangeAspect="1"/>
          </p:cNvPicPr>
          <p:nvPr/>
        </p:nvPicPr>
        <p:blipFill>
          <a:blip r:embed="rId2"/>
          <a:stretch>
            <a:fillRect/>
          </a:stretch>
        </p:blipFill>
        <p:spPr>
          <a:xfrm>
            <a:off x="548640" y="2560320"/>
            <a:ext cx="6354546"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14.2 M usuarios (73 %) sin una sola respuesta: reciben 11 mensajes cada uno, 160 M en total, y convierten 0.08 %.</a:t>
            </a:r>
          </a:p>
          <a:p>
            <a:pPr>
              <a:spcAft>
                <a:spcPts val="350"/>
              </a:spcAft>
            </a:pPr>
            <a:r>
              <a:rPr sz="850" b="1">
                <a:solidFill>
                  <a:srgbClr val="1F4FD8"/>
                </a:solidFill>
                <a:latin typeface="Calibri"/>
              </a:rPr>
              <a:t>2.  </a:t>
            </a:r>
            <a:r>
              <a:rPr sz="850" b="0">
                <a:solidFill>
                  <a:srgbClr val="5B6270"/>
                </a:solidFill>
                <a:latin typeface="Calibri"/>
              </a:rPr>
              <a:t>2.2 M usuarios (11 %) responden a 2 o más canales: reciben 52 % de los mensajes y aportan 86 % de las conversiones.</a:t>
            </a:r>
          </a:p>
          <a:p>
            <a:pPr>
              <a:spcAft>
                <a:spcPts val="350"/>
              </a:spcAft>
            </a:pPr>
            <a:r>
              <a:rPr sz="850" b="1">
                <a:solidFill>
                  <a:srgbClr val="1F4FD8"/>
                </a:solidFill>
                <a:latin typeface="Calibri"/>
              </a:rPr>
              <a:t>3.  </a:t>
            </a:r>
            <a:r>
              <a:rPr sz="850" b="0">
                <a:solidFill>
                  <a:srgbClr val="5B6270"/>
                </a:solidFill>
                <a:latin typeface="Calibri"/>
              </a:rPr>
              <a:t>Los mudos son leads comprados, 'Not Tracked' y registrados sin activar a los que Marketing y Product Growth mandan masivos cada mes (Tasa0, Referral, BillPay).</a:t>
            </a:r>
          </a:p>
          <a:p>
            <a:pPr>
              <a:spcAft>
                <a:spcPts val="350"/>
              </a:spcAft>
            </a:pPr>
            <a:r>
              <a:rPr sz="850" b="1">
                <a:solidFill>
                  <a:srgbClr val="1F4FD8"/>
                </a:solidFill>
                <a:latin typeface="Calibri"/>
              </a:rPr>
              <a:t>4.  </a:t>
            </a:r>
            <a:r>
              <a:rPr sz="850" b="0">
                <a:solidFill>
                  <a:srgbClr val="5B6270"/>
                </a:solidFill>
                <a:latin typeface="Calibri"/>
              </a:rPr>
              <a:t>Ninguna pieza promocional filtra por 'respondió algo en 90 días': las audiencias se arman por etapa (Leads, Nuevos), no por comportamiento.</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No existe en Braze un atributo de respuesta reciente ni una exclusión estándar por inactividad; segmentar por respuesta no está en el checklist.</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respuesta pasada predice la futura: quien nunca respondió no convierte (0.08 %).</a:t>
            </a:r>
          </a:p>
          <a:p>
            <a:r>
              <a:rPr sz="700" b="1">
                <a:solidFill>
                  <a:srgbClr val="1F4FD8"/>
                </a:solidFill>
                <a:latin typeface="Calibri"/>
              </a:rPr>
              <a:t>O  </a:t>
            </a:r>
            <a:r>
              <a:rPr sz="750">
                <a:solidFill>
                  <a:srgbClr val="5B6270"/>
                </a:solidFill>
                <a:latin typeface="Calibri"/>
              </a:rPr>
              <a:t>Los segmentos se arman por etapa de funnel porque esos campos existen en Braze; la respuesta no está como atributo.</a:t>
            </a:r>
          </a:p>
          <a:p>
            <a:r>
              <a:rPr sz="700" b="1">
                <a:solidFill>
                  <a:srgbClr val="1F4FD8"/>
                </a:solidFill>
                <a:latin typeface="Calibri"/>
              </a:rPr>
              <a:t>G  </a:t>
            </a:r>
            <a:r>
              <a:rPr sz="750">
                <a:solidFill>
                  <a:srgbClr val="5B6270"/>
                </a:solidFill>
                <a:latin typeface="Calibri"/>
              </a:rPr>
              <a:t>Nadie es dueño de definir la 'base útil' para promocional.</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MarTech crea el segmento EXC-SinRespuesta90d (sin clic, apertura ni lectura en 90 días) y lo carga como exclusión en todo Canvas promocional de Marketing y Product Growth. Semana 3: Datos sube a Braze el atributo ultima_respuesta_fecha con la API diaria. Métrica: % de envíos promocionales a mudos, hoy 24 %, meta menos de 5 %.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Excluir a los 14.2 M mudos de lo promocional ahorra cerca de 900 mil MXN al mes y 17 % de las bajas sin perder conversiones (aportan 1 %).</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 base útil para promocional es 5.3 M usuarios, no 19.5 M. Dejar de mandar a quien nunca respondió no cuesta ventas: es la primera exclusión que se carga en Braze.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Los 5.3 M usuarios que respondieron a algo concentran 99 % de las conversiones: mandar a los otros 14.2 M son 160 M mensajes por 1 % del resultado</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Patrón de respuesta (E7b). Respuesta: clic de email o in-app, apertura de push, lectura de WhatsApp</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14</a:t>
            </a:r>
          </a:p>
        </p:txBody>
      </p:sp>
      <p:graphicFrame>
        <p:nvGraphicFramePr>
          <p:cNvPr id="8" name="Chart 7"/>
          <p:cNvGraphicFramePr>
            <a:graphicFrameLocks noGrp="1"/>
          </p:cNvGraphicFramePr>
          <p:nvPr/>
        </p:nvGraphicFramePr>
        <p:xfrm>
          <a:off x="548640" y="1783080"/>
          <a:ext cx="6949440" cy="2651760"/>
        </p:xfrm>
        <a:graphic>
          <a:graphicData uri="http://schemas.openxmlformats.org/drawingml/2006/chart">
            <c:chart xmlns:c="http://schemas.openxmlformats.org/drawingml/2006/chart" r:id="rId2"/>
          </a:graphicData>
        </a:graphic>
      </p:graphicFrame>
      <p:sp>
        <p:nvSpPr>
          <p:cNvPr id="9" name="TextBox 8"/>
          <p:cNvSpPr txBox="1"/>
          <p:nvPr/>
        </p:nvSpPr>
        <p:spPr>
          <a:xfrm>
            <a:off x="548640" y="4434840"/>
            <a:ext cx="6949440" cy="274320"/>
          </a:xfrm>
          <a:prstGeom prst="rect">
            <a:avLst/>
          </a:prstGeom>
          <a:noFill/>
        </p:spPr>
        <p:txBody>
          <a:bodyPr wrap="square" lIns="18288" rIns="18288" tIns="18288" bIns="18288" anchor="t">
            <a:spAutoFit/>
          </a:bodyPr>
          <a:lstStyle/>
          <a:p>
            <a:pPr algn="l"/>
            <a:r>
              <a:rPr sz="900" b="0">
                <a:solidFill>
                  <a:srgbClr val="5B6270"/>
                </a:solidFill>
                <a:latin typeface="Calibri"/>
              </a:rPr>
              <a:t>Conversiones en el periodo: 1.19 M usuarios. Mensajes: 160 M a mudos, 164 M a un canal, 346 M a varios</a:t>
            </a:r>
          </a:p>
        </p:txBody>
      </p:sp>
      <p:sp>
        <p:nvSpPr>
          <p:cNvPr id="10" name="TextBox 9"/>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Quien responde a 2 o más canales convierte 46 % en el periodo; quien responde a uno, 4.8 %; quien a ninguno, 0.08 %.</a:t>
            </a:r>
          </a:p>
          <a:p>
            <a:pPr>
              <a:spcAft>
                <a:spcPts val="350"/>
              </a:spcAft>
            </a:pPr>
            <a:r>
              <a:rPr sz="900" b="1">
                <a:solidFill>
                  <a:srgbClr val="1F4FD8"/>
                </a:solidFill>
                <a:latin typeface="Calibri"/>
              </a:rPr>
              <a:t>2.  </a:t>
            </a:r>
            <a:r>
              <a:rPr sz="900" b="0">
                <a:solidFill>
                  <a:srgbClr val="5B6270"/>
                </a:solidFill>
                <a:latin typeface="Calibri"/>
              </a:rPr>
              <a:t>Los 14.2 M mudos recibieron 160 M mensajes (24 %) y convirtieron 12 mil: 1 % de las conversiones.</a:t>
            </a:r>
          </a:p>
          <a:p>
            <a:pPr>
              <a:spcAft>
                <a:spcPts val="350"/>
              </a:spcAft>
            </a:pPr>
            <a:r>
              <a:rPr sz="900" b="1">
                <a:solidFill>
                  <a:srgbClr val="1F4FD8"/>
                </a:solidFill>
                <a:latin typeface="Calibri"/>
              </a:rPr>
              <a:t>3.  </a:t>
            </a:r>
            <a:r>
              <a:rPr sz="900" b="0">
                <a:solidFill>
                  <a:srgbClr val="5B6270"/>
                </a:solidFill>
                <a:latin typeface="Calibri"/>
              </a:rPr>
              <a:t>La conversión viene de Databricks (solicitud o préstamo), no de Braze: no prueba que el mensaje vendió, pero sí a quién no conviene escribirle.</a:t>
            </a:r>
          </a:p>
          <a:p>
            <a:pPr>
              <a:spcAft>
                <a:spcPts val="350"/>
              </a:spcAft>
            </a:pPr>
            <a:r>
              <a:rPr sz="900" b="1">
                <a:solidFill>
                  <a:srgbClr val="1F4FD8"/>
                </a:solidFill>
                <a:latin typeface="Calibri"/>
              </a:rPr>
              <a:t>4.  </a:t>
            </a:r>
            <a:r>
              <a:rPr sz="900" b="0">
                <a:solidFill>
                  <a:srgbClr val="5B6270"/>
                </a:solidFill>
                <a:latin typeface="Calibri"/>
              </a:rPr>
              <a:t>El volumen va a donde no hay resultado porque las audiencias se dimensionan por tamaño de lista, no por respuesta.</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No hay regla de 'promocional solo a quien respondió' ni grupo de control que muestre que los mudos no se mueven con mensajes.</a:t>
            </a:r>
          </a:p>
        </p:txBody>
      </p:sp>
      <p:cxnSp>
        <p:nvCxnSpPr>
          <p:cNvPr id="11" name="Connector 10"/>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Mandar a mudos no genera conversiones incrementales: convierten 0.08 % con 11 mensajes cada uno.</a:t>
            </a:r>
          </a:p>
          <a:p>
            <a:r>
              <a:rPr sz="700" b="1">
                <a:solidFill>
                  <a:srgbClr val="1F4FD8"/>
                </a:solidFill>
                <a:latin typeface="Calibri"/>
              </a:rPr>
              <a:t>O  </a:t>
            </a:r>
            <a:r>
              <a:rPr sz="750">
                <a:solidFill>
                  <a:srgbClr val="5B6270"/>
                </a:solidFill>
                <a:latin typeface="Calibri"/>
              </a:rPr>
              <a:t>Las listas grandes se usan porque el reporte de Braze premia alcance, no respuesta.</a:t>
            </a:r>
          </a:p>
          <a:p>
            <a:r>
              <a:rPr sz="700" b="1">
                <a:solidFill>
                  <a:srgbClr val="1F4FD8"/>
                </a:solidFill>
                <a:latin typeface="Calibri"/>
              </a:rPr>
              <a:t>G  </a:t>
            </a:r>
            <a:r>
              <a:rPr sz="750">
                <a:solidFill>
                  <a:srgbClr val="5B6270"/>
                </a:solidFill>
                <a:latin typeface="Calibri"/>
              </a:rPr>
              <a:t>No hay definición oficial de audiencia promocional válida.</a:t>
            </a:r>
          </a:p>
        </p:txBody>
      </p:sp>
      <p:sp>
        <p:nvSpPr>
          <p:cNvPr id="13" name="TextBox 12"/>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CRM define 'audiencia promocional = respondió a algo en 90 días' y lo escribe en el checklist de activación. Semana 2: los mudos pasan a transaccional y una prueba de reactivación al trimestre con control del 10 %. Dueños: Marketing y Product Growth en sus Canvas de Leads y Nuevos. Métrica: conversiones totales (no bajan) y envíos (bajan 24 %).</a:t>
            </a:r>
          </a:p>
        </p:txBody>
      </p:sp>
      <p:sp>
        <p:nvSpPr>
          <p:cNvPr id="14" name="TextBox 13"/>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Quitar lo promocional a mudos recorta 160 M mensajes (24 %) y 1 % de las conversiones: el presupuesto se concentra en los 5.3 M que sí responden.</a:t>
            </a:r>
          </a:p>
        </p:txBody>
      </p:sp>
      <p:sp>
        <p:nvSpPr>
          <p:cNvPr id="15" name="Rectangle 14"/>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Toda audiencia promocional se construye desde quien ya respondió a algo. Los mudos solo reciben transaccional y una prueba de reactivación al trimestre, medida con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59 % de los mensajes (394 M, 18.7 M MXN) van a un canal que ese usuario nunca abrió: cada equipo manda por su canal, no por el del usuario</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J_Canal R22 y H22 (E7b)</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15</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59 %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mensajes van a un canal que ese usuario nunca abrió</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18.7 M MXN</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costo de esos 394 M mensajes en 9 meses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58 M emails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 usuarios que solo leen WhatsApp</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5" cy="1874516"/>
        </p:xfrm>
        <a:graphic>
          <a:graphicData uri="http://schemas.openxmlformats.org/drawingml/2006/table">
            <a:tbl>
              <a:tblPr firstRow="1" bandRow="1">
                <a:tableStyleId>{5C22544A-7EE6-4342-B048-85BDC9FD1C3A}</a:tableStyleId>
              </a:tblPr>
              <a:tblGrid>
                <a:gridCol w="1554480"/>
                <a:gridCol w="1078991"/>
                <a:gridCol w="1078991"/>
                <a:gridCol w="1078991"/>
                <a:gridCol w="1078991"/>
                <a:gridCol w="1078991"/>
              </a:tblGrid>
              <a:tr h="267788">
                <a:tc>
                  <a:txBody>
                    <a:bodyPr/>
                    <a:lstStyle/>
                    <a:p>
                      <a:pPr algn="l"/>
                    </a:p>
                  </a:txBody>
                  <a:tcPr marL="45720" marR="45720" marT="18288" marB="18288" anchor="ctr">
                    <a:solidFill>
                      <a:srgbClr val="FFFFFF"/>
                    </a:solidFill>
                  </a:tcPr>
                </a:tc>
                <a:tc>
                  <a:txBody>
                    <a:bodyPr/>
                    <a:lstStyle/>
                    <a:p>
                      <a:pPr algn="ctr"/>
                      <a:r>
                        <a:rPr sz="700" b="1">
                          <a:solidFill>
                            <a:srgbClr val="5B6270"/>
                          </a:solidFill>
                          <a:latin typeface="Calibri"/>
                        </a:rPr>
                        <a:t>Email</a:t>
                      </a:r>
                    </a:p>
                  </a:txBody>
                  <a:tcPr marL="45720" marR="45720" marT="18288" marB="18288" anchor="ctr">
                    <a:solidFill>
                      <a:srgbClr val="FFFFFF"/>
                    </a:solidFill>
                  </a:tcPr>
                </a:tc>
                <a:tc>
                  <a:txBody>
                    <a:bodyPr/>
                    <a:lstStyle/>
                    <a:p>
                      <a:pPr algn="ctr"/>
                      <a:r>
                        <a:rPr sz="700" b="1">
                          <a:solidFill>
                            <a:srgbClr val="5B6270"/>
                          </a:solidFill>
                          <a:latin typeface="Calibri"/>
                        </a:rPr>
                        <a:t>Push</a:t>
                      </a:r>
                    </a:p>
                  </a:txBody>
                  <a:tcPr marL="45720" marR="45720" marT="18288" marB="18288" anchor="ctr">
                    <a:solidFill>
                      <a:srgbClr val="FFFFFF"/>
                    </a:solidFill>
                  </a:tcPr>
                </a:tc>
                <a:tc>
                  <a:txBody>
                    <a:bodyPr/>
                    <a:lstStyle/>
                    <a:p>
                      <a:pPr algn="ctr"/>
                      <a:r>
                        <a:rPr sz="700" b="1">
                          <a:solidFill>
                            <a:srgbClr val="5B6270"/>
                          </a:solidFill>
                          <a:latin typeface="Calibri"/>
                        </a:rPr>
                        <a:t>WhatsApp entregado</a:t>
                      </a:r>
                    </a:p>
                  </a:txBody>
                  <a:tcPr marL="45720" marR="45720" marT="18288" marB="18288" anchor="ctr">
                    <a:solidFill>
                      <a:srgbClr val="FFFFFF"/>
                    </a:solidFill>
                  </a:tcPr>
                </a:tc>
                <a:tc>
                  <a:txBody>
                    <a:bodyPr/>
                    <a:lstStyle/>
                    <a:p>
                      <a:pPr algn="ctr"/>
                      <a:r>
                        <a:rPr sz="700" b="1">
                          <a:solidFill>
                            <a:srgbClr val="5B6270"/>
                          </a:solidFill>
                          <a:latin typeface="Calibri"/>
                        </a:rPr>
                        <a:t>In-app</a:t>
                      </a:r>
                    </a:p>
                  </a:txBody>
                  <a:tcPr marL="45720" marR="45720" marT="18288" marB="18288" anchor="ctr">
                    <a:solidFill>
                      <a:srgbClr val="FFFFFF"/>
                    </a:solidFill>
                  </a:tcPr>
                </a:tc>
                <a:tc>
                  <a:txBody>
                    <a:bodyPr/>
                    <a:lstStyle/>
                    <a:p>
                      <a:pPr algn="ctr"/>
                      <a:r>
                        <a:rPr sz="700" b="1">
                          <a:solidFill>
                            <a:srgbClr val="5B6270"/>
                          </a:solidFill>
                          <a:latin typeface="Calibri"/>
                        </a:rPr>
                        <a:t>% de los usuarios</a:t>
                      </a:r>
                    </a:p>
                  </a:txBody>
                  <a:tcPr marL="45720" marR="45720" marT="18288" marB="18288" anchor="ctr">
                    <a:solidFill>
                      <a:srgbClr val="FFFFFF"/>
                    </a:solidFill>
                  </a:tcPr>
                </a:tc>
              </a:tr>
              <a:tr h="267788">
                <a:tc>
                  <a:txBody>
                    <a:bodyPr/>
                    <a:lstStyle/>
                    <a:p>
                      <a:pPr algn="l"/>
                      <a:r>
                        <a:rPr sz="750" b="1">
                          <a:solidFill>
                            <a:srgbClr val="1A1D24"/>
                          </a:solidFill>
                          <a:latin typeface="Calibri"/>
                        </a:rPr>
                        <a:t>Ninguno</a:t>
                      </a:r>
                    </a:p>
                  </a:txBody>
                  <a:tcPr marL="45720" marR="45720" marT="18288" marB="18288" anchor="ctr">
                    <a:solidFill>
                      <a:srgbClr val="FFFFFF"/>
                    </a:solidFill>
                  </a:tcPr>
                </a:tc>
                <a:tc>
                  <a:txBody>
                    <a:bodyPr/>
                    <a:lstStyle/>
                    <a:p>
                      <a:pPr algn="ctr"/>
                      <a:r>
                        <a:rPr sz="750" b="0">
                          <a:solidFill>
                            <a:srgbClr val="FFFFFF"/>
                          </a:solidFill>
                          <a:latin typeface="Calibri"/>
                        </a:rPr>
                        <a:t>109</a:t>
                      </a:r>
                    </a:p>
                  </a:txBody>
                  <a:tcPr marL="45720" marR="45720" marT="18288" marB="18288" anchor="ctr">
                    <a:solidFill>
                      <a:srgbClr val="476FDF"/>
                    </a:solidFill>
                  </a:tcPr>
                </a:tc>
                <a:tc>
                  <a:txBody>
                    <a:bodyPr/>
                    <a:lstStyle/>
                    <a:p>
                      <a:pPr algn="ctr"/>
                      <a:r>
                        <a:rPr sz="750" b="0">
                          <a:solidFill>
                            <a:srgbClr val="1A1D24"/>
                          </a:solidFill>
                          <a:latin typeface="Calibri"/>
                        </a:rPr>
                        <a:t>43</a:t>
                      </a:r>
                    </a:p>
                  </a:txBody>
                  <a:tcPr marL="45720" marR="45720" marT="18288" marB="18288" anchor="ctr">
                    <a:solidFill>
                      <a:srgbClr val="B8C7F2"/>
                    </a:solidFill>
                  </a:tcPr>
                </a:tc>
                <a:tc>
                  <a:txBody>
                    <a:bodyPr/>
                    <a:lstStyle/>
                    <a:p>
                      <a:pPr algn="ctr"/>
                      <a:r>
                        <a:rPr sz="750" b="0">
                          <a:solidFill>
                            <a:srgbClr val="1A1D24"/>
                          </a:solidFill>
                          <a:latin typeface="Calibri"/>
                        </a:rPr>
                        <a:t>3</a:t>
                      </a:r>
                    </a:p>
                  </a:txBody>
                  <a:tcPr marL="45720" marR="45720" marT="18288" marB="18288" anchor="ctr">
                    <a:solidFill>
                      <a:srgbClr val="D3DCF7"/>
                    </a:solidFill>
                  </a:tcPr>
                </a:tc>
                <a:tc>
                  <a:txBody>
                    <a:bodyPr/>
                    <a:lstStyle/>
                    <a:p>
                      <a:pPr algn="ctr"/>
                      <a:r>
                        <a:rPr sz="750" b="0">
                          <a:solidFill>
                            <a:srgbClr val="1A1D24"/>
                          </a:solidFill>
                          <a:latin typeface="Calibri"/>
                        </a:rPr>
                        <a:t>0</a:t>
                      </a:r>
                    </a:p>
                  </a:txBody>
                  <a:tcPr marL="45720" marR="45720" marT="18288" marB="18288" anchor="ctr">
                    <a:solidFill>
                      <a:srgbClr val="EAEFFB"/>
                    </a:solidFill>
                  </a:tcPr>
                </a:tc>
                <a:tc>
                  <a:txBody>
                    <a:bodyPr/>
                    <a:lstStyle/>
                    <a:p>
                      <a:pPr algn="ctr"/>
                      <a:r>
                        <a:rPr sz="750" b="0">
                          <a:solidFill>
                            <a:srgbClr val="5B6270"/>
                          </a:solidFill>
                          <a:latin typeface="Calibri"/>
                        </a:rPr>
                        <a:t>73 %</a:t>
                      </a:r>
                    </a:p>
                  </a:txBody>
                  <a:tcPr marL="45720" marR="45720" marT="18288" marB="18288" anchor="ctr">
                    <a:solidFill>
                      <a:srgbClr val="F6F7F9"/>
                    </a:solidFill>
                  </a:tcPr>
                </a:tc>
              </a:tr>
              <a:tr h="267788">
                <a:tc>
                  <a:txBody>
                    <a:bodyPr/>
                    <a:lstStyle/>
                    <a:p>
                      <a:pPr algn="l"/>
                      <a:r>
                        <a:rPr sz="750" b="1">
                          <a:solidFill>
                            <a:srgbClr val="1A1D24"/>
                          </a:solidFill>
                          <a:latin typeface="Calibri"/>
                        </a:rPr>
                        <a:t>Solo WhatsApp</a:t>
                      </a:r>
                    </a:p>
                  </a:txBody>
                  <a:tcPr marL="45720" marR="45720" marT="18288" marB="18288" anchor="ctr">
                    <a:solidFill>
                      <a:srgbClr val="FFFFFF"/>
                    </a:solidFill>
                  </a:tcPr>
                </a:tc>
                <a:tc>
                  <a:txBody>
                    <a:bodyPr/>
                    <a:lstStyle/>
                    <a:p>
                      <a:pPr algn="ctr"/>
                      <a:r>
                        <a:rPr sz="750" b="0">
                          <a:solidFill>
                            <a:srgbClr val="1A1D24"/>
                          </a:solidFill>
                          <a:latin typeface="Calibri"/>
                        </a:rPr>
                        <a:t>58</a:t>
                      </a:r>
                    </a:p>
                  </a:txBody>
                  <a:tcPr marL="45720" marR="45720" marT="18288" marB="18288" anchor="ctr">
                    <a:solidFill>
                      <a:srgbClr val="95ACEC"/>
                    </a:solidFill>
                  </a:tcPr>
                </a:tc>
                <a:tc>
                  <a:txBody>
                    <a:bodyPr/>
                    <a:lstStyle/>
                    <a:p>
                      <a:pPr algn="ctr"/>
                      <a:r>
                        <a:rPr sz="750" b="0">
                          <a:solidFill>
                            <a:srgbClr val="1A1D24"/>
                          </a:solidFill>
                          <a:latin typeface="Calibri"/>
                        </a:rPr>
                        <a:t>21</a:t>
                      </a:r>
                    </a:p>
                  </a:txBody>
                  <a:tcPr marL="45720" marR="45720" marT="18288" marB="18288" anchor="ctr">
                    <a:solidFill>
                      <a:srgbClr val="D4DDF7"/>
                    </a:solidFill>
                  </a:tcPr>
                </a:tc>
                <a:tc>
                  <a:txBody>
                    <a:bodyPr/>
                    <a:lstStyle/>
                    <a:p>
                      <a:pPr algn="ctr"/>
                      <a:r>
                        <a:rPr sz="750" b="0">
                          <a:solidFill>
                            <a:srgbClr val="FFFFFF"/>
                          </a:solidFill>
                          <a:latin typeface="Calibri"/>
                        </a:rPr>
                        <a:t>17</a:t>
                      </a:r>
                    </a:p>
                  </a:txBody>
                  <a:tcPr marL="45720" marR="45720" marT="18288" marB="18288" anchor="ctr">
                    <a:solidFill>
                      <a:srgbClr val="426ADE"/>
                    </a:solidFill>
                  </a:tcPr>
                </a:tc>
                <a:tc>
                  <a:txBody>
                    <a:bodyPr/>
                    <a:lstStyle/>
                    <a:p>
                      <a:pPr algn="ctr"/>
                      <a:r>
                        <a:rPr sz="750" b="0">
                          <a:solidFill>
                            <a:srgbClr val="1A1D24"/>
                          </a:solidFill>
                          <a:latin typeface="Calibri"/>
                        </a:rPr>
                        <a:t>0</a:t>
                      </a:r>
                    </a:p>
                  </a:txBody>
                  <a:tcPr marL="45720" marR="45720" marT="18288" marB="18288" anchor="ctr">
                    <a:solidFill>
                      <a:srgbClr val="EBF0FB"/>
                    </a:solidFill>
                  </a:tcPr>
                </a:tc>
                <a:tc>
                  <a:txBody>
                    <a:bodyPr/>
                    <a:lstStyle/>
                    <a:p>
                      <a:pPr algn="ctr"/>
                      <a:r>
                        <a:rPr sz="750" b="0">
                          <a:solidFill>
                            <a:srgbClr val="5B6270"/>
                          </a:solidFill>
                          <a:latin typeface="Calibri"/>
                        </a:rPr>
                        <a:t>8 %</a:t>
                      </a:r>
                    </a:p>
                  </a:txBody>
                  <a:tcPr marL="45720" marR="45720" marT="18288" marB="18288" anchor="ctr">
                    <a:solidFill>
                      <a:srgbClr val="F6F7F9"/>
                    </a:solidFill>
                  </a:tcPr>
                </a:tc>
              </a:tr>
              <a:tr h="267788">
                <a:tc>
                  <a:txBody>
                    <a:bodyPr/>
                    <a:lstStyle/>
                    <a:p>
                      <a:pPr algn="l"/>
                      <a:r>
                        <a:rPr sz="750" b="1">
                          <a:solidFill>
                            <a:srgbClr val="1A1D24"/>
                          </a:solidFill>
                          <a:latin typeface="Calibri"/>
                        </a:rPr>
                        <a:t>Solo in-app</a:t>
                      </a:r>
                    </a:p>
                  </a:txBody>
                  <a:tcPr marL="45720" marR="45720" marT="18288" marB="18288" anchor="ctr">
                    <a:solidFill>
                      <a:srgbClr val="FFFFFF"/>
                    </a:solidFill>
                  </a:tcPr>
                </a:tc>
                <a:tc>
                  <a:txBody>
                    <a:bodyPr/>
                    <a:lstStyle/>
                    <a:p>
                      <a:pPr algn="ctr"/>
                      <a:r>
                        <a:rPr sz="750" b="0">
                          <a:solidFill>
                            <a:srgbClr val="1A1D24"/>
                          </a:solidFill>
                          <a:latin typeface="Calibri"/>
                        </a:rPr>
                        <a:t>21</a:t>
                      </a:r>
                    </a:p>
                  </a:txBody>
                  <a:tcPr marL="45720" marR="45720" marT="18288" marB="18288" anchor="ctr">
                    <a:solidFill>
                      <a:srgbClr val="CFD9F6"/>
                    </a:solidFill>
                  </a:tcPr>
                </a:tc>
                <a:tc>
                  <a:txBody>
                    <a:bodyPr/>
                    <a:lstStyle/>
                    <a:p>
                      <a:pPr algn="ctr"/>
                      <a:r>
                        <a:rPr sz="750" b="0">
                          <a:solidFill>
                            <a:srgbClr val="1A1D24"/>
                          </a:solidFill>
                          <a:latin typeface="Calibri"/>
                        </a:rPr>
                        <a:t>20</a:t>
                      </a:r>
                    </a:p>
                  </a:txBody>
                  <a:tcPr marL="45720" marR="45720" marT="18288" marB="18288" anchor="ctr">
                    <a:solidFill>
                      <a:srgbClr val="D5DEF7"/>
                    </a:solidFill>
                  </a:tcPr>
                </a:tc>
                <a:tc>
                  <a:txBody>
                    <a:bodyPr/>
                    <a:lstStyle/>
                    <a:p>
                      <a:pPr algn="ctr"/>
                      <a:r>
                        <a:rPr sz="750" b="0">
                          <a:solidFill>
                            <a:srgbClr val="1A1D24"/>
                          </a:solidFill>
                          <a:latin typeface="Calibri"/>
                        </a:rPr>
                        <a:t>1</a:t>
                      </a:r>
                    </a:p>
                  </a:txBody>
                  <a:tcPr marL="45720" marR="45720" marT="18288" marB="18288" anchor="ctr">
                    <a:solidFill>
                      <a:srgbClr val="E2E8FA"/>
                    </a:solidFill>
                  </a:tcPr>
                </a:tc>
                <a:tc>
                  <a:txBody>
                    <a:bodyPr/>
                    <a:lstStyle/>
                    <a:p>
                      <a:pPr algn="ctr"/>
                      <a:r>
                        <a:rPr sz="750" b="0">
                          <a:solidFill>
                            <a:srgbClr val="1A1D24"/>
                          </a:solidFill>
                          <a:latin typeface="Calibri"/>
                        </a:rPr>
                        <a:t>3</a:t>
                      </a:r>
                    </a:p>
                  </a:txBody>
                  <a:tcPr marL="45720" marR="45720" marT="18288" marB="18288" anchor="ctr">
                    <a:solidFill>
                      <a:srgbClr val="CFD9F6"/>
                    </a:solidFill>
                  </a:tcPr>
                </a:tc>
                <a:tc>
                  <a:txBody>
                    <a:bodyPr/>
                    <a:lstStyle/>
                    <a:p>
                      <a:pPr algn="ctr"/>
                      <a:r>
                        <a:rPr sz="750" b="0">
                          <a:solidFill>
                            <a:srgbClr val="5B6270"/>
                          </a:solidFill>
                          <a:latin typeface="Calibri"/>
                        </a:rPr>
                        <a:t>6 %</a:t>
                      </a:r>
                    </a:p>
                  </a:txBody>
                  <a:tcPr marL="45720" marR="45720" marT="18288" marB="18288" anchor="ctr">
                    <a:solidFill>
                      <a:srgbClr val="F6F7F9"/>
                    </a:solidFill>
                  </a:tcPr>
                </a:tc>
              </a:tr>
              <a:tr h="267788">
                <a:tc>
                  <a:txBody>
                    <a:bodyPr/>
                    <a:lstStyle/>
                    <a:p>
                      <a:pPr algn="l"/>
                      <a:r>
                        <a:rPr sz="750" b="1">
                          <a:solidFill>
                            <a:srgbClr val="1A1D24"/>
                          </a:solidFill>
                          <a:latin typeface="Calibri"/>
                        </a:rPr>
                        <a:t>Solo email</a:t>
                      </a:r>
                    </a:p>
                  </a:txBody>
                  <a:tcPr marL="45720" marR="45720" marT="18288" marB="18288" anchor="ctr">
                    <a:solidFill>
                      <a:srgbClr val="FFFFFF"/>
                    </a:solidFill>
                  </a:tcPr>
                </a:tc>
                <a:tc>
                  <a:txBody>
                    <a:bodyPr/>
                    <a:lstStyle/>
                    <a:p>
                      <a:pPr algn="ctr"/>
                      <a:r>
                        <a:rPr sz="750" b="0">
                          <a:solidFill>
                            <a:srgbClr val="1A1D24"/>
                          </a:solidFill>
                          <a:latin typeface="Calibri"/>
                        </a:rPr>
                        <a:t>10</a:t>
                      </a:r>
                    </a:p>
                  </a:txBody>
                  <a:tcPr marL="45720" marR="45720" marT="18288" marB="18288" anchor="ctr">
                    <a:solidFill>
                      <a:srgbClr val="E0E7F9"/>
                    </a:solidFill>
                  </a:tcPr>
                </a:tc>
                <a:tc>
                  <a:txBody>
                    <a:bodyPr/>
                    <a:lstStyle/>
                    <a:p>
                      <a:pPr algn="ctr"/>
                      <a:r>
                        <a:rPr sz="750" b="0">
                          <a:solidFill>
                            <a:srgbClr val="1A1D24"/>
                          </a:solidFill>
                          <a:latin typeface="Calibri"/>
                        </a:rPr>
                        <a:t>2</a:t>
                      </a:r>
                    </a:p>
                  </a:txBody>
                  <a:tcPr marL="45720" marR="45720" marT="18288" marB="18288" anchor="ctr">
                    <a:solidFill>
                      <a:srgbClr val="EDF0FB"/>
                    </a:solidFill>
                  </a:tcPr>
                </a:tc>
                <a:tc>
                  <a:txBody>
                    <a:bodyPr/>
                    <a:lstStyle/>
                    <a:p>
                      <a:pPr algn="ctr"/>
                      <a:r>
                        <a:rPr sz="750" b="0">
                          <a:solidFill>
                            <a:srgbClr val="1A1D24"/>
                          </a:solidFill>
                          <a:latin typeface="Calibri"/>
                        </a:rPr>
                        <a:t>0</a:t>
                      </a:r>
                    </a:p>
                  </a:txBody>
                  <a:tcPr marL="45720" marR="45720" marT="18288" marB="18288" anchor="ctr">
                    <a:solidFill>
                      <a:srgbClr val="EBEFFB"/>
                    </a:solidFill>
                  </a:tcPr>
                </a:tc>
                <a:tc>
                  <a:txBody>
                    <a:bodyPr/>
                    <a:lstStyle/>
                    <a:p>
                      <a:pPr algn="ctr"/>
                      <a:r>
                        <a:rPr sz="750" b="0">
                          <a:solidFill>
                            <a:srgbClr val="1A1D24"/>
                          </a:solidFill>
                          <a:latin typeface="Calibri"/>
                        </a:rPr>
                        <a:t>0</a:t>
                      </a:r>
                    </a:p>
                  </a:txBody>
                  <a:tcPr marL="45720" marR="45720" marT="18288" marB="18288" anchor="ctr">
                    <a:solidFill>
                      <a:srgbClr val="EDF0FB"/>
                    </a:solidFill>
                  </a:tcPr>
                </a:tc>
                <a:tc>
                  <a:txBody>
                    <a:bodyPr/>
                    <a:lstStyle/>
                    <a:p>
                      <a:pPr algn="ctr"/>
                      <a:r>
                        <a:rPr sz="750" b="0">
                          <a:solidFill>
                            <a:srgbClr val="5B6270"/>
                          </a:solidFill>
                          <a:latin typeface="Calibri"/>
                        </a:rPr>
                        <a:t>2 %</a:t>
                      </a:r>
                    </a:p>
                  </a:txBody>
                  <a:tcPr marL="45720" marR="45720" marT="18288" marB="18288" anchor="ctr">
                    <a:solidFill>
                      <a:srgbClr val="F6F7F9"/>
                    </a:solidFill>
                  </a:tcPr>
                </a:tc>
              </a:tr>
              <a:tr h="267788">
                <a:tc>
                  <a:txBody>
                    <a:bodyPr/>
                    <a:lstStyle/>
                    <a:p>
                      <a:pPr algn="l"/>
                      <a:r>
                        <a:rPr sz="750" b="1">
                          <a:solidFill>
                            <a:srgbClr val="1A1D24"/>
                          </a:solidFill>
                          <a:latin typeface="Calibri"/>
                        </a:rPr>
                        <a:t>Solo push</a:t>
                      </a:r>
                    </a:p>
                  </a:txBody>
                  <a:tcPr marL="45720" marR="45720" marT="18288" marB="18288" anchor="ctr">
                    <a:solidFill>
                      <a:srgbClr val="FFFFFF"/>
                    </a:solidFill>
                  </a:tcPr>
                </a:tc>
                <a:tc>
                  <a:txBody>
                    <a:bodyPr/>
                    <a:lstStyle/>
                    <a:p>
                      <a:pPr algn="ctr"/>
                      <a:r>
                        <a:rPr sz="750" b="0">
                          <a:solidFill>
                            <a:srgbClr val="1A1D24"/>
                          </a:solidFill>
                          <a:latin typeface="Calibri"/>
                        </a:rPr>
                        <a:t>1</a:t>
                      </a:r>
                    </a:p>
                  </a:txBody>
                  <a:tcPr marL="45720" marR="45720" marT="18288" marB="18288" anchor="ctr">
                    <a:solidFill>
                      <a:srgbClr val="EDF0FB"/>
                    </a:solidFill>
                  </a:tcPr>
                </a:tc>
                <a:tc>
                  <a:txBody>
                    <a:bodyPr/>
                    <a:lstStyle/>
                    <a:p>
                      <a:pPr algn="ctr"/>
                      <a:r>
                        <a:rPr sz="750" b="0">
                          <a:solidFill>
                            <a:srgbClr val="1A1D24"/>
                          </a:solidFill>
                          <a:latin typeface="Calibri"/>
                        </a:rPr>
                        <a:t>5</a:t>
                      </a:r>
                    </a:p>
                  </a:txBody>
                  <a:tcPr marL="45720" marR="45720" marT="18288" marB="18288" anchor="ctr">
                    <a:solidFill>
                      <a:srgbClr val="E9EDFB"/>
                    </a:solidFill>
                  </a:tcPr>
                </a:tc>
                <a:tc>
                  <a:txBody>
                    <a:bodyPr/>
                    <a:lstStyle/>
                    <a:p>
                      <a:pPr algn="ctr"/>
                      <a:r>
                        <a:rPr sz="750" b="0">
                          <a:solidFill>
                            <a:srgbClr val="1A1D24"/>
                          </a:solidFill>
                          <a:latin typeface="Calibri"/>
                        </a:rPr>
                        <a:t>0</a:t>
                      </a:r>
                    </a:p>
                  </a:txBody>
                  <a:tcPr marL="45720" marR="45720" marT="18288" marB="18288" anchor="ctr">
                    <a:solidFill>
                      <a:srgbClr val="EDF0FB"/>
                    </a:solidFill>
                  </a:tcPr>
                </a:tc>
                <a:tc>
                  <a:txBody>
                    <a:bodyPr/>
                    <a:lstStyle/>
                    <a:p>
                      <a:pPr algn="ctr"/>
                      <a:r>
                        <a:rPr sz="750" b="0">
                          <a:solidFill>
                            <a:srgbClr val="1A1D24"/>
                          </a:solidFill>
                          <a:latin typeface="Calibri"/>
                        </a:rPr>
                        <a:t>0</a:t>
                      </a:r>
                    </a:p>
                  </a:txBody>
                  <a:tcPr marL="45720" marR="45720" marT="18288" marB="18288" anchor="ctr">
                    <a:solidFill>
                      <a:srgbClr val="ECF0FB"/>
                    </a:solidFill>
                  </a:tcPr>
                </a:tc>
                <a:tc>
                  <a:txBody>
                    <a:bodyPr/>
                    <a:lstStyle/>
                    <a:p>
                      <a:pPr algn="ctr"/>
                      <a:r>
                        <a:rPr sz="750" b="0">
                          <a:solidFill>
                            <a:srgbClr val="5B6270"/>
                          </a:solidFill>
                          <a:latin typeface="Calibri"/>
                        </a:rPr>
                        <a:t>0 %</a:t>
                      </a:r>
                    </a:p>
                  </a:txBody>
                  <a:tcPr marL="45720" marR="45720" marT="18288" marB="18288" anchor="ctr">
                    <a:solidFill>
                      <a:srgbClr val="F6F7F9"/>
                    </a:solidFill>
                  </a:tcPr>
                </a:tc>
              </a:tr>
              <a:tr h="267788">
                <a:tc>
                  <a:txBody>
                    <a:bodyPr/>
                    <a:lstStyle/>
                    <a:p>
                      <a:pPr algn="l"/>
                      <a:r>
                        <a:rPr sz="750" b="1">
                          <a:solidFill>
                            <a:srgbClr val="1A1D24"/>
                          </a:solidFill>
                          <a:latin typeface="Calibri"/>
                        </a:rPr>
                        <a:t>Dos o más canales</a:t>
                      </a:r>
                    </a:p>
                  </a:txBody>
                  <a:tcPr marL="45720" marR="45720" marT="18288" marB="18288" anchor="ctr">
                    <a:solidFill>
                      <a:srgbClr val="FFFFFF"/>
                    </a:solidFill>
                  </a:tcPr>
                </a:tc>
                <a:tc>
                  <a:txBody>
                    <a:bodyPr/>
                    <a:lstStyle/>
                    <a:p>
                      <a:pPr algn="ctr"/>
                      <a:r>
                        <a:rPr sz="750" b="0">
                          <a:solidFill>
                            <a:srgbClr val="FFFFFF"/>
                          </a:solidFill>
                          <a:latin typeface="Calibri"/>
                        </a:rPr>
                        <a:t>135</a:t>
                      </a:r>
                    </a:p>
                  </a:txBody>
                  <a:tcPr marL="45720" marR="45720" marT="18288" marB="18288" anchor="ctr">
                    <a:solidFill>
                      <a:srgbClr val="1F4FD8"/>
                    </a:solidFill>
                  </a:tcPr>
                </a:tc>
                <a:tc>
                  <a:txBody>
                    <a:bodyPr/>
                    <a:lstStyle/>
                    <a:p>
                      <a:pPr algn="ctr"/>
                      <a:r>
                        <a:rPr sz="750" b="0">
                          <a:solidFill>
                            <a:srgbClr val="FFFFFF"/>
                          </a:solidFill>
                          <a:latin typeface="Calibri"/>
                        </a:rPr>
                        <a:t>162</a:t>
                      </a:r>
                    </a:p>
                  </a:txBody>
                  <a:tcPr marL="45720" marR="45720" marT="18288" marB="18288" anchor="ctr">
                    <a:solidFill>
                      <a:srgbClr val="1F4FD8"/>
                    </a:solidFill>
                  </a:tcPr>
                </a:tc>
                <a:tc>
                  <a:txBody>
                    <a:bodyPr/>
                    <a:lstStyle/>
                    <a:p>
                      <a:pPr algn="ctr"/>
                      <a:r>
                        <a:rPr sz="750" b="0">
                          <a:solidFill>
                            <a:srgbClr val="FFFFFF"/>
                          </a:solidFill>
                          <a:latin typeface="Calibri"/>
                        </a:rPr>
                        <a:t>21</a:t>
                      </a:r>
                    </a:p>
                  </a:txBody>
                  <a:tcPr marL="45720" marR="45720" marT="18288" marB="18288" anchor="ctr">
                    <a:solidFill>
                      <a:srgbClr val="1F4FD8"/>
                    </a:solidFill>
                  </a:tcPr>
                </a:tc>
                <a:tc>
                  <a:txBody>
                    <a:bodyPr/>
                    <a:lstStyle/>
                    <a:p>
                      <a:pPr algn="ctr"/>
                      <a:r>
                        <a:rPr sz="750" b="0">
                          <a:solidFill>
                            <a:srgbClr val="FFFFFF"/>
                          </a:solidFill>
                          <a:latin typeface="Calibri"/>
                        </a:rPr>
                        <a:t>24</a:t>
                      </a:r>
                    </a:p>
                  </a:txBody>
                  <a:tcPr marL="45720" marR="45720" marT="18288" marB="18288" anchor="ctr">
                    <a:solidFill>
                      <a:srgbClr val="1F4FD8"/>
                    </a:solidFill>
                  </a:tcPr>
                </a:tc>
                <a:tc>
                  <a:txBody>
                    <a:bodyPr/>
                    <a:lstStyle/>
                    <a:p>
                      <a:pPr algn="ctr"/>
                      <a:r>
                        <a:rPr sz="750" b="0">
                          <a:solidFill>
                            <a:srgbClr val="5B6270"/>
                          </a:solidFill>
                          <a:latin typeface="Calibri"/>
                        </a:rPr>
                        <a:t>11 %</a:t>
                      </a:r>
                    </a:p>
                  </a:txBody>
                  <a:tcPr marL="45720" marR="45720" marT="18288" marB="18288" anchor="ctr">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Canal mudo: canal al que el usuario nunca respondió aunque sí respondió a otro. Son 394 M mensajes (59 %) y 18.7 M MXN.</a:t>
            </a:r>
          </a:p>
          <a:p>
            <a:pPr>
              <a:spcAft>
                <a:spcPts val="350"/>
              </a:spcAft>
            </a:pPr>
            <a:r>
              <a:rPr sz="900" b="1">
                <a:solidFill>
                  <a:srgbClr val="1F4FD8"/>
                </a:solidFill>
                <a:latin typeface="Calibri"/>
              </a:rPr>
              <a:t>2.  </a:t>
            </a:r>
            <a:r>
              <a:rPr sz="900" b="0">
                <a:solidFill>
                  <a:srgbClr val="5B6270"/>
                </a:solidFill>
                <a:latin typeface="Calibri"/>
              </a:rPr>
              <a:t>Quien solo lee WhatsApp (8 % de los usuarios) recibe 58 M emails y 21 M push que nunca abre; quien nunca respondió a nada recibe 109 M emails y 43 M push.</a:t>
            </a:r>
          </a:p>
          <a:p>
            <a:pPr>
              <a:spcAft>
                <a:spcPts val="350"/>
              </a:spcAft>
            </a:pPr>
            <a:r>
              <a:rPr sz="900" b="1">
                <a:solidFill>
                  <a:srgbClr val="1F4FD8"/>
                </a:solidFill>
                <a:latin typeface="Calibri"/>
              </a:rPr>
              <a:t>3.  </a:t>
            </a:r>
            <a:r>
              <a:rPr sz="900" b="0">
                <a:solidFill>
                  <a:srgbClr val="5B6270"/>
                </a:solidFill>
                <a:latin typeface="Calibri"/>
              </a:rPr>
              <a:t>Cada equipo manda por el canal que domina: Collections email, Sales push, Marketing WhatsApp; no mira a qué canal responde cada usuario.</a:t>
            </a:r>
          </a:p>
          <a:p>
            <a:pPr>
              <a:spcAft>
                <a:spcPts val="350"/>
              </a:spcAft>
            </a:pPr>
            <a:r>
              <a:rPr sz="900" b="1">
                <a:solidFill>
                  <a:srgbClr val="1F4FD8"/>
                </a:solidFill>
                <a:latin typeface="Calibri"/>
              </a:rPr>
              <a:t>4.  </a:t>
            </a:r>
            <a:r>
              <a:rPr sz="900" b="0">
                <a:solidFill>
                  <a:srgbClr val="5B6270"/>
                </a:solidFill>
                <a:latin typeface="Calibri"/>
              </a:rPr>
              <a:t>Braze no tiene el atributo canal_preferido: no se puede filtrar en la pieza aunque se quisiera.</a:t>
            </a:r>
          </a:p>
          <a:p>
            <a:pPr>
              <a:spcAft>
                <a:spcPts val="350"/>
              </a:spcAft>
            </a:pPr>
            <a:r>
              <a:rPr sz="900" b="1">
                <a:solidFill>
                  <a:srgbClr val="B5342B"/>
                </a:solidFill>
                <a:latin typeface="Calibri"/>
              </a:rPr>
              <a:t>5.  </a:t>
            </a:r>
            <a:r>
              <a:rPr sz="700" b="1">
                <a:solidFill>
                  <a:srgbClr val="B5342B"/>
                </a:solidFill>
                <a:latin typeface="Calibri"/>
              </a:rPr>
              <a:t>CAUSA RAÍZ · CANAL EQUIVOCADO  </a:t>
            </a:r>
            <a:r>
              <a:rPr sz="900" b="1">
                <a:solidFill>
                  <a:srgbClr val="1A1D24"/>
                </a:solidFill>
                <a:latin typeface="Calibri"/>
              </a:rPr>
              <a:t>El canal se decide por equipo y pieza, no por usuario; falta el dato en Braze y la regla en el checklist.</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Mandar por el canal que el usuario abre mantiene la respuesta con 59 % menos mensajes.</a:t>
            </a:r>
          </a:p>
          <a:p>
            <a:r>
              <a:rPr sz="700" b="1">
                <a:solidFill>
                  <a:srgbClr val="1F4FD8"/>
                </a:solidFill>
                <a:latin typeface="Calibri"/>
              </a:rPr>
              <a:t>O  </a:t>
            </a:r>
            <a:r>
              <a:rPr sz="750">
                <a:solidFill>
                  <a:srgbClr val="5B6270"/>
                </a:solidFill>
                <a:latin typeface="Calibri"/>
              </a:rPr>
              <a:t>Cada equipo opera un canal y no ve los otros: no hay vista por usuario.</a:t>
            </a:r>
          </a:p>
          <a:p>
            <a:r>
              <a:rPr sz="700" b="1">
                <a:solidFill>
                  <a:srgbClr val="1F4FD8"/>
                </a:solidFill>
                <a:latin typeface="Calibri"/>
              </a:rPr>
              <a:t>G  </a:t>
            </a:r>
            <a:r>
              <a:rPr sz="750">
                <a:solidFill>
                  <a:srgbClr val="5B6270"/>
                </a:solidFill>
                <a:latin typeface="Calibri"/>
              </a:rPr>
              <a:t>No hay dueño del dato canal_preferido ni de la regla de canal.</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2: Datos calcula canal_preferido_90d en Databricks (canal con respuesta más reciente) y lo sube a Braze como atributo (API users/track). Semana 3: MarTech agrega en cada Canvas promocional un Audience Path por canal preferido; push es el canal de señal por defecto. Métrica: % de envíos a canal mudo, hoy 59 %, meta menos de 20 % en 90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Mandar por el canal al que responde ahorra 18.7 M MXN en 9 meses (2.1 M al mes) con la misma respuesta: 149 M emails y 3.2 M WhatsApp menos.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Mandar por el canal que el usuario sí abre ahorra 2.1 M MXN al mes sin perder respuesta. Requiere un dato en Braze (canal_preferido_90d) y una regla en cada Canvas.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97.5 M mensajes fueron a quien nunca respondió (8.1 M MXN, 17 % de las bajas, cero conversiones); el email a mudos se triplicó en junio por BillPay Intro y no tiene exclusión por inactividad</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T_SinRespuesta (E16)</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16</a:t>
            </a:r>
          </a:p>
        </p:txBody>
      </p:sp>
      <p:pic>
        <p:nvPicPr>
          <p:cNvPr id="8" name="Picture 7" descr="r16.png"/>
          <p:cNvPicPr>
            <a:picLocks noChangeAspect="1"/>
          </p:cNvPicPr>
          <p:nvPr/>
        </p:nvPicPr>
        <p:blipFill>
          <a:blip r:embed="rId2"/>
          <a:stretch>
            <a:fillRect/>
          </a:stretch>
        </p:blipFill>
        <p:spPr>
          <a:xfrm>
            <a:off x="548640" y="1783080"/>
            <a:ext cx="6949440" cy="2345436"/>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97.5 M mensajes en 9 meses a 14.2 M usuarios que nunca respondieron: 8.1 M MXN y cero conversiones.</a:t>
            </a:r>
          </a:p>
          <a:p>
            <a:pPr>
              <a:spcAft>
                <a:spcPts val="350"/>
              </a:spcAft>
            </a:pPr>
            <a:r>
              <a:rPr sz="900" b="1">
                <a:solidFill>
                  <a:srgbClr val="1F4FD8"/>
                </a:solidFill>
                <a:latin typeface="Calibri"/>
              </a:rPr>
              <a:t>2.  </a:t>
            </a:r>
            <a:r>
              <a:rPr sz="900" b="0">
                <a:solidFill>
                  <a:srgbClr val="5B6270"/>
                </a:solidFill>
                <a:latin typeface="Calibri"/>
              </a:rPr>
              <a:t>5.0 M MXN son WhatsApp de Marketing y Product Growth a bases rezagadas y churn; 3.1 M son email de Tasa0 a nuevos y masivos a 'Todos'.</a:t>
            </a:r>
          </a:p>
          <a:p>
            <a:pPr>
              <a:spcAft>
                <a:spcPts val="350"/>
              </a:spcAft>
            </a:pPr>
            <a:r>
              <a:rPr sz="900" b="1">
                <a:solidFill>
                  <a:srgbClr val="1F4FD8"/>
                </a:solidFill>
                <a:latin typeface="Calibri"/>
              </a:rPr>
              <a:t>3.  </a:t>
            </a:r>
            <a:r>
              <a:rPr sz="900" b="0">
                <a:solidFill>
                  <a:srgbClr val="5B6270"/>
                </a:solidFill>
                <a:latin typeface="Calibri"/>
              </a:rPr>
              <a:t>Junio triplica el email a mudos (16.8 M): BillPay Intro de NewProducts a 16 M usuarios sin filtro de actividad.</a:t>
            </a:r>
          </a:p>
          <a:p>
            <a:pPr>
              <a:spcAft>
                <a:spcPts val="350"/>
              </a:spcAft>
            </a:pPr>
            <a:r>
              <a:rPr sz="900" b="1">
                <a:solidFill>
                  <a:srgbClr val="1F4FD8"/>
                </a:solidFill>
                <a:latin typeface="Calibri"/>
              </a:rPr>
              <a:t>4.  </a:t>
            </a:r>
            <a:r>
              <a:rPr sz="900" b="0">
                <a:solidFill>
                  <a:srgbClr val="5B6270"/>
                </a:solidFill>
                <a:latin typeface="Calibri"/>
              </a:rPr>
              <a:t>Cada mes 1.1 M usuarios reciben email sin haber respondido jamás: la secuencia de bienvenida y los masivos no filtran por respuesta.</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No existe exclusión por inactividad en ninguna pieza promocional; la supresión depende de que cada equipo la ponga y nadie la pide.</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Quien no respondió en 90 días no convierte: cero conversiones sin respuesta previa.</a:t>
            </a:r>
          </a:p>
          <a:p>
            <a:r>
              <a:rPr sz="700" b="1">
                <a:solidFill>
                  <a:srgbClr val="1F4FD8"/>
                </a:solidFill>
                <a:latin typeface="Calibri"/>
              </a:rPr>
              <a:t>O  </a:t>
            </a:r>
            <a:r>
              <a:rPr sz="750">
                <a:solidFill>
                  <a:srgbClr val="5B6270"/>
                </a:solidFill>
                <a:latin typeface="Calibri"/>
              </a:rPr>
              <a:t>Las exclusiones se configuran pieza por pieza y se olvidan; no hay una global.</a:t>
            </a:r>
          </a:p>
          <a:p>
            <a:r>
              <a:rPr sz="700" b="1">
                <a:solidFill>
                  <a:srgbClr val="1F4FD8"/>
                </a:solidFill>
                <a:latin typeface="Calibri"/>
              </a:rPr>
              <a:t>G  </a:t>
            </a:r>
            <a:r>
              <a:rPr sz="750">
                <a:solidFill>
                  <a:srgbClr val="5B6270"/>
                </a:solidFill>
                <a:latin typeface="Calibri"/>
              </a:rPr>
              <a:t>Nadie es dueño de las exclusiones estándar de la cuenta.</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MarTech crea EXC-SinRespuesta90d en Braze (Segments) y la agrega como filtro negativo en los Canvas promocionales de Product Growth (Tasa0, NeverActive), Marketing (Referral, Rescate) y NewProducts. Semana 2: regla en el checklist: ningún Canvas promocional sin esa exclusión. Métrica: mensajes al mes a mudos, hoy 11 M, meta menos de 2 M.</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Exclusión de 90 días sin respuesta: 900 mil MXN al mes, 191 mil bajas menos en 9 meses y cero conversiones perdidas.</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 exclusión EXC-SinRespuesta90d en todo lo promocional se paga sola: 900 mil MXN al mes y 17 % de las bajas sin perder una sola conversión.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Push ya bajó su envío a mudos de 15 a 5 % sin ninguna regla; email sigue en 14 a 16 % cada mes (33 % en junio) porque nadie filtra por respuesta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R_SinRespuesta (E16). Mudo: sin clic, apertura ni lectura en ningún canal en los 9 meses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17</a:t>
            </a:r>
          </a:p>
        </p:txBody>
      </p:sp>
      <p:graphicFrame>
        <p:nvGraphicFramePr>
          <p:cNvPr id="8" name="Chart 7"/>
          <p:cNvGraphicFramePr>
            <a:graphicFrameLocks noGrp="1"/>
          </p:cNvGraphicFramePr>
          <p:nvPr/>
        </p:nvGraphicFramePr>
        <p:xfrm>
          <a:off x="548640" y="1783080"/>
          <a:ext cx="6949440" cy="2926080"/>
        </p:xfrm>
        <a:graphic>
          <a:graphicData uri="http://schemas.openxmlformats.org/drawingml/2006/chart">
            <c:chart xmlns:c="http://schemas.openxmlformats.org/drawingml/2006/chart" r:id="rId2"/>
          </a:graphicData>
        </a:graphic>
      </p:graphicFrame>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Push: 15 % a mudos en enero, 5 % en septiembre; la desinstalación y el permiso de notificación filtran solos.</a:t>
            </a:r>
          </a:p>
          <a:p>
            <a:pPr>
              <a:spcAft>
                <a:spcPts val="350"/>
              </a:spcAft>
            </a:pPr>
            <a:r>
              <a:rPr sz="900" b="1">
                <a:solidFill>
                  <a:srgbClr val="1F4FD8"/>
                </a:solidFill>
                <a:latin typeface="Calibri"/>
              </a:rPr>
              <a:t>2.  </a:t>
            </a:r>
            <a:r>
              <a:rPr sz="900" b="0">
                <a:solidFill>
                  <a:srgbClr val="5B6270"/>
                </a:solidFill>
                <a:latin typeface="Calibri"/>
              </a:rPr>
              <a:t>Email: 14 a 16 % todos los meses y 33 % en junio (BillPay Intro a 16 M); no cambia porque los masivos y la bienvenida no filtran por respuesta.</a:t>
            </a:r>
          </a:p>
          <a:p>
            <a:pPr>
              <a:spcAft>
                <a:spcPts val="350"/>
              </a:spcAft>
            </a:pPr>
            <a:r>
              <a:rPr sz="900" b="1">
                <a:solidFill>
                  <a:srgbClr val="1F4FD8"/>
                </a:solidFill>
                <a:latin typeface="Calibri"/>
              </a:rPr>
              <a:t>3.  </a:t>
            </a:r>
            <a:r>
              <a:rPr sz="900" b="0">
                <a:solidFill>
                  <a:srgbClr val="5B6270"/>
                </a:solidFill>
                <a:latin typeface="Calibri"/>
              </a:rPr>
              <a:t>WhatsApp: entre 6 y 16 % según el mes; cada punto es 1 MXN por mensaje a alguien que nunca leyó uno.</a:t>
            </a:r>
          </a:p>
          <a:p>
            <a:pPr>
              <a:spcAft>
                <a:spcPts val="350"/>
              </a:spcAft>
            </a:pPr>
            <a:r>
              <a:rPr sz="900" b="1">
                <a:solidFill>
                  <a:srgbClr val="1F4FD8"/>
                </a:solidFill>
                <a:latin typeface="Calibri"/>
              </a:rPr>
              <a:t>4.  </a:t>
            </a:r>
            <a:r>
              <a:rPr sz="900" b="0">
                <a:solidFill>
                  <a:srgbClr val="5B6270"/>
                </a:solidFill>
                <a:latin typeface="Calibri"/>
              </a:rPr>
              <a:t>Las piezas: Tasa0 a nuevos registrados (Product Growth) corre 9 meses sin exclusión; Referral y Newsletter (Marketing) van a toda su lista.</a:t>
            </a:r>
          </a:p>
          <a:p>
            <a:pPr>
              <a:spcAft>
                <a:spcPts val="350"/>
              </a:spcAft>
            </a:pPr>
            <a:r>
              <a:rPr sz="900" b="1">
                <a:solidFill>
                  <a:srgbClr val="B5342B"/>
                </a:solidFill>
                <a:latin typeface="Calibri"/>
              </a:rPr>
              <a:t>5.  </a:t>
            </a:r>
            <a:r>
              <a:rPr sz="700" b="1">
                <a:solidFill>
                  <a:srgbClr val="B5342B"/>
                </a:solidFill>
                <a:latin typeface="Calibri"/>
              </a:rPr>
              <a:t>CAUSA RAÍZ · OPERACIÓN  </a:t>
            </a:r>
            <a:r>
              <a:rPr sz="900" b="1">
                <a:solidFill>
                  <a:srgbClr val="1A1D24"/>
                </a:solidFill>
                <a:latin typeface="Calibri"/>
              </a:rPr>
              <a:t>El email no tiene un mecanismo natural de supresión y nadie construyó el equivalente: una exclusión por inactividad.</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curva de push demuestra que suprimir inactivos no baja la respuesta, la sube.</a:t>
            </a:r>
          </a:p>
          <a:p>
            <a:r>
              <a:rPr sz="700" b="1">
                <a:solidFill>
                  <a:srgbClr val="1F4FD8"/>
                </a:solidFill>
                <a:latin typeface="Calibri"/>
              </a:rPr>
              <a:t>O  </a:t>
            </a:r>
            <a:r>
              <a:rPr sz="750">
                <a:solidFill>
                  <a:srgbClr val="5B6270"/>
                </a:solidFill>
                <a:latin typeface="Calibri"/>
              </a:rPr>
              <a:t>Las listas de email se consideran 'gratis' (0.05 MXN) y por eso no se limpian.</a:t>
            </a:r>
          </a:p>
          <a:p>
            <a:r>
              <a:rPr sz="700" b="1">
                <a:solidFill>
                  <a:srgbClr val="1F4FD8"/>
                </a:solidFill>
                <a:latin typeface="Calibri"/>
              </a:rPr>
              <a:t>G  </a:t>
            </a:r>
            <a:r>
              <a:rPr sz="750">
                <a:solidFill>
                  <a:srgbClr val="5B6270"/>
                </a:solidFill>
                <a:latin typeface="Calibri"/>
              </a:rPr>
              <a:t>No hay meta ni dueño de la proporción de envíos a mudos.</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la exclusión EXC-SinRespuesta90d entra a las 10 piezas de email más grandes (Product Growth y Marketing). Semana 4: CRM mide esta curva cada mes en el tablero. Métrica: % de email y WhatsApp a mudos, hoy 15 y 10 %, meta menos de 5 % en 60 días, como ya está push.</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La parte del email a mudos baja de 15 % a menos de 5 % y evita otro junio (11.9 M emails a quien nunca respondió).</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Esta curva es el indicador de la exclusión: email y WhatsApp debajo de 5 % en 60 días, donde push ya llegó solo.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43.9 M mensajes promocionales llegaron a usuarios bloqueados (tarjeta congelada, REUS, lista negra) y 80 mil emails a dados de baja: las etapas bloqueadas no están como exclusión en ningún equipo</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H_Etapas (E7a), E_DespuesBaja (E5b). Golden dataset cubre 37 % de los envíos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18</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43.9 M</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promocionales a bloqueados: Marketing 16.6 M, Sales 13.2 M, PG 11.4 M</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80 mil</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emails promocionales a dados de baja, 59 mil de Marketing</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570 mil MXN al mes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costo de mandar a tarjeta congelada</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18.png"/>
          <p:cNvPicPr>
            <a:picLocks noChangeAspect="1"/>
          </p:cNvPicPr>
          <p:nvPr/>
        </p:nvPicPr>
        <p:blipFill>
          <a:blip r:embed="rId2"/>
          <a:stretch>
            <a:fillRect/>
          </a:stretch>
        </p:blipFill>
        <p:spPr>
          <a:xfrm>
            <a:off x="548640" y="2560320"/>
            <a:ext cx="6186054"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43.9 M envíos promocionales a bloqueados: Marketing 16.6 M, Sales 13.2 M, Product Growth 11.4 M. Tarjeta KPay congelada 43.4 M, REUS o ARCO 249 mil, lista negra 146 mil.</a:t>
            </a:r>
          </a:p>
          <a:p>
            <a:pPr>
              <a:spcAft>
                <a:spcPts val="350"/>
              </a:spcAft>
            </a:pPr>
            <a:r>
              <a:rPr sz="850" b="1">
                <a:solidFill>
                  <a:srgbClr val="1F4FD8"/>
                </a:solidFill>
                <a:latin typeface="Calibri"/>
              </a:rPr>
              <a:t>2.  </a:t>
            </a:r>
            <a:r>
              <a:rPr sz="850" b="0">
                <a:solidFill>
                  <a:srgbClr val="5B6270"/>
                </a:solidFill>
                <a:latin typeface="Calibri"/>
              </a:rPr>
              <a:t>Con todo tipo de mensaje: 57.4 M a tarjeta congelada (4.4 M usuarios, 5.1 M MXN) y 1.48 M a lista negra, REUS o ARCO.</a:t>
            </a:r>
          </a:p>
          <a:p>
            <a:pPr>
              <a:spcAft>
                <a:spcPts val="350"/>
              </a:spcAft>
            </a:pPr>
            <a:r>
              <a:rPr sz="850" b="1">
                <a:solidFill>
                  <a:srgbClr val="1F4FD8"/>
                </a:solidFill>
                <a:latin typeface="Calibri"/>
              </a:rPr>
              <a:t>3.  </a:t>
            </a:r>
            <a:r>
              <a:rPr sz="850" b="0">
                <a:solidFill>
                  <a:srgbClr val="5B6270"/>
                </a:solidFill>
                <a:latin typeface="Calibri"/>
              </a:rPr>
              <a:t>80 mil emails promocionales a dados de baja (Marketing 59 mil): el filtro de suscripción estaba solo a la entrada del Canvas y los Canvas viejos no refrescan audiencia (Collections BKT1 a BKT3, 503 mil).</a:t>
            </a:r>
          </a:p>
          <a:p>
            <a:pPr>
              <a:spcAft>
                <a:spcPts val="350"/>
              </a:spcAft>
            </a:pPr>
            <a:r>
              <a:rPr sz="850" b="1">
                <a:solidFill>
                  <a:srgbClr val="1F4FD8"/>
                </a:solidFill>
                <a:latin typeface="Calibri"/>
              </a:rPr>
              <a:t>4.  </a:t>
            </a:r>
            <a:r>
              <a:rPr sz="850" b="0">
                <a:solidFill>
                  <a:srgbClr val="5B6270"/>
                </a:solidFill>
                <a:latin typeface="Calibri"/>
              </a:rPr>
              <a:t>Las etapas bloqueadas existen en Databricks pero no en Braze como segmento; cada equipo arma su audiencia sin ese filtro.</a:t>
            </a:r>
          </a:p>
          <a:p>
            <a:pPr>
              <a:spcAft>
                <a:spcPts val="350"/>
              </a:spcAft>
            </a:pPr>
            <a:r>
              <a:rPr sz="850" b="1">
                <a:solidFill>
                  <a:srgbClr val="B5342B"/>
                </a:solidFill>
                <a:latin typeface="Calibri"/>
              </a:rPr>
              <a:t>5.  </a:t>
            </a:r>
            <a:r>
              <a:rPr sz="700" b="1">
                <a:solidFill>
                  <a:srgbClr val="B5342B"/>
                </a:solidFill>
                <a:latin typeface="Calibri"/>
              </a:rPr>
              <a:t>CAUSA RAÍZ · OPERACIÓN  </a:t>
            </a:r>
            <a:r>
              <a:rPr sz="850" b="1">
                <a:solidFill>
                  <a:srgbClr val="1A1D24"/>
                </a:solidFill>
                <a:latin typeface="Calibri"/>
              </a:rPr>
              <a:t>No hay exclusiones de cuenta (globales) ni dueño que las mantenga; Legal no fue consultado sobre REUS y ARCO.</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Los bloqueados no responden ni convierten: son costo y riesgo puros.</a:t>
            </a:r>
          </a:p>
          <a:p>
            <a:r>
              <a:rPr sz="700" b="1">
                <a:solidFill>
                  <a:srgbClr val="1F4FD8"/>
                </a:solidFill>
                <a:latin typeface="Calibri"/>
              </a:rPr>
              <a:t>O  </a:t>
            </a:r>
            <a:r>
              <a:rPr sz="750">
                <a:solidFill>
                  <a:srgbClr val="5B6270"/>
                </a:solidFill>
                <a:latin typeface="Calibri"/>
              </a:rPr>
              <a:t>Los Canvas largos evalúan la audiencia solo al entrar; sin re-evaluación, el usuario bloqueado sigue dentro.</a:t>
            </a:r>
          </a:p>
          <a:p>
            <a:r>
              <a:rPr sz="700" b="1">
                <a:solidFill>
                  <a:srgbClr val="1F4FD8"/>
                </a:solidFill>
                <a:latin typeface="Calibri"/>
              </a:rPr>
              <a:t>G  </a:t>
            </a:r>
            <a:r>
              <a:rPr sz="750">
                <a:solidFill>
                  <a:srgbClr val="5B6270"/>
                </a:solidFill>
                <a:latin typeface="Calibri"/>
              </a:rPr>
              <a:t>No hay dueño de exclusiones ni revisión legal de audiencias.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Datos sube a Braze los atributos etapa_bloqueo y lista_negra (API diaria); MarTech crea 7 segmentos EXC- y los pone como filtro negativo en todo Canvas promocional, con re-evaluación de audiencia en cada paso. Semana 2: Legal define la regla para REUS y ARCO. Métrica: envíos a bloqueados, hoy 4.9 M al mes, meta 0.</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7 exclusiones como filtro negativo: 4.9 M mensajes menos al mes, 570 mil MXN al mes (tarjeta congelada) y cero riesgo legal por REUS y ARCO.</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Son mensajes que no debían salir y un riesgo legal. Las 7 exclusiones se cargan en Braze esta semana con re-evaluación por paso; Legal decide sobre REUS y ARCO.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1 de cada 4 WhatsApp no llega (14.2 M en 9 meses): se manda a números de bases rezagadas y churn sin validar ni suprimir tras fallar, y cada fallo baja el tope del número ante Meta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B_Canales B4 (E4a), J_Canal (E7b)</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19</a:t>
            </a:r>
          </a:p>
        </p:txBody>
      </p:sp>
      <p:graphicFrame>
        <p:nvGraphicFramePr>
          <p:cNvPr id="8" name="Chart 7"/>
          <p:cNvGraphicFramePr>
            <a:graphicFrameLocks noGrp="1"/>
          </p:cNvGraphicFramePr>
          <p:nvPr/>
        </p:nvGraphicFramePr>
        <p:xfrm>
          <a:off x="548640" y="1783080"/>
          <a:ext cx="6949440" cy="2926080"/>
        </p:xfrm>
        <a:graphic>
          <a:graphicData uri="http://schemas.openxmlformats.org/drawingml/2006/chart">
            <c:chart xmlns:c="http://schemas.openxmlformats.org/drawingml/2006/chart" r:id="rId2"/>
          </a:graphicData>
        </a:graphic>
      </p:graphicFrame>
      <p:sp>
        <p:nvSpPr>
          <p:cNvPr id="9" name="TextBox 8"/>
          <p:cNvSpPr txBox="1"/>
          <p:nvPr/>
        </p:nvSpPr>
        <p:spPr>
          <a:xfrm>
            <a:off x="548640" y="4709160"/>
            <a:ext cx="6949440" cy="274320"/>
          </a:xfrm>
          <a:prstGeom prst="rect">
            <a:avLst/>
          </a:prstGeom>
          <a:noFill/>
        </p:spPr>
        <p:txBody>
          <a:bodyPr wrap="square" lIns="18288" rIns="18288" tIns="18288" bIns="18288" anchor="t">
            <a:spAutoFit/>
          </a:bodyPr>
          <a:lstStyle/>
          <a:p>
            <a:pPr algn="l"/>
            <a:r>
              <a:rPr sz="900" b="0">
                <a:solidFill>
                  <a:srgbClr val="5B6270"/>
                </a:solidFill>
                <a:latin typeface="Calibri"/>
              </a:rPr>
              <a:t>Línea de referencia: Estándar 90 %</a:t>
            </a:r>
          </a:p>
        </p:txBody>
      </p:sp>
      <p:sp>
        <p:nvSpPr>
          <p:cNvPr id="10" name="TextBox 9"/>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55.2 M enviados, 41.0 M entregados (74 %). Abril y mayo tocaron piso (69 y 67 %) y se siguió mandando.</a:t>
            </a:r>
          </a:p>
          <a:p>
            <a:pPr>
              <a:spcAft>
                <a:spcPts val="350"/>
              </a:spcAft>
            </a:pPr>
            <a:r>
              <a:rPr sz="900" b="1">
                <a:solidFill>
                  <a:srgbClr val="1F4FD8"/>
                </a:solidFill>
                <a:latin typeface="Calibri"/>
              </a:rPr>
              <a:t>2.  </a:t>
            </a:r>
            <a:r>
              <a:rPr sz="900" b="0">
                <a:solidFill>
                  <a:srgbClr val="5B6270"/>
                </a:solidFill>
                <a:latin typeface="Calibri"/>
              </a:rPr>
              <a:t>Entre quienes nunca responden la entrega es 34 %; entre quienes leen WhatsApp, 83 %: la entrega depende de la audiencia.</a:t>
            </a:r>
          </a:p>
          <a:p>
            <a:pPr>
              <a:spcAft>
                <a:spcPts val="350"/>
              </a:spcAft>
            </a:pPr>
            <a:r>
              <a:rPr sz="900" b="1">
                <a:solidFill>
                  <a:srgbClr val="1F4FD8"/>
                </a:solidFill>
                <a:latin typeface="Calibri"/>
              </a:rPr>
              <a:t>3.  </a:t>
            </a:r>
            <a:r>
              <a:rPr sz="900" b="0">
                <a:solidFill>
                  <a:srgbClr val="5B6270"/>
                </a:solidFill>
                <a:latin typeface="Calibri"/>
              </a:rPr>
              <a:t>Los no entregados se concentran en bases rezagadas y leads comprados (Marketing) y churn de 12 meses (Product Growth): números sin WhatsApp o ajenos.</a:t>
            </a:r>
          </a:p>
          <a:p>
            <a:pPr>
              <a:spcAft>
                <a:spcPts val="350"/>
              </a:spcAft>
            </a:pPr>
            <a:r>
              <a:rPr sz="900" b="1">
                <a:solidFill>
                  <a:srgbClr val="1F4FD8"/>
                </a:solidFill>
                <a:latin typeface="Calibri"/>
              </a:rPr>
              <a:t>4.  </a:t>
            </a:r>
            <a:r>
              <a:rPr sz="900" b="0">
                <a:solidFill>
                  <a:srgbClr val="5B6270"/>
                </a:solidFill>
                <a:latin typeface="Calibri"/>
              </a:rPr>
              <a:t>No hay validación previa del número ni supresión después de dos fallos; cada envío fallido degrada la calidad del número ante Meta.</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El canal no tiene criterio de entrada ni regla de salida: se usa como si fuera una lista de email.</a:t>
            </a:r>
          </a:p>
        </p:txBody>
      </p:sp>
      <p:cxnSp>
        <p:nvCxnSpPr>
          <p:cNvPr id="11" name="Connector 10"/>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entrega depende de la audiencia (34 contra 83 %), no de la infraestructura.</a:t>
            </a:r>
          </a:p>
          <a:p>
            <a:r>
              <a:rPr sz="700" b="1">
                <a:solidFill>
                  <a:srgbClr val="1F4FD8"/>
                </a:solidFill>
                <a:latin typeface="Calibri"/>
              </a:rPr>
              <a:t>O  </a:t>
            </a:r>
            <a:r>
              <a:rPr sz="750">
                <a:solidFill>
                  <a:srgbClr val="5B6270"/>
                </a:solidFill>
                <a:latin typeface="Calibri"/>
              </a:rPr>
              <a:t>Se cargan bases externas a WhatsApp sin validar porque Meta solo cobra lo entregado.</a:t>
            </a:r>
          </a:p>
          <a:p>
            <a:r>
              <a:rPr sz="700" b="1">
                <a:solidFill>
                  <a:srgbClr val="1F4FD8"/>
                </a:solidFill>
                <a:latin typeface="Calibri"/>
              </a:rPr>
              <a:t>G  </a:t>
            </a:r>
            <a:r>
              <a:rPr sz="750">
                <a:solidFill>
                  <a:srgbClr val="5B6270"/>
                </a:solidFill>
                <a:latin typeface="Calibri"/>
              </a:rPr>
              <a:t>Nadie es dueño de la calidad del número de WhatsApp ante Meta.</a:t>
            </a:r>
          </a:p>
        </p:txBody>
      </p:sp>
      <p:sp>
        <p:nvSpPr>
          <p:cNvPr id="13" name="TextBox 12"/>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MarTech crea EXC-WA_SinEntrega3 (3 fallos de entrega) y la pone en toda pieza de WhatsApp. Semana 2: WhatsApp solo a usuarios con lectura previa o evento de los últimos 30 días; las bases rezagadas salen del canal (Marketing). Métrica: entrega de WhatsApp, hoy 74 %, meta 85 %.</a:t>
            </a:r>
          </a:p>
        </p:txBody>
      </p:sp>
      <p:sp>
        <p:nvSpPr>
          <p:cNvPr id="14" name="TextBox 13"/>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La entrega sube de 74 a más de 85 %, el número conserva su tope diario ante Meta y, si Meta cobrara por enviado, 14.2 M MXN dejan de tirarse.</a:t>
            </a:r>
          </a:p>
        </p:txBody>
      </p:sp>
      <p:sp>
        <p:nvSpPr>
          <p:cNvPr id="15" name="Rectangle 14"/>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WhatsApp solo a quien ya dio señal y exclusión tras 3 fallos: deja de mandar a números que no reciben y protege la calidad del número ante Meta.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La entrega sigue a la audiencia, no al canal: Sales entrega 80 % de sus WhatsApp y 97 % de sus emails; Product Growth 72 % y 94 % porque manda a churn de 12 meses y a registrados sin verificar</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F_Piezas (E1). Entregados sobre enviados por equipo</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20</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14.2 M</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WhatsApp que no llegaron en 9 meses (26 %)</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16 M</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emails que no llegaron (5 %)</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80 % vs 72 %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entrega de WhatsApp de Sales contra Product Growth</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20.png"/>
          <p:cNvPicPr>
            <a:picLocks noChangeAspect="1"/>
          </p:cNvPicPr>
          <p:nvPr/>
        </p:nvPicPr>
        <p:blipFill>
          <a:blip r:embed="rId2"/>
          <a:stretch>
            <a:fillRect/>
          </a:stretch>
        </p:blipFill>
        <p:spPr>
          <a:xfrm>
            <a:off x="548640" y="2560320"/>
            <a:ext cx="6354546"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Email: Sales 97.0 %, Marketing 96.0 %, Product Growth 93.8 %; estable todos los meses.</a:t>
            </a:r>
          </a:p>
          <a:p>
            <a:pPr>
              <a:spcAft>
                <a:spcPts val="350"/>
              </a:spcAft>
            </a:pPr>
            <a:r>
              <a:rPr sz="850" b="1">
                <a:solidFill>
                  <a:srgbClr val="1F4FD8"/>
                </a:solidFill>
                <a:latin typeface="Calibri"/>
              </a:rPr>
              <a:t>2.  </a:t>
            </a:r>
            <a:r>
              <a:rPr sz="850" b="0">
                <a:solidFill>
                  <a:srgbClr val="5B6270"/>
                </a:solidFill>
                <a:latin typeface="Calibri"/>
              </a:rPr>
              <a:t>WhatsApp: Sales 80 %, Marketing 74 %, Product Growth 72 %; Product Growth y Others van debajo de 75 % casi todos los meses.</a:t>
            </a:r>
          </a:p>
          <a:p>
            <a:pPr>
              <a:spcAft>
                <a:spcPts val="350"/>
              </a:spcAft>
            </a:pPr>
            <a:r>
              <a:rPr sz="850" b="1">
                <a:solidFill>
                  <a:srgbClr val="1F4FD8"/>
                </a:solidFill>
                <a:latin typeface="Calibri"/>
              </a:rPr>
              <a:t>3.  </a:t>
            </a:r>
            <a:r>
              <a:rPr sz="850" b="0">
                <a:solidFill>
                  <a:srgbClr val="5B6270"/>
                </a:solidFill>
                <a:latin typeface="Calibri"/>
              </a:rPr>
              <a:t>Product Growth manda WhatsApp a churn de 12 meses (número viejo) y email de Tasa0 y NeverActive a registrados sin verificar (rebotan); Sales a recurrentes de KPay con datos recientes.</a:t>
            </a:r>
          </a:p>
          <a:p>
            <a:pPr>
              <a:spcAft>
                <a:spcPts val="350"/>
              </a:spcAft>
            </a:pPr>
            <a:r>
              <a:rPr sz="850" b="1">
                <a:solidFill>
                  <a:srgbClr val="1F4FD8"/>
                </a:solidFill>
                <a:latin typeface="Calibri"/>
              </a:rPr>
              <a:t>4.  </a:t>
            </a:r>
            <a:r>
              <a:rPr sz="850" b="0">
                <a:solidFill>
                  <a:srgbClr val="5B6270"/>
                </a:solidFill>
                <a:latin typeface="Calibri"/>
              </a:rPr>
              <a:t>Cada WhatsApp fallido no se cobra pero baja el tope diario del número; cada rebote de email baja la reputación del dominio.</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No hay condición de entrada por calidad del dato (correo verificado, número con lectura reciente) en las piezas de Product Growth.</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Con la entrega de Sales en todos, llegarían 3 M WhatsApp y 6 M emails más sin mandar uno más.</a:t>
            </a:r>
          </a:p>
          <a:p>
            <a:r>
              <a:rPr sz="700" b="1">
                <a:solidFill>
                  <a:srgbClr val="1F4FD8"/>
                </a:solidFill>
                <a:latin typeface="Calibri"/>
              </a:rPr>
              <a:t>O  </a:t>
            </a:r>
            <a:r>
              <a:rPr sz="750">
                <a:solidFill>
                  <a:srgbClr val="5B6270"/>
                </a:solidFill>
                <a:latin typeface="Calibri"/>
              </a:rPr>
              <a:t>Product Growth trabaja la base nueva y fría, donde el dato es peor, y no filtra por verificación.</a:t>
            </a:r>
          </a:p>
          <a:p>
            <a:r>
              <a:rPr sz="700" b="1">
                <a:solidFill>
                  <a:srgbClr val="1F4FD8"/>
                </a:solidFill>
                <a:latin typeface="Calibri"/>
              </a:rPr>
              <a:t>G  </a:t>
            </a:r>
            <a:r>
              <a:rPr sz="750">
                <a:solidFill>
                  <a:srgbClr val="5B6270"/>
                </a:solidFill>
                <a:latin typeface="Calibri"/>
              </a:rPr>
              <a:t>No hay estándar de entrega por equipo (95 % email, 85 % WhatsApp) en el tablero.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Product Growth agrega 'correo verificado' como condición de entrada en Tasa0 y NeverActive y la exclusión EXC-WA_SinEntrega3 en Churn 12 meses. Semana 2: CRM pone entrega por equipo en el tablero con mínimos de 95 y 85 %. Métrica: entrega de WhatsApp de Product Growth, hoy 72 %, meta 80 %.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Con la entrega de Sales en todos los equipos, 3 M WhatsApp y 6 M emails más llegarían en 9 meses sin mandar uno más.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No se compra más entrega con más envíos: se limpia la base. Correo verificado y número con lectura reciente son condición de entrada, no un deseo.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1280160"/>
          </a:xfrm>
          <a:prstGeom prst="rect">
            <a:avLst/>
          </a:prstGeom>
          <a:noFill/>
        </p:spPr>
        <p:txBody>
          <a:bodyPr wrap="square" lIns="18288" rIns="18288" tIns="18288" bIns="18288" anchor="t">
            <a:spAutoFit/>
          </a:bodyPr>
          <a:lstStyle/>
          <a:p>
            <a:pPr algn="l"/>
            <a:r>
              <a:rPr sz="7200" b="1">
                <a:solidFill>
                  <a:srgbClr val="FFFFFF"/>
                </a:solidFill>
                <a:latin typeface="Calibri"/>
              </a:rPr>
              <a:t>B</a:t>
            </a:r>
          </a:p>
        </p:txBody>
      </p:sp>
      <p:sp>
        <p:nvSpPr>
          <p:cNvPr id="4" name="TextBox 3"/>
          <p:cNvSpPr txBox="1"/>
          <p:nvPr/>
        </p:nvSpPr>
        <p:spPr>
          <a:xfrm>
            <a:off x="822960" y="2926080"/>
            <a:ext cx="9144000" cy="1097280"/>
          </a:xfrm>
          <a:prstGeom prst="rect">
            <a:avLst/>
          </a:prstGeom>
          <a:noFill/>
        </p:spPr>
        <p:txBody>
          <a:bodyPr wrap="square" lIns="18288" rIns="18288" tIns="18288" bIns="18288" anchor="t">
            <a:spAutoFit/>
          </a:bodyPr>
          <a:lstStyle/>
          <a:p>
            <a:pPr algn="l"/>
            <a:r>
              <a:rPr sz="3200" b="1">
                <a:solidFill>
                  <a:srgbClr val="FFFFFF"/>
                </a:solidFill>
                <a:latin typeface="Calibri"/>
              </a:rPr>
              <a:t>Mandamos demasiado y sin coordinación</a:t>
            </a:r>
          </a:p>
        </p:txBody>
      </p:sp>
      <p:sp>
        <p:nvSpPr>
          <p:cNvPr id="5" name="TextBox 4"/>
          <p:cNvSpPr txBox="1"/>
          <p:nvPr/>
        </p:nvSpPr>
        <p:spPr>
          <a:xfrm>
            <a:off x="822960" y="4023360"/>
            <a:ext cx="9144000" cy="731520"/>
          </a:xfrm>
          <a:prstGeom prst="rect">
            <a:avLst/>
          </a:prstGeom>
          <a:noFill/>
        </p:spPr>
        <p:txBody>
          <a:bodyPr wrap="square" lIns="18288" rIns="18288" tIns="18288" bIns="18288" anchor="t">
            <a:spAutoFit/>
          </a:bodyPr>
          <a:lstStyle/>
          <a:p>
            <a:pPr algn="l"/>
            <a:r>
              <a:rPr sz="1600" b="0">
                <a:solidFill>
                  <a:srgbClr val="FFFFFF"/>
                </a:solidFill>
                <a:latin typeface="Calibri"/>
              </a:rPr>
              <a:t>La presión por usuario, el choque entre equipos y los Canvas de 100 pasos</a:t>
            </a:r>
          </a:p>
        </p:txBody>
      </p:sp>
      <p:sp>
        <p:nvSpPr>
          <p:cNvPr id="6" name="TextBox 5"/>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FFFFFF"/>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23 % de los usuarios recibe 86 % de los mensajes: los 339 mil con 321 o más (1.7 %) reciben 24 % del volumen y se dan de baja 13 veces más que quien recibe 1 a 5</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B_Canales B3 (E4b), G_Practicas (E3)</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22</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86 %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mensajes van al 23 % de los usuarios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339 mil</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usuarios recibieron 321 o más mensajes: 24 % del volumen</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16.5 vs 1.3</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bajas por 100 usuarios: banda de 321 o más contra 1 a 5</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22.png"/>
          <p:cNvPicPr>
            <a:picLocks noChangeAspect="1"/>
          </p:cNvPicPr>
          <p:nvPr/>
        </p:nvPicPr>
        <p:blipFill>
          <a:blip r:embed="rId2"/>
          <a:stretch>
            <a:fillRect/>
          </a:stretch>
        </p:blipFill>
        <p:spPr>
          <a:xfrm>
            <a:off x="548640" y="2560320"/>
            <a:ext cx="6186054"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Un usuario recibe 10.4 mensajes al mes en promedio, pero 23 % de los usuarios (los de 41 o más en 9 meses) recibe 86 % del volumen.</a:t>
            </a:r>
          </a:p>
          <a:p>
            <a:pPr>
              <a:spcAft>
                <a:spcPts val="350"/>
              </a:spcAft>
            </a:pPr>
            <a:r>
              <a:rPr sz="850" b="1">
                <a:solidFill>
                  <a:srgbClr val="1F4FD8"/>
                </a:solidFill>
                <a:latin typeface="Calibri"/>
              </a:rPr>
              <a:t>2.  </a:t>
            </a:r>
            <a:r>
              <a:rPr sz="850" b="0">
                <a:solidFill>
                  <a:srgbClr val="5B6270"/>
                </a:solidFill>
                <a:latin typeface="Calibri"/>
              </a:rPr>
              <a:t>339 mil usuarios (1.7 %) recibieron 321 o más: 164 M mensajes (24 %) y 16.5 bajas por 100 usuarios contra 1.3 en la banda de 1 a 5.</a:t>
            </a:r>
          </a:p>
          <a:p>
            <a:pPr>
              <a:spcAft>
                <a:spcPts val="350"/>
              </a:spcAft>
            </a:pPr>
            <a:r>
              <a:rPr sz="850" b="1">
                <a:solidFill>
                  <a:srgbClr val="1F4FD8"/>
                </a:solidFill>
                <a:latin typeface="Calibri"/>
              </a:rPr>
              <a:t>3.  </a:t>
            </a:r>
            <a:r>
              <a:rPr sz="850" b="0">
                <a:solidFill>
                  <a:srgbClr val="5B6270"/>
                </a:solidFill>
                <a:latin typeface="Calibri"/>
              </a:rPr>
              <a:t>Caen en varios Canvas a la vez: la banda de 41 a 80 recibe 25 piezas distintas al mes y la de 321 o más, 220: Canvas recurrentes de Sales y Collections más masivos de Marketing y Product Growth.</a:t>
            </a:r>
          </a:p>
          <a:p>
            <a:pPr>
              <a:spcAft>
                <a:spcPts val="350"/>
              </a:spcAft>
            </a:pPr>
            <a:r>
              <a:rPr sz="850" b="1">
                <a:solidFill>
                  <a:srgbClr val="1F4FD8"/>
                </a:solidFill>
                <a:latin typeface="Calibri"/>
              </a:rPr>
              <a:t>4.  </a:t>
            </a:r>
            <a:r>
              <a:rPr sz="850" b="0">
                <a:solidFill>
                  <a:srgbClr val="5B6270"/>
                </a:solidFill>
                <a:latin typeface="Calibri"/>
              </a:rPr>
              <a:t>La conversión también sube con los mensajes, pero por selección (el cliente activo recibe cobranza y transaccional); la baja sí es consecuencia directa.</a:t>
            </a:r>
          </a:p>
          <a:p>
            <a:pPr>
              <a:spcAft>
                <a:spcPts val="350"/>
              </a:spcAft>
            </a:pPr>
            <a:r>
              <a:rPr sz="850" b="1">
                <a:solidFill>
                  <a:srgbClr val="B5342B"/>
                </a:solidFill>
                <a:latin typeface="Calibri"/>
              </a:rPr>
              <a:t>5.  </a:t>
            </a:r>
            <a:r>
              <a:rPr sz="700" b="1">
                <a:solidFill>
                  <a:srgbClr val="B5342B"/>
                </a:solidFill>
                <a:latin typeface="Calibri"/>
              </a:rPr>
              <a:t>CAUSA RAÍZ · SATURACIÓN  </a:t>
            </a:r>
            <a:r>
              <a:rPr sz="850" b="1">
                <a:solidFill>
                  <a:srgbClr val="1A1D24"/>
                </a:solidFill>
                <a:latin typeface="Calibri"/>
              </a:rPr>
              <a:t>No hay frequency cap global en Braze: cada equipo suma sus envíos sin ver los del otro.</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baja crece con la cantidad, no con el canal: 16.5 contra 1.3 por 100 entre bandas.</a:t>
            </a:r>
          </a:p>
          <a:p>
            <a:r>
              <a:rPr sz="700" b="1">
                <a:solidFill>
                  <a:srgbClr val="1F4FD8"/>
                </a:solidFill>
                <a:latin typeface="Calibri"/>
              </a:rPr>
              <a:t>O  </a:t>
            </a:r>
            <a:r>
              <a:rPr sz="750">
                <a:solidFill>
                  <a:srgbClr val="5B6270"/>
                </a:solidFill>
                <a:latin typeface="Calibri"/>
              </a:rPr>
              <a:t>Los Canvas recurrentes nunca se apagan y se encadenan sobre el mismo usuario.</a:t>
            </a:r>
          </a:p>
          <a:p>
            <a:r>
              <a:rPr sz="700" b="1">
                <a:solidFill>
                  <a:srgbClr val="1F4FD8"/>
                </a:solidFill>
                <a:latin typeface="Calibri"/>
              </a:rPr>
              <a:t>G  </a:t>
            </a:r>
            <a:r>
              <a:rPr sz="750">
                <a:solidFill>
                  <a:srgbClr val="5B6270"/>
                </a:solidFill>
                <a:latin typeface="Calibri"/>
              </a:rPr>
              <a:t>Nadie tiene el límite de mensajes por usuario como responsabilidad.</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MarTech activa Frequency Capping global en Braze: 5 promocionales por semana, 2 piezas al día, 1 push al día, 1 WhatsApp al mes; transaccional y cobranza exentos. Semana 3: Sales y Collections agregan paso de salida a sus Canvas recurrentes. Métrica: usuarios con 41 o más al mes, hoy 5 %, meta menos de 1 %.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Frequency cap de 5 promocionales por semana saca a 339 mil usuarios de la banda de 321 o más (16.5 contra 1.3 bajas por 100) y baja el volumen cerca de 15 % sin tocar la conversión.</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Frequency cap global en Braze: recorta la cola de 41 o más al mes y saca a los usuarios de la banda donde la baja se multiplica por 13. Es un ajuste de cuenta, no de pieza.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Cada mes 1.3 a 2.2 M usuarios reciben 3 o más campañas el mismo día y desde junio su baja por mil se duplica; quien recibe una sola bajó de 0.57 a 0.34</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F_Solape (E6a, E6b). Usuario-día: un usuario en un día con al menos un envío</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23</a:t>
            </a:r>
          </a:p>
        </p:txBody>
      </p:sp>
      <p:graphicFrame>
        <p:nvGraphicFramePr>
          <p:cNvPr id="8" name="Chart 7"/>
          <p:cNvGraphicFramePr>
            <a:graphicFrameLocks noGrp="1"/>
          </p:cNvGraphicFramePr>
          <p:nvPr/>
        </p:nvGraphicFramePr>
        <p:xfrm>
          <a:off x="548640" y="1783080"/>
          <a:ext cx="6949440" cy="1417320"/>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548640" y="3291840"/>
          <a:ext cx="6949440" cy="1417320"/>
        </p:xfrm>
        <a:graphic>
          <a:graphicData uri="http://schemas.openxmlformats.org/drawingml/2006/chart">
            <c:chart xmlns:c="http://schemas.openxmlformats.org/drawingml/2006/chart" r:id="rId3"/>
          </a:graphicData>
        </a:graphic>
      </p:graphicFrame>
      <p:sp>
        <p:nvSpPr>
          <p:cNvPr id="10" name="TextBox 9"/>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9 % de los usuario-días reciben 3 o más campañas y son 24 % de los mensajes; la banda de 8 o más son 19 a 94 mil usuarios al mes.</a:t>
            </a:r>
          </a:p>
          <a:p>
            <a:pPr>
              <a:spcAft>
                <a:spcPts val="350"/>
              </a:spcAft>
            </a:pPr>
            <a:r>
              <a:rPr sz="850" b="1">
                <a:solidFill>
                  <a:srgbClr val="1F4FD8"/>
                </a:solidFill>
                <a:latin typeface="Calibri"/>
              </a:rPr>
              <a:t>2.  </a:t>
            </a:r>
            <a:r>
              <a:rPr sz="850" b="0">
                <a:solidFill>
                  <a:srgbClr val="5B6270"/>
                </a:solidFill>
                <a:latin typeface="Calibri"/>
              </a:rPr>
              <a:t>38 % del choque entre promocionales es dentro del mismo equipo: Marketing con Marketing 27.6 M usuario-días, Sales con Sales 15.4 M; Marketing con Sales 14.5 M.</a:t>
            </a:r>
          </a:p>
          <a:p>
            <a:pPr>
              <a:spcAft>
                <a:spcPts val="350"/>
              </a:spcAft>
            </a:pPr>
            <a:r>
              <a:rPr sz="850" b="1">
                <a:solidFill>
                  <a:srgbClr val="1F4FD8"/>
                </a:solidFill>
                <a:latin typeface="Calibri"/>
              </a:rPr>
              <a:t>3.  </a:t>
            </a:r>
            <a:r>
              <a:rPr sz="850" b="0">
                <a:solidFill>
                  <a:srgbClr val="5B6270"/>
                </a:solidFill>
                <a:latin typeface="Calibri"/>
              </a:rPr>
              <a:t>Desde junio se suman piezas a 'Todos' (BillPay, Día del Padre, AnotayGana, Mundial) encima de los Canvas que corren diario.</a:t>
            </a:r>
          </a:p>
          <a:p>
            <a:pPr>
              <a:spcAft>
                <a:spcPts val="350"/>
              </a:spcAft>
            </a:pPr>
            <a:r>
              <a:rPr sz="850" b="1">
                <a:solidFill>
                  <a:srgbClr val="1F4FD8"/>
                </a:solidFill>
                <a:latin typeface="Calibri"/>
              </a:rPr>
              <a:t>4.  </a:t>
            </a:r>
            <a:r>
              <a:rPr sz="850" b="0">
                <a:solidFill>
                  <a:srgbClr val="5B6270"/>
                </a:solidFill>
                <a:latin typeface="Calibri"/>
              </a:rPr>
              <a:t>La baja de quien recibe 3 o más sube a 0.9 a 1.3 por mil mientras la de quien recibe una baja a 0.34: el daño es por acumulación en el día.</a:t>
            </a:r>
          </a:p>
          <a:p>
            <a:pPr>
              <a:spcAft>
                <a:spcPts val="350"/>
              </a:spcAft>
            </a:pPr>
            <a:r>
              <a:rPr sz="850" b="1">
                <a:solidFill>
                  <a:srgbClr val="B5342B"/>
                </a:solidFill>
                <a:latin typeface="Calibri"/>
              </a:rPr>
              <a:t>5.  </a:t>
            </a:r>
            <a:r>
              <a:rPr sz="700" b="1">
                <a:solidFill>
                  <a:srgbClr val="B5342B"/>
                </a:solidFill>
                <a:latin typeface="Calibri"/>
              </a:rPr>
              <a:t>CAUSA RAÍZ · SOLAPE ENTRE EQUIPOS  </a:t>
            </a:r>
            <a:r>
              <a:rPr sz="850" b="1">
                <a:solidFill>
                  <a:srgbClr val="1A1D24"/>
                </a:solidFill>
                <a:latin typeface="Calibri"/>
              </a:rPr>
              <a:t>No hay calendario único ni regla de un promocional por usuario por día; cada equipo activa sin ver ni su propio calendario.</a:t>
            </a:r>
          </a:p>
        </p:txBody>
      </p:sp>
      <p:cxnSp>
        <p:nvCxnSpPr>
          <p:cNvPr id="11" name="Connector 10"/>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baja por mil depende de cuántas piezas recibe el usuario ese día, no de cuál.</a:t>
            </a:r>
          </a:p>
          <a:p>
            <a:r>
              <a:rPr sz="700" b="1">
                <a:solidFill>
                  <a:srgbClr val="1F4FD8"/>
                </a:solidFill>
                <a:latin typeface="Calibri"/>
              </a:rPr>
              <a:t>O  </a:t>
            </a:r>
            <a:r>
              <a:rPr sz="750">
                <a:solidFill>
                  <a:srgbClr val="5B6270"/>
                </a:solidFill>
                <a:latin typeface="Calibri"/>
              </a:rPr>
              <a:t>Dentro del mismo equipo nadie ve que dos Canvas tocan al mismo usuario el mismo día.</a:t>
            </a:r>
          </a:p>
          <a:p>
            <a:r>
              <a:rPr sz="700" b="1">
                <a:solidFill>
                  <a:srgbClr val="1F4FD8"/>
                </a:solidFill>
                <a:latin typeface="Calibri"/>
              </a:rPr>
              <a:t>G  </a:t>
            </a:r>
            <a:r>
              <a:rPr sz="750">
                <a:solidFill>
                  <a:srgbClr val="5B6270"/>
                </a:solidFill>
                <a:latin typeface="Calibri"/>
              </a:rPr>
              <a:t>No existe el calendario único ni quien lo apruebe.</a:t>
            </a:r>
          </a:p>
        </p:txBody>
      </p:sp>
      <p:sp>
        <p:nvSpPr>
          <p:cNvPr id="13" name="TextBox 12"/>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2: CRM publica el calendario único (fecha, equipo, pieza, audiencia, canal) y el comité quincenal de 30 min aprueba todo envío a 'Todos' o a más de 1 M. MarTech: Frequency Capping 2 piezas al día y 1 push al día. Marketing y Sales revisan primero sus choques internos. Métrica: usuario-días con 3 o más campañas, hoy 9 %, meta menos de 3 %.</a:t>
            </a:r>
          </a:p>
        </p:txBody>
      </p:sp>
      <p:sp>
        <p:nvSpPr>
          <p:cNvPr id="14" name="TextBox 13"/>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Un promocional por usuario por día: la baja de quien recibe 3 o más (0.9 a 1.3 por mil) cae a la de quien recibe una (0.34): 60 a 70 % menos bajas en 9 % de los usuario-días.</a:t>
            </a:r>
          </a:p>
        </p:txBody>
      </p:sp>
      <p:sp>
        <p:nvSpPr>
          <p:cNvPr id="15" name="Rectangle 14"/>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problema no son 90 mil usuarios con 8 campañas: son 2 a 3 M con dos piezas el mismo día, casi siempre del mismo equipo. Calendario por equipo antes que reglas entre equipos.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550" b="1">
                <a:solidFill>
                  <a:srgbClr val="1A1D24"/>
                </a:solidFill>
                <a:latin typeface="Calibri"/>
              </a:rPr>
              <a:t>Casi la mitad de los choques del mismo día son del mismo equipo: Marketing con Marketing 27.6 M usuario-días y Sales con Sales 15.4 M; el par más grande fueron dos push de Marketing a 'Todos' el 21 de junio (1.5 M usuarios)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F_Solape (E6b). Usuarios aproximados que recibieron ambas piezas el mismo día</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24</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66 de 143 M</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usuario-días con choque son del mismo equipo</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1.5 M</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usuarios con dos push de Marketing el 21 de junio</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1.45 M</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usuarios reales alcanzados por un Canvas de QA</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4" cy="1874516"/>
        </p:xfrm>
        <a:graphic>
          <a:graphicData uri="http://schemas.openxmlformats.org/drawingml/2006/table">
            <a:tbl>
              <a:tblPr firstRow="1" bandRow="1">
                <a:tableStyleId>{5C22544A-7EE6-4342-B048-85BDC9FD1C3A}</a:tableStyleId>
              </a:tblPr>
              <a:tblGrid>
                <a:gridCol w="1554480"/>
                <a:gridCol w="899159"/>
                <a:gridCol w="899159"/>
                <a:gridCol w="899159"/>
                <a:gridCol w="899159"/>
                <a:gridCol w="899159"/>
                <a:gridCol w="899159"/>
              </a:tblGrid>
              <a:tr h="267788">
                <a:tc>
                  <a:txBody>
                    <a:bodyPr/>
                    <a:lstStyle/>
                    <a:p>
                      <a:pPr algn="l"/>
                    </a:p>
                  </a:txBody>
                  <a:tcPr marL="45720" marR="45720" marT="18288" marB="18288" anchor="ctr">
                    <a:solidFill>
                      <a:srgbClr val="FFFFFF"/>
                    </a:solidFill>
                  </a:tcPr>
                </a:tc>
                <a:tc>
                  <a:txBody>
                    <a:bodyPr/>
                    <a:lstStyle/>
                    <a:p>
                      <a:pPr algn="ctr"/>
                      <a:r>
                        <a:rPr sz="700" b="1">
                          <a:solidFill>
                            <a:srgbClr val="5B6270"/>
                          </a:solidFill>
                          <a:latin typeface="Calibri"/>
                        </a:rPr>
                        <a:t>Product Growth</a:t>
                      </a:r>
                    </a:p>
                  </a:txBody>
                  <a:tcPr marL="45720" marR="45720" marT="18288" marB="18288" anchor="ctr">
                    <a:solidFill>
                      <a:srgbClr val="FFFFFF"/>
                    </a:solidFill>
                  </a:tcPr>
                </a:tc>
                <a:tc>
                  <a:txBody>
                    <a:bodyPr/>
                    <a:lstStyle/>
                    <a:p>
                      <a:pPr algn="ctr"/>
                      <a:r>
                        <a:rPr sz="700" b="1">
                          <a:solidFill>
                            <a:srgbClr val="5B6270"/>
                          </a:solidFill>
                          <a:latin typeface="Calibri"/>
                        </a:rPr>
                        <a:t>Marketing</a:t>
                      </a:r>
                    </a:p>
                  </a:txBody>
                  <a:tcPr marL="45720" marR="45720" marT="18288" marB="18288" anchor="ctr">
                    <a:solidFill>
                      <a:srgbClr val="FFFFFF"/>
                    </a:solidFill>
                  </a:tcPr>
                </a:tc>
                <a:tc>
                  <a:txBody>
                    <a:bodyPr/>
                    <a:lstStyle/>
                    <a:p>
                      <a:pPr algn="ctr"/>
                      <a:r>
                        <a:rPr sz="700" b="1">
                          <a:solidFill>
                            <a:srgbClr val="5B6270"/>
                          </a:solidFill>
                          <a:latin typeface="Calibri"/>
                        </a:rPr>
                        <a:t>Sales</a:t>
                      </a:r>
                    </a:p>
                  </a:txBody>
                  <a:tcPr marL="45720" marR="45720" marT="18288" marB="18288" anchor="ctr">
                    <a:solidFill>
                      <a:srgbClr val="FFFFFF"/>
                    </a:solidFill>
                  </a:tcPr>
                </a:tc>
                <a:tc>
                  <a:txBody>
                    <a:bodyPr/>
                    <a:lstStyle/>
                    <a:p>
                      <a:pPr algn="ctr"/>
                      <a:r>
                        <a:rPr sz="700" b="1">
                          <a:solidFill>
                            <a:srgbClr val="5B6270"/>
                          </a:solidFill>
                          <a:latin typeface="Calibri"/>
                        </a:rPr>
                        <a:t>Collections</a:t>
                      </a:r>
                    </a:p>
                  </a:txBody>
                  <a:tcPr marL="45720" marR="45720" marT="18288" marB="18288" anchor="ctr">
                    <a:solidFill>
                      <a:srgbClr val="FFFFFF"/>
                    </a:solidFill>
                  </a:tcPr>
                </a:tc>
                <a:tc>
                  <a:txBody>
                    <a:bodyPr/>
                    <a:lstStyle/>
                    <a:p>
                      <a:pPr algn="ctr"/>
                      <a:r>
                        <a:rPr sz="700" b="1">
                          <a:solidFill>
                            <a:srgbClr val="5B6270"/>
                          </a:solidFill>
                          <a:latin typeface="Calibri"/>
                        </a:rPr>
                        <a:t>Others</a:t>
                      </a:r>
                    </a:p>
                  </a:txBody>
                  <a:tcPr marL="45720" marR="45720" marT="18288" marB="18288" anchor="ctr">
                    <a:solidFill>
                      <a:srgbClr val="FFFFFF"/>
                    </a:solidFill>
                  </a:tcPr>
                </a:tc>
                <a:tc>
                  <a:txBody>
                    <a:bodyPr/>
                    <a:lstStyle/>
                    <a:p>
                      <a:pPr algn="ctr"/>
                      <a:r>
                        <a:rPr sz="700" b="1">
                          <a:solidFill>
                            <a:srgbClr val="5B6270"/>
                          </a:solidFill>
                          <a:latin typeface="Calibri"/>
                        </a:rPr>
                        <a:t>Transaccional</a:t>
                      </a:r>
                    </a:p>
                  </a:txBody>
                  <a:tcPr marL="45720" marR="45720" marT="18288" marB="18288" anchor="ctr">
                    <a:solidFill>
                      <a:srgbClr val="FFFFFF"/>
                    </a:solidFill>
                  </a:tcPr>
                </a:tc>
              </a:tr>
              <a:tr h="267788">
                <a:tc>
                  <a:txBody>
                    <a:bodyPr/>
                    <a:lstStyle/>
                    <a:p>
                      <a:pPr algn="l"/>
                      <a:r>
                        <a:rPr sz="750" b="1">
                          <a:solidFill>
                            <a:srgbClr val="1A1D24"/>
                          </a:solidFill>
                          <a:latin typeface="Calibri"/>
                        </a:rPr>
                        <a:t>Product Growth</a:t>
                      </a:r>
                    </a:p>
                  </a:txBody>
                  <a:tcPr marL="45720" marR="45720" marT="18288" marB="18288" anchor="ctr">
                    <a:solidFill>
                      <a:srgbClr val="FFFFFF"/>
                    </a:solidFill>
                  </a:tcPr>
                </a:tc>
                <a:tc>
                  <a:txBody>
                    <a:bodyPr/>
                    <a:lstStyle/>
                    <a:p>
                      <a:pPr algn="ctr"/>
                      <a:r>
                        <a:rPr sz="750" b="0">
                          <a:solidFill>
                            <a:srgbClr val="1A1D24"/>
                          </a:solidFill>
                          <a:latin typeface="Calibri"/>
                        </a:rPr>
                        <a:t>5.9</a:t>
                      </a:r>
                    </a:p>
                  </a:txBody>
                  <a:tcPr marL="45720" marR="45720" marT="18288" marB="18288" anchor="ctr">
                    <a:solidFill>
                      <a:srgbClr val="C0CEF4"/>
                    </a:solidFill>
                  </a:tcPr>
                </a:tc>
                <a:tc>
                  <a:txBody>
                    <a:bodyPr/>
                    <a:lstStyle/>
                    <a:p>
                      <a:pPr algn="ctr"/>
                      <a:r>
                        <a:rPr sz="750" b="0">
                          <a:solidFill>
                            <a:srgbClr val="1A1D24"/>
                          </a:solidFill>
                          <a:latin typeface="Calibri"/>
                        </a:rPr>
                        <a:t>9.0</a:t>
                      </a:r>
                    </a:p>
                  </a:txBody>
                  <a:tcPr marL="45720" marR="45720" marT="18288" marB="18288" anchor="ctr">
                    <a:solidFill>
                      <a:srgbClr val="AABCF0"/>
                    </a:solidFill>
                  </a:tcPr>
                </a:tc>
                <a:tc>
                  <a:txBody>
                    <a:bodyPr/>
                    <a:lstStyle/>
                    <a:p>
                      <a:pPr algn="ctr"/>
                      <a:r>
                        <a:rPr sz="750" b="0">
                          <a:solidFill>
                            <a:srgbClr val="1A1D24"/>
                          </a:solidFill>
                          <a:latin typeface="Calibri"/>
                        </a:rPr>
                        <a:t>5.1</a:t>
                      </a:r>
                    </a:p>
                  </a:txBody>
                  <a:tcPr marL="45720" marR="45720" marT="18288" marB="18288" anchor="ctr">
                    <a:solidFill>
                      <a:srgbClr val="C6D2F5"/>
                    </a:solidFill>
                  </a:tcPr>
                </a:tc>
                <a:tc>
                  <a:txBody>
                    <a:bodyPr/>
                    <a:lstStyle/>
                    <a:p>
                      <a:pPr algn="ctr"/>
                      <a:r>
                        <a:rPr sz="750" b="0">
                          <a:solidFill>
                            <a:srgbClr val="1A1D24"/>
                          </a:solidFill>
                          <a:latin typeface="Calibri"/>
                        </a:rPr>
                        <a:t>0.1</a:t>
                      </a:r>
                    </a:p>
                  </a:txBody>
                  <a:tcPr marL="45720" marR="45720" marT="18288" marB="18288" anchor="ctr">
                    <a:solidFill>
                      <a:srgbClr val="ECF0FB"/>
                    </a:solidFill>
                  </a:tcPr>
                </a:tc>
                <a:tc>
                  <a:txBody>
                    <a:bodyPr/>
                    <a:lstStyle/>
                    <a:p>
                      <a:pPr algn="ctr"/>
                      <a:r>
                        <a:rPr sz="750" b="0">
                          <a:solidFill>
                            <a:srgbClr val="1A1D24"/>
                          </a:solidFill>
                          <a:latin typeface="Calibri"/>
                        </a:rPr>
                        <a:t>4.0</a:t>
                      </a:r>
                    </a:p>
                  </a:txBody>
                  <a:tcPr marL="45720" marR="45720" marT="18288" marB="18288" anchor="ctr">
                    <a:solidFill>
                      <a:srgbClr val="CED9F6"/>
                    </a:solidFill>
                  </a:tcPr>
                </a:tc>
                <a:tc>
                  <a:txBody>
                    <a:bodyPr/>
                    <a:lstStyle/>
                    <a:p>
                      <a:pPr algn="ctr"/>
                      <a:r>
                        <a:rPr sz="750" b="0">
                          <a:solidFill>
                            <a:srgbClr val="1A1D24"/>
                          </a:solidFill>
                          <a:latin typeface="Calibri"/>
                        </a:rPr>
                        <a:t>8.0</a:t>
                      </a:r>
                    </a:p>
                  </a:txBody>
                  <a:tcPr marL="45720" marR="45720" marT="18288" marB="18288" anchor="ctr">
                    <a:solidFill>
                      <a:srgbClr val="B1C1F1"/>
                    </a:solidFill>
                  </a:tcPr>
                </a:tc>
              </a:tr>
              <a:tr h="267788">
                <a:tc>
                  <a:txBody>
                    <a:bodyPr/>
                    <a:lstStyle/>
                    <a:p>
                      <a:pPr algn="l"/>
                      <a:r>
                        <a:rPr sz="750" b="1">
                          <a:solidFill>
                            <a:srgbClr val="1A1D24"/>
                          </a:solidFill>
                          <a:latin typeface="Calibri"/>
                        </a:rPr>
                        <a:t>Marketing</a:t>
                      </a:r>
                    </a:p>
                  </a:txBody>
                  <a:tcPr marL="45720" marR="45720" marT="18288" marB="18288" anchor="ctr">
                    <a:solidFill>
                      <a:srgbClr val="FFFFFF"/>
                    </a:solidFill>
                  </a:tcPr>
                </a:tc>
                <a:tc>
                  <a:txBody>
                    <a:bodyPr/>
                    <a:lstStyle/>
                    <a:p>
                      <a:pPr algn="ctr"/>
                      <a:r>
                        <a:rPr sz="750" b="0">
                          <a:solidFill>
                            <a:srgbClr val="1A1D24"/>
                          </a:solidFill>
                          <a:latin typeface="Calibri"/>
                        </a:rPr>
                        <a:t>9.0</a:t>
                      </a:r>
                    </a:p>
                  </a:txBody>
                  <a:tcPr marL="45720" marR="45720" marT="18288" marB="18288" anchor="ctr">
                    <a:solidFill>
                      <a:srgbClr val="AABCF0"/>
                    </a:solidFill>
                  </a:tcPr>
                </a:tc>
                <a:tc>
                  <a:txBody>
                    <a:bodyPr/>
                    <a:lstStyle/>
                    <a:p>
                      <a:pPr algn="ctr"/>
                      <a:r>
                        <a:rPr sz="750" b="0">
                          <a:solidFill>
                            <a:srgbClr val="FFFFFF"/>
                          </a:solidFill>
                          <a:latin typeface="Calibri"/>
                        </a:rPr>
                        <a:t>27.6</a:t>
                      </a:r>
                    </a:p>
                  </a:txBody>
                  <a:tcPr marL="45720" marR="45720" marT="18288" marB="18288" anchor="ctr">
                    <a:solidFill>
                      <a:srgbClr val="1F4FD8"/>
                    </a:solidFill>
                  </a:tcPr>
                </a:tc>
                <a:tc>
                  <a:txBody>
                    <a:bodyPr/>
                    <a:lstStyle/>
                    <a:p>
                      <a:pPr algn="ctr"/>
                      <a:r>
                        <a:rPr sz="750" b="0">
                          <a:solidFill>
                            <a:srgbClr val="1A1D24"/>
                          </a:solidFill>
                          <a:latin typeface="Calibri"/>
                        </a:rPr>
                        <a:t>14.5</a:t>
                      </a:r>
                    </a:p>
                  </a:txBody>
                  <a:tcPr marL="45720" marR="45720" marT="18288" marB="18288" anchor="ctr">
                    <a:solidFill>
                      <a:srgbClr val="819CE9"/>
                    </a:solidFill>
                  </a:tcPr>
                </a:tc>
                <a:tc>
                  <a:txBody>
                    <a:bodyPr/>
                    <a:lstStyle/>
                    <a:p>
                      <a:pPr algn="ctr"/>
                      <a:r>
                        <a:rPr sz="750" b="0">
                          <a:solidFill>
                            <a:srgbClr val="1A1D24"/>
                          </a:solidFill>
                          <a:latin typeface="Calibri"/>
                        </a:rPr>
                        <a:t>0.4</a:t>
                      </a:r>
                    </a:p>
                  </a:txBody>
                  <a:tcPr marL="45720" marR="45720" marT="18288" marB="18288" anchor="ctr">
                    <a:solidFill>
                      <a:srgbClr val="EAEEFB"/>
                    </a:solidFill>
                  </a:tcPr>
                </a:tc>
                <a:tc>
                  <a:txBody>
                    <a:bodyPr/>
                    <a:lstStyle/>
                    <a:p>
                      <a:pPr algn="ctr"/>
                      <a:r>
                        <a:rPr sz="750" b="0">
                          <a:solidFill>
                            <a:srgbClr val="1A1D24"/>
                          </a:solidFill>
                          <a:latin typeface="Calibri"/>
                        </a:rPr>
                        <a:t>7.9</a:t>
                      </a:r>
                    </a:p>
                  </a:txBody>
                  <a:tcPr marL="45720" marR="45720" marT="18288" marB="18288" anchor="ctr">
                    <a:solidFill>
                      <a:srgbClr val="B2C2F1"/>
                    </a:solidFill>
                  </a:tcPr>
                </a:tc>
                <a:tc>
                  <a:txBody>
                    <a:bodyPr/>
                    <a:lstStyle/>
                    <a:p>
                      <a:pPr algn="ctr"/>
                      <a:r>
                        <a:rPr sz="750" b="0">
                          <a:solidFill>
                            <a:srgbClr val="1A1D24"/>
                          </a:solidFill>
                          <a:latin typeface="Calibri"/>
                        </a:rPr>
                        <a:t>8.3</a:t>
                      </a:r>
                    </a:p>
                  </a:txBody>
                  <a:tcPr marL="45720" marR="45720" marT="18288" marB="18288" anchor="ctr">
                    <a:solidFill>
                      <a:srgbClr val="AFC0F1"/>
                    </a:solidFill>
                  </a:tcPr>
                </a:tc>
              </a:tr>
              <a:tr h="267788">
                <a:tc>
                  <a:txBody>
                    <a:bodyPr/>
                    <a:lstStyle/>
                    <a:p>
                      <a:pPr algn="l"/>
                      <a:r>
                        <a:rPr sz="750" b="1">
                          <a:solidFill>
                            <a:srgbClr val="1A1D24"/>
                          </a:solidFill>
                          <a:latin typeface="Calibri"/>
                        </a:rPr>
                        <a:t>Sales</a:t>
                      </a:r>
                    </a:p>
                  </a:txBody>
                  <a:tcPr marL="45720" marR="45720" marT="18288" marB="18288" anchor="ctr">
                    <a:solidFill>
                      <a:srgbClr val="FFFFFF"/>
                    </a:solidFill>
                  </a:tcPr>
                </a:tc>
                <a:tc>
                  <a:txBody>
                    <a:bodyPr/>
                    <a:lstStyle/>
                    <a:p>
                      <a:pPr algn="ctr"/>
                      <a:r>
                        <a:rPr sz="750" b="0">
                          <a:solidFill>
                            <a:srgbClr val="1A1D24"/>
                          </a:solidFill>
                          <a:latin typeface="Calibri"/>
                        </a:rPr>
                        <a:t>5.1</a:t>
                      </a:r>
                    </a:p>
                  </a:txBody>
                  <a:tcPr marL="45720" marR="45720" marT="18288" marB="18288" anchor="ctr">
                    <a:solidFill>
                      <a:srgbClr val="C6D2F5"/>
                    </a:solidFill>
                  </a:tcPr>
                </a:tc>
                <a:tc>
                  <a:txBody>
                    <a:bodyPr/>
                    <a:lstStyle/>
                    <a:p>
                      <a:pPr algn="ctr"/>
                      <a:r>
                        <a:rPr sz="750" b="0">
                          <a:solidFill>
                            <a:srgbClr val="1A1D24"/>
                          </a:solidFill>
                          <a:latin typeface="Calibri"/>
                        </a:rPr>
                        <a:t>14.5</a:t>
                      </a:r>
                    </a:p>
                  </a:txBody>
                  <a:tcPr marL="45720" marR="45720" marT="18288" marB="18288" anchor="ctr">
                    <a:solidFill>
                      <a:srgbClr val="819CE9"/>
                    </a:solidFill>
                  </a:tcPr>
                </a:tc>
                <a:tc>
                  <a:txBody>
                    <a:bodyPr/>
                    <a:lstStyle/>
                    <a:p>
                      <a:pPr algn="ctr"/>
                      <a:r>
                        <a:rPr sz="750" b="0">
                          <a:solidFill>
                            <a:srgbClr val="FFFFFF"/>
                          </a:solidFill>
                          <a:latin typeface="Calibri"/>
                        </a:rPr>
                        <a:t>15.4</a:t>
                      </a:r>
                    </a:p>
                  </a:txBody>
                  <a:tcPr marL="45720" marR="45720" marT="18288" marB="18288" anchor="ctr">
                    <a:solidFill>
                      <a:srgbClr val="7A96E7"/>
                    </a:solidFill>
                  </a:tcPr>
                </a:tc>
                <a:tc>
                  <a:txBody>
                    <a:bodyPr/>
                    <a:lstStyle/>
                    <a:p>
                      <a:pPr algn="ctr"/>
                      <a:r>
                        <a:rPr sz="750" b="0">
                          <a:solidFill>
                            <a:srgbClr val="1A1D24"/>
                          </a:solidFill>
                          <a:latin typeface="Calibri"/>
                        </a:rPr>
                        <a:t>0.9</a:t>
                      </a:r>
                    </a:p>
                  </a:txBody>
                  <a:tcPr marL="45720" marR="45720" marT="18288" marB="18288" anchor="ctr">
                    <a:solidFill>
                      <a:srgbClr val="E6EBFA"/>
                    </a:solidFill>
                  </a:tcPr>
                </a:tc>
                <a:tc>
                  <a:txBody>
                    <a:bodyPr/>
                    <a:lstStyle/>
                    <a:p>
                      <a:pPr algn="ctr"/>
                      <a:r>
                        <a:rPr sz="750" b="0">
                          <a:solidFill>
                            <a:srgbClr val="1A1D24"/>
                          </a:solidFill>
                          <a:latin typeface="Calibri"/>
                        </a:rPr>
                        <a:t>4.1</a:t>
                      </a:r>
                    </a:p>
                  </a:txBody>
                  <a:tcPr marL="45720" marR="45720" marT="18288" marB="18288" anchor="ctr">
                    <a:solidFill>
                      <a:srgbClr val="CED8F6"/>
                    </a:solidFill>
                  </a:tcPr>
                </a:tc>
                <a:tc>
                  <a:txBody>
                    <a:bodyPr/>
                    <a:lstStyle/>
                    <a:p>
                      <a:pPr algn="ctr"/>
                      <a:r>
                        <a:rPr sz="750" b="0">
                          <a:solidFill>
                            <a:srgbClr val="1A1D24"/>
                          </a:solidFill>
                          <a:latin typeface="Calibri"/>
                        </a:rPr>
                        <a:t>1.6</a:t>
                      </a:r>
                    </a:p>
                  </a:txBody>
                  <a:tcPr marL="45720" marR="45720" marT="18288" marB="18288" anchor="ctr">
                    <a:solidFill>
                      <a:srgbClr val="E0E7F9"/>
                    </a:solidFill>
                  </a:tcPr>
                </a:tc>
              </a:tr>
              <a:tr h="267788">
                <a:tc>
                  <a:txBody>
                    <a:bodyPr/>
                    <a:lstStyle/>
                    <a:p>
                      <a:pPr algn="l"/>
                      <a:r>
                        <a:rPr sz="750" b="1">
                          <a:solidFill>
                            <a:srgbClr val="1A1D24"/>
                          </a:solidFill>
                          <a:latin typeface="Calibri"/>
                        </a:rPr>
                        <a:t>Collections</a:t>
                      </a:r>
                    </a:p>
                  </a:txBody>
                  <a:tcPr marL="45720" marR="45720" marT="18288" marB="18288" anchor="ctr">
                    <a:solidFill>
                      <a:srgbClr val="FFFFFF"/>
                    </a:solidFill>
                  </a:tcPr>
                </a:tc>
                <a:tc>
                  <a:txBody>
                    <a:bodyPr/>
                    <a:lstStyle/>
                    <a:p>
                      <a:pPr algn="ctr"/>
                      <a:r>
                        <a:rPr sz="750" b="0">
                          <a:solidFill>
                            <a:srgbClr val="1A1D24"/>
                          </a:solidFill>
                          <a:latin typeface="Calibri"/>
                        </a:rPr>
                        <a:t>0.1</a:t>
                      </a:r>
                    </a:p>
                  </a:txBody>
                  <a:tcPr marL="45720" marR="45720" marT="18288" marB="18288" anchor="ctr">
                    <a:solidFill>
                      <a:srgbClr val="ECF0FB"/>
                    </a:solidFill>
                  </a:tcPr>
                </a:tc>
                <a:tc>
                  <a:txBody>
                    <a:bodyPr/>
                    <a:lstStyle/>
                    <a:p>
                      <a:pPr algn="ctr"/>
                      <a:r>
                        <a:rPr sz="750" b="0">
                          <a:solidFill>
                            <a:srgbClr val="1A1D24"/>
                          </a:solidFill>
                          <a:latin typeface="Calibri"/>
                        </a:rPr>
                        <a:t>0.4</a:t>
                      </a:r>
                    </a:p>
                  </a:txBody>
                  <a:tcPr marL="45720" marR="45720" marT="18288" marB="18288" anchor="ctr">
                    <a:solidFill>
                      <a:srgbClr val="EAEEFB"/>
                    </a:solidFill>
                  </a:tcPr>
                </a:tc>
                <a:tc>
                  <a:txBody>
                    <a:bodyPr/>
                    <a:lstStyle/>
                    <a:p>
                      <a:pPr algn="ctr"/>
                      <a:r>
                        <a:rPr sz="750" b="0">
                          <a:solidFill>
                            <a:srgbClr val="1A1D24"/>
                          </a:solidFill>
                          <a:latin typeface="Calibri"/>
                        </a:rPr>
                        <a:t>0.9</a:t>
                      </a:r>
                    </a:p>
                  </a:txBody>
                  <a:tcPr marL="45720" marR="45720" marT="18288" marB="18288" anchor="ctr">
                    <a:solidFill>
                      <a:srgbClr val="E6EBFA"/>
                    </a:solidFill>
                  </a:tcPr>
                </a:tc>
                <a:tc>
                  <a:txBody>
                    <a:bodyPr/>
                    <a:lstStyle/>
                    <a:p>
                      <a:pPr algn="ctr"/>
                      <a:r>
                        <a:rPr sz="750" b="0">
                          <a:solidFill>
                            <a:srgbClr val="1A1D24"/>
                          </a:solidFill>
                          <a:latin typeface="Calibri"/>
                        </a:rPr>
                        <a:t>0.0</a:t>
                      </a:r>
                    </a:p>
                  </a:txBody>
                  <a:tcPr marL="45720" marR="45720" marT="18288" marB="18288" anchor="ctr">
                    <a:solidFill>
                      <a:srgbClr val="EDF0FB"/>
                    </a:solidFill>
                  </a:tcPr>
                </a:tc>
                <a:tc>
                  <a:txBody>
                    <a:bodyPr/>
                    <a:lstStyle/>
                    <a:p>
                      <a:pPr algn="ctr"/>
                      <a:r>
                        <a:rPr sz="750" b="0">
                          <a:solidFill>
                            <a:srgbClr val="1A1D24"/>
                          </a:solidFill>
                          <a:latin typeface="Calibri"/>
                        </a:rPr>
                        <a:t>1.5</a:t>
                      </a:r>
                    </a:p>
                  </a:txBody>
                  <a:tcPr marL="45720" marR="45720" marT="18288" marB="18288" anchor="ctr">
                    <a:solidFill>
                      <a:srgbClr val="E1E8F9"/>
                    </a:solidFill>
                  </a:tcPr>
                </a:tc>
                <a:tc>
                  <a:txBody>
                    <a:bodyPr/>
                    <a:lstStyle/>
                    <a:p>
                      <a:pPr algn="ctr"/>
                      <a:r>
                        <a:rPr sz="750" b="0">
                          <a:solidFill>
                            <a:srgbClr val="1A1D24"/>
                          </a:solidFill>
                          <a:latin typeface="Calibri"/>
                        </a:rPr>
                        <a:t>6.1</a:t>
                      </a:r>
                    </a:p>
                  </a:txBody>
                  <a:tcPr marL="45720" marR="45720" marT="18288" marB="18288" anchor="ctr">
                    <a:solidFill>
                      <a:srgbClr val="BFCCF3"/>
                    </a:solidFill>
                  </a:tcPr>
                </a:tc>
              </a:tr>
              <a:tr h="267788">
                <a:tc>
                  <a:txBody>
                    <a:bodyPr/>
                    <a:lstStyle/>
                    <a:p>
                      <a:pPr algn="l"/>
                      <a:r>
                        <a:rPr sz="750" b="1">
                          <a:solidFill>
                            <a:srgbClr val="1A1D24"/>
                          </a:solidFill>
                          <a:latin typeface="Calibri"/>
                        </a:rPr>
                        <a:t>Others</a:t>
                      </a:r>
                    </a:p>
                  </a:txBody>
                  <a:tcPr marL="45720" marR="45720" marT="18288" marB="18288" anchor="ctr">
                    <a:solidFill>
                      <a:srgbClr val="FFFFFF"/>
                    </a:solidFill>
                  </a:tcPr>
                </a:tc>
                <a:tc>
                  <a:txBody>
                    <a:bodyPr/>
                    <a:lstStyle/>
                    <a:p>
                      <a:pPr algn="ctr"/>
                      <a:r>
                        <a:rPr sz="750" b="0">
                          <a:solidFill>
                            <a:srgbClr val="1A1D24"/>
                          </a:solidFill>
                          <a:latin typeface="Calibri"/>
                        </a:rPr>
                        <a:t>4.0</a:t>
                      </a:r>
                    </a:p>
                  </a:txBody>
                  <a:tcPr marL="45720" marR="45720" marT="18288" marB="18288" anchor="ctr">
                    <a:solidFill>
                      <a:srgbClr val="CED9F6"/>
                    </a:solidFill>
                  </a:tcPr>
                </a:tc>
                <a:tc>
                  <a:txBody>
                    <a:bodyPr/>
                    <a:lstStyle/>
                    <a:p>
                      <a:pPr algn="ctr"/>
                      <a:r>
                        <a:rPr sz="750" b="0">
                          <a:solidFill>
                            <a:srgbClr val="1A1D24"/>
                          </a:solidFill>
                          <a:latin typeface="Calibri"/>
                        </a:rPr>
                        <a:t>7.9</a:t>
                      </a:r>
                    </a:p>
                  </a:txBody>
                  <a:tcPr marL="45720" marR="45720" marT="18288" marB="18288" anchor="ctr">
                    <a:solidFill>
                      <a:srgbClr val="B2C2F1"/>
                    </a:solidFill>
                  </a:tcPr>
                </a:tc>
                <a:tc>
                  <a:txBody>
                    <a:bodyPr/>
                    <a:lstStyle/>
                    <a:p>
                      <a:pPr algn="ctr"/>
                      <a:r>
                        <a:rPr sz="750" b="0">
                          <a:solidFill>
                            <a:srgbClr val="1A1D24"/>
                          </a:solidFill>
                          <a:latin typeface="Calibri"/>
                        </a:rPr>
                        <a:t>4.1</a:t>
                      </a:r>
                    </a:p>
                  </a:txBody>
                  <a:tcPr marL="45720" marR="45720" marT="18288" marB="18288" anchor="ctr">
                    <a:solidFill>
                      <a:srgbClr val="CED8F6"/>
                    </a:solidFill>
                  </a:tcPr>
                </a:tc>
                <a:tc>
                  <a:txBody>
                    <a:bodyPr/>
                    <a:lstStyle/>
                    <a:p>
                      <a:pPr algn="ctr"/>
                      <a:r>
                        <a:rPr sz="750" b="0">
                          <a:solidFill>
                            <a:srgbClr val="1A1D24"/>
                          </a:solidFill>
                          <a:latin typeface="Calibri"/>
                        </a:rPr>
                        <a:t>1.5</a:t>
                      </a:r>
                    </a:p>
                  </a:txBody>
                  <a:tcPr marL="45720" marR="45720" marT="18288" marB="18288" anchor="ctr">
                    <a:solidFill>
                      <a:srgbClr val="E1E8F9"/>
                    </a:solidFill>
                  </a:tcPr>
                </a:tc>
                <a:tc>
                  <a:txBody>
                    <a:bodyPr/>
                    <a:lstStyle/>
                    <a:p>
                      <a:pPr algn="ctr"/>
                      <a:r>
                        <a:rPr sz="750" b="0">
                          <a:solidFill>
                            <a:srgbClr val="1A1D24"/>
                          </a:solidFill>
                          <a:latin typeface="Calibri"/>
                        </a:rPr>
                        <a:t>2.7</a:t>
                      </a:r>
                    </a:p>
                  </a:txBody>
                  <a:tcPr marL="45720" marR="45720" marT="18288" marB="18288" anchor="ctr">
                    <a:solidFill>
                      <a:srgbClr val="D8E1F8"/>
                    </a:solidFill>
                  </a:tcPr>
                </a:tc>
                <a:tc>
                  <a:txBody>
                    <a:bodyPr/>
                    <a:lstStyle/>
                    <a:p>
                      <a:pPr algn="ctr"/>
                      <a:r>
                        <a:rPr sz="750" b="0">
                          <a:solidFill>
                            <a:srgbClr val="1A1D24"/>
                          </a:solidFill>
                          <a:latin typeface="Calibri"/>
                        </a:rPr>
                        <a:t>5.6</a:t>
                      </a:r>
                    </a:p>
                  </a:txBody>
                  <a:tcPr marL="45720" marR="45720" marT="18288" marB="18288" anchor="ctr">
                    <a:solidFill>
                      <a:srgbClr val="C3D0F4"/>
                    </a:solidFill>
                  </a:tcPr>
                </a:tc>
              </a:tr>
              <a:tr h="267788">
                <a:tc>
                  <a:txBody>
                    <a:bodyPr/>
                    <a:lstStyle/>
                    <a:p>
                      <a:pPr algn="l"/>
                      <a:r>
                        <a:rPr sz="750" b="1">
                          <a:solidFill>
                            <a:srgbClr val="1A1D24"/>
                          </a:solidFill>
                          <a:latin typeface="Calibri"/>
                        </a:rPr>
                        <a:t>Transaccional</a:t>
                      </a:r>
                    </a:p>
                  </a:txBody>
                  <a:tcPr marL="45720" marR="45720" marT="18288" marB="18288" anchor="ctr">
                    <a:solidFill>
                      <a:srgbClr val="FFFFFF"/>
                    </a:solidFill>
                  </a:tcPr>
                </a:tc>
                <a:tc>
                  <a:txBody>
                    <a:bodyPr/>
                    <a:lstStyle/>
                    <a:p>
                      <a:pPr algn="ctr"/>
                      <a:r>
                        <a:rPr sz="750" b="0">
                          <a:solidFill>
                            <a:srgbClr val="1A1D24"/>
                          </a:solidFill>
                          <a:latin typeface="Calibri"/>
                        </a:rPr>
                        <a:t>8.0</a:t>
                      </a:r>
                    </a:p>
                  </a:txBody>
                  <a:tcPr marL="45720" marR="45720" marT="18288" marB="18288" anchor="ctr">
                    <a:solidFill>
                      <a:srgbClr val="B1C1F1"/>
                    </a:solidFill>
                  </a:tcPr>
                </a:tc>
                <a:tc>
                  <a:txBody>
                    <a:bodyPr/>
                    <a:lstStyle/>
                    <a:p>
                      <a:pPr algn="ctr"/>
                      <a:r>
                        <a:rPr sz="750" b="0">
                          <a:solidFill>
                            <a:srgbClr val="1A1D24"/>
                          </a:solidFill>
                          <a:latin typeface="Calibri"/>
                        </a:rPr>
                        <a:t>8.3</a:t>
                      </a:r>
                    </a:p>
                  </a:txBody>
                  <a:tcPr marL="45720" marR="45720" marT="18288" marB="18288" anchor="ctr">
                    <a:solidFill>
                      <a:srgbClr val="AFC0F1"/>
                    </a:solidFill>
                  </a:tcPr>
                </a:tc>
                <a:tc>
                  <a:txBody>
                    <a:bodyPr/>
                    <a:lstStyle/>
                    <a:p>
                      <a:pPr algn="ctr"/>
                      <a:r>
                        <a:rPr sz="750" b="0">
                          <a:solidFill>
                            <a:srgbClr val="1A1D24"/>
                          </a:solidFill>
                          <a:latin typeface="Calibri"/>
                        </a:rPr>
                        <a:t>1.6</a:t>
                      </a:r>
                    </a:p>
                  </a:txBody>
                  <a:tcPr marL="45720" marR="45720" marT="18288" marB="18288" anchor="ctr">
                    <a:solidFill>
                      <a:srgbClr val="E0E7F9"/>
                    </a:solidFill>
                  </a:tcPr>
                </a:tc>
                <a:tc>
                  <a:txBody>
                    <a:bodyPr/>
                    <a:lstStyle/>
                    <a:p>
                      <a:pPr algn="ctr"/>
                      <a:r>
                        <a:rPr sz="750" b="0">
                          <a:solidFill>
                            <a:srgbClr val="1A1D24"/>
                          </a:solidFill>
                          <a:latin typeface="Calibri"/>
                        </a:rPr>
                        <a:t>6.1</a:t>
                      </a:r>
                    </a:p>
                  </a:txBody>
                  <a:tcPr marL="45720" marR="45720" marT="18288" marB="18288" anchor="ctr">
                    <a:solidFill>
                      <a:srgbClr val="BFCCF3"/>
                    </a:solidFill>
                  </a:tcPr>
                </a:tc>
                <a:tc>
                  <a:txBody>
                    <a:bodyPr/>
                    <a:lstStyle/>
                    <a:p>
                      <a:pPr algn="ctr"/>
                      <a:r>
                        <a:rPr sz="750" b="0">
                          <a:solidFill>
                            <a:srgbClr val="1A1D24"/>
                          </a:solidFill>
                          <a:latin typeface="Calibri"/>
                        </a:rPr>
                        <a:t>5.6</a:t>
                      </a:r>
                    </a:p>
                  </a:txBody>
                  <a:tcPr marL="45720" marR="45720" marT="18288" marB="18288" anchor="ctr">
                    <a:solidFill>
                      <a:srgbClr val="C3D0F4"/>
                    </a:solidFill>
                  </a:tcPr>
                </a:tc>
                <a:tc>
                  <a:txBody>
                    <a:bodyPr/>
                    <a:lstStyle/>
                    <a:p>
                      <a:pPr algn="ctr"/>
                      <a:r>
                        <a:rPr sz="750" b="0">
                          <a:solidFill>
                            <a:srgbClr val="1A1D24"/>
                          </a:solidFill>
                          <a:latin typeface="Calibri"/>
                        </a:rPr>
                        <a:t>14.4</a:t>
                      </a:r>
                    </a:p>
                  </a:txBody>
                  <a:tcPr marL="45720" marR="45720" marT="18288" marB="18288" anchor="ctr">
                    <a:solidFill>
                      <a:srgbClr val="819CE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143 M usuario-días con dos envíos el mismo día. La diagonal (mismo equipo) suma 66 M: Marketing 27.6 M, Sales 15.4 M, transaccional 14.4 M.</a:t>
            </a:r>
          </a:p>
          <a:p>
            <a:pPr>
              <a:spcAft>
                <a:spcPts val="350"/>
              </a:spcAft>
            </a:pPr>
            <a:r>
              <a:rPr sz="850" b="1">
                <a:solidFill>
                  <a:srgbClr val="1F4FD8"/>
                </a:solidFill>
                <a:latin typeface="Calibri"/>
              </a:rPr>
              <a:t>2.  </a:t>
            </a:r>
            <a:r>
              <a:rPr sz="850" b="0">
                <a:solidFill>
                  <a:srgbClr val="5B6270"/>
                </a:solidFill>
                <a:latin typeface="Calibri"/>
              </a:rPr>
              <a:t>Entre equipos: Marketing con Sales 14.5 M, Marketing con Product Growth 9.0 M, Marketing con transaccional 8.3 M.</a:t>
            </a:r>
          </a:p>
          <a:p>
            <a:pPr>
              <a:spcAft>
                <a:spcPts val="350"/>
              </a:spcAft>
            </a:pPr>
            <a:r>
              <a:rPr sz="850" b="1">
                <a:solidFill>
                  <a:srgbClr val="1F4FD8"/>
                </a:solidFill>
                <a:latin typeface="Calibri"/>
              </a:rPr>
              <a:t>3.  </a:t>
            </a:r>
            <a:r>
              <a:rPr sz="850" b="0">
                <a:solidFill>
                  <a:srgbClr val="5B6270"/>
                </a:solidFill>
                <a:latin typeface="Calibri"/>
              </a:rPr>
              <a:t>El par más grande: dos push de Marketing a 'Todos' el 21 de junio (Día del Padre y Billpayments), 1.5 M usuarios. Un Canvas de QA chocó con 1.45 M usuarios reales.</a:t>
            </a:r>
          </a:p>
          <a:p>
            <a:pPr>
              <a:spcAft>
                <a:spcPts val="350"/>
              </a:spcAft>
            </a:pPr>
            <a:r>
              <a:rPr sz="850" b="1">
                <a:solidFill>
                  <a:srgbClr val="1F4FD8"/>
                </a:solidFill>
                <a:latin typeface="Calibri"/>
              </a:rPr>
              <a:t>4.  </a:t>
            </a:r>
            <a:r>
              <a:rPr sz="850" b="0">
                <a:solidFill>
                  <a:srgbClr val="5B6270"/>
                </a:solidFill>
                <a:latin typeface="Calibri"/>
              </a:rPr>
              <a:t>Ninguno de esos pares pasó por un calendario: cada equipo activó su pieza sin ver la propia del día, y QA activó con audiencia real.</a:t>
            </a:r>
          </a:p>
          <a:p>
            <a:pPr>
              <a:spcAft>
                <a:spcPts val="350"/>
              </a:spcAft>
            </a:pPr>
            <a:r>
              <a:rPr sz="850" b="1">
                <a:solidFill>
                  <a:srgbClr val="B5342B"/>
                </a:solidFill>
                <a:latin typeface="Calibri"/>
              </a:rPr>
              <a:t>5.  </a:t>
            </a:r>
            <a:r>
              <a:rPr sz="700" b="1">
                <a:solidFill>
                  <a:srgbClr val="B5342B"/>
                </a:solidFill>
                <a:latin typeface="Calibri"/>
              </a:rPr>
              <a:t>CAUSA RAÍZ · SOLAPE ENTRE EQUIPOS  </a:t>
            </a:r>
            <a:r>
              <a:rPr sz="850" b="1">
                <a:solidFill>
                  <a:srgbClr val="1A1D24"/>
                </a:solidFill>
                <a:latin typeface="Calibri"/>
              </a:rPr>
              <a:t>No hay calendario único, ni dueño del calendario por equipo, ni regla de QA fuera de audiencias reales.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Los choques internos se evitan con un calendario por equipo antes que con reglas entre equipos.</a:t>
            </a:r>
          </a:p>
          <a:p>
            <a:r>
              <a:rPr sz="700" b="1">
                <a:solidFill>
                  <a:srgbClr val="1F4FD8"/>
                </a:solidFill>
                <a:latin typeface="Calibri"/>
              </a:rPr>
              <a:t>O  </a:t>
            </a:r>
            <a:r>
              <a:rPr sz="750">
                <a:solidFill>
                  <a:srgbClr val="5B6270"/>
                </a:solidFill>
                <a:latin typeface="Calibri"/>
              </a:rPr>
              <a:t>Las piezas se activan desde Braze sin un paso previo de revisión del día.</a:t>
            </a:r>
          </a:p>
          <a:p>
            <a:r>
              <a:rPr sz="700" b="1">
                <a:solidFill>
                  <a:srgbClr val="1F4FD8"/>
                </a:solidFill>
                <a:latin typeface="Calibri"/>
              </a:rPr>
              <a:t>G  </a:t>
            </a:r>
            <a:r>
              <a:rPr sz="750">
                <a:solidFill>
                  <a:srgbClr val="5B6270"/>
                </a:solidFill>
                <a:latin typeface="Calibri"/>
              </a:rPr>
              <a:t>QA tiene acceso a audiencias reales y nadie lo limita.</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MarTech restringe QA a segmentos de prueba (lista interna) con permisos de Braze; Marketing nombra dueño de su calendario. Semana 2: calendario único y comité quincenal; regla: ninguna pieza a 'Todos' o a más de 1 M el mismo día que otra. Métrica: usuario-días con choque del mismo equipo, hoy 66 M en 9 meses, meta la mitad en 60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Ninguno de estos pares se repite (5 M usuario-días) y QA fuera de audiencias reales evita 1.45 M envíos de prueba.</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Primero el calendario de cada equipo: ahí está casi la mitad del choque. Luego el calendario único: ninguna pieza a 'Todos' el mismo día que otra. QA nunca con audiencias reales.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159 mil usuarios nuevos se dieron de baja; la mitad en el primer mes y 45 % con 3 emails o menos: no es cansancio acumulado, es la bienvenida masiva de tres equipos en los primeros 30 días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L_Baja (E8), O_Antiguedad (E12)</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25</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159 mil</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usuarios nuevos dados de baja en 9 meses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27 días</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mediana desde el primer email hasta la baja</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31 %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esas bajas vienen de un solo envío: BillPay Intro, junio</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25.png"/>
          <p:cNvPicPr>
            <a:picLocks noChangeAspect="1"/>
          </p:cNvPicPr>
          <p:nvPr/>
        </p:nvPicPr>
        <p:blipFill>
          <a:blip r:embed="rId2"/>
          <a:stretch>
            <a:fillRect/>
          </a:stretch>
        </p:blipFill>
        <p:spPr>
          <a:xfrm>
            <a:off x="548640" y="2560320"/>
            <a:ext cx="6366933"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159 mil nuevos dados de baja; mediana 27 días desde el primer email; 33 % con el primer email y 7.4 % el mismo día.</a:t>
            </a:r>
          </a:p>
          <a:p>
            <a:pPr>
              <a:spcAft>
                <a:spcPts val="350"/>
              </a:spcAft>
            </a:pPr>
            <a:r>
              <a:rPr sz="900" b="1">
                <a:solidFill>
                  <a:srgbClr val="1F4FD8"/>
                </a:solidFill>
                <a:latin typeface="Calibri"/>
              </a:rPr>
              <a:t>2.  </a:t>
            </a:r>
            <a:r>
              <a:rPr sz="900" b="0">
                <a:solidFill>
                  <a:srgbClr val="5B6270"/>
                </a:solidFill>
                <a:latin typeface="Calibri"/>
              </a:rPr>
              <a:t>Antes de irse reciben 5 emails de 4 piezas distintas: retargeting de Marketing (2 al día), Tasa0 de Product Growth y masivos de NewProducts.</a:t>
            </a:r>
          </a:p>
          <a:p>
            <a:pPr>
              <a:spcAft>
                <a:spcPts val="350"/>
              </a:spcAft>
            </a:pPr>
            <a:r>
              <a:rPr sz="900" b="1">
                <a:solidFill>
                  <a:srgbClr val="1F4FD8"/>
                </a:solidFill>
                <a:latin typeface="Calibri"/>
              </a:rPr>
              <a:t>3.  </a:t>
            </a:r>
            <a:r>
              <a:rPr sz="900" b="0">
                <a:solidFill>
                  <a:srgbClr val="5B6270"/>
                </a:solidFill>
                <a:latin typeface="Calibri"/>
              </a:rPr>
              <a:t>Un solo envío, BillPay Intro (NewProducts, junio), explica 31 % de esas bajas.</a:t>
            </a:r>
          </a:p>
          <a:p>
            <a:pPr>
              <a:spcAft>
                <a:spcPts val="350"/>
              </a:spcAft>
            </a:pPr>
            <a:r>
              <a:rPr sz="900" b="1">
                <a:solidFill>
                  <a:srgbClr val="1F4FD8"/>
                </a:solidFill>
                <a:latin typeface="Calibri"/>
              </a:rPr>
              <a:t>4.  </a:t>
            </a:r>
            <a:r>
              <a:rPr sz="900" b="0">
                <a:solidFill>
                  <a:srgbClr val="5B6270"/>
                </a:solidFill>
                <a:latin typeface="Calibri"/>
              </a:rPr>
              <a:t>Los nuevos son los que mejor responden (clic 2.4 %, push 3.4 %) y los que más se dan de baja (6.9 por mil): se quema el mejor segmento.</a:t>
            </a:r>
          </a:p>
          <a:p>
            <a:pPr>
              <a:spcAft>
                <a:spcPts val="350"/>
              </a:spcAft>
            </a:pPr>
            <a:r>
              <a:rPr sz="900" b="1">
                <a:solidFill>
                  <a:srgbClr val="B5342B"/>
                </a:solidFill>
                <a:latin typeface="Calibri"/>
              </a:rPr>
              <a:t>5.  </a:t>
            </a:r>
            <a:r>
              <a:rPr sz="700" b="1">
                <a:solidFill>
                  <a:srgbClr val="B5342B"/>
                </a:solidFill>
                <a:latin typeface="Calibri"/>
              </a:rPr>
              <a:t>CAUSA RAÍZ · SATURACIÓN  </a:t>
            </a:r>
            <a:r>
              <a:rPr sz="900" b="1">
                <a:solidFill>
                  <a:srgbClr val="1A1D24"/>
                </a:solidFill>
                <a:latin typeface="Calibri"/>
              </a:rPr>
              <a:t>No hay una sola secuencia de bienvenida con dueño: tres equipos tocan al nuevo en su primer mes y los masivos no excluyen a menores de 30 días.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baja del nuevo es por cantidad y masivos en el primer mes, no por contenido: 45 % se va con 3 emails o menos.</a:t>
            </a:r>
          </a:p>
          <a:p>
            <a:r>
              <a:rPr sz="700" b="1">
                <a:solidFill>
                  <a:srgbClr val="1F4FD8"/>
                </a:solidFill>
                <a:latin typeface="Calibri"/>
              </a:rPr>
              <a:t>O  </a:t>
            </a:r>
            <a:r>
              <a:rPr sz="750">
                <a:solidFill>
                  <a:srgbClr val="5B6270"/>
                </a:solidFill>
                <a:latin typeface="Calibri"/>
              </a:rPr>
              <a:t>Cada equipo tiene su propia pieza para nuevos porque no hay una bienvenida compartida.</a:t>
            </a:r>
          </a:p>
          <a:p>
            <a:r>
              <a:rPr sz="700" b="1">
                <a:solidFill>
                  <a:srgbClr val="1F4FD8"/>
                </a:solidFill>
                <a:latin typeface="Calibri"/>
              </a:rPr>
              <a:t>G  </a:t>
            </a:r>
            <a:r>
              <a:rPr sz="750">
                <a:solidFill>
                  <a:srgbClr val="5B6270"/>
                </a:solidFill>
                <a:latin typeface="Calibri"/>
              </a:rPr>
              <a:t>Nadie es dueño del primer mes del usuario.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Product Growth queda como dueño de una sola secuencia de bienvenida (Canvas): 1 email al día, 3 la primera semana, 8 pasos máximo. MarTech crea EXC-Nuevos30d y la pone en todos los masivos de Marketing y NewProducts. Métrica: bajas de nuevos por mil, hoy 6.9, meta 3.5 en 60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Una sola bienvenida (3 emails la primera semana) y sin masivos a menores de 30 días: 53 % de las bajas de nuevos desaparecen, 84 mil usuarios en 9 meses.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Una sola secuencia de bienvenida con dueño y ningún masivo a menores de 30 días: protege al segmento que mejor responde y evita 84 mil bajas.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 A QUIEN NO RESPONDE</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Ocho familias generan 37 % de las bajas de email y están arriba a la derecha: grandes y con 3 a 5 bajas por mil; 7 de las 8 hacen clic debajo de 1 %, queman la base sin vender</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F_Piezas (E1). Bajas de email por pieza y mes, solo meses con entrega; familias con 100 mil entregados o más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26</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37 %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las bajas vienen de 8 familias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4.6 vs 1.8</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bajas por mil: 'Todos' contra recurrentes y activos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 de 8</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familias con clic debajo de 1 %; solo Veriff responde (3.04 %)</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26.png"/>
          <p:cNvPicPr>
            <a:picLocks noChangeAspect="1"/>
          </p:cNvPicPr>
          <p:nvPr/>
        </p:nvPicPr>
        <p:blipFill>
          <a:blip r:embed="rId2"/>
          <a:stretch>
            <a:fillRect/>
          </a:stretch>
        </p:blipFill>
        <p:spPr>
          <a:xfrm>
            <a:off x="548640" y="2560320"/>
            <a:ext cx="6174360"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635 mil bajas con entrega en el mismo mes; 2.0 por mil. Marketing 43 %, Product Growth 33 %, NewProducts 15 %.</a:t>
            </a:r>
          </a:p>
          <a:p>
            <a:pPr>
              <a:spcAft>
                <a:spcPts val="350"/>
              </a:spcAft>
            </a:pPr>
            <a:r>
              <a:rPr sz="850" b="1">
                <a:solidFill>
                  <a:srgbClr val="1F4FD8"/>
                </a:solidFill>
                <a:latin typeface="Calibri"/>
              </a:rPr>
              <a:t>2.  </a:t>
            </a:r>
            <a:r>
              <a:rPr sz="850" b="0">
                <a:solidFill>
                  <a:srgbClr val="5B6270"/>
                </a:solidFill>
                <a:latin typeface="Calibri"/>
              </a:rPr>
              <a:t>Las 8: Tasa0 a nuevos registrados (Product Growth, 46 mil en 9 meses), ReferralProgram y Retargeting Veriff (Marketing, 38 mil cada una), BillPay Intro (NewProducts, 37 mil en un envío).</a:t>
            </a:r>
          </a:p>
          <a:p>
            <a:pPr>
              <a:spcAft>
                <a:spcPts val="350"/>
              </a:spcAft>
            </a:pPr>
            <a:r>
              <a:rPr sz="850" b="1">
                <a:solidFill>
                  <a:srgbClr val="1F4FD8"/>
                </a:solidFill>
                <a:latin typeface="Calibri"/>
              </a:rPr>
              <a:t>3.  </a:t>
            </a:r>
            <a:r>
              <a:rPr sz="850" b="0">
                <a:solidFill>
                  <a:srgbClr val="5B6270"/>
                </a:solidFill>
                <a:latin typeface="Calibri"/>
              </a:rPr>
              <a:t>Por audiencia: 'Todos' 4.6 por mil y Leads 3.2, contra Recurrentes y Active 1.8; Leads y 'Todos' son 46 % de las bajas.</a:t>
            </a:r>
          </a:p>
          <a:p>
            <a:pPr>
              <a:spcAft>
                <a:spcPts val="350"/>
              </a:spcAft>
            </a:pPr>
            <a:r>
              <a:rPr sz="850" b="1">
                <a:solidFill>
                  <a:srgbClr val="1F4FD8"/>
                </a:solidFill>
                <a:latin typeface="Calibri"/>
              </a:rPr>
              <a:t>4.  </a:t>
            </a:r>
            <a:r>
              <a:rPr sz="850" b="0">
                <a:solidFill>
                  <a:srgbClr val="5B6270"/>
                </a:solidFill>
                <a:latin typeface="Calibri"/>
              </a:rPr>
              <a:t>Veriff se da de baja 3.9 por mil pero hace clic 3.04 %: se protege y se le baja frecuencia. Las otras 7 hacen clic debajo de 1 %.</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Las piezas corren todos los meses a audiencias frías sin regla de apagado por bajas ni tope de frecuencia; nadie revisa bajas por pieza.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baja es por a quién y cuántas veces, no por copy: las audiencias frías se dan de baja 2 a 3 veces más.</a:t>
            </a:r>
          </a:p>
          <a:p>
            <a:r>
              <a:rPr sz="700" b="1">
                <a:solidFill>
                  <a:srgbClr val="1F4FD8"/>
                </a:solidFill>
                <a:latin typeface="Calibri"/>
              </a:rPr>
              <a:t>O  </a:t>
            </a:r>
            <a:r>
              <a:rPr sz="750">
                <a:solidFill>
                  <a:srgbClr val="5B6270"/>
                </a:solidFill>
                <a:latin typeface="Calibri"/>
              </a:rPr>
              <a:t>Las piezas se miden por clic, no por bajas; una familia con 46 mil bajas sigue activa.</a:t>
            </a:r>
          </a:p>
          <a:p>
            <a:r>
              <a:rPr sz="700" b="1">
                <a:solidFill>
                  <a:srgbClr val="1F4FD8"/>
                </a:solidFill>
                <a:latin typeface="Calibri"/>
              </a:rPr>
              <a:t>G  </a:t>
            </a:r>
            <a:r>
              <a:rPr sz="750">
                <a:solidFill>
                  <a:srgbClr val="5B6270"/>
                </a:solidFill>
                <a:latin typeface="Calibri"/>
              </a:rPr>
              <a:t>No hay regla 'más de 3 bajas por mil y menos de 1 % de clic se apaga'.</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Marketing detiene ReferralProgram y Product Growth NarrativaTasa0 (más de 4 bajas por mil, clic debajo de 1 %). Semana 2: Tasa0 a nuevos entra a la bienvenida con tope de 3 emails; Veriff baja a 1 email al día. CRM agrega bajas por mil por pieza al tablero con la regla de apagado. Métrica: bajas por mil de email, hoy 2.0, meta 1.5.</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Detener Referral y NarrativaTasa0 y meter Tasa0 a nuevos en la bienvenida evita 110 mil bajas en 9 meses y cerca de 55 M emails.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ReferralProgram y NarrativaTasa0 se detienen esta semana. Tasa0 a nuevos entra a la bienvenida con tope de 3 emails. Ninguna pieza a 'Todos' sin segmento.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La posición del paso no cambia la apertura (15 a 23 % del paso 1 al 20 o más), pero 278 pasos abren menos de 1 % y siguen activos, 204 de ellos del paso 5 en adelante: insistir no sube la respuesta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S_Pasos (E15). El orden del paso es aproximado</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27</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278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pasos de Canvas abren menos de 1 % y siguen activos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204</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ellos están del paso 5 en adelante</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45</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Canvas pasan de 20 pasos; 19 pasan de 50</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27.png"/>
          <p:cNvPicPr>
            <a:picLocks noChangeAspect="1"/>
          </p:cNvPicPr>
          <p:nvPr/>
        </p:nvPicPr>
        <p:blipFill>
          <a:blip r:embed="rId2"/>
          <a:stretch>
            <a:fillRect/>
          </a:stretch>
        </p:blipFill>
        <p:spPr>
          <a:xfrm>
            <a:off x="548640" y="2560320"/>
            <a:ext cx="6804660"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959 Canvas con 5,986 pasos; 45 pasan de 20 pasos y 19 de 50. Los de inactividad tienen 96 a 120 pasos para 734 mil usuarios.</a:t>
            </a:r>
          </a:p>
          <a:p>
            <a:pPr>
              <a:spcAft>
                <a:spcPts val="350"/>
              </a:spcAft>
            </a:pPr>
            <a:r>
              <a:rPr sz="850" b="1">
                <a:solidFill>
                  <a:srgbClr val="1F4FD8"/>
                </a:solidFill>
                <a:latin typeface="Calibri"/>
              </a:rPr>
              <a:t>2.  </a:t>
            </a:r>
            <a:r>
              <a:rPr sz="850" b="0">
                <a:solidFill>
                  <a:srgbClr val="5B6270"/>
                </a:solidFill>
                <a:latin typeface="Calibri"/>
              </a:rPr>
              <a:t>La apertura por posición es plana (15 a 23 %): el paso 10 no abre menos que el 1 porque a esa altura solo quedan quienes ya reaccionaron.</a:t>
            </a:r>
          </a:p>
          <a:p>
            <a:pPr>
              <a:spcAft>
                <a:spcPts val="350"/>
              </a:spcAft>
            </a:pPr>
            <a:r>
              <a:rPr sz="850" b="1">
                <a:solidFill>
                  <a:srgbClr val="1F4FD8"/>
                </a:solidFill>
                <a:latin typeface="Calibri"/>
              </a:rPr>
              <a:t>3.  </a:t>
            </a:r>
            <a:r>
              <a:rPr sz="850" b="0">
                <a:solidFill>
                  <a:srgbClr val="5B6270"/>
                </a:solidFill>
                <a:latin typeface="Calibri"/>
              </a:rPr>
              <a:t>278 pasos de 2,073 con 5 mil o más usuarios abren menos de 1 % y siguen activos; 204 van del paso 5 en adelante: retargeting de Marketing (Veriff) y Tasa0 de Product Growth.</a:t>
            </a:r>
          </a:p>
          <a:p>
            <a:pPr>
              <a:spcAft>
                <a:spcPts val="350"/>
              </a:spcAft>
            </a:pPr>
            <a:r>
              <a:rPr sz="850" b="1">
                <a:solidFill>
                  <a:srgbClr val="1F4FD8"/>
                </a:solidFill>
                <a:latin typeface="Calibri"/>
              </a:rPr>
              <a:t>4.  </a:t>
            </a:r>
            <a:r>
              <a:rPr sz="850" b="0">
                <a:solidFill>
                  <a:srgbClr val="5B6270"/>
                </a:solidFill>
                <a:latin typeface="Calibri"/>
              </a:rPr>
              <a:t>Encadenan hasta 50 pasos sin Decision Split tras cada envío: el que no abrió recibe lo mismo otra vez.</a:t>
            </a:r>
          </a:p>
          <a:p>
            <a:pPr>
              <a:spcAft>
                <a:spcPts val="350"/>
              </a:spcAft>
            </a:pPr>
            <a:r>
              <a:rPr sz="850" b="1">
                <a:solidFill>
                  <a:srgbClr val="B5342B"/>
                </a:solidFill>
                <a:latin typeface="Calibri"/>
              </a:rPr>
              <a:t>5.  </a:t>
            </a:r>
            <a:r>
              <a:rPr sz="700" b="1">
                <a:solidFill>
                  <a:srgbClr val="B5342B"/>
                </a:solidFill>
                <a:latin typeface="Calibri"/>
              </a:rPr>
              <a:t>CAUSA RAÍZ · SATURACIÓN  </a:t>
            </a:r>
            <a:r>
              <a:rPr sz="850" b="1">
                <a:solidFill>
                  <a:srgbClr val="1A1D24"/>
                </a:solidFill>
                <a:latin typeface="Calibri"/>
              </a:rPr>
              <a:t>No hay límite de pasos ni regla de salida por falta de respuesta en el diseño de Canvas; nadie revisa pasos individuales.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respuesta depende de la señal previa, no del número de toques: push detrás de una señal abre 6 % contra 2 %.</a:t>
            </a:r>
          </a:p>
          <a:p>
            <a:r>
              <a:rPr sz="700" b="1">
                <a:solidFill>
                  <a:srgbClr val="1F4FD8"/>
                </a:solidFill>
                <a:latin typeface="Calibri"/>
              </a:rPr>
              <a:t>O  </a:t>
            </a:r>
            <a:r>
              <a:rPr sz="750">
                <a:solidFill>
                  <a:srgbClr val="5B6270"/>
                </a:solidFill>
                <a:latin typeface="Calibri"/>
              </a:rPr>
              <a:t>Los Canvas se construyen copiando el anterior y agregando pasos; nadie los poda.</a:t>
            </a:r>
          </a:p>
          <a:p>
            <a:r>
              <a:rPr sz="700" b="1">
                <a:solidFill>
                  <a:srgbClr val="1F4FD8"/>
                </a:solidFill>
                <a:latin typeface="Calibri"/>
              </a:rPr>
              <a:t>G  </a:t>
            </a:r>
            <a:r>
              <a:rPr sz="750">
                <a:solidFill>
                  <a:srgbClr val="5B6270"/>
                </a:solidFill>
                <a:latin typeface="Calibri"/>
              </a:rPr>
              <a:t>No hay estándar de diseño de Canvas (máximo de pasos, toques por canal).</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MarTech publica el estándar de Canvas: máximo 8 pasos, 2 toques por canal, Decision Split 'abrió o hizo clic' después de cada envío y Exit Criteria por conversión. Semana 3: Marketing y Product Growth apagan los 278 pasos debajo de 1 % (lista en Sheets S_Pasos). Métrica: pasos activos debajo de 1 %, hoy 278, meta 0.</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Tope de 8 pasos y 2 toques por canal: los 278 pasos debajo de 1 % se apagan y 6 M usuarios dejan de recibir del paso 5 en adelante sin perder apertura.</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Máximo 8 pasos y 2 toques por canal, con decisión después de cada envío: los pasos que abren menos de 1 % se apagan sin perder respuesta, porque insistir no la sube.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El lunes concentra 23 % del email con el peor clic (0.65 %) porque es el día de los masivos sin segmento de Product Growth y Marketing, no porque sea lunes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N_DiaSemana (E10). Celdas con menos de 50 mil entregados en gris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28</a:t>
            </a:r>
          </a:p>
        </p:txBody>
      </p:sp>
      <p:graphicFrame>
        <p:nvGraphicFramePr>
          <p:cNvPr id="8" name="Table 7"/>
          <p:cNvGraphicFramePr>
            <a:graphicFrameLocks noGrp="1"/>
          </p:cNvGraphicFramePr>
          <p:nvPr/>
        </p:nvGraphicFramePr>
        <p:xfrm>
          <a:off x="548640" y="1783080"/>
          <a:ext cx="6949436" cy="2651760"/>
        </p:xfrm>
        <a:graphic>
          <a:graphicData uri="http://schemas.openxmlformats.org/drawingml/2006/table">
            <a:tbl>
              <a:tblPr firstRow="1" bandRow="1">
                <a:tableStyleId>{5C22544A-7EE6-4342-B048-85BDC9FD1C3A}</a:tableStyleId>
              </a:tblPr>
              <a:tblGrid>
                <a:gridCol w="1554480"/>
                <a:gridCol w="770708"/>
                <a:gridCol w="770708"/>
                <a:gridCol w="770708"/>
                <a:gridCol w="770708"/>
                <a:gridCol w="770708"/>
                <a:gridCol w="770708"/>
                <a:gridCol w="770708"/>
              </a:tblGrid>
              <a:tr h="331470">
                <a:tc>
                  <a:txBody>
                    <a:bodyPr/>
                    <a:lstStyle/>
                    <a:p>
                      <a:pPr algn="l"/>
                    </a:p>
                  </a:txBody>
                  <a:tcPr marL="45720" marR="45720" marT="45720" marB="45720" anchor="ctr">
                    <a:solidFill>
                      <a:srgbClr val="FFFFFF"/>
                    </a:solidFill>
                  </a:tcPr>
                </a:tc>
                <a:tc>
                  <a:txBody>
                    <a:bodyPr/>
                    <a:lstStyle/>
                    <a:p>
                      <a:pPr algn="ctr"/>
                      <a:r>
                        <a:rPr sz="850" b="1">
                          <a:solidFill>
                            <a:srgbClr val="5B6270"/>
                          </a:solidFill>
                          <a:latin typeface="Calibri"/>
                        </a:rPr>
                        <a:t>Lun</a:t>
                      </a:r>
                    </a:p>
                  </a:txBody>
                  <a:tcPr marL="45720" marR="45720" marT="45720" marB="45720" anchor="ctr">
                    <a:solidFill>
                      <a:srgbClr val="FFFFFF"/>
                    </a:solidFill>
                  </a:tcPr>
                </a:tc>
                <a:tc>
                  <a:txBody>
                    <a:bodyPr/>
                    <a:lstStyle/>
                    <a:p>
                      <a:pPr algn="ctr"/>
                      <a:r>
                        <a:rPr sz="850" b="1">
                          <a:solidFill>
                            <a:srgbClr val="5B6270"/>
                          </a:solidFill>
                          <a:latin typeface="Calibri"/>
                        </a:rPr>
                        <a:t>Mar</a:t>
                      </a:r>
                    </a:p>
                  </a:txBody>
                  <a:tcPr marL="45720" marR="45720" marT="45720" marB="45720" anchor="ctr">
                    <a:solidFill>
                      <a:srgbClr val="FFFFFF"/>
                    </a:solidFill>
                  </a:tcPr>
                </a:tc>
                <a:tc>
                  <a:txBody>
                    <a:bodyPr/>
                    <a:lstStyle/>
                    <a:p>
                      <a:pPr algn="ctr"/>
                      <a:r>
                        <a:rPr sz="850" b="1">
                          <a:solidFill>
                            <a:srgbClr val="5B6270"/>
                          </a:solidFill>
                          <a:latin typeface="Calibri"/>
                        </a:rPr>
                        <a:t>Mié</a:t>
                      </a:r>
                    </a:p>
                  </a:txBody>
                  <a:tcPr marL="45720" marR="45720" marT="45720" marB="45720" anchor="ctr">
                    <a:solidFill>
                      <a:srgbClr val="FFFFFF"/>
                    </a:solidFill>
                  </a:tcPr>
                </a:tc>
                <a:tc>
                  <a:txBody>
                    <a:bodyPr/>
                    <a:lstStyle/>
                    <a:p>
                      <a:pPr algn="ctr"/>
                      <a:r>
                        <a:rPr sz="850" b="1">
                          <a:solidFill>
                            <a:srgbClr val="5B6270"/>
                          </a:solidFill>
                          <a:latin typeface="Calibri"/>
                        </a:rPr>
                        <a:t>Jue</a:t>
                      </a:r>
                    </a:p>
                  </a:txBody>
                  <a:tcPr marL="45720" marR="45720" marT="45720" marB="45720" anchor="ctr">
                    <a:solidFill>
                      <a:srgbClr val="FFFFFF"/>
                    </a:solidFill>
                  </a:tcPr>
                </a:tc>
                <a:tc>
                  <a:txBody>
                    <a:bodyPr/>
                    <a:lstStyle/>
                    <a:p>
                      <a:pPr algn="ctr"/>
                      <a:r>
                        <a:rPr sz="850" b="1">
                          <a:solidFill>
                            <a:srgbClr val="5B6270"/>
                          </a:solidFill>
                          <a:latin typeface="Calibri"/>
                        </a:rPr>
                        <a:t>Vie</a:t>
                      </a:r>
                    </a:p>
                  </a:txBody>
                  <a:tcPr marL="45720" marR="45720" marT="45720" marB="45720" anchor="ctr">
                    <a:solidFill>
                      <a:srgbClr val="FFFFFF"/>
                    </a:solidFill>
                  </a:tcPr>
                </a:tc>
                <a:tc>
                  <a:txBody>
                    <a:bodyPr/>
                    <a:lstStyle/>
                    <a:p>
                      <a:pPr algn="ctr"/>
                      <a:r>
                        <a:rPr sz="850" b="1">
                          <a:solidFill>
                            <a:srgbClr val="5B6270"/>
                          </a:solidFill>
                          <a:latin typeface="Calibri"/>
                        </a:rPr>
                        <a:t>Sáb</a:t>
                      </a:r>
                    </a:p>
                  </a:txBody>
                  <a:tcPr marL="45720" marR="45720" marT="45720" marB="45720" anchor="ctr">
                    <a:solidFill>
                      <a:srgbClr val="FFFFFF"/>
                    </a:solidFill>
                  </a:tcPr>
                </a:tc>
                <a:tc>
                  <a:txBody>
                    <a:bodyPr/>
                    <a:lstStyle/>
                    <a:p>
                      <a:pPr algn="ctr"/>
                      <a:r>
                        <a:rPr sz="850" b="1">
                          <a:solidFill>
                            <a:srgbClr val="5B6270"/>
                          </a:solidFill>
                          <a:latin typeface="Calibri"/>
                        </a:rPr>
                        <a:t>Dom</a:t>
                      </a:r>
                    </a:p>
                  </a:txBody>
                  <a:tcPr marL="45720" marR="45720" marT="45720" marB="45720" anchor="ctr">
                    <a:solidFill>
                      <a:srgbClr val="FFFFFF"/>
                    </a:solidFill>
                  </a:tcPr>
                </a:tc>
              </a:tr>
              <a:tr h="331470">
                <a:tc>
                  <a:txBody>
                    <a:bodyPr/>
                    <a:lstStyle/>
                    <a:p>
                      <a:pPr algn="l"/>
                      <a:r>
                        <a:rPr sz="900" b="1">
                          <a:solidFill>
                            <a:srgbClr val="1A1D24"/>
                          </a:solidFill>
                          <a:latin typeface="Calibri"/>
                        </a:rPr>
                        <a:t>% de los emails enviados, por día</a:t>
                      </a:r>
                    </a:p>
                  </a:txBody>
                  <a:tcPr marL="45720" marR="45720" marT="45720" marB="45720" anchor="ctr">
                    <a:solidFill>
                      <a:srgbClr val="FFFFFF"/>
                    </a:solidFill>
                  </a:tcPr>
                </a:tc>
                <a:tc>
                  <a:txBody>
                    <a:bodyPr/>
                    <a:lstStyle/>
                    <a:p>
                      <a:pPr algn="ctr"/>
                      <a:r>
                        <a:rPr sz="900" b="0">
                          <a:solidFill>
                            <a:srgbClr val="1A1D24"/>
                          </a:solidFill>
                          <a:latin typeface="Calibri"/>
                        </a:rPr>
                        <a:t>23 %</a:t>
                      </a:r>
                    </a:p>
                  </a:txBody>
                  <a:tcPr marL="45720" marR="45720" marT="45720" marB="45720" anchor="ctr">
                    <a:solidFill>
                      <a:srgbClr val="F6F7F9"/>
                    </a:solidFill>
                  </a:tcPr>
                </a:tc>
                <a:tc>
                  <a:txBody>
                    <a:bodyPr/>
                    <a:lstStyle/>
                    <a:p>
                      <a:pPr algn="ctr"/>
                      <a:r>
                        <a:rPr sz="900" b="0">
                          <a:solidFill>
                            <a:srgbClr val="1A1D24"/>
                          </a:solidFill>
                          <a:latin typeface="Calibri"/>
                        </a:rPr>
                        <a:t>18 %</a:t>
                      </a:r>
                    </a:p>
                  </a:txBody>
                  <a:tcPr marL="45720" marR="45720" marT="45720" marB="45720" anchor="ctr">
                    <a:solidFill>
                      <a:srgbClr val="F6F7F9"/>
                    </a:solidFill>
                  </a:tcPr>
                </a:tc>
                <a:tc>
                  <a:txBody>
                    <a:bodyPr/>
                    <a:lstStyle/>
                    <a:p>
                      <a:pPr algn="ctr"/>
                      <a:r>
                        <a:rPr sz="900" b="0">
                          <a:solidFill>
                            <a:srgbClr val="1A1D24"/>
                          </a:solidFill>
                          <a:latin typeface="Calibri"/>
                        </a:rPr>
                        <a:t>14 %</a:t>
                      </a:r>
                    </a:p>
                  </a:txBody>
                  <a:tcPr marL="45720" marR="45720" marT="45720" marB="45720" anchor="ctr">
                    <a:solidFill>
                      <a:srgbClr val="F6F7F9"/>
                    </a:solidFill>
                  </a:tcPr>
                </a:tc>
                <a:tc>
                  <a:txBody>
                    <a:bodyPr/>
                    <a:lstStyle/>
                    <a:p>
                      <a:pPr algn="ctr"/>
                      <a:r>
                        <a:rPr sz="900" b="0">
                          <a:solidFill>
                            <a:srgbClr val="1A1D24"/>
                          </a:solidFill>
                          <a:latin typeface="Calibri"/>
                        </a:rPr>
                        <a:t>16 %</a:t>
                      </a:r>
                    </a:p>
                  </a:txBody>
                  <a:tcPr marL="45720" marR="45720" marT="45720" marB="45720" anchor="ctr">
                    <a:solidFill>
                      <a:srgbClr val="F6F7F9"/>
                    </a:solidFill>
                  </a:tcPr>
                </a:tc>
                <a:tc>
                  <a:txBody>
                    <a:bodyPr/>
                    <a:lstStyle/>
                    <a:p>
                      <a:pPr algn="ctr"/>
                      <a:r>
                        <a:rPr sz="900" b="0">
                          <a:solidFill>
                            <a:srgbClr val="1A1D24"/>
                          </a:solidFill>
                          <a:latin typeface="Calibri"/>
                        </a:rPr>
                        <a:t>18 %</a:t>
                      </a:r>
                    </a:p>
                  </a:txBody>
                  <a:tcPr marL="45720" marR="45720" marT="45720" marB="45720" anchor="ctr">
                    <a:solidFill>
                      <a:srgbClr val="F6F7F9"/>
                    </a:solidFill>
                  </a:tcPr>
                </a:tc>
                <a:tc>
                  <a:txBody>
                    <a:bodyPr/>
                    <a:lstStyle/>
                    <a:p>
                      <a:pPr algn="ctr"/>
                      <a:r>
                        <a:rPr sz="900" b="0">
                          <a:solidFill>
                            <a:srgbClr val="1A1D24"/>
                          </a:solidFill>
                          <a:latin typeface="Calibri"/>
                        </a:rPr>
                        <a:t>7 %</a:t>
                      </a:r>
                    </a:p>
                  </a:txBody>
                  <a:tcPr marL="45720" marR="45720" marT="45720" marB="45720" anchor="ctr">
                    <a:solidFill>
                      <a:srgbClr val="F6F7F9"/>
                    </a:solidFill>
                  </a:tcPr>
                </a:tc>
                <a:tc>
                  <a:txBody>
                    <a:bodyPr/>
                    <a:lstStyle/>
                    <a:p>
                      <a:pPr algn="ctr"/>
                      <a:r>
                        <a:rPr sz="900" b="0">
                          <a:solidFill>
                            <a:srgbClr val="1A1D24"/>
                          </a:solidFill>
                          <a:latin typeface="Calibri"/>
                        </a:rPr>
                        <a:t>4 %</a:t>
                      </a:r>
                    </a:p>
                  </a:txBody>
                  <a:tcPr marL="45720" marR="45720" marT="45720" marB="45720" anchor="ctr">
                    <a:solidFill>
                      <a:srgbClr val="F6F7F9"/>
                    </a:solidFill>
                  </a:tcPr>
                </a:tc>
              </a:tr>
              <a:tr h="331470">
                <a:tc>
                  <a:txBody>
                    <a:bodyPr/>
                    <a:lstStyle/>
                    <a:p>
                      <a:pPr algn="l"/>
                      <a:r>
                        <a:rPr sz="900" b="1">
                          <a:solidFill>
                            <a:srgbClr val="1A1D24"/>
                          </a:solidFill>
                          <a:latin typeface="Calibri"/>
                        </a:rPr>
                        <a:t>Todos</a:t>
                      </a:r>
                    </a:p>
                  </a:txBody>
                  <a:tcPr marL="45720" marR="45720" marT="45720" marB="45720" anchor="ctr">
                    <a:solidFill>
                      <a:srgbClr val="FFFFFF"/>
                    </a:solidFill>
                  </a:tcPr>
                </a:tc>
                <a:tc>
                  <a:txBody>
                    <a:bodyPr/>
                    <a:lstStyle/>
                    <a:p>
                      <a:pPr algn="ctr"/>
                      <a:r>
                        <a:rPr sz="900" b="0">
                          <a:solidFill>
                            <a:srgbClr val="1A1D24"/>
                          </a:solidFill>
                          <a:latin typeface="Calibri"/>
                        </a:rPr>
                        <a:t>0.65 %</a:t>
                      </a:r>
                    </a:p>
                  </a:txBody>
                  <a:tcPr marL="45720" marR="45720" marT="45720" marB="45720" anchor="ctr">
                    <a:solidFill>
                      <a:srgbClr val="C8D4F5"/>
                    </a:solidFill>
                  </a:tcPr>
                </a:tc>
                <a:tc>
                  <a:txBody>
                    <a:bodyPr/>
                    <a:lstStyle/>
                    <a:p>
                      <a:pPr algn="ctr"/>
                      <a:r>
                        <a:rPr sz="900" b="0">
                          <a:solidFill>
                            <a:srgbClr val="1A1D24"/>
                          </a:solidFill>
                          <a:latin typeface="Calibri"/>
                        </a:rPr>
                        <a:t>0.82 %</a:t>
                      </a:r>
                    </a:p>
                  </a:txBody>
                  <a:tcPr marL="45720" marR="45720" marT="45720" marB="45720" anchor="ctr">
                    <a:solidFill>
                      <a:srgbClr val="BBCAF3"/>
                    </a:solidFill>
                  </a:tcPr>
                </a:tc>
                <a:tc>
                  <a:txBody>
                    <a:bodyPr/>
                    <a:lstStyle/>
                    <a:p>
                      <a:pPr algn="ctr"/>
                      <a:r>
                        <a:rPr sz="900" b="0">
                          <a:solidFill>
                            <a:srgbClr val="1A1D24"/>
                          </a:solidFill>
                          <a:latin typeface="Calibri"/>
                        </a:rPr>
                        <a:t>1.01 %</a:t>
                      </a:r>
                    </a:p>
                  </a:txBody>
                  <a:tcPr marL="45720" marR="45720" marT="45720" marB="45720" anchor="ctr">
                    <a:solidFill>
                      <a:srgbClr val="AEBFF0"/>
                    </a:solidFill>
                  </a:tcPr>
                </a:tc>
                <a:tc>
                  <a:txBody>
                    <a:bodyPr/>
                    <a:lstStyle/>
                    <a:p>
                      <a:pPr algn="ctr"/>
                      <a:r>
                        <a:rPr sz="900" b="0">
                          <a:solidFill>
                            <a:srgbClr val="1A1D24"/>
                          </a:solidFill>
                          <a:latin typeface="Calibri"/>
                        </a:rPr>
                        <a:t>0.95 %</a:t>
                      </a:r>
                    </a:p>
                  </a:txBody>
                  <a:tcPr marL="45720" marR="45720" marT="45720" marB="45720" anchor="ctr">
                    <a:solidFill>
                      <a:srgbClr val="B2C3F1"/>
                    </a:solidFill>
                  </a:tcPr>
                </a:tc>
                <a:tc>
                  <a:txBody>
                    <a:bodyPr/>
                    <a:lstStyle/>
                    <a:p>
                      <a:pPr algn="ctr"/>
                      <a:r>
                        <a:rPr sz="900" b="0">
                          <a:solidFill>
                            <a:srgbClr val="1A1D24"/>
                          </a:solidFill>
                          <a:latin typeface="Calibri"/>
                        </a:rPr>
                        <a:t>0.82 %</a:t>
                      </a:r>
                    </a:p>
                  </a:txBody>
                  <a:tcPr marL="45720" marR="45720" marT="45720" marB="45720" anchor="ctr">
                    <a:solidFill>
                      <a:srgbClr val="BCCAF3"/>
                    </a:solidFill>
                  </a:tcPr>
                </a:tc>
                <a:tc>
                  <a:txBody>
                    <a:bodyPr/>
                    <a:lstStyle/>
                    <a:p>
                      <a:pPr algn="ctr"/>
                      <a:r>
                        <a:rPr sz="900" b="0">
                          <a:solidFill>
                            <a:srgbClr val="1A1D24"/>
                          </a:solidFill>
                          <a:latin typeface="Calibri"/>
                        </a:rPr>
                        <a:t>1.58 %</a:t>
                      </a:r>
                    </a:p>
                  </a:txBody>
                  <a:tcPr marL="45720" marR="45720" marT="45720" marB="45720" anchor="ctr">
                    <a:solidFill>
                      <a:srgbClr val="859FE9"/>
                    </a:solidFill>
                  </a:tcPr>
                </a:tc>
                <a:tc>
                  <a:txBody>
                    <a:bodyPr/>
                    <a:lstStyle/>
                    <a:p>
                      <a:pPr algn="ctr"/>
                      <a:r>
                        <a:rPr sz="900" b="0">
                          <a:solidFill>
                            <a:srgbClr val="FFFFFF"/>
                          </a:solidFill>
                          <a:latin typeface="Calibri"/>
                        </a:rPr>
                        <a:t>1.91 %</a:t>
                      </a:r>
                    </a:p>
                  </a:txBody>
                  <a:tcPr marL="45720" marR="45720" marT="45720" marB="45720" anchor="ctr">
                    <a:solidFill>
                      <a:srgbClr val="6C8CE5"/>
                    </a:solidFill>
                  </a:tcPr>
                </a:tc>
              </a:tr>
              <a:tr h="331470">
                <a:tc>
                  <a:txBody>
                    <a:bodyPr/>
                    <a:lstStyle/>
                    <a:p>
                      <a:pPr algn="l"/>
                      <a:r>
                        <a:rPr sz="900" b="1">
                          <a:solidFill>
                            <a:srgbClr val="1A1D24"/>
                          </a:solidFill>
                          <a:latin typeface="Calibri"/>
                        </a:rPr>
                        <a:t>Product Growth</a:t>
                      </a:r>
                    </a:p>
                  </a:txBody>
                  <a:tcPr marL="45720" marR="45720" marT="45720" marB="45720" anchor="ctr">
                    <a:solidFill>
                      <a:srgbClr val="FFFFFF"/>
                    </a:solidFill>
                  </a:tcPr>
                </a:tc>
                <a:tc>
                  <a:txBody>
                    <a:bodyPr/>
                    <a:lstStyle/>
                    <a:p>
                      <a:pPr algn="ctr"/>
                      <a:r>
                        <a:rPr sz="900" b="0">
                          <a:solidFill>
                            <a:srgbClr val="1A1D24"/>
                          </a:solidFill>
                          <a:latin typeface="Calibri"/>
                        </a:rPr>
                        <a:t>0.29 %</a:t>
                      </a:r>
                    </a:p>
                  </a:txBody>
                  <a:tcPr marL="45720" marR="45720" marT="45720" marB="45720" anchor="ctr">
                    <a:solidFill>
                      <a:srgbClr val="E2E8FA"/>
                    </a:solidFill>
                  </a:tcPr>
                </a:tc>
                <a:tc>
                  <a:txBody>
                    <a:bodyPr/>
                    <a:lstStyle/>
                    <a:p>
                      <a:pPr algn="ctr"/>
                      <a:r>
                        <a:rPr sz="900" b="0">
                          <a:solidFill>
                            <a:srgbClr val="1A1D24"/>
                          </a:solidFill>
                          <a:latin typeface="Calibri"/>
                        </a:rPr>
                        <a:t>0.46 %</a:t>
                      </a:r>
                    </a:p>
                  </a:txBody>
                  <a:tcPr marL="45720" marR="45720" marT="45720" marB="45720" anchor="ctr">
                    <a:solidFill>
                      <a:srgbClr val="D5DEF7"/>
                    </a:solidFill>
                  </a:tcPr>
                </a:tc>
                <a:tc>
                  <a:txBody>
                    <a:bodyPr/>
                    <a:lstStyle/>
                    <a:p>
                      <a:pPr algn="ctr"/>
                      <a:r>
                        <a:rPr sz="900" b="0">
                          <a:solidFill>
                            <a:srgbClr val="1A1D24"/>
                          </a:solidFill>
                          <a:latin typeface="Calibri"/>
                        </a:rPr>
                        <a:t>0.77 %</a:t>
                      </a:r>
                    </a:p>
                  </a:txBody>
                  <a:tcPr marL="45720" marR="45720" marT="45720" marB="45720" anchor="ctr">
                    <a:solidFill>
                      <a:srgbClr val="BFCDF3"/>
                    </a:solidFill>
                  </a:tcPr>
                </a:tc>
                <a:tc>
                  <a:txBody>
                    <a:bodyPr/>
                    <a:lstStyle/>
                    <a:p>
                      <a:pPr algn="ctr"/>
                      <a:r>
                        <a:rPr sz="900" b="0">
                          <a:solidFill>
                            <a:srgbClr val="1A1D24"/>
                          </a:solidFill>
                          <a:latin typeface="Calibri"/>
                        </a:rPr>
                        <a:t>0.34 %</a:t>
                      </a:r>
                    </a:p>
                  </a:txBody>
                  <a:tcPr marL="45720" marR="45720" marT="45720" marB="45720" anchor="ctr">
                    <a:solidFill>
                      <a:srgbClr val="DFE5F9"/>
                    </a:solidFill>
                  </a:tcPr>
                </a:tc>
                <a:tc>
                  <a:txBody>
                    <a:bodyPr/>
                    <a:lstStyle/>
                    <a:p>
                      <a:pPr algn="ctr"/>
                      <a:r>
                        <a:rPr sz="900" b="0">
                          <a:solidFill>
                            <a:srgbClr val="1A1D24"/>
                          </a:solidFill>
                          <a:latin typeface="Calibri"/>
                        </a:rPr>
                        <a:t>0.33 %</a:t>
                      </a:r>
                    </a:p>
                  </a:txBody>
                  <a:tcPr marL="45720" marR="45720" marT="45720" marB="45720" anchor="ctr">
                    <a:solidFill>
                      <a:srgbClr val="DFE6F9"/>
                    </a:solidFill>
                  </a:tcPr>
                </a:tc>
                <a:tc>
                  <a:txBody>
                    <a:bodyPr/>
                    <a:lstStyle/>
                    <a:p>
                      <a:pPr algn="ctr"/>
                      <a:r>
                        <a:rPr sz="900" b="0">
                          <a:solidFill>
                            <a:srgbClr val="1A1D24"/>
                          </a:solidFill>
                          <a:latin typeface="Calibri"/>
                        </a:rPr>
                        <a:t>1.29 %</a:t>
                      </a:r>
                    </a:p>
                  </a:txBody>
                  <a:tcPr marL="45720" marR="45720" marT="45720" marB="45720" anchor="ctr">
                    <a:solidFill>
                      <a:srgbClr val="99AFED"/>
                    </a:solidFill>
                  </a:tcPr>
                </a:tc>
                <a:tc>
                  <a:txBody>
                    <a:bodyPr/>
                    <a:lstStyle/>
                    <a:p>
                      <a:pPr algn="ctr"/>
                      <a:r>
                        <a:rPr sz="900" b="0">
                          <a:solidFill>
                            <a:srgbClr val="1A1D24"/>
                          </a:solidFill>
                          <a:latin typeface="Calibri"/>
                        </a:rPr>
                        <a:t>1.53 %</a:t>
                      </a:r>
                    </a:p>
                  </a:txBody>
                  <a:tcPr marL="45720" marR="45720" marT="45720" marB="45720" anchor="ctr">
                    <a:solidFill>
                      <a:srgbClr val="88A1EA"/>
                    </a:solidFill>
                  </a:tcPr>
                </a:tc>
              </a:tr>
              <a:tr h="331470">
                <a:tc>
                  <a:txBody>
                    <a:bodyPr/>
                    <a:lstStyle/>
                    <a:p>
                      <a:pPr algn="l"/>
                      <a:r>
                        <a:rPr sz="900" b="1">
                          <a:solidFill>
                            <a:srgbClr val="1A1D24"/>
                          </a:solidFill>
                          <a:latin typeface="Calibri"/>
                        </a:rPr>
                        <a:t>Marketing</a:t>
                      </a:r>
                    </a:p>
                  </a:txBody>
                  <a:tcPr marL="45720" marR="45720" marT="45720" marB="45720" anchor="ctr">
                    <a:solidFill>
                      <a:srgbClr val="FFFFFF"/>
                    </a:solidFill>
                  </a:tcPr>
                </a:tc>
                <a:tc>
                  <a:txBody>
                    <a:bodyPr/>
                    <a:lstStyle/>
                    <a:p>
                      <a:pPr algn="ctr"/>
                      <a:r>
                        <a:rPr sz="900" b="0">
                          <a:solidFill>
                            <a:srgbClr val="1A1D24"/>
                          </a:solidFill>
                          <a:latin typeface="Calibri"/>
                        </a:rPr>
                        <a:t>1.00 %</a:t>
                      </a:r>
                    </a:p>
                  </a:txBody>
                  <a:tcPr marL="45720" marR="45720" marT="45720" marB="45720" anchor="ctr">
                    <a:solidFill>
                      <a:srgbClr val="AEC0F1"/>
                    </a:solidFill>
                  </a:tcPr>
                </a:tc>
                <a:tc>
                  <a:txBody>
                    <a:bodyPr/>
                    <a:lstStyle/>
                    <a:p>
                      <a:pPr algn="ctr"/>
                      <a:r>
                        <a:rPr sz="900" b="0">
                          <a:solidFill>
                            <a:srgbClr val="1A1D24"/>
                          </a:solidFill>
                          <a:latin typeface="Calibri"/>
                        </a:rPr>
                        <a:t>0.74 %</a:t>
                      </a:r>
                    </a:p>
                  </a:txBody>
                  <a:tcPr marL="45720" marR="45720" marT="45720" marB="45720" anchor="ctr">
                    <a:solidFill>
                      <a:srgbClr val="C1CEF4"/>
                    </a:solidFill>
                  </a:tcPr>
                </a:tc>
                <a:tc>
                  <a:txBody>
                    <a:bodyPr/>
                    <a:lstStyle/>
                    <a:p>
                      <a:pPr algn="ctr"/>
                      <a:r>
                        <a:rPr sz="900" b="0">
                          <a:solidFill>
                            <a:srgbClr val="1A1D24"/>
                          </a:solidFill>
                          <a:latin typeface="Calibri"/>
                        </a:rPr>
                        <a:t>0.69 %</a:t>
                      </a:r>
                    </a:p>
                  </a:txBody>
                  <a:tcPr marL="45720" marR="45720" marT="45720" marB="45720" anchor="ctr">
                    <a:solidFill>
                      <a:srgbClr val="C5D1F5"/>
                    </a:solidFill>
                  </a:tcPr>
                </a:tc>
                <a:tc>
                  <a:txBody>
                    <a:bodyPr/>
                    <a:lstStyle/>
                    <a:p>
                      <a:pPr algn="ctr"/>
                      <a:r>
                        <a:rPr sz="900" b="0">
                          <a:solidFill>
                            <a:srgbClr val="1A1D24"/>
                          </a:solidFill>
                          <a:latin typeface="Calibri"/>
                        </a:rPr>
                        <a:t>1.21 %</a:t>
                      </a:r>
                    </a:p>
                  </a:txBody>
                  <a:tcPr marL="45720" marR="45720" marT="45720" marB="45720" anchor="ctr">
                    <a:solidFill>
                      <a:srgbClr val="9FB3EE"/>
                    </a:solidFill>
                  </a:tcPr>
                </a:tc>
                <a:tc>
                  <a:txBody>
                    <a:bodyPr/>
                    <a:lstStyle/>
                    <a:p>
                      <a:pPr algn="ctr"/>
                      <a:r>
                        <a:rPr sz="900" b="0">
                          <a:solidFill>
                            <a:srgbClr val="1A1D24"/>
                          </a:solidFill>
                          <a:latin typeface="Calibri"/>
                        </a:rPr>
                        <a:t>0.80 %</a:t>
                      </a:r>
                    </a:p>
                  </a:txBody>
                  <a:tcPr marL="45720" marR="45720" marT="45720" marB="45720" anchor="ctr">
                    <a:solidFill>
                      <a:srgbClr val="BDCBF3"/>
                    </a:solidFill>
                  </a:tcPr>
                </a:tc>
                <a:tc>
                  <a:txBody>
                    <a:bodyPr/>
                    <a:lstStyle/>
                    <a:p>
                      <a:pPr algn="ctr"/>
                      <a:r>
                        <a:rPr sz="900" b="0">
                          <a:solidFill>
                            <a:srgbClr val="1A1D24"/>
                          </a:solidFill>
                          <a:latin typeface="Calibri"/>
                        </a:rPr>
                        <a:t>1.55 %</a:t>
                      </a:r>
                    </a:p>
                  </a:txBody>
                  <a:tcPr marL="45720" marR="45720" marT="45720" marB="45720" anchor="ctr">
                    <a:solidFill>
                      <a:srgbClr val="86A0EA"/>
                    </a:solidFill>
                  </a:tcPr>
                </a:tc>
                <a:tc>
                  <a:txBody>
                    <a:bodyPr/>
                    <a:lstStyle/>
                    <a:p>
                      <a:pPr algn="ctr"/>
                      <a:r>
                        <a:rPr sz="900" b="0">
                          <a:solidFill>
                            <a:srgbClr val="1A1D24"/>
                          </a:solidFill>
                          <a:latin typeface="Calibri"/>
                        </a:rPr>
                        <a:t>1.66 %</a:t>
                      </a:r>
                    </a:p>
                  </a:txBody>
                  <a:tcPr marL="45720" marR="45720" marT="45720" marB="45720" anchor="ctr">
                    <a:solidFill>
                      <a:srgbClr val="7F9AE8"/>
                    </a:solidFill>
                  </a:tcPr>
                </a:tc>
              </a:tr>
              <a:tr h="331470">
                <a:tc>
                  <a:txBody>
                    <a:bodyPr/>
                    <a:lstStyle/>
                    <a:p>
                      <a:pPr algn="l"/>
                      <a:r>
                        <a:rPr sz="900" b="1">
                          <a:solidFill>
                            <a:srgbClr val="1A1D24"/>
                          </a:solidFill>
                          <a:latin typeface="Calibri"/>
                        </a:rPr>
                        <a:t>Sales</a:t>
                      </a:r>
                    </a:p>
                  </a:txBody>
                  <a:tcPr marL="45720" marR="45720" marT="45720" marB="45720" anchor="ctr">
                    <a:solidFill>
                      <a:srgbClr val="FFFFFF"/>
                    </a:solidFill>
                  </a:tcPr>
                </a:tc>
                <a:tc>
                  <a:txBody>
                    <a:bodyPr/>
                    <a:lstStyle/>
                    <a:p>
                      <a:pPr algn="ctr"/>
                      <a:r>
                        <a:rPr sz="900" b="0">
                          <a:solidFill>
                            <a:srgbClr val="1A1D24"/>
                          </a:solidFill>
                          <a:latin typeface="Calibri"/>
                        </a:rPr>
                        <a:t>0.22 %</a:t>
                      </a:r>
                    </a:p>
                  </a:txBody>
                  <a:tcPr marL="45720" marR="45720" marT="45720" marB="45720" anchor="ctr">
                    <a:solidFill>
                      <a:srgbClr val="E7ECFA"/>
                    </a:solidFill>
                  </a:tcPr>
                </a:tc>
                <a:tc>
                  <a:txBody>
                    <a:bodyPr/>
                    <a:lstStyle/>
                    <a:p>
                      <a:pPr algn="ctr"/>
                      <a:r>
                        <a:rPr sz="900" b="0">
                          <a:solidFill>
                            <a:srgbClr val="1A1D24"/>
                          </a:solidFill>
                          <a:latin typeface="Calibri"/>
                        </a:rPr>
                        <a:t>0.15 %</a:t>
                      </a:r>
                    </a:p>
                  </a:txBody>
                  <a:tcPr marL="45720" marR="45720" marT="45720" marB="45720" anchor="ctr">
                    <a:solidFill>
                      <a:srgbClr val="EDF0FB"/>
                    </a:solidFill>
                  </a:tcPr>
                </a:tc>
                <a:tc>
                  <a:txBody>
                    <a:bodyPr/>
                    <a:lstStyle/>
                    <a:p>
                      <a:pPr algn="ctr"/>
                      <a:r>
                        <a:rPr sz="900" b="0">
                          <a:solidFill>
                            <a:srgbClr val="1A1D24"/>
                          </a:solidFill>
                          <a:latin typeface="Calibri"/>
                        </a:rPr>
                        <a:t>0.19 %</a:t>
                      </a:r>
                    </a:p>
                  </a:txBody>
                  <a:tcPr marL="45720" marR="45720" marT="45720" marB="45720" anchor="ctr">
                    <a:solidFill>
                      <a:srgbClr val="E9EEFB"/>
                    </a:solidFill>
                  </a:tcPr>
                </a:tc>
                <a:tc>
                  <a:txBody>
                    <a:bodyPr/>
                    <a:lstStyle/>
                    <a:p>
                      <a:pPr algn="ctr"/>
                      <a:r>
                        <a:rPr sz="900" b="0">
                          <a:solidFill>
                            <a:srgbClr val="1A1D24"/>
                          </a:solidFill>
                          <a:latin typeface="Calibri"/>
                        </a:rPr>
                        <a:t>0.22 %</a:t>
                      </a:r>
                    </a:p>
                  </a:txBody>
                  <a:tcPr marL="45720" marR="45720" marT="45720" marB="45720" anchor="ctr">
                    <a:solidFill>
                      <a:srgbClr val="E7ECFA"/>
                    </a:solidFill>
                  </a:tcPr>
                </a:tc>
                <a:tc>
                  <a:txBody>
                    <a:bodyPr/>
                    <a:lstStyle/>
                    <a:p>
                      <a:pPr algn="ctr"/>
                      <a:r>
                        <a:rPr sz="900" b="0">
                          <a:solidFill>
                            <a:srgbClr val="1A1D24"/>
                          </a:solidFill>
                          <a:latin typeface="Calibri"/>
                        </a:rPr>
                        <a:t>0.17 %</a:t>
                      </a:r>
                    </a:p>
                  </a:txBody>
                  <a:tcPr marL="45720" marR="45720" marT="45720" marB="45720" anchor="ctr">
                    <a:solidFill>
                      <a:srgbClr val="EBEFFB"/>
                    </a:solidFill>
                  </a:tcPr>
                </a:tc>
                <a:tc>
                  <a:txBody>
                    <a:bodyPr/>
                    <a:lstStyle/>
                    <a:p>
                      <a:pPr algn="ctr"/>
                      <a:r>
                        <a:rPr sz="900" b="0">
                          <a:solidFill>
                            <a:srgbClr val="1A1D24"/>
                          </a:solidFill>
                          <a:latin typeface="Calibri"/>
                        </a:rPr>
                        <a:t>0.38 %</a:t>
                      </a:r>
                    </a:p>
                  </a:txBody>
                  <a:tcPr marL="45720" marR="45720" marT="45720" marB="45720" anchor="ctr">
                    <a:solidFill>
                      <a:srgbClr val="DBE3F8"/>
                    </a:solidFill>
                  </a:tcPr>
                </a:tc>
                <a:tc>
                  <a:txBody>
                    <a:bodyPr/>
                    <a:lstStyle/>
                    <a:p>
                      <a:pPr algn="ctr"/>
                      <a:r>
                        <a:rPr sz="900" b="0">
                          <a:solidFill>
                            <a:srgbClr val="1A1D24"/>
                          </a:solidFill>
                          <a:latin typeface="Calibri"/>
                        </a:rPr>
                        <a:t>0.26 %</a:t>
                      </a:r>
                    </a:p>
                  </a:txBody>
                  <a:tcPr marL="45720" marR="45720" marT="45720" marB="45720" anchor="ctr">
                    <a:solidFill>
                      <a:srgbClr val="E4EAFA"/>
                    </a:solidFill>
                  </a:tcPr>
                </a:tc>
              </a:tr>
              <a:tr h="331470">
                <a:tc>
                  <a:txBody>
                    <a:bodyPr/>
                    <a:lstStyle/>
                    <a:p>
                      <a:pPr algn="l"/>
                      <a:r>
                        <a:rPr sz="900" b="1">
                          <a:solidFill>
                            <a:srgbClr val="1A1D24"/>
                          </a:solidFill>
                          <a:latin typeface="Calibri"/>
                        </a:rPr>
                        <a:t>Collections</a:t>
                      </a:r>
                    </a:p>
                  </a:txBody>
                  <a:tcPr marL="45720" marR="45720" marT="45720" marB="45720" anchor="ctr">
                    <a:solidFill>
                      <a:srgbClr val="FFFFFF"/>
                    </a:solidFill>
                  </a:tcPr>
                </a:tc>
                <a:tc>
                  <a:txBody>
                    <a:bodyPr/>
                    <a:lstStyle/>
                    <a:p>
                      <a:pPr algn="ctr"/>
                      <a:r>
                        <a:rPr sz="900" b="0">
                          <a:solidFill>
                            <a:srgbClr val="1A1D24"/>
                          </a:solidFill>
                          <a:latin typeface="Calibri"/>
                        </a:rPr>
                        <a:t>1.13 %</a:t>
                      </a:r>
                    </a:p>
                  </a:txBody>
                  <a:tcPr marL="45720" marR="45720" marT="45720" marB="45720" anchor="ctr">
                    <a:solidFill>
                      <a:srgbClr val="A5B8EF"/>
                    </a:solidFill>
                  </a:tcPr>
                </a:tc>
                <a:tc>
                  <a:txBody>
                    <a:bodyPr/>
                    <a:lstStyle/>
                    <a:p>
                      <a:pPr algn="ctr"/>
                      <a:r>
                        <a:rPr sz="900" b="0">
                          <a:solidFill>
                            <a:srgbClr val="1A1D24"/>
                          </a:solidFill>
                          <a:latin typeface="Calibri"/>
                        </a:rPr>
                        <a:t>1.09 %</a:t>
                      </a:r>
                    </a:p>
                  </a:txBody>
                  <a:tcPr marL="45720" marR="45720" marT="45720" marB="45720" anchor="ctr">
                    <a:solidFill>
                      <a:srgbClr val="A8BAEF"/>
                    </a:solidFill>
                  </a:tcPr>
                </a:tc>
                <a:tc>
                  <a:txBody>
                    <a:bodyPr/>
                    <a:lstStyle/>
                    <a:p>
                      <a:pPr algn="ctr"/>
                      <a:r>
                        <a:rPr sz="900" b="0">
                          <a:solidFill>
                            <a:srgbClr val="1A1D24"/>
                          </a:solidFill>
                          <a:latin typeface="Calibri"/>
                        </a:rPr>
                        <a:t>1.02 %</a:t>
                      </a:r>
                    </a:p>
                  </a:txBody>
                  <a:tcPr marL="45720" marR="45720" marT="45720" marB="45720" anchor="ctr">
                    <a:solidFill>
                      <a:srgbClr val="ADBEF0"/>
                    </a:solidFill>
                  </a:tcPr>
                </a:tc>
                <a:tc>
                  <a:txBody>
                    <a:bodyPr/>
                    <a:lstStyle/>
                    <a:p>
                      <a:pPr algn="ctr"/>
                      <a:r>
                        <a:rPr sz="900" b="0">
                          <a:solidFill>
                            <a:srgbClr val="1A1D24"/>
                          </a:solidFill>
                          <a:latin typeface="Calibri"/>
                        </a:rPr>
                        <a:t>1.00 %</a:t>
                      </a:r>
                    </a:p>
                  </a:txBody>
                  <a:tcPr marL="45720" marR="45720" marT="45720" marB="45720" anchor="ctr">
                    <a:solidFill>
                      <a:srgbClr val="AEC0F1"/>
                    </a:solidFill>
                  </a:tcPr>
                </a:tc>
                <a:tc>
                  <a:txBody>
                    <a:bodyPr/>
                    <a:lstStyle/>
                    <a:p>
                      <a:pPr algn="ctr"/>
                      <a:r>
                        <a:rPr sz="900" b="0">
                          <a:solidFill>
                            <a:srgbClr val="1A1D24"/>
                          </a:solidFill>
                          <a:latin typeface="Calibri"/>
                        </a:rPr>
                        <a:t>1.15 %</a:t>
                      </a:r>
                    </a:p>
                  </a:txBody>
                  <a:tcPr marL="45720" marR="45720" marT="45720" marB="45720" anchor="ctr">
                    <a:solidFill>
                      <a:srgbClr val="A4B7EF"/>
                    </a:solidFill>
                  </a:tcPr>
                </a:tc>
                <a:tc>
                  <a:txBody>
                    <a:bodyPr/>
                    <a:lstStyle/>
                    <a:p>
                      <a:pPr algn="ctr"/>
                      <a:r>
                        <a:rPr sz="900" b="0">
                          <a:solidFill>
                            <a:srgbClr val="1A1D24"/>
                          </a:solidFill>
                          <a:latin typeface="Calibri"/>
                        </a:rPr>
                        <a:t>0.82 %</a:t>
                      </a:r>
                    </a:p>
                  </a:txBody>
                  <a:tcPr marL="45720" marR="45720" marT="45720" marB="45720" anchor="ctr">
                    <a:solidFill>
                      <a:srgbClr val="BCCAF3"/>
                    </a:solidFill>
                  </a:tcPr>
                </a:tc>
                <a:tc>
                  <a:txBody>
                    <a:bodyPr/>
                    <a:lstStyle/>
                    <a:p>
                      <a:pPr algn="ctr"/>
                    </a:p>
                  </a:txBody>
                  <a:tcPr marL="45720" marR="45720" marT="45720" marB="45720" anchor="ctr">
                    <a:solidFill>
                      <a:srgbClr val="FFFFFF"/>
                    </a:solidFill>
                  </a:tcPr>
                </a:tc>
              </a:tr>
              <a:tr h="331470">
                <a:tc>
                  <a:txBody>
                    <a:bodyPr/>
                    <a:lstStyle/>
                    <a:p>
                      <a:pPr algn="l"/>
                      <a:r>
                        <a:rPr sz="900" b="1">
                          <a:solidFill>
                            <a:srgbClr val="1A1D24"/>
                          </a:solidFill>
                          <a:latin typeface="Calibri"/>
                        </a:rPr>
                        <a:t>Others</a:t>
                      </a:r>
                    </a:p>
                  </a:txBody>
                  <a:tcPr marL="45720" marR="45720" marT="45720" marB="45720" anchor="ctr">
                    <a:solidFill>
                      <a:srgbClr val="FFFFFF"/>
                    </a:solidFill>
                  </a:tcPr>
                </a:tc>
                <a:tc>
                  <a:txBody>
                    <a:bodyPr/>
                    <a:lstStyle/>
                    <a:p>
                      <a:pPr algn="ctr"/>
                      <a:r>
                        <a:rPr sz="900" b="0">
                          <a:solidFill>
                            <a:srgbClr val="1A1D24"/>
                          </a:solidFill>
                          <a:latin typeface="Calibri"/>
                        </a:rPr>
                        <a:t>0.84 %</a:t>
                      </a:r>
                    </a:p>
                  </a:txBody>
                  <a:tcPr marL="45720" marR="45720" marT="45720" marB="45720" anchor="ctr">
                    <a:solidFill>
                      <a:srgbClr val="BAC9F3"/>
                    </a:solidFill>
                  </a:tcPr>
                </a:tc>
                <a:tc>
                  <a:txBody>
                    <a:bodyPr/>
                    <a:lstStyle/>
                    <a:p>
                      <a:pPr algn="ctr"/>
                      <a:r>
                        <a:rPr sz="900" b="0">
                          <a:solidFill>
                            <a:srgbClr val="1A1D24"/>
                          </a:solidFill>
                          <a:latin typeface="Calibri"/>
                        </a:rPr>
                        <a:t>1.42 %</a:t>
                      </a:r>
                    </a:p>
                  </a:txBody>
                  <a:tcPr marL="45720" marR="45720" marT="45720" marB="45720" anchor="ctr">
                    <a:solidFill>
                      <a:srgbClr val="90A8EB"/>
                    </a:solidFill>
                  </a:tcPr>
                </a:tc>
                <a:tc>
                  <a:txBody>
                    <a:bodyPr/>
                    <a:lstStyle/>
                    <a:p>
                      <a:pPr algn="ctr"/>
                      <a:r>
                        <a:rPr sz="900" b="0">
                          <a:solidFill>
                            <a:srgbClr val="FFFFFF"/>
                          </a:solidFill>
                          <a:latin typeface="Calibri"/>
                        </a:rPr>
                        <a:t>2.84 %</a:t>
                      </a:r>
                    </a:p>
                  </a:txBody>
                  <a:tcPr marL="45720" marR="45720" marT="45720" marB="45720" anchor="ctr">
                    <a:solidFill>
                      <a:srgbClr val="2957D9"/>
                    </a:solidFill>
                  </a:tcPr>
                </a:tc>
                <a:tc>
                  <a:txBody>
                    <a:bodyPr/>
                    <a:lstStyle/>
                    <a:p>
                      <a:pPr algn="ctr"/>
                      <a:r>
                        <a:rPr sz="900" b="0">
                          <a:solidFill>
                            <a:srgbClr val="FFFFFF"/>
                          </a:solidFill>
                          <a:latin typeface="Calibri"/>
                        </a:rPr>
                        <a:t>2.49 %</a:t>
                      </a:r>
                    </a:p>
                  </a:txBody>
                  <a:tcPr marL="45720" marR="45720" marT="45720" marB="45720" anchor="ctr">
                    <a:solidFill>
                      <a:srgbClr val="426ADE"/>
                    </a:solidFill>
                  </a:tcPr>
                </a:tc>
                <a:tc>
                  <a:txBody>
                    <a:bodyPr/>
                    <a:lstStyle/>
                    <a:p>
                      <a:pPr algn="ctr"/>
                      <a:r>
                        <a:rPr sz="900" b="0">
                          <a:solidFill>
                            <a:srgbClr val="FFFFFF"/>
                          </a:solidFill>
                          <a:latin typeface="Calibri"/>
                        </a:rPr>
                        <a:t>2.67 %</a:t>
                      </a:r>
                    </a:p>
                  </a:txBody>
                  <a:tcPr marL="45720" marR="45720" marT="45720" marB="45720" anchor="ctr">
                    <a:solidFill>
                      <a:srgbClr val="3560DB"/>
                    </a:solidFill>
                  </a:tcPr>
                </a:tc>
                <a:tc>
                  <a:txBody>
                    <a:bodyPr/>
                    <a:lstStyle/>
                    <a:p>
                      <a:pPr algn="ctr"/>
                      <a:r>
                        <a:rPr sz="900" b="0">
                          <a:solidFill>
                            <a:srgbClr val="FFFFFF"/>
                          </a:solidFill>
                          <a:latin typeface="Calibri"/>
                        </a:rPr>
                        <a:t>2.79 %</a:t>
                      </a:r>
                    </a:p>
                  </a:txBody>
                  <a:tcPr marL="45720" marR="45720" marT="45720" marB="45720" anchor="ctr">
                    <a:solidFill>
                      <a:srgbClr val="2C59DA"/>
                    </a:solidFill>
                  </a:tcPr>
                </a:tc>
                <a:tc>
                  <a:txBody>
                    <a:bodyPr/>
                    <a:lstStyle/>
                    <a:p>
                      <a:pPr algn="ctr"/>
                      <a:r>
                        <a:rPr sz="900" b="0">
                          <a:solidFill>
                            <a:srgbClr val="FFFFFF"/>
                          </a:solidFill>
                          <a:latin typeface="Calibri"/>
                        </a:rPr>
                        <a:t>2.98 %</a:t>
                      </a:r>
                    </a:p>
                  </a:txBody>
                  <a:tcPr marL="45720" marR="45720" marT="45720" marB="45720" anchor="ctr">
                    <a:solidFill>
                      <a:srgbClr val="1F4FD8"/>
                    </a:solidFill>
                  </a:tcPr>
                </a:tc>
              </a:tr>
            </a:tbl>
          </a:graphicData>
        </a:graphic>
      </p:graphicFrame>
      <p:sp>
        <p:nvSpPr>
          <p:cNvPr id="9" name="TextBox 8"/>
          <p:cNvSpPr txBox="1"/>
          <p:nvPr/>
        </p:nvSpPr>
        <p:spPr>
          <a:xfrm>
            <a:off x="548640" y="4453128"/>
            <a:ext cx="6949440" cy="228600"/>
          </a:xfrm>
          <a:prstGeom prst="rect">
            <a:avLst/>
          </a:prstGeom>
          <a:noFill/>
        </p:spPr>
        <p:txBody>
          <a:bodyPr wrap="square" lIns="18288" rIns="18288" tIns="18288" bIns="18288" anchor="t">
            <a:spAutoFit/>
          </a:bodyPr>
          <a:lstStyle/>
          <a:p>
            <a:pPr algn="l"/>
            <a:r>
              <a:rPr sz="900" b="0">
                <a:solidFill>
                  <a:srgbClr val="5B6270"/>
                </a:solidFill>
                <a:latin typeface="Calibri"/>
              </a:rPr>
              <a:t>Clic de email sobre entregados (%), por equipo y día</a:t>
            </a:r>
          </a:p>
        </p:txBody>
      </p:sp>
      <p:sp>
        <p:nvSpPr>
          <p:cNvPr id="10" name="TextBox 9"/>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Lunes: 23 % del email de la semana y 0.65 % de clic; domingo 1.91 % con piezas chicas.</a:t>
            </a:r>
          </a:p>
          <a:p>
            <a:pPr>
              <a:spcAft>
                <a:spcPts val="350"/>
              </a:spcAft>
            </a:pPr>
            <a:r>
              <a:rPr sz="900" b="1">
                <a:solidFill>
                  <a:srgbClr val="1F4FD8"/>
                </a:solidFill>
                <a:latin typeface="Calibri"/>
              </a:rPr>
              <a:t>2.  </a:t>
            </a:r>
            <a:r>
              <a:rPr sz="900" b="0">
                <a:solidFill>
                  <a:srgbClr val="5B6270"/>
                </a:solidFill>
                <a:latin typeface="Calibri"/>
              </a:rPr>
              <a:t>Product Growth: 0.29 % el lunes contra 1.53 % el domingo; Marketing 1.00 contra 1.66 %. Sales no pasa de 0.38 % ningún día: su problema es la pieza.</a:t>
            </a:r>
          </a:p>
          <a:p>
            <a:pPr>
              <a:spcAft>
                <a:spcPts val="350"/>
              </a:spcAft>
            </a:pPr>
            <a:r>
              <a:rPr sz="900" b="1">
                <a:solidFill>
                  <a:srgbClr val="1F4FD8"/>
                </a:solidFill>
                <a:latin typeface="Calibri"/>
              </a:rPr>
              <a:t>3.  </a:t>
            </a:r>
            <a:r>
              <a:rPr sz="900" b="0">
                <a:solidFill>
                  <a:srgbClr val="5B6270"/>
                </a:solidFill>
                <a:latin typeface="Calibri"/>
              </a:rPr>
              <a:t>El lunes salen los masivos sin segmento (45 mil usuarios por pieza contra 9 mil el domingo); el domingo solo corren Canvas segmentados.</a:t>
            </a:r>
          </a:p>
          <a:p>
            <a:pPr>
              <a:spcAft>
                <a:spcPts val="350"/>
              </a:spcAft>
            </a:pPr>
            <a:r>
              <a:rPr sz="900" b="1">
                <a:solidFill>
                  <a:srgbClr val="1F4FD8"/>
                </a:solidFill>
                <a:latin typeface="Calibri"/>
              </a:rPr>
              <a:t>4.  </a:t>
            </a:r>
            <a:r>
              <a:rPr sz="900" b="0">
                <a:solidFill>
                  <a:srgbClr val="5B6270"/>
                </a:solidFill>
                <a:latin typeface="Calibri"/>
              </a:rPr>
              <a:t>El domingo también triplica las bajas por mil (7.7 contra 2.3): responde más porque va a gente caliente, no por el día.</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Los masivos se programan en lunes por costumbre de calendario y el tamaño de pieza no tiene tope.</a:t>
            </a:r>
          </a:p>
        </p:txBody>
      </p:sp>
      <p:cxnSp>
        <p:nvCxnSpPr>
          <p:cNvPr id="11" name="Connector 10"/>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El tamaño de la pieza explica el clic (siguiente lámina); el día no.</a:t>
            </a:r>
          </a:p>
          <a:p>
            <a:r>
              <a:rPr sz="700" b="1">
                <a:solidFill>
                  <a:srgbClr val="1F4FD8"/>
                </a:solidFill>
                <a:latin typeface="Calibri"/>
              </a:rPr>
              <a:t>O  </a:t>
            </a:r>
            <a:r>
              <a:rPr sz="750">
                <a:solidFill>
                  <a:srgbClr val="5B6270"/>
                </a:solidFill>
                <a:latin typeface="Calibri"/>
              </a:rPr>
              <a:t>Los equipos programan masivos el lunes por rutina semanal.</a:t>
            </a:r>
          </a:p>
          <a:p>
            <a:r>
              <a:rPr sz="700" b="1">
                <a:solidFill>
                  <a:srgbClr val="1F4FD8"/>
                </a:solidFill>
                <a:latin typeface="Calibri"/>
              </a:rPr>
              <a:t>G  </a:t>
            </a:r>
            <a:r>
              <a:rPr sz="750">
                <a:solidFill>
                  <a:srgbClr val="5B6270"/>
                </a:solidFill>
                <a:latin typeface="Calibri"/>
              </a:rPr>
              <a:t>No hay tope de tamaño por pieza ni regla de prueba al 10 %.</a:t>
            </a:r>
          </a:p>
        </p:txBody>
      </p:sp>
      <p:sp>
        <p:nvSpPr>
          <p:cNvPr id="13" name="TextBox 12"/>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regla de tamaño, no de día: toda pieza de más de 100 mil usuarios se parte en segmentos de 10 a 100 mil con una señal, o sale con prueba al 10 % (Canvas con Audience Paths). Dueños: Product Growth y Marketing en sus masivos de lunes. Métrica: clic de email del lunes, hoy 0.65 %, meta 1.0 %.</a:t>
            </a:r>
          </a:p>
        </p:txBody>
      </p:sp>
      <p:sp>
        <p:nvSpPr>
          <p:cNvPr id="14" name="TextBox 13"/>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Partir los masivos del lunes en segmentos de 10 a 100 mil sube el clic del lunes de 0.65 % hacia el 1.0 % del resto de la semana: más de 400 mil clics en 9 meses.</a:t>
            </a:r>
          </a:p>
        </p:txBody>
      </p:sp>
      <p:sp>
        <p:nvSpPr>
          <p:cNvPr id="15" name="Rectangle 14"/>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lunes es el día de los masivos sin segmento, no un mal día. Antes de mover el calendario, la siguiente lámina muestra que el tamaño de la pieza explica el clic.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El tamaño de la pieza explica 71 % del clic en los equipos promocionales: el fin de semana responde más porque cada pieza llega a 5 veces menos gente (9 mil contra 45 mil), no por el día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N_DiaSemana (E10). Celdas con 50 mil o más entregados; recta por mínimos cuadrados sobre el logaritmo del tamaño</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29</a:t>
            </a:r>
          </a:p>
        </p:txBody>
      </p:sp>
      <p:pic>
        <p:nvPicPr>
          <p:cNvPr id="8" name="Picture 7" descr="r29.png"/>
          <p:cNvPicPr>
            <a:picLocks noChangeAspect="1"/>
          </p:cNvPicPr>
          <p:nvPr/>
        </p:nvPicPr>
        <p:blipFill>
          <a:blip r:embed="rId2"/>
          <a:stretch>
            <a:fillRect/>
          </a:stretch>
        </p:blipFill>
        <p:spPr>
          <a:xfrm>
            <a:off x="548640" y="1783080"/>
            <a:ext cx="6445857" cy="2926080"/>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Cada día salen casi las mismas piezas (1,546 a 1,798): los Canvas corren diario. Lo que cambia es que los masivos salen entre semana (76 M el lunes contra 15 M el domingo).</a:t>
            </a:r>
          </a:p>
          <a:p>
            <a:pPr>
              <a:spcAft>
                <a:spcPts val="350"/>
              </a:spcAft>
            </a:pPr>
            <a:r>
              <a:rPr sz="900" b="1">
                <a:solidFill>
                  <a:srgbClr val="1F4FD8"/>
                </a:solidFill>
                <a:latin typeface="Calibri"/>
              </a:rPr>
              <a:t>2.  </a:t>
            </a:r>
            <a:r>
              <a:rPr sz="900" b="0">
                <a:solidFill>
                  <a:srgbClr val="5B6270"/>
                </a:solidFill>
                <a:latin typeface="Calibri"/>
              </a:rPr>
              <a:t>Por usuario: 2.6 emails el lunes contra 1.6 el domingo.</a:t>
            </a:r>
          </a:p>
          <a:p>
            <a:pPr>
              <a:spcAft>
                <a:spcPts val="350"/>
              </a:spcAft>
            </a:pPr>
            <a:r>
              <a:rPr sz="900" b="1">
                <a:solidFill>
                  <a:srgbClr val="1F4FD8"/>
                </a:solidFill>
                <a:latin typeface="Calibri"/>
              </a:rPr>
              <a:t>3.  </a:t>
            </a:r>
            <a:r>
              <a:rPr sz="900" b="0">
                <a:solidFill>
                  <a:srgbClr val="5B6270"/>
                </a:solidFill>
                <a:latin typeface="Calibri"/>
              </a:rPr>
              <a:t>La recta tamaño contra clic explica 71 % en Product Growth, Marketing y Sales; Collections es plano (transaccional, 200 mil por pieza, 1 %).</a:t>
            </a:r>
          </a:p>
          <a:p>
            <a:pPr>
              <a:spcAft>
                <a:spcPts val="350"/>
              </a:spcAft>
            </a:pPr>
            <a:r>
              <a:rPr sz="900" b="1">
                <a:solidFill>
                  <a:srgbClr val="1F4FD8"/>
                </a:solidFill>
                <a:latin typeface="Calibri"/>
              </a:rPr>
              <a:t>4.  </a:t>
            </a:r>
            <a:r>
              <a:rPr sz="900" b="0">
                <a:solidFill>
                  <a:srgbClr val="5B6270"/>
                </a:solidFill>
                <a:latin typeface="Calibri"/>
              </a:rPr>
              <a:t>Mover un masivo de 1 M al domingo respondería como un masivo de lunes: la audiencia es la misma.</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La discusión se da en términos de 'qué día mandar' porque nadie mide clic por tamaño de audiencia.</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Con piezas de menos de 100 mil y una señal, cualquier día responde 1 % o más.</a:t>
            </a:r>
          </a:p>
          <a:p>
            <a:r>
              <a:rPr sz="700" b="1">
                <a:solidFill>
                  <a:srgbClr val="1F4FD8"/>
                </a:solidFill>
                <a:latin typeface="Calibri"/>
              </a:rPr>
              <a:t>O  </a:t>
            </a:r>
            <a:r>
              <a:rPr sz="750">
                <a:solidFill>
                  <a:srgbClr val="5B6270"/>
                </a:solidFill>
                <a:latin typeface="Calibri"/>
              </a:rPr>
              <a:t>Los equipos piden mover calendario en vez de segmentar porque es más rápido.</a:t>
            </a:r>
          </a:p>
          <a:p>
            <a:r>
              <a:rPr sz="700" b="1">
                <a:solidFill>
                  <a:srgbClr val="1F4FD8"/>
                </a:solidFill>
                <a:latin typeface="Calibri"/>
              </a:rPr>
              <a:t>G  </a:t>
            </a:r>
            <a:r>
              <a:rPr sz="750">
                <a:solidFill>
                  <a:srgbClr val="5B6270"/>
                </a:solidFill>
                <a:latin typeface="Calibri"/>
              </a:rPr>
              <a:t>No hay regla de tamaño máximo por pieza en el checklist.</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regla en el checklist: tamaño máximo 100 mil usuarios por envío sin prueba previa; más de 1 M obliga prueba al 10 % y segmento. CRM agrega 'usuarios por envío' al tablero por pieza. Métrica: envíos de más de 1 M sin prueba, meta 0.</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No se mueve nada de día: con piezas de menos de 100 mil usuarios y una señal, cualquier día responde 1 % o más.</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No mover campañas al fin de semana: segmentarlas. Un masivo de 1 M el domingo respondería como uno de lunes. La regla es tamaño máximo por pieza, no día.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B. DEMASIADO Y SIN COORDINACIÓN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A los usuarios con más de un año se les manda hasta 7 veces más push (91 contra 13 en 9 meses) y abren la tercera parte: son 56 % del volumen porque acumulan Canvas recurrentes que nunca se apagan</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O_Antiguedad (E12). Push por usuario en 9 meses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30</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56 %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envíos van a usuarios con más de un año en la base</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91 vs 13</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push en 9 meses: más de 2 años contra menos de 1 mes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 veces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menos apertura en los usuarios antiguos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30.png"/>
          <p:cNvPicPr>
            <a:picLocks noChangeAspect="1"/>
          </p:cNvPicPr>
          <p:nvPr/>
        </p:nvPicPr>
        <p:blipFill>
          <a:blip r:embed="rId2"/>
          <a:stretch>
            <a:fillRect/>
          </a:stretch>
        </p:blipFill>
        <p:spPr>
          <a:xfrm>
            <a:off x="548640" y="2560320"/>
            <a:ext cx="6949440" cy="1933955"/>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56 % de los envíos van a usuarios con más de 1 año en la base.</a:t>
            </a:r>
          </a:p>
          <a:p>
            <a:pPr>
              <a:spcAft>
                <a:spcPts val="350"/>
              </a:spcAft>
            </a:pPr>
            <a:r>
              <a:rPr sz="950" b="1">
                <a:solidFill>
                  <a:srgbClr val="1F4FD8"/>
                </a:solidFill>
                <a:latin typeface="Calibri"/>
              </a:rPr>
              <a:t>2.  </a:t>
            </a:r>
            <a:r>
              <a:rPr sz="950" b="0">
                <a:solidFill>
                  <a:srgbClr val="5B6270"/>
                </a:solidFill>
                <a:latin typeface="Calibri"/>
              </a:rPr>
              <a:t>El usuario de más de 2 años recibió 91 push en 9 meses; el de menos de 1 mes, 13. Su apertura es la tercera parte.</a:t>
            </a:r>
          </a:p>
          <a:p>
            <a:pPr>
              <a:spcAft>
                <a:spcPts val="350"/>
              </a:spcAft>
            </a:pPr>
            <a:r>
              <a:rPr sz="950" b="1">
                <a:solidFill>
                  <a:srgbClr val="1F4FD8"/>
                </a:solidFill>
                <a:latin typeface="Calibri"/>
              </a:rPr>
              <a:t>3.  </a:t>
            </a:r>
            <a:r>
              <a:rPr sz="950" b="0">
                <a:solidFill>
                  <a:srgbClr val="5B6270"/>
                </a:solidFill>
                <a:latin typeface="Calibri"/>
              </a:rPr>
              <a:t>Acumulan Canvas recurrentes de Sales y Collections que nunca terminan, más los masivos de Marketing y Product Growth.</a:t>
            </a:r>
          </a:p>
          <a:p>
            <a:pPr>
              <a:spcAft>
                <a:spcPts val="350"/>
              </a:spcAft>
            </a:pPr>
            <a:r>
              <a:rPr sz="950" b="1">
                <a:solidFill>
                  <a:srgbClr val="1F4FD8"/>
                </a:solidFill>
                <a:latin typeface="Calibri"/>
              </a:rPr>
              <a:t>4.  </a:t>
            </a:r>
            <a:r>
              <a:rPr sz="950" b="0">
                <a:solidFill>
                  <a:srgbClr val="5B6270"/>
                </a:solidFill>
                <a:latin typeface="Calibri"/>
              </a:rPr>
              <a:t>Las bajas por mil son iguales en todas las bandas: no es edad ni desgaste natural, es cantidad.</a:t>
            </a:r>
          </a:p>
          <a:p>
            <a:pPr>
              <a:spcAft>
                <a:spcPts val="350"/>
              </a:spcAft>
            </a:pPr>
            <a:r>
              <a:rPr sz="950" b="1">
                <a:solidFill>
                  <a:srgbClr val="B5342B"/>
                </a:solidFill>
                <a:latin typeface="Calibri"/>
              </a:rPr>
              <a:t>5.  </a:t>
            </a:r>
            <a:r>
              <a:rPr sz="700" b="1">
                <a:solidFill>
                  <a:srgbClr val="B5342B"/>
                </a:solidFill>
                <a:latin typeface="Calibri"/>
              </a:rPr>
              <a:t>CAUSA RAÍZ · SATURACIÓN  </a:t>
            </a:r>
            <a:r>
              <a:rPr sz="950" b="1">
                <a:solidFill>
                  <a:srgbClr val="1A1D24"/>
                </a:solidFill>
                <a:latin typeface="Calibri"/>
              </a:rPr>
              <a:t>Los Canvas recurrentes no tienen criterio de salida por inactividad y no hay exclusión por antigüedad sin respuesta.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respuesta baja con la cantidad acumulada, no con la antigüedad.</a:t>
            </a:r>
          </a:p>
          <a:p>
            <a:r>
              <a:rPr sz="700" b="1">
                <a:solidFill>
                  <a:srgbClr val="1F4FD8"/>
                </a:solidFill>
                <a:latin typeface="Calibri"/>
              </a:rPr>
              <a:t>O  </a:t>
            </a:r>
            <a:r>
              <a:rPr sz="750">
                <a:solidFill>
                  <a:srgbClr val="5B6270"/>
                </a:solidFill>
                <a:latin typeface="Calibri"/>
              </a:rPr>
              <a:t>Los Canvas 'siempre encendidos' de Sales y Collections no sacan al usuario que no responde.</a:t>
            </a:r>
          </a:p>
          <a:p>
            <a:r>
              <a:rPr sz="700" b="1">
                <a:solidFill>
                  <a:srgbClr val="1F4FD8"/>
                </a:solidFill>
                <a:latin typeface="Calibri"/>
              </a:rPr>
              <a:t>G  </a:t>
            </a:r>
            <a:r>
              <a:rPr sz="750">
                <a:solidFill>
                  <a:srgbClr val="5B6270"/>
                </a:solidFill>
                <a:latin typeface="Calibri"/>
              </a:rPr>
              <a:t>No hay revisión de Canvas activos con más de 6 meses.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regla 'más de 1 año en la base y sin respuesta en 90 días sale de lo promocional' (segmento EXC-Antiguo90d, MarTech). Push a más de 2 años solo a quien abrió un push en 90 días. Sales y Collections agregan Exit Criteria por inactividad a sus Canvas recurrentes. Métrica: push por usuario antiguo al mes, hoy 10, meta 4.</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Sale la mitad del volumen de donde la respuesta es más baja y el resultado no cambia, porque ese volumen no respondía.</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A más de 1 año sin respuesta en 90 días, fuera de lo promocional: ahí está 56 % del volumen con la respuesta más baja. La frecuencia alta se reserva para el primer mes.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1280160"/>
          </a:xfrm>
          <a:prstGeom prst="rect">
            <a:avLst/>
          </a:prstGeom>
          <a:noFill/>
        </p:spPr>
        <p:txBody>
          <a:bodyPr wrap="square" lIns="18288" rIns="18288" tIns="18288" bIns="18288" anchor="t">
            <a:spAutoFit/>
          </a:bodyPr>
          <a:lstStyle/>
          <a:p>
            <a:pPr algn="l"/>
            <a:r>
              <a:rPr sz="7200" b="1">
                <a:solidFill>
                  <a:srgbClr val="FFFFFF"/>
                </a:solidFill>
                <a:latin typeface="Calibri"/>
              </a:rPr>
              <a:t>C</a:t>
            </a:r>
          </a:p>
        </p:txBody>
      </p:sp>
      <p:sp>
        <p:nvSpPr>
          <p:cNvPr id="4" name="TextBox 3"/>
          <p:cNvSpPr txBox="1"/>
          <p:nvPr/>
        </p:nvSpPr>
        <p:spPr>
          <a:xfrm>
            <a:off x="822960" y="2926080"/>
            <a:ext cx="9144000" cy="1097280"/>
          </a:xfrm>
          <a:prstGeom prst="rect">
            <a:avLst/>
          </a:prstGeom>
          <a:noFill/>
        </p:spPr>
        <p:txBody>
          <a:bodyPr wrap="square" lIns="18288" rIns="18288" tIns="18288" bIns="18288" anchor="t">
            <a:spAutoFit/>
          </a:bodyPr>
          <a:lstStyle/>
          <a:p>
            <a:pPr algn="l"/>
            <a:r>
              <a:rPr sz="3200" b="1">
                <a:solidFill>
                  <a:srgbClr val="FFFFFF"/>
                </a:solidFill>
                <a:latin typeface="Calibri"/>
              </a:rPr>
              <a:t>Sabemos qué funciona</a:t>
            </a:r>
          </a:p>
        </p:txBody>
      </p:sp>
      <p:sp>
        <p:nvSpPr>
          <p:cNvPr id="5" name="TextBox 4"/>
          <p:cNvSpPr txBox="1"/>
          <p:nvPr/>
        </p:nvSpPr>
        <p:spPr>
          <a:xfrm>
            <a:off x="822960" y="4023360"/>
            <a:ext cx="9144000" cy="731520"/>
          </a:xfrm>
          <a:prstGeom prst="rect">
            <a:avLst/>
          </a:prstGeom>
          <a:noFill/>
        </p:spPr>
        <p:txBody>
          <a:bodyPr wrap="square" lIns="18288" rIns="18288" tIns="18288" bIns="18288" anchor="t">
            <a:spAutoFit/>
          </a:bodyPr>
          <a:lstStyle/>
          <a:p>
            <a:pPr algn="l"/>
            <a:r>
              <a:rPr sz="1600" b="0">
                <a:solidFill>
                  <a:srgbClr val="FFFFFF"/>
                </a:solidFill>
                <a:latin typeface="Calibri"/>
              </a:rPr>
              <a:t>Gancho, canal, tamaño, toques y equipo: los datos ya dicen qué mandar</a:t>
            </a:r>
          </a:p>
        </p:txBody>
      </p:sp>
      <p:sp>
        <p:nvSpPr>
          <p:cNvPr id="6" name="TextBox 5"/>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FFFFFF"/>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Recordar algo que el usuario empezó responde 3.09 % por email; una oferta nueva 0.22 a 0.53 %: el volumen (54 M emails de Tasa 0) está en el gancho que menos interesa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Campañas (E1), gancho leído del nombre de la pieza</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32</a:t>
            </a:r>
          </a:p>
        </p:txBody>
      </p:sp>
      <p:pic>
        <p:nvPicPr>
          <p:cNvPr id="8" name="Picture 7" descr="r32.png"/>
          <p:cNvPicPr>
            <a:picLocks noChangeAspect="1"/>
          </p:cNvPicPr>
          <p:nvPr/>
        </p:nvPicPr>
        <p:blipFill>
          <a:blip r:embed="rId2"/>
          <a:stretch>
            <a:fillRect/>
          </a:stretch>
        </p:blipFill>
        <p:spPr>
          <a:xfrm>
            <a:off x="548640" y="1783080"/>
            <a:ext cx="6863644" cy="2926080"/>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Recordatorios de algo empezado (Veriff, datos personales, carrito) 3.09 % de clic; cobranza 1.8 %; ofertas, Tasa 0, referidos y lanzamientos 0.22 a 0.53 %.</a:t>
            </a:r>
          </a:p>
          <a:p>
            <a:pPr>
              <a:spcAft>
                <a:spcPts val="350"/>
              </a:spcAft>
            </a:pPr>
            <a:r>
              <a:rPr sz="900" b="1">
                <a:solidFill>
                  <a:srgbClr val="1F4FD8"/>
                </a:solidFill>
                <a:latin typeface="Calibri"/>
              </a:rPr>
              <a:t>2.  </a:t>
            </a:r>
            <a:r>
              <a:rPr sz="900" b="0">
                <a:solidFill>
                  <a:srgbClr val="5B6270"/>
                </a:solidFill>
                <a:latin typeface="Calibri"/>
              </a:rPr>
              <a:t>Tasa 0 es el gancho con más emails (54 M, Product Growth y Marketing) y responde 6 veces menos que un recordatorio.</a:t>
            </a:r>
          </a:p>
          <a:p>
            <a:pPr>
              <a:spcAft>
                <a:spcPts val="350"/>
              </a:spcAft>
            </a:pPr>
            <a:r>
              <a:rPr sz="900" b="1">
                <a:solidFill>
                  <a:srgbClr val="1F4FD8"/>
                </a:solidFill>
                <a:latin typeface="Calibri"/>
              </a:rPr>
              <a:t>3.  </a:t>
            </a:r>
            <a:r>
              <a:rPr sz="900" b="0">
                <a:solidFill>
                  <a:srgbClr val="5B6270"/>
                </a:solidFill>
                <a:latin typeface="Calibri"/>
              </a:rPr>
              <a:t>Referidos y lanzamientos responden 0.22 % por email y 43 a 55 % en in-app: están en el canal equivocado.</a:t>
            </a:r>
          </a:p>
          <a:p>
            <a:pPr>
              <a:spcAft>
                <a:spcPts val="350"/>
              </a:spcAft>
            </a:pPr>
            <a:r>
              <a:rPr sz="900" b="1">
                <a:solidFill>
                  <a:srgbClr val="1F4FD8"/>
                </a:solidFill>
                <a:latin typeface="Calibri"/>
              </a:rPr>
              <a:t>4.  </a:t>
            </a:r>
            <a:r>
              <a:rPr sz="900" b="0">
                <a:solidFill>
                  <a:srgbClr val="5B6270"/>
                </a:solidFill>
                <a:latin typeface="Calibri"/>
              </a:rPr>
              <a:t>El gancho lo decide lo que el equipo quiere vender ese mes, no lo que el usuario dejó pendiente.</a:t>
            </a:r>
          </a:p>
          <a:p>
            <a:pPr>
              <a:spcAft>
                <a:spcPts val="350"/>
              </a:spcAft>
            </a:pPr>
            <a:r>
              <a:rPr sz="900" b="1">
                <a:solidFill>
                  <a:srgbClr val="B5342B"/>
                </a:solidFill>
                <a:latin typeface="Calibri"/>
              </a:rPr>
              <a:t>5.  </a:t>
            </a:r>
            <a:r>
              <a:rPr sz="700" b="1">
                <a:solidFill>
                  <a:srgbClr val="B5342B"/>
                </a:solidFill>
                <a:latin typeface="Calibri"/>
              </a:rPr>
              <a:t>CAUSA RAÍZ · PRODUCTO U OFERTA  </a:t>
            </a:r>
            <a:r>
              <a:rPr sz="900" b="1">
                <a:solidFill>
                  <a:srgbClr val="1A1D24"/>
                </a:solidFill>
                <a:latin typeface="Calibri"/>
              </a:rPr>
              <a:t>No hay jerarquía de ganchos con datos ni evento de 'algo empezado' como disparador estándar en Braze.</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intención previa explica la respuesta 10 veces más que la oferta.</a:t>
            </a:r>
          </a:p>
          <a:p>
            <a:r>
              <a:rPr sz="700" b="1">
                <a:solidFill>
                  <a:srgbClr val="1F4FD8"/>
                </a:solidFill>
                <a:latin typeface="Calibri"/>
              </a:rPr>
              <a:t>O  </a:t>
            </a:r>
            <a:r>
              <a:rPr sz="750">
                <a:solidFill>
                  <a:srgbClr val="5B6270"/>
                </a:solidFill>
                <a:latin typeface="Calibri"/>
              </a:rPr>
              <a:t>Los equipos arman campañas por producto a vender, no por evento del usuario.</a:t>
            </a:r>
          </a:p>
          <a:p>
            <a:r>
              <a:rPr sz="700" b="1">
                <a:solidFill>
                  <a:srgbClr val="1F4FD8"/>
                </a:solidFill>
                <a:latin typeface="Calibri"/>
              </a:rPr>
              <a:t>G  </a:t>
            </a:r>
            <a:r>
              <a:rPr sz="750">
                <a:solidFill>
                  <a:srgbClr val="5B6270"/>
                </a:solidFill>
                <a:latin typeface="Calibri"/>
              </a:rPr>
              <a:t>Nadie es dueño de la jerarquía de ganchos ni de los eventos que la disparan.</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2: Datos manda a Braze los eventos 'solicitud empezada', 'verificación pendiente' y 'carrito' (custom events). Semana 3: Product Growth construye un Canvas de recordatorio por evento y reduce Tasa 0 a una pieza por audiencia; Marketing mueve referidos y lanzamientos a in-app. Métrica: clic de email promocional, hoy 0.53 %, meta 1.5 %.</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Mover 30 M de los 54 M emails de Tasa 0 a recordatorios de algo empezado daría cerca de 770 mil clics más en 9 meses (3.09 contra 0.53 %).</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gancho que vende es recordar lo que el usuario empezó. Tasa 0 se reduce a una pieza por audiencia; referidos y lanzamientos pasan a in-app.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El volumen va a lo que el equipo quiere vender (ofertas, Tasa 0, referidos, lanzamientos: 59 % de los envíos) y no a lo que el usuario tiene pendiente (recordatorios y pagos: 18 %), que responde 10 veces más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F_Piezas (E1). Respuesta: clic (email, in-app), apertura (push), lectura (WhatsApp) sobre entregados o impresiones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33</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3.1 %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email de un recordatorio de algo empezado</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0.22 a 0.26 %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referidos, lanzamientos y ofertas por email</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59 %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envíos son ofertas, Tasa 0, referidos y lanzamientos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40" cy="1874520"/>
        </p:xfrm>
        <a:graphic>
          <a:graphicData uri="http://schemas.openxmlformats.org/drawingml/2006/table">
            <a:tbl>
              <a:tblPr firstRow="1" bandRow="1">
                <a:tableStyleId>{5C22544A-7EE6-4342-B048-85BDC9FD1C3A}</a:tableStyleId>
              </a:tblPr>
              <a:tblGrid>
                <a:gridCol w="2103120"/>
                <a:gridCol w="969264"/>
                <a:gridCol w="969264"/>
                <a:gridCol w="969264"/>
                <a:gridCol w="969264"/>
                <a:gridCol w="969264"/>
              </a:tblGrid>
              <a:tr h="208280">
                <a:tc>
                  <a:txBody>
                    <a:bodyPr/>
                    <a:lstStyle/>
                    <a:p>
                      <a:pPr algn="l"/>
                    </a:p>
                  </a:txBody>
                  <a:tcPr marL="45720" marR="45720" marT="18288" marB="18288" anchor="ctr">
                    <a:solidFill>
                      <a:srgbClr val="FFFFFF"/>
                    </a:solidFill>
                  </a:tcPr>
                </a:tc>
                <a:tc>
                  <a:txBody>
                    <a:bodyPr/>
                    <a:lstStyle/>
                    <a:p>
                      <a:pPr algn="ctr"/>
                      <a:r>
                        <a:rPr sz="700" b="1">
                          <a:solidFill>
                            <a:srgbClr val="5B6270"/>
                          </a:solidFill>
                          <a:latin typeface="Calibri"/>
                        </a:rPr>
                        <a:t>Email (clic)</a:t>
                      </a:r>
                    </a:p>
                  </a:txBody>
                  <a:tcPr marL="45720" marR="45720" marT="18288" marB="18288" anchor="ctr">
                    <a:solidFill>
                      <a:srgbClr val="FFFFFF"/>
                    </a:solidFill>
                  </a:tcPr>
                </a:tc>
                <a:tc>
                  <a:txBody>
                    <a:bodyPr/>
                    <a:lstStyle/>
                    <a:p>
                      <a:pPr algn="ctr"/>
                      <a:r>
                        <a:rPr sz="700" b="1">
                          <a:solidFill>
                            <a:srgbClr val="5B6270"/>
                          </a:solidFill>
                          <a:latin typeface="Calibri"/>
                        </a:rPr>
                        <a:t>Push (apertura)</a:t>
                      </a:r>
                    </a:p>
                  </a:txBody>
                  <a:tcPr marL="45720" marR="45720" marT="18288" marB="18288" anchor="ctr">
                    <a:solidFill>
                      <a:srgbClr val="FFFFFF"/>
                    </a:solidFill>
                  </a:tcPr>
                </a:tc>
                <a:tc>
                  <a:txBody>
                    <a:bodyPr/>
                    <a:lstStyle/>
                    <a:p>
                      <a:pPr algn="ctr"/>
                      <a:r>
                        <a:rPr sz="700" b="1">
                          <a:solidFill>
                            <a:srgbClr val="5B6270"/>
                          </a:solidFill>
                          <a:latin typeface="Calibri"/>
                        </a:rPr>
                        <a:t>In-app (clic)</a:t>
                      </a:r>
                    </a:p>
                  </a:txBody>
                  <a:tcPr marL="45720" marR="45720" marT="18288" marB="18288" anchor="ctr">
                    <a:solidFill>
                      <a:srgbClr val="FFFFFF"/>
                    </a:solidFill>
                  </a:tcPr>
                </a:tc>
                <a:tc>
                  <a:txBody>
                    <a:bodyPr/>
                    <a:lstStyle/>
                    <a:p>
                      <a:pPr algn="ctr"/>
                      <a:r>
                        <a:rPr sz="700" b="1">
                          <a:solidFill>
                            <a:srgbClr val="5B6270"/>
                          </a:solidFill>
                          <a:latin typeface="Calibri"/>
                        </a:rPr>
                        <a:t>WhatsApp (lectura)</a:t>
                      </a:r>
                    </a:p>
                  </a:txBody>
                  <a:tcPr marL="45720" marR="45720" marT="18288" marB="18288" anchor="ctr">
                    <a:solidFill>
                      <a:srgbClr val="FFFFFF"/>
                    </a:solidFill>
                  </a:tcPr>
                </a:tc>
                <a:tc>
                  <a:txBody>
                    <a:bodyPr/>
                    <a:lstStyle/>
                    <a:p>
                      <a:pPr algn="ctr"/>
                      <a:r>
                        <a:rPr sz="700" b="1">
                          <a:solidFill>
                            <a:srgbClr val="5B6270"/>
                          </a:solidFill>
                          <a:latin typeface="Calibri"/>
                        </a:rPr>
                        <a:t>% de los envíos</a:t>
                      </a:r>
                    </a:p>
                  </a:txBody>
                  <a:tcPr marL="45720" marR="45720" marT="18288" marB="18288" anchor="ctr">
                    <a:solidFill>
                      <a:srgbClr val="FFFFFF"/>
                    </a:solidFill>
                  </a:tcPr>
                </a:tc>
              </a:tr>
              <a:tr h="208280">
                <a:tc>
                  <a:txBody>
                    <a:bodyPr/>
                    <a:lstStyle/>
                    <a:p>
                      <a:pPr algn="l"/>
                      <a:r>
                        <a:rPr sz="750" b="1">
                          <a:solidFill>
                            <a:srgbClr val="1A1D24"/>
                          </a:solidFill>
                          <a:latin typeface="Calibri"/>
                        </a:rPr>
                        <a:t>Recordatorio de algo empezado</a:t>
                      </a:r>
                    </a:p>
                  </a:txBody>
                  <a:tcPr marL="45720" marR="45720" marT="18288" marB="18288" anchor="ctr">
                    <a:solidFill>
                      <a:srgbClr val="FFFFFF"/>
                    </a:solidFill>
                  </a:tcPr>
                </a:tc>
                <a:tc>
                  <a:txBody>
                    <a:bodyPr/>
                    <a:lstStyle/>
                    <a:p>
                      <a:pPr algn="ctr"/>
                      <a:r>
                        <a:rPr sz="750" b="0">
                          <a:solidFill>
                            <a:srgbClr val="FFFFFF"/>
                          </a:solidFill>
                          <a:latin typeface="Calibri"/>
                        </a:rPr>
                        <a:t>3.08 %</a:t>
                      </a:r>
                    </a:p>
                  </a:txBody>
                  <a:tcPr marL="45720" marR="45720" marT="18288" marB="18288" anchor="ctr">
                    <a:solidFill>
                      <a:srgbClr val="1F4FD8"/>
                    </a:solidFill>
                  </a:tcPr>
                </a:tc>
                <a:tc>
                  <a:txBody>
                    <a:bodyPr/>
                    <a:lstStyle/>
                    <a:p>
                      <a:pPr algn="ctr"/>
                      <a:r>
                        <a:rPr sz="750" b="0">
                          <a:solidFill>
                            <a:srgbClr val="FFFFFF"/>
                          </a:solidFill>
                          <a:latin typeface="Calibri"/>
                        </a:rPr>
                        <a:t>3.75 %</a:t>
                      </a:r>
                    </a:p>
                  </a:txBody>
                  <a:tcPr marL="45720" marR="45720" marT="18288" marB="18288" anchor="ctr">
                    <a:solidFill>
                      <a:srgbClr val="2C59DA"/>
                    </a:solidFill>
                  </a:tcPr>
                </a:tc>
                <a:tc>
                  <a:txBody>
                    <a:bodyPr/>
                    <a:lstStyle/>
                    <a:p>
                      <a:pPr algn="ctr"/>
                      <a:r>
                        <a:rPr sz="750" b="0">
                          <a:solidFill>
                            <a:srgbClr val="FFFFFF"/>
                          </a:solidFill>
                          <a:latin typeface="Calibri"/>
                        </a:rPr>
                        <a:t>69 %</a:t>
                      </a:r>
                    </a:p>
                  </a:txBody>
                  <a:tcPr marL="45720" marR="45720" marT="18288" marB="18288" anchor="ctr">
                    <a:solidFill>
                      <a:srgbClr val="1F4FD8"/>
                    </a:solidFill>
                  </a:tcPr>
                </a:tc>
                <a:tc>
                  <a:txBody>
                    <a:bodyPr/>
                    <a:lstStyle/>
                    <a:p>
                      <a:pPr algn="ctr"/>
                      <a:r>
                        <a:rPr sz="750" b="0">
                          <a:solidFill>
                            <a:srgbClr val="FFFFFF"/>
                          </a:solidFill>
                          <a:latin typeface="Calibri"/>
                        </a:rPr>
                        <a:t>70 %</a:t>
                      </a:r>
                    </a:p>
                  </a:txBody>
                  <a:tcPr marL="45720" marR="45720" marT="18288" marB="18288" anchor="ctr">
                    <a:solidFill>
                      <a:srgbClr val="476EDF"/>
                    </a:solidFill>
                  </a:tcPr>
                </a:tc>
                <a:tc>
                  <a:txBody>
                    <a:bodyPr/>
                    <a:lstStyle/>
                    <a:p>
                      <a:pPr algn="ctr"/>
                      <a:r>
                        <a:rPr sz="750" b="0">
                          <a:solidFill>
                            <a:srgbClr val="5B6270"/>
                          </a:solidFill>
                          <a:latin typeface="Calibri"/>
                        </a:rPr>
                        <a:t>7 %</a:t>
                      </a:r>
                    </a:p>
                  </a:txBody>
                  <a:tcPr marL="45720" marR="45720" marT="18288" marB="18288" anchor="ctr">
                    <a:solidFill>
                      <a:srgbClr val="F6F7F9"/>
                    </a:solidFill>
                  </a:tcPr>
                </a:tc>
              </a:tr>
              <a:tr h="208280">
                <a:tc>
                  <a:txBody>
                    <a:bodyPr/>
                    <a:lstStyle/>
                    <a:p>
                      <a:pPr algn="l"/>
                      <a:r>
                        <a:rPr sz="750" b="1">
                          <a:solidFill>
                            <a:srgbClr val="1A1D24"/>
                          </a:solidFill>
                          <a:latin typeface="Calibri"/>
                        </a:rPr>
                        <a:t>Cobranza y pagos</a:t>
                      </a:r>
                    </a:p>
                  </a:txBody>
                  <a:tcPr marL="45720" marR="45720" marT="18288" marB="18288" anchor="ctr">
                    <a:solidFill>
                      <a:srgbClr val="FFFFFF"/>
                    </a:solidFill>
                  </a:tcPr>
                </a:tc>
                <a:tc>
                  <a:txBody>
                    <a:bodyPr/>
                    <a:lstStyle/>
                    <a:p>
                      <a:pPr algn="ctr"/>
                      <a:r>
                        <a:rPr sz="750" b="0">
                          <a:solidFill>
                            <a:srgbClr val="FFFFFF"/>
                          </a:solidFill>
                          <a:latin typeface="Calibri"/>
                        </a:rPr>
                        <a:t>1.81 %</a:t>
                      </a:r>
                    </a:p>
                  </a:txBody>
                  <a:tcPr marL="45720" marR="45720" marT="18288" marB="18288" anchor="ctr">
                    <a:solidFill>
                      <a:srgbClr val="7995E7"/>
                    </a:solidFill>
                  </a:tcPr>
                </a:tc>
                <a:tc>
                  <a:txBody>
                    <a:bodyPr/>
                    <a:lstStyle/>
                    <a:p>
                      <a:pPr algn="ctr"/>
                      <a:r>
                        <a:rPr sz="750" b="0">
                          <a:solidFill>
                            <a:srgbClr val="FFFFFF"/>
                          </a:solidFill>
                          <a:latin typeface="Calibri"/>
                        </a:rPr>
                        <a:t>3.96 %</a:t>
                      </a:r>
                    </a:p>
                  </a:txBody>
                  <a:tcPr marL="45720" marR="45720" marT="18288" marB="18288" anchor="ctr">
                    <a:solidFill>
                      <a:srgbClr val="1F4FD8"/>
                    </a:solidFill>
                  </a:tcPr>
                </a:tc>
                <a:tc>
                  <a:txBody>
                    <a:bodyPr/>
                    <a:lstStyle/>
                    <a:p>
                      <a:pPr algn="ctr"/>
                      <a:r>
                        <a:rPr sz="750" b="0">
                          <a:solidFill>
                            <a:srgbClr val="1A1D24"/>
                          </a:solidFill>
                          <a:latin typeface="Calibri"/>
                        </a:rPr>
                        <a:t>5 %</a:t>
                      </a:r>
                    </a:p>
                  </a:txBody>
                  <a:tcPr marL="45720" marR="45720" marT="18288" marB="18288" anchor="ctr">
                    <a:solidFill>
                      <a:srgbClr val="EDF0FB"/>
                    </a:solidFill>
                  </a:tcPr>
                </a:tc>
                <a:tc>
                  <a:txBody>
                    <a:bodyPr/>
                    <a:lstStyle/>
                    <a:p>
                      <a:pPr algn="ctr"/>
                    </a:p>
                  </a:txBody>
                  <a:tcPr marL="45720" marR="45720" marT="18288" marB="18288" anchor="ctr">
                    <a:solidFill>
                      <a:srgbClr val="FFFFFF"/>
                    </a:solidFill>
                  </a:tcPr>
                </a:tc>
                <a:tc>
                  <a:txBody>
                    <a:bodyPr/>
                    <a:lstStyle/>
                    <a:p>
                      <a:pPr algn="ctr"/>
                      <a:r>
                        <a:rPr sz="750" b="0">
                          <a:solidFill>
                            <a:srgbClr val="5B6270"/>
                          </a:solidFill>
                          <a:latin typeface="Calibri"/>
                        </a:rPr>
                        <a:t>11 %</a:t>
                      </a:r>
                    </a:p>
                  </a:txBody>
                  <a:tcPr marL="45720" marR="45720" marT="18288" marB="18288" anchor="ctr">
                    <a:solidFill>
                      <a:srgbClr val="F6F7F9"/>
                    </a:solidFill>
                  </a:tcPr>
                </a:tc>
              </a:tr>
              <a:tr h="208280">
                <a:tc>
                  <a:txBody>
                    <a:bodyPr/>
                    <a:lstStyle/>
                    <a:p>
                      <a:pPr algn="l"/>
                      <a:r>
                        <a:rPr sz="750" b="1">
                          <a:solidFill>
                            <a:srgbClr val="1A1D24"/>
                          </a:solidFill>
                          <a:latin typeface="Calibri"/>
                        </a:rPr>
                        <a:t>Bienvenida y activación</a:t>
                      </a:r>
                    </a:p>
                  </a:txBody>
                  <a:tcPr marL="45720" marR="45720" marT="18288" marB="18288" anchor="ctr">
                    <a:solidFill>
                      <a:srgbClr val="FFFFFF"/>
                    </a:solidFill>
                  </a:tcPr>
                </a:tc>
                <a:tc>
                  <a:txBody>
                    <a:bodyPr/>
                    <a:lstStyle/>
                    <a:p>
                      <a:pPr algn="ctr"/>
                      <a:r>
                        <a:rPr sz="750" b="0">
                          <a:solidFill>
                            <a:srgbClr val="1A1D24"/>
                          </a:solidFill>
                          <a:latin typeface="Calibri"/>
                        </a:rPr>
                        <a:t>0.16 %</a:t>
                      </a:r>
                    </a:p>
                  </a:txBody>
                  <a:tcPr marL="45720" marR="45720" marT="18288" marB="18288" anchor="ctr">
                    <a:solidFill>
                      <a:srgbClr val="EDF0FB"/>
                    </a:solidFill>
                  </a:tcPr>
                </a:tc>
                <a:tc>
                  <a:txBody>
                    <a:bodyPr/>
                    <a:lstStyle/>
                    <a:p>
                      <a:pPr algn="ctr"/>
                      <a:r>
                        <a:rPr sz="750" b="0">
                          <a:solidFill>
                            <a:srgbClr val="1A1D24"/>
                          </a:solidFill>
                          <a:latin typeface="Calibri"/>
                        </a:rPr>
                        <a:t>2.51 %</a:t>
                      </a:r>
                    </a:p>
                  </a:txBody>
                  <a:tcPr marL="45720" marR="45720" marT="18288" marB="18288" anchor="ctr">
                    <a:solidFill>
                      <a:srgbClr val="7C98E8"/>
                    </a:solidFill>
                  </a:tcPr>
                </a:tc>
                <a:tc>
                  <a:txBody>
                    <a:bodyPr/>
                    <a:lstStyle/>
                    <a:p>
                      <a:pPr algn="ctr"/>
                    </a:p>
                  </a:txBody>
                  <a:tcPr marL="45720" marR="45720" marT="18288" marB="18288" anchor="ctr">
                    <a:solidFill>
                      <a:srgbClr val="FFFFFF"/>
                    </a:solidFill>
                  </a:tcPr>
                </a:tc>
                <a:tc>
                  <a:txBody>
                    <a:bodyPr/>
                    <a:lstStyle/>
                    <a:p>
                      <a:pPr algn="ctr"/>
                      <a:r>
                        <a:rPr sz="750" b="0">
                          <a:solidFill>
                            <a:srgbClr val="1A1D24"/>
                          </a:solidFill>
                          <a:latin typeface="Calibri"/>
                        </a:rPr>
                        <a:t>56 %</a:t>
                      </a:r>
                    </a:p>
                  </a:txBody>
                  <a:tcPr marL="45720" marR="45720" marT="18288" marB="18288" anchor="ctr">
                    <a:solidFill>
                      <a:srgbClr val="EDF0FB"/>
                    </a:solidFill>
                  </a:tcPr>
                </a:tc>
                <a:tc>
                  <a:txBody>
                    <a:bodyPr/>
                    <a:lstStyle/>
                    <a:p>
                      <a:pPr algn="ctr"/>
                      <a:r>
                        <a:rPr sz="750" b="0">
                          <a:solidFill>
                            <a:srgbClr val="5B6270"/>
                          </a:solidFill>
                          <a:latin typeface="Calibri"/>
                        </a:rPr>
                        <a:t>3 %</a:t>
                      </a:r>
                    </a:p>
                  </a:txBody>
                  <a:tcPr marL="45720" marR="45720" marT="18288" marB="18288" anchor="ctr">
                    <a:solidFill>
                      <a:srgbClr val="F6F7F9"/>
                    </a:solidFill>
                  </a:tcPr>
                </a:tc>
              </a:tr>
              <a:tr h="208280">
                <a:tc>
                  <a:txBody>
                    <a:bodyPr/>
                    <a:lstStyle/>
                    <a:p>
                      <a:pPr algn="l"/>
                      <a:r>
                        <a:rPr sz="750" b="1">
                          <a:solidFill>
                            <a:srgbClr val="1A1D24"/>
                          </a:solidFill>
                          <a:latin typeface="Calibri"/>
                        </a:rPr>
                        <a:t>Tasa 0</a:t>
                      </a:r>
                    </a:p>
                  </a:txBody>
                  <a:tcPr marL="45720" marR="45720" marT="18288" marB="18288" anchor="ctr">
                    <a:solidFill>
                      <a:srgbClr val="FFFFFF"/>
                    </a:solidFill>
                  </a:tcPr>
                </a:tc>
                <a:tc>
                  <a:txBody>
                    <a:bodyPr/>
                    <a:lstStyle/>
                    <a:p>
                      <a:pPr algn="ctr"/>
                      <a:r>
                        <a:rPr sz="750" b="0">
                          <a:solidFill>
                            <a:srgbClr val="1A1D24"/>
                          </a:solidFill>
                          <a:latin typeface="Calibri"/>
                        </a:rPr>
                        <a:t>0.53 %</a:t>
                      </a:r>
                    </a:p>
                  </a:txBody>
                  <a:tcPr marL="45720" marR="45720" marT="18288" marB="18288" anchor="ctr">
                    <a:solidFill>
                      <a:srgbClr val="D3DCF7"/>
                    </a:solidFill>
                  </a:tcPr>
                </a:tc>
                <a:tc>
                  <a:txBody>
                    <a:bodyPr/>
                    <a:lstStyle/>
                    <a:p>
                      <a:pPr algn="ctr"/>
                      <a:r>
                        <a:rPr sz="750" b="0">
                          <a:solidFill>
                            <a:srgbClr val="1A1D24"/>
                          </a:solidFill>
                          <a:latin typeface="Calibri"/>
                        </a:rPr>
                        <a:t>0.77 %</a:t>
                      </a:r>
                    </a:p>
                  </a:txBody>
                  <a:tcPr marL="45720" marR="45720" marT="18288" marB="18288" anchor="ctr">
                    <a:solidFill>
                      <a:srgbClr val="EDF0FB"/>
                    </a:solidFill>
                  </a:tcPr>
                </a:tc>
                <a:tc>
                  <a:txBody>
                    <a:bodyPr/>
                    <a:lstStyle/>
                    <a:p>
                      <a:pPr algn="ctr"/>
                      <a:r>
                        <a:rPr sz="750" b="0">
                          <a:solidFill>
                            <a:srgbClr val="1A1D24"/>
                          </a:solidFill>
                          <a:latin typeface="Calibri"/>
                        </a:rPr>
                        <a:t>22 %</a:t>
                      </a:r>
                    </a:p>
                  </a:txBody>
                  <a:tcPr marL="45720" marR="45720" marT="18288" marB="18288" anchor="ctr">
                    <a:solidFill>
                      <a:srgbClr val="B6C5F2"/>
                    </a:solidFill>
                  </a:tcPr>
                </a:tc>
                <a:tc>
                  <a:txBody>
                    <a:bodyPr/>
                    <a:lstStyle/>
                    <a:p>
                      <a:pPr algn="ctr"/>
                      <a:r>
                        <a:rPr sz="750" b="0">
                          <a:solidFill>
                            <a:srgbClr val="FFFFFF"/>
                          </a:solidFill>
                          <a:latin typeface="Calibri"/>
                        </a:rPr>
                        <a:t>69 %</a:t>
                      </a:r>
                    </a:p>
                  </a:txBody>
                  <a:tcPr marL="45720" marR="45720" marT="18288" marB="18288" anchor="ctr">
                    <a:solidFill>
                      <a:srgbClr val="567AE1"/>
                    </a:solidFill>
                  </a:tcPr>
                </a:tc>
                <a:tc>
                  <a:txBody>
                    <a:bodyPr/>
                    <a:lstStyle/>
                    <a:p>
                      <a:pPr algn="ctr"/>
                      <a:r>
                        <a:rPr sz="750" b="0">
                          <a:solidFill>
                            <a:srgbClr val="5B6270"/>
                          </a:solidFill>
                          <a:latin typeface="Calibri"/>
                        </a:rPr>
                        <a:t>15 %</a:t>
                      </a:r>
                    </a:p>
                  </a:txBody>
                  <a:tcPr marL="45720" marR="45720" marT="18288" marB="18288" anchor="ctr">
                    <a:solidFill>
                      <a:srgbClr val="F6F7F9"/>
                    </a:solidFill>
                  </a:tcPr>
                </a:tc>
              </a:tr>
              <a:tr h="208280">
                <a:tc>
                  <a:txBody>
                    <a:bodyPr/>
                    <a:lstStyle/>
                    <a:p>
                      <a:pPr algn="l"/>
                      <a:r>
                        <a:rPr sz="750" b="1">
                          <a:solidFill>
                            <a:srgbClr val="1A1D24"/>
                          </a:solidFill>
                          <a:latin typeface="Calibri"/>
                        </a:rPr>
                        <a:t>Descuento, cupón u oferta</a:t>
                      </a:r>
                    </a:p>
                  </a:txBody>
                  <a:tcPr marL="45720" marR="45720" marT="18288" marB="18288" anchor="ctr">
                    <a:solidFill>
                      <a:srgbClr val="FFFFFF"/>
                    </a:solidFill>
                  </a:tcPr>
                </a:tc>
                <a:tc>
                  <a:txBody>
                    <a:bodyPr/>
                    <a:lstStyle/>
                    <a:p>
                      <a:pPr algn="ctr"/>
                      <a:r>
                        <a:rPr sz="750" b="0">
                          <a:solidFill>
                            <a:srgbClr val="1A1D24"/>
                          </a:solidFill>
                          <a:latin typeface="Calibri"/>
                        </a:rPr>
                        <a:t>0.26 %</a:t>
                      </a:r>
                    </a:p>
                  </a:txBody>
                  <a:tcPr marL="45720" marR="45720" marT="18288" marB="18288" anchor="ctr">
                    <a:solidFill>
                      <a:srgbClr val="E6EBFA"/>
                    </a:solidFill>
                  </a:tcPr>
                </a:tc>
                <a:tc>
                  <a:txBody>
                    <a:bodyPr/>
                    <a:lstStyle/>
                    <a:p>
                      <a:pPr algn="ctr"/>
                      <a:r>
                        <a:rPr sz="750" b="0">
                          <a:solidFill>
                            <a:srgbClr val="1A1D24"/>
                          </a:solidFill>
                          <a:latin typeface="Calibri"/>
                        </a:rPr>
                        <a:t>1.09 %</a:t>
                      </a:r>
                    </a:p>
                  </a:txBody>
                  <a:tcPr marL="45720" marR="45720" marT="18288" marB="18288" anchor="ctr">
                    <a:solidFill>
                      <a:srgbClr val="D8E0F8"/>
                    </a:solidFill>
                  </a:tcPr>
                </a:tc>
                <a:tc>
                  <a:txBody>
                    <a:bodyPr/>
                    <a:lstStyle/>
                    <a:p>
                      <a:pPr algn="ctr"/>
                      <a:r>
                        <a:rPr sz="750" b="0">
                          <a:solidFill>
                            <a:srgbClr val="1A1D24"/>
                          </a:solidFill>
                          <a:latin typeface="Calibri"/>
                        </a:rPr>
                        <a:t>30 %</a:t>
                      </a:r>
                    </a:p>
                  </a:txBody>
                  <a:tcPr marL="45720" marR="45720" marT="18288" marB="18288" anchor="ctr">
                    <a:solidFill>
                      <a:srgbClr val="9CB1ED"/>
                    </a:solidFill>
                  </a:tcPr>
                </a:tc>
                <a:tc>
                  <a:txBody>
                    <a:bodyPr/>
                    <a:lstStyle/>
                    <a:p>
                      <a:pPr algn="ctr"/>
                      <a:r>
                        <a:rPr sz="750" b="0">
                          <a:solidFill>
                            <a:srgbClr val="1A1D24"/>
                          </a:solidFill>
                          <a:latin typeface="Calibri"/>
                        </a:rPr>
                        <a:t>61 %</a:t>
                      </a:r>
                    </a:p>
                  </a:txBody>
                  <a:tcPr marL="45720" marR="45720" marT="18288" marB="18288" anchor="ctr">
                    <a:solidFill>
                      <a:srgbClr val="B5C5F2"/>
                    </a:solidFill>
                  </a:tcPr>
                </a:tc>
                <a:tc>
                  <a:txBody>
                    <a:bodyPr/>
                    <a:lstStyle/>
                    <a:p>
                      <a:pPr algn="ctr"/>
                      <a:r>
                        <a:rPr sz="750" b="0">
                          <a:solidFill>
                            <a:srgbClr val="5B6270"/>
                          </a:solidFill>
                          <a:latin typeface="Calibri"/>
                        </a:rPr>
                        <a:t>23 %</a:t>
                      </a:r>
                    </a:p>
                  </a:txBody>
                  <a:tcPr marL="45720" marR="45720" marT="18288" marB="18288" anchor="ctr">
                    <a:solidFill>
                      <a:srgbClr val="F6F7F9"/>
                    </a:solidFill>
                  </a:tcPr>
                </a:tc>
              </a:tr>
              <a:tr h="208280">
                <a:tc>
                  <a:txBody>
                    <a:bodyPr/>
                    <a:lstStyle/>
                    <a:p>
                      <a:pPr algn="l"/>
                      <a:r>
                        <a:rPr sz="750" b="1">
                          <a:solidFill>
                            <a:srgbClr val="1A1D24"/>
                          </a:solidFill>
                          <a:latin typeface="Calibri"/>
                        </a:rPr>
                        <a:t>Referidos</a:t>
                      </a:r>
                    </a:p>
                  </a:txBody>
                  <a:tcPr marL="45720" marR="45720" marT="18288" marB="18288" anchor="ctr">
                    <a:solidFill>
                      <a:srgbClr val="FFFFFF"/>
                    </a:solidFill>
                  </a:tcPr>
                </a:tc>
                <a:tc>
                  <a:txBody>
                    <a:bodyPr/>
                    <a:lstStyle/>
                    <a:p>
                      <a:pPr algn="ctr"/>
                      <a:r>
                        <a:rPr sz="750" b="0">
                          <a:solidFill>
                            <a:srgbClr val="1A1D24"/>
                          </a:solidFill>
                          <a:latin typeface="Calibri"/>
                        </a:rPr>
                        <a:t>0.22 %</a:t>
                      </a:r>
                    </a:p>
                  </a:txBody>
                  <a:tcPr marL="45720" marR="45720" marT="18288" marB="18288" anchor="ctr">
                    <a:solidFill>
                      <a:srgbClr val="E9EEFB"/>
                    </a:solidFill>
                  </a:tcPr>
                </a:tc>
                <a:tc>
                  <a:txBody>
                    <a:bodyPr/>
                    <a:lstStyle/>
                    <a:p>
                      <a:pPr algn="ctr"/>
                      <a:r>
                        <a:rPr sz="750" b="0">
                          <a:solidFill>
                            <a:srgbClr val="1A1D24"/>
                          </a:solidFill>
                          <a:latin typeface="Calibri"/>
                        </a:rPr>
                        <a:t>1.12 %</a:t>
                      </a:r>
                    </a:p>
                  </a:txBody>
                  <a:tcPr marL="45720" marR="45720" marT="18288" marB="18288" anchor="ctr">
                    <a:solidFill>
                      <a:srgbClr val="D6DFF7"/>
                    </a:solidFill>
                  </a:tcPr>
                </a:tc>
                <a:tc>
                  <a:txBody>
                    <a:bodyPr/>
                    <a:lstStyle/>
                    <a:p>
                      <a:pPr algn="ctr"/>
                      <a:r>
                        <a:rPr sz="750" b="0">
                          <a:solidFill>
                            <a:srgbClr val="1A1D24"/>
                          </a:solidFill>
                          <a:latin typeface="Calibri"/>
                        </a:rPr>
                        <a:t>23 %</a:t>
                      </a:r>
                    </a:p>
                  </a:txBody>
                  <a:tcPr marL="45720" marR="45720" marT="18288" marB="18288" anchor="ctr">
                    <a:solidFill>
                      <a:srgbClr val="B3C3F1"/>
                    </a:solidFill>
                  </a:tcPr>
                </a:tc>
                <a:tc>
                  <a:txBody>
                    <a:bodyPr/>
                    <a:lstStyle/>
                    <a:p>
                      <a:pPr algn="ctr"/>
                      <a:r>
                        <a:rPr sz="750" b="0">
                          <a:solidFill>
                            <a:srgbClr val="FFFFFF"/>
                          </a:solidFill>
                          <a:latin typeface="Calibri"/>
                        </a:rPr>
                        <a:t>72 %</a:t>
                      </a:r>
                    </a:p>
                  </a:txBody>
                  <a:tcPr marL="45720" marR="45720" marT="18288" marB="18288" anchor="ctr">
                    <a:solidFill>
                      <a:srgbClr val="2B58DA"/>
                    </a:solidFill>
                  </a:tcPr>
                </a:tc>
                <a:tc>
                  <a:txBody>
                    <a:bodyPr/>
                    <a:lstStyle/>
                    <a:p>
                      <a:pPr algn="ctr"/>
                      <a:r>
                        <a:rPr sz="750" b="0">
                          <a:solidFill>
                            <a:srgbClr val="5B6270"/>
                          </a:solidFill>
                          <a:latin typeface="Calibri"/>
                        </a:rPr>
                        <a:t>10 %</a:t>
                      </a:r>
                    </a:p>
                  </a:txBody>
                  <a:tcPr marL="45720" marR="45720" marT="18288" marB="18288" anchor="ctr">
                    <a:solidFill>
                      <a:srgbClr val="F6F7F9"/>
                    </a:solidFill>
                  </a:tcPr>
                </a:tc>
              </a:tr>
              <a:tr h="208280">
                <a:tc>
                  <a:txBody>
                    <a:bodyPr/>
                    <a:lstStyle/>
                    <a:p>
                      <a:pPr algn="l"/>
                      <a:r>
                        <a:rPr sz="750" b="1">
                          <a:solidFill>
                            <a:srgbClr val="1A1D24"/>
                          </a:solidFill>
                          <a:latin typeface="Calibri"/>
                        </a:rPr>
                        <a:t>Lanzamiento y novedades</a:t>
                      </a:r>
                    </a:p>
                  </a:txBody>
                  <a:tcPr marL="45720" marR="45720" marT="18288" marB="18288" anchor="ctr">
                    <a:solidFill>
                      <a:srgbClr val="FFFFFF"/>
                    </a:solidFill>
                  </a:tcPr>
                </a:tc>
                <a:tc>
                  <a:txBody>
                    <a:bodyPr/>
                    <a:lstStyle/>
                    <a:p>
                      <a:pPr algn="ctr"/>
                      <a:r>
                        <a:rPr sz="750" b="0">
                          <a:solidFill>
                            <a:srgbClr val="1A1D24"/>
                          </a:solidFill>
                          <a:latin typeface="Calibri"/>
                        </a:rPr>
                        <a:t>0.26 %</a:t>
                      </a:r>
                    </a:p>
                  </a:txBody>
                  <a:tcPr marL="45720" marR="45720" marT="18288" marB="18288" anchor="ctr">
                    <a:solidFill>
                      <a:srgbClr val="E6EBFA"/>
                    </a:solidFill>
                  </a:tcPr>
                </a:tc>
                <a:tc>
                  <a:txBody>
                    <a:bodyPr/>
                    <a:lstStyle/>
                    <a:p>
                      <a:pPr algn="ctr"/>
                      <a:r>
                        <a:rPr sz="750" b="0">
                          <a:solidFill>
                            <a:srgbClr val="1A1D24"/>
                          </a:solidFill>
                          <a:latin typeface="Calibri"/>
                        </a:rPr>
                        <a:t>0.94 %</a:t>
                      </a:r>
                    </a:p>
                  </a:txBody>
                  <a:tcPr marL="45720" marR="45720" marT="18288" marB="18288" anchor="ctr">
                    <a:solidFill>
                      <a:srgbClr val="E2E8FA"/>
                    </a:solidFill>
                  </a:tcPr>
                </a:tc>
                <a:tc>
                  <a:txBody>
                    <a:bodyPr/>
                    <a:lstStyle/>
                    <a:p>
                      <a:pPr algn="ctr"/>
                      <a:r>
                        <a:rPr sz="750" b="0">
                          <a:solidFill>
                            <a:srgbClr val="FFFFFF"/>
                          </a:solidFill>
                          <a:latin typeface="Calibri"/>
                        </a:rPr>
                        <a:t>50 %</a:t>
                      </a:r>
                    </a:p>
                  </a:txBody>
                  <a:tcPr marL="45720" marR="45720" marT="18288" marB="18288" anchor="ctr">
                    <a:solidFill>
                      <a:srgbClr val="5A7DE2"/>
                    </a:solidFill>
                  </a:tcPr>
                </a:tc>
                <a:tc>
                  <a:txBody>
                    <a:bodyPr/>
                    <a:lstStyle/>
                    <a:p>
                      <a:pPr algn="ctr"/>
                      <a:r>
                        <a:rPr sz="750" b="0">
                          <a:solidFill>
                            <a:srgbClr val="FFFFFF"/>
                          </a:solidFill>
                          <a:latin typeface="Calibri"/>
                        </a:rPr>
                        <a:t>72 %</a:t>
                      </a:r>
                    </a:p>
                  </a:txBody>
                  <a:tcPr marL="45720" marR="45720" marT="18288" marB="18288" anchor="ctr">
                    <a:solidFill>
                      <a:srgbClr val="315DDB"/>
                    </a:solidFill>
                  </a:tcPr>
                </a:tc>
                <a:tc>
                  <a:txBody>
                    <a:bodyPr/>
                    <a:lstStyle/>
                    <a:p>
                      <a:pPr algn="ctr"/>
                      <a:r>
                        <a:rPr sz="750" b="0">
                          <a:solidFill>
                            <a:srgbClr val="5B6270"/>
                          </a:solidFill>
                          <a:latin typeface="Calibri"/>
                        </a:rPr>
                        <a:t>11 %</a:t>
                      </a:r>
                    </a:p>
                  </a:txBody>
                  <a:tcPr marL="45720" marR="45720" marT="18288" marB="18288" anchor="ctr">
                    <a:solidFill>
                      <a:srgbClr val="F6F7F9"/>
                    </a:solidFill>
                  </a:tcPr>
                </a:tc>
              </a:tr>
              <a:tr h="208280">
                <a:tc>
                  <a:txBody>
                    <a:bodyPr/>
                    <a:lstStyle/>
                    <a:p>
                      <a:pPr algn="l"/>
                      <a:r>
                        <a:rPr sz="750" b="1">
                          <a:solidFill>
                            <a:srgbClr val="1A1D24"/>
                          </a:solidFill>
                          <a:latin typeface="Calibri"/>
                        </a:rPr>
                        <a:t>Otro</a:t>
                      </a:r>
                    </a:p>
                  </a:txBody>
                  <a:tcPr marL="45720" marR="45720" marT="18288" marB="18288" anchor="ctr">
                    <a:solidFill>
                      <a:srgbClr val="FFFFFF"/>
                    </a:solidFill>
                  </a:tcPr>
                </a:tc>
                <a:tc>
                  <a:txBody>
                    <a:bodyPr/>
                    <a:lstStyle/>
                    <a:p>
                      <a:pPr algn="ctr"/>
                      <a:r>
                        <a:rPr sz="750" b="0">
                          <a:solidFill>
                            <a:srgbClr val="1A1D24"/>
                          </a:solidFill>
                          <a:latin typeface="Calibri"/>
                        </a:rPr>
                        <a:t>1.29 %</a:t>
                      </a:r>
                    </a:p>
                  </a:txBody>
                  <a:tcPr marL="45720" marR="45720" marT="18288" marB="18288" anchor="ctr">
                    <a:solidFill>
                      <a:srgbClr val="9DB2EE"/>
                    </a:solidFill>
                  </a:tcPr>
                </a:tc>
                <a:tc>
                  <a:txBody>
                    <a:bodyPr/>
                    <a:lstStyle/>
                    <a:p>
                      <a:pPr algn="ctr"/>
                      <a:r>
                        <a:rPr sz="750" b="0">
                          <a:solidFill>
                            <a:srgbClr val="1A1D24"/>
                          </a:solidFill>
                          <a:latin typeface="Calibri"/>
                        </a:rPr>
                        <a:t>1.35 %</a:t>
                      </a:r>
                    </a:p>
                  </a:txBody>
                  <a:tcPr marL="45720" marR="45720" marT="18288" marB="18288" anchor="ctr">
                    <a:solidFill>
                      <a:srgbClr val="C7D3F5"/>
                    </a:solidFill>
                  </a:tcPr>
                </a:tc>
                <a:tc>
                  <a:txBody>
                    <a:bodyPr/>
                    <a:lstStyle/>
                    <a:p>
                      <a:pPr algn="ctr"/>
                      <a:r>
                        <a:rPr sz="750" b="0">
                          <a:solidFill>
                            <a:srgbClr val="FFFFFF"/>
                          </a:solidFill>
                          <a:latin typeface="Calibri"/>
                        </a:rPr>
                        <a:t>43 %</a:t>
                      </a:r>
                    </a:p>
                  </a:txBody>
                  <a:tcPr marL="45720" marR="45720" marT="18288" marB="18288" anchor="ctr">
                    <a:solidFill>
                      <a:srgbClr val="718FE6"/>
                    </a:solidFill>
                  </a:tcPr>
                </a:tc>
                <a:tc>
                  <a:txBody>
                    <a:bodyPr/>
                    <a:lstStyle/>
                    <a:p>
                      <a:pPr algn="ctr"/>
                      <a:r>
                        <a:rPr sz="750" b="0">
                          <a:solidFill>
                            <a:srgbClr val="FFFFFF"/>
                          </a:solidFill>
                          <a:latin typeface="Calibri"/>
                        </a:rPr>
                        <a:t>73 %</a:t>
                      </a:r>
                    </a:p>
                  </a:txBody>
                  <a:tcPr marL="45720" marR="45720" marT="18288" marB="18288" anchor="ctr">
                    <a:solidFill>
                      <a:srgbClr val="1F4FD8"/>
                    </a:solidFill>
                  </a:tcPr>
                </a:tc>
                <a:tc>
                  <a:txBody>
                    <a:bodyPr/>
                    <a:lstStyle/>
                    <a:p>
                      <a:pPr algn="ctr"/>
                      <a:r>
                        <a:rPr sz="750" b="0">
                          <a:solidFill>
                            <a:srgbClr val="5B6270"/>
                          </a:solidFill>
                          <a:latin typeface="Calibri"/>
                        </a:rPr>
                        <a:t>20 %</a:t>
                      </a:r>
                    </a:p>
                  </a:txBody>
                  <a:tcPr marL="45720" marR="45720" marT="18288" marB="18288" anchor="ctr">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Recordatorios 3.1 % en email y 3.8 % en push; cobranza 1.8 y 4.0 %; ofertas y lanzamientos 0.2 a 0.5 % y 0.8 a 1.1 %.</a:t>
            </a:r>
          </a:p>
          <a:p>
            <a:pPr>
              <a:spcAft>
                <a:spcPts val="350"/>
              </a:spcAft>
            </a:pPr>
            <a:r>
              <a:rPr sz="900" b="1">
                <a:solidFill>
                  <a:srgbClr val="1F4FD8"/>
                </a:solidFill>
                <a:latin typeface="Calibri"/>
              </a:rPr>
              <a:t>2.  </a:t>
            </a:r>
            <a:r>
              <a:rPr sz="900" b="0">
                <a:solidFill>
                  <a:srgbClr val="5B6270"/>
                </a:solidFill>
                <a:latin typeface="Calibri"/>
              </a:rPr>
              <a:t>Ofertas, Tasa 0, referidos y lanzamientos son 59 % de los envíos; recordatorios y pagos, 18 %.</a:t>
            </a:r>
          </a:p>
          <a:p>
            <a:pPr>
              <a:spcAft>
                <a:spcPts val="350"/>
              </a:spcAft>
            </a:pPr>
            <a:r>
              <a:rPr sz="900" b="1">
                <a:solidFill>
                  <a:srgbClr val="1F4FD8"/>
                </a:solidFill>
                <a:latin typeface="Calibri"/>
              </a:rPr>
              <a:t>3.  </a:t>
            </a:r>
            <a:r>
              <a:rPr sz="900" b="0">
                <a:solidFill>
                  <a:srgbClr val="5B6270"/>
                </a:solidFill>
                <a:latin typeface="Calibri"/>
              </a:rPr>
              <a:t>In-app responde 22 a 69 % en todo gancho porque solo lo ve quien abrió la app; WhatsApp lee 56 a 73 % en todos: el gancho cambia el costo, no el resultado.</a:t>
            </a:r>
          </a:p>
          <a:p>
            <a:pPr>
              <a:spcAft>
                <a:spcPts val="350"/>
              </a:spcAft>
            </a:pPr>
            <a:r>
              <a:rPr sz="900" b="1">
                <a:solidFill>
                  <a:srgbClr val="1F4FD8"/>
                </a:solidFill>
                <a:latin typeface="Calibri"/>
              </a:rPr>
              <a:t>4.  </a:t>
            </a:r>
            <a:r>
              <a:rPr sz="900" b="0">
                <a:solidFill>
                  <a:srgbClr val="5B6270"/>
                </a:solidFill>
                <a:latin typeface="Calibri"/>
              </a:rPr>
              <a:t>Bienvenida responde 0.16 % por email y 2.5 % por push: al nuevo se le habla por push e in-app.</a:t>
            </a:r>
          </a:p>
          <a:p>
            <a:pPr>
              <a:spcAft>
                <a:spcPts val="350"/>
              </a:spcAft>
            </a:pPr>
            <a:r>
              <a:rPr sz="900" b="1">
                <a:solidFill>
                  <a:srgbClr val="B5342B"/>
                </a:solidFill>
                <a:latin typeface="Calibri"/>
              </a:rPr>
              <a:t>5.  </a:t>
            </a:r>
            <a:r>
              <a:rPr sz="700" b="1">
                <a:solidFill>
                  <a:srgbClr val="B5342B"/>
                </a:solidFill>
                <a:latin typeface="Calibri"/>
              </a:rPr>
              <a:t>CAUSA RAÍZ · PRODUCTO U OFERTA  </a:t>
            </a:r>
            <a:r>
              <a:rPr sz="900" b="1">
                <a:solidFill>
                  <a:srgbClr val="1A1D24"/>
                </a:solidFill>
                <a:latin typeface="Calibri"/>
              </a:rPr>
              <a:t>La mezcla la fijan metas comerciales por producto, sin un dato de respuesta por gancho frente a quien decide.</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Si la mitad de las ofertas por email fueran recordatorios por evento, los clics subirían más de 1 M.</a:t>
            </a:r>
          </a:p>
          <a:p>
            <a:r>
              <a:rPr sz="700" b="1">
                <a:solidFill>
                  <a:srgbClr val="1F4FD8"/>
                </a:solidFill>
                <a:latin typeface="Calibri"/>
              </a:rPr>
              <a:t>O  </a:t>
            </a:r>
            <a:r>
              <a:rPr sz="750">
                <a:solidFill>
                  <a:srgbClr val="5B6270"/>
                </a:solidFill>
                <a:latin typeface="Calibri"/>
              </a:rPr>
              <a:t>Las piezas nacen de un brief de producto, no de un evento del usuario.</a:t>
            </a:r>
          </a:p>
          <a:p>
            <a:r>
              <a:rPr sz="700" b="1">
                <a:solidFill>
                  <a:srgbClr val="1F4FD8"/>
                </a:solidFill>
                <a:latin typeface="Calibri"/>
              </a:rPr>
              <a:t>G  </a:t>
            </a:r>
            <a:r>
              <a:rPr sz="750">
                <a:solidFill>
                  <a:srgbClr val="5B6270"/>
                </a:solidFill>
                <a:latin typeface="Calibri"/>
              </a:rPr>
              <a:t>No hay revisión de mezcla de ganchos por equipo.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CRM publica la tabla gancho por canal del playbook (sección 0) como estándar; cada pieza nueva declara gancho y canal en el checklist. Ofertas y lanzamientos solo a segmentos con señal o en in-app. Métrica: % de envíos con gancho de recordatorio o pago, hoy 18 %, meta 40 %.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Si la mitad de ofertas y lanzamientos por email (37 M) fueran recordatorios de algo empezado, pasarían de 0.26 % a 3.1 % de clic: más de 1 M de clics adicionales en 9 meses.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playbook invierte la mezcla: el gancho por defecto es recordar lo que el usuario empezó o debe pagar; ofertas, referidos y lanzamientos van a in-app o a un segmento con señal.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In-app responde 38 % y no cuesta; WhatsApp cuesta 20 veces más que email por mensaje: referidos y lanzamientos van por email (0.22 %) cuando en in-app responden 43 a 55 %</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B_Canales, Medianas, Parámetros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34</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38 %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in-app, sin costo</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0.93 %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email a 0.05 MXN por envío</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20 veces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más caro WhatsApp que email por mensaje</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8" cy="1280160"/>
        </p:xfrm>
        <a:graphic>
          <a:graphicData uri="http://schemas.openxmlformats.org/drawingml/2006/table">
            <a:tbl>
              <a:tblPr firstRow="1" bandRow="1">
                <a:tableStyleId>{5C22544A-7EE6-4342-B048-85BDC9FD1C3A}</a:tableStyleId>
              </a:tblPr>
              <a:tblGrid>
                <a:gridCol w="291076"/>
                <a:gridCol w="1200688"/>
                <a:gridCol w="654921"/>
                <a:gridCol w="618536"/>
                <a:gridCol w="2183070"/>
                <a:gridCol w="2001147"/>
              </a:tblGrid>
              <a:tr h="256032">
                <a:tc>
                  <a:txBody>
                    <a:bodyPr wrap="square"/>
                    <a:lstStyle/>
                    <a:p>
                      <a:r>
                        <a:rPr sz="900" b="1">
                          <a:solidFill>
                            <a:srgbClr val="5B6270"/>
                          </a:solidFill>
                          <a:latin typeface="Calibri"/>
                        </a:rPr>
                        <a:t>Canal</a:t>
                      </a:r>
                    </a:p>
                  </a:txBody>
                  <a:tcPr marL="45720" marR="45720" marT="18288" marB="18288">
                    <a:solidFill>
                      <a:srgbClr val="FFFFFF"/>
                    </a:solidFill>
                  </a:tcPr>
                </a:tc>
                <a:tc>
                  <a:txBody>
                    <a:bodyPr wrap="square"/>
                    <a:lstStyle/>
                    <a:p>
                      <a:r>
                        <a:rPr sz="900" b="1">
                          <a:solidFill>
                            <a:srgbClr val="5B6270"/>
                          </a:solidFill>
                          <a:latin typeface="Calibri"/>
                        </a:rPr>
                        <a:t>Respuesta hoy</a:t>
                      </a:r>
                    </a:p>
                  </a:txBody>
                  <a:tcPr marL="45720" marR="45720" marT="18288" marB="18288">
                    <a:solidFill>
                      <a:srgbClr val="FFFFFF"/>
                    </a:solidFill>
                  </a:tcPr>
                </a:tc>
                <a:tc>
                  <a:txBody>
                    <a:bodyPr wrap="square"/>
                    <a:lstStyle/>
                    <a:p>
                      <a:r>
                        <a:rPr sz="900" b="1">
                          <a:solidFill>
                            <a:srgbClr val="5B6270"/>
                          </a:solidFill>
                          <a:latin typeface="Calibri"/>
                        </a:rPr>
                        <a:t>Mínimo para seguir</a:t>
                      </a:r>
                    </a:p>
                  </a:txBody>
                  <a:tcPr marL="45720" marR="45720" marT="18288" marB="18288">
                    <a:solidFill>
                      <a:srgbClr val="FFFFFF"/>
                    </a:solidFill>
                  </a:tcPr>
                </a:tc>
                <a:tc>
                  <a:txBody>
                    <a:bodyPr wrap="square"/>
                    <a:lstStyle/>
                    <a:p>
                      <a:r>
                        <a:rPr sz="900" b="1">
                          <a:solidFill>
                            <a:srgbClr val="5B6270"/>
                          </a:solidFill>
                          <a:latin typeface="Calibri"/>
                        </a:rPr>
                        <a:t>Costo por mensaje</a:t>
                      </a:r>
                    </a:p>
                  </a:txBody>
                  <a:tcPr marL="45720" marR="45720" marT="18288" marB="18288">
                    <a:solidFill>
                      <a:srgbClr val="FFFFFF"/>
                    </a:solidFill>
                  </a:tcPr>
                </a:tc>
                <a:tc>
                  <a:txBody>
                    <a:bodyPr wrap="square"/>
                    <a:lstStyle/>
                    <a:p>
                      <a:r>
                        <a:rPr sz="900" b="1">
                          <a:solidFill>
                            <a:srgbClr val="5B6270"/>
                          </a:solidFill>
                          <a:latin typeface="Calibri"/>
                        </a:rPr>
                        <a:t>Funciona para</a:t>
                      </a:r>
                    </a:p>
                  </a:txBody>
                  <a:tcPr marL="45720" marR="45720" marT="18288" marB="18288">
                    <a:solidFill>
                      <a:srgbClr val="FFFFFF"/>
                    </a:solidFill>
                  </a:tcPr>
                </a:tc>
                <a:tc>
                  <a:txBody>
                    <a:bodyPr wrap="square"/>
                    <a:lstStyle/>
                    <a:p>
                      <a:r>
                        <a:rPr sz="900" b="1">
                          <a:solidFill>
                            <a:srgbClr val="5B6270"/>
                          </a:solidFill>
                          <a:latin typeface="Calibri"/>
                        </a:rPr>
                        <a:t>No funciona para</a:t>
                      </a:r>
                    </a:p>
                  </a:txBody>
                  <a:tcPr marL="45720" marR="45720" marT="18288" marB="18288">
                    <a:solidFill>
                      <a:srgbClr val="FFFFFF"/>
                    </a:solidFill>
                  </a:tcPr>
                </a:tc>
              </a:tr>
              <a:tr h="256032">
                <a:tc>
                  <a:txBody>
                    <a:bodyPr wrap="square"/>
                    <a:lstStyle/>
                    <a:p>
                      <a:r>
                        <a:rPr sz="1000" b="1">
                          <a:solidFill>
                            <a:srgbClr val="1A1D24"/>
                          </a:solidFill>
                          <a:latin typeface="Calibri"/>
                        </a:rPr>
                        <a:t>In-app</a:t>
                      </a:r>
                    </a:p>
                  </a:txBody>
                  <a:tcPr marL="45720" marR="45720" marT="18288" marB="18288">
                    <a:solidFill>
                      <a:srgbClr val="E4EAFB"/>
                    </a:solidFill>
                  </a:tcPr>
                </a:tc>
                <a:tc>
                  <a:txBody>
                    <a:bodyPr wrap="square"/>
                    <a:lstStyle/>
                    <a:p>
                      <a:r>
                        <a:rPr sz="1000" b="0">
                          <a:solidFill>
                            <a:srgbClr val="1A1D24"/>
                          </a:solidFill>
                          <a:latin typeface="Calibri"/>
                        </a:rPr>
                        <a:t>38 % de clic</a:t>
                      </a:r>
                    </a:p>
                  </a:txBody>
                  <a:tcPr marL="45720" marR="45720" marT="18288" marB="18288">
                    <a:solidFill>
                      <a:srgbClr val="E4EAFB"/>
                    </a:solidFill>
                  </a:tcPr>
                </a:tc>
                <a:tc>
                  <a:txBody>
                    <a:bodyPr wrap="square"/>
                    <a:lstStyle/>
                    <a:p>
                      <a:r>
                        <a:rPr sz="1000" b="0">
                          <a:solidFill>
                            <a:srgbClr val="1A1D24"/>
                          </a:solidFill>
                          <a:latin typeface="Calibri"/>
                        </a:rPr>
                        <a:t>10 %</a:t>
                      </a:r>
                    </a:p>
                  </a:txBody>
                  <a:tcPr marL="45720" marR="45720" marT="18288" marB="18288">
                    <a:solidFill>
                      <a:srgbClr val="E4EAFB"/>
                    </a:solidFill>
                  </a:tcPr>
                </a:tc>
                <a:tc>
                  <a:txBody>
                    <a:bodyPr wrap="square"/>
                    <a:lstStyle/>
                    <a:p>
                      <a:r>
                        <a:rPr sz="1000" b="0">
                          <a:solidFill>
                            <a:srgbClr val="1A1D24"/>
                          </a:solidFill>
                          <a:latin typeface="Calibri"/>
                        </a:rPr>
                        <a:t>0</a:t>
                      </a:r>
                    </a:p>
                  </a:txBody>
                  <a:tcPr marL="45720" marR="45720" marT="18288" marB="18288">
                    <a:solidFill>
                      <a:srgbClr val="E4EAFB"/>
                    </a:solidFill>
                  </a:tcPr>
                </a:tc>
                <a:tc>
                  <a:txBody>
                    <a:bodyPr wrap="square"/>
                    <a:lstStyle/>
                    <a:p>
                      <a:r>
                        <a:rPr sz="1000" b="0">
                          <a:solidFill>
                            <a:srgbClr val="1A1D24"/>
                          </a:solidFill>
                          <a:latin typeface="Calibri"/>
                        </a:rPr>
                        <a:t>Referidos, lanzamientos, retargeting, onboarding</a:t>
                      </a:r>
                    </a:p>
                  </a:txBody>
                  <a:tcPr marL="45720" marR="45720" marT="18288" marB="18288">
                    <a:solidFill>
                      <a:srgbClr val="E4EAFB"/>
                    </a:solidFill>
                  </a:tcPr>
                </a:tc>
                <a:tc>
                  <a:txBody>
                    <a:bodyPr wrap="square"/>
                    <a:lstStyle/>
                    <a:p>
                      <a:r>
                        <a:rPr sz="1000" b="0">
                          <a:solidFill>
                            <a:srgbClr val="1A1D24"/>
                          </a:solidFill>
                          <a:latin typeface="Calibri"/>
                        </a:rPr>
                        <a:t>Ofertas genéricas (14 %)</a:t>
                      </a:r>
                    </a:p>
                  </a:txBody>
                  <a:tcPr marL="45720" marR="45720" marT="18288" marB="18288">
                    <a:solidFill>
                      <a:srgbClr val="E4EAFB"/>
                    </a:solidFill>
                  </a:tcPr>
                </a:tc>
              </a:tr>
              <a:tr h="256032">
                <a:tc>
                  <a:txBody>
                    <a:bodyPr wrap="square"/>
                    <a:lstStyle/>
                    <a:p>
                      <a:r>
                        <a:rPr sz="1000" b="1">
                          <a:solidFill>
                            <a:srgbClr val="1A1D24"/>
                          </a:solidFill>
                          <a:latin typeface="Calibri"/>
                        </a:rPr>
                        <a:t>WhatsApp</a:t>
                      </a:r>
                    </a:p>
                  </a:txBody>
                  <a:tcPr marL="45720" marR="45720" marT="18288" marB="18288">
                    <a:solidFill>
                      <a:srgbClr val="F6F7F9"/>
                    </a:solidFill>
                  </a:tcPr>
                </a:tc>
                <a:tc>
                  <a:txBody>
                    <a:bodyPr wrap="square"/>
                    <a:lstStyle/>
                    <a:p>
                      <a:r>
                        <a:rPr sz="1000" b="0">
                          <a:solidFill>
                            <a:srgbClr val="1A1D24"/>
                          </a:solidFill>
                          <a:latin typeface="Calibri"/>
                        </a:rPr>
                        <a:t>69 % de lectura, 74 % de entrega</a:t>
                      </a:r>
                    </a:p>
                  </a:txBody>
                  <a:tcPr marL="45720" marR="45720" marT="18288" marB="18288">
                    <a:solidFill>
                      <a:srgbClr val="F6F7F9"/>
                    </a:solidFill>
                  </a:tcPr>
                </a:tc>
                <a:tc>
                  <a:txBody>
                    <a:bodyPr wrap="square"/>
                    <a:lstStyle/>
                    <a:p>
                      <a:r>
                        <a:rPr sz="1000" b="0">
                          <a:solidFill>
                            <a:srgbClr val="1A1D24"/>
                          </a:solidFill>
                          <a:latin typeface="Calibri"/>
                        </a:rPr>
                        <a:t>60 % y 80 %</a:t>
                      </a:r>
                    </a:p>
                  </a:txBody>
                  <a:tcPr marL="45720" marR="45720" marT="18288" marB="18288">
                    <a:solidFill>
                      <a:srgbClr val="F6F7F9"/>
                    </a:solidFill>
                  </a:tcPr>
                </a:tc>
                <a:tc>
                  <a:txBody>
                    <a:bodyPr wrap="square"/>
                    <a:lstStyle/>
                    <a:p>
                      <a:r>
                        <a:rPr sz="1000" b="0">
                          <a:solidFill>
                            <a:srgbClr val="1A1D24"/>
                          </a:solidFill>
                          <a:latin typeface="Calibri"/>
                        </a:rPr>
                        <a:t>1.00 MXN</a:t>
                      </a:r>
                    </a:p>
                  </a:txBody>
                  <a:tcPr marL="45720" marR="45720" marT="18288" marB="18288">
                    <a:solidFill>
                      <a:srgbClr val="F6F7F9"/>
                    </a:solidFill>
                  </a:tcPr>
                </a:tc>
                <a:tc>
                  <a:txBody>
                    <a:bodyPr wrap="square"/>
                    <a:lstStyle/>
                    <a:p>
                      <a:r>
                        <a:rPr sz="1000" b="0">
                          <a:solidFill>
                            <a:srgbClr val="1A1D24"/>
                          </a:solidFill>
                          <a:latin typeface="Calibri"/>
                        </a:rPr>
                        <a:t>Activos y recurrentes de KPay</a:t>
                      </a:r>
                    </a:p>
                  </a:txBody>
                  <a:tcPr marL="45720" marR="45720" marT="18288" marB="18288">
                    <a:solidFill>
                      <a:srgbClr val="F6F7F9"/>
                    </a:solidFill>
                  </a:tcPr>
                </a:tc>
                <a:tc>
                  <a:txBody>
                    <a:bodyPr wrap="square"/>
                    <a:lstStyle/>
                    <a:p>
                      <a:r>
                        <a:rPr sz="1000" b="0">
                          <a:solidFill>
                            <a:srgbClr val="1A1D24"/>
                          </a:solidFill>
                          <a:latin typeface="Calibri"/>
                        </a:rPr>
                        <a:t>Bases frías, primer toque, repetir a los 2 a 6 días</a:t>
                      </a:r>
                    </a:p>
                  </a:txBody>
                  <a:tcPr marL="45720" marR="45720" marT="18288" marB="18288">
                    <a:solidFill>
                      <a:srgbClr val="F6F7F9"/>
                    </a:solidFill>
                  </a:tcPr>
                </a:tc>
              </a:tr>
              <a:tr h="256032">
                <a:tc>
                  <a:txBody>
                    <a:bodyPr wrap="square"/>
                    <a:lstStyle/>
                    <a:p>
                      <a:r>
                        <a:rPr sz="1000" b="1">
                          <a:solidFill>
                            <a:srgbClr val="1A1D24"/>
                          </a:solidFill>
                          <a:latin typeface="Calibri"/>
                        </a:rPr>
                        <a:t>Push</a:t>
                      </a:r>
                    </a:p>
                  </a:txBody>
                  <a:tcPr marL="45720" marR="45720" marT="18288" marB="18288">
                    <a:solidFill>
                      <a:srgbClr val="FFFFFF"/>
                    </a:solidFill>
                  </a:tcPr>
                </a:tc>
                <a:tc>
                  <a:txBody>
                    <a:bodyPr wrap="square"/>
                    <a:lstStyle/>
                    <a:p>
                      <a:r>
                        <a:rPr sz="1000" b="0">
                          <a:solidFill>
                            <a:srgbClr val="1A1D24"/>
                          </a:solidFill>
                          <a:latin typeface="Calibri"/>
                        </a:rPr>
                        <a:t>1.5 % de apertura</a:t>
                      </a:r>
                    </a:p>
                  </a:txBody>
                  <a:tcPr marL="45720" marR="45720" marT="18288" marB="18288">
                    <a:solidFill>
                      <a:srgbClr val="FFFFFF"/>
                    </a:solidFill>
                  </a:tcPr>
                </a:tc>
                <a:tc>
                  <a:txBody>
                    <a:bodyPr wrap="square"/>
                    <a:lstStyle/>
                    <a:p>
                      <a:r>
                        <a:rPr sz="1000" b="0">
                          <a:solidFill>
                            <a:srgbClr val="1A1D24"/>
                          </a:solidFill>
                          <a:latin typeface="Calibri"/>
                        </a:rPr>
                        <a:t>0.75 %</a:t>
                      </a:r>
                    </a:p>
                  </a:txBody>
                  <a:tcPr marL="45720" marR="45720" marT="18288" marB="18288">
                    <a:solidFill>
                      <a:srgbClr val="FFFFFF"/>
                    </a:solidFill>
                  </a:tcPr>
                </a:tc>
                <a:tc>
                  <a:txBody>
                    <a:bodyPr wrap="square"/>
                    <a:lstStyle/>
                    <a:p>
                      <a:r>
                        <a:rPr sz="1000" b="0">
                          <a:solidFill>
                            <a:srgbClr val="1A1D24"/>
                          </a:solidFill>
                          <a:latin typeface="Calibri"/>
                        </a:rPr>
                        <a:t>0</a:t>
                      </a:r>
                    </a:p>
                  </a:txBody>
                  <a:tcPr marL="45720" marR="45720" marT="18288" marB="18288">
                    <a:solidFill>
                      <a:srgbClr val="FFFFFF"/>
                    </a:solidFill>
                  </a:tcPr>
                </a:tc>
                <a:tc>
                  <a:txBody>
                    <a:bodyPr wrap="square"/>
                    <a:lstStyle/>
                    <a:p>
                      <a:r>
                        <a:rPr sz="1000" b="0">
                          <a:solidFill>
                            <a:srgbClr val="1A1D24"/>
                          </a:solidFill>
                          <a:latin typeface="Calibri"/>
                        </a:rPr>
                        <a:t>Cobranza, nuevos, retargeting, recurrentes; es el canal de señal</a:t>
                      </a:r>
                    </a:p>
                  </a:txBody>
                  <a:tcPr marL="45720" marR="45720" marT="18288" marB="18288">
                    <a:solidFill>
                      <a:srgbClr val="FFFFFF"/>
                    </a:solidFill>
                  </a:tcPr>
                </a:tc>
                <a:tc>
                  <a:txBody>
                    <a:bodyPr wrap="square"/>
                    <a:lstStyle/>
                    <a:p>
                      <a:r>
                        <a:rPr sz="1000" b="0">
                          <a:solidFill>
                            <a:srgbClr val="1A1D24"/>
                          </a:solidFill>
                          <a:latin typeface="Calibri"/>
                        </a:rPr>
                        <a:t>Leads, anónimos, fríos, lanzamientos</a:t>
                      </a:r>
                    </a:p>
                  </a:txBody>
                  <a:tcPr marL="45720" marR="45720" marT="18288" marB="18288">
                    <a:solidFill>
                      <a:srgbClr val="FFFFFF"/>
                    </a:solidFill>
                  </a:tcPr>
                </a:tc>
              </a:tr>
              <a:tr h="256032">
                <a:tc>
                  <a:txBody>
                    <a:bodyPr wrap="square"/>
                    <a:lstStyle/>
                    <a:p>
                      <a:r>
                        <a:rPr sz="1000" b="1">
                          <a:solidFill>
                            <a:srgbClr val="1A1D24"/>
                          </a:solidFill>
                          <a:latin typeface="Calibri"/>
                        </a:rPr>
                        <a:t>Email</a:t>
                      </a:r>
                    </a:p>
                  </a:txBody>
                  <a:tcPr marL="45720" marR="45720" marT="18288" marB="18288">
                    <a:solidFill>
                      <a:srgbClr val="F6F7F9"/>
                    </a:solidFill>
                  </a:tcPr>
                </a:tc>
                <a:tc>
                  <a:txBody>
                    <a:bodyPr wrap="square"/>
                    <a:lstStyle/>
                    <a:p>
                      <a:r>
                        <a:rPr sz="1000" b="0">
                          <a:solidFill>
                            <a:srgbClr val="1A1D24"/>
                          </a:solidFill>
                          <a:latin typeface="Calibri"/>
                        </a:rPr>
                        <a:t>0.93 % de clic, 3.1 bajas por mil</a:t>
                      </a:r>
                    </a:p>
                  </a:txBody>
                  <a:tcPr marL="45720" marR="45720" marT="18288" marB="18288">
                    <a:solidFill>
                      <a:srgbClr val="F6F7F9"/>
                    </a:solidFill>
                  </a:tcPr>
                </a:tc>
                <a:tc>
                  <a:txBody>
                    <a:bodyPr wrap="square"/>
                    <a:lstStyle/>
                    <a:p>
                      <a:r>
                        <a:rPr sz="1000" b="0">
                          <a:solidFill>
                            <a:srgbClr val="1A1D24"/>
                          </a:solidFill>
                          <a:latin typeface="Calibri"/>
                        </a:rPr>
                        <a:t>0.3 % y 2.5</a:t>
                      </a:r>
                    </a:p>
                  </a:txBody>
                  <a:tcPr marL="45720" marR="45720" marT="18288" marB="18288">
                    <a:solidFill>
                      <a:srgbClr val="F6F7F9"/>
                    </a:solidFill>
                  </a:tcPr>
                </a:tc>
                <a:tc>
                  <a:txBody>
                    <a:bodyPr wrap="square"/>
                    <a:lstStyle/>
                    <a:p>
                      <a:r>
                        <a:rPr sz="1000" b="0">
                          <a:solidFill>
                            <a:srgbClr val="1A1D24"/>
                          </a:solidFill>
                          <a:latin typeface="Calibri"/>
                        </a:rPr>
                        <a:t>0.05 MXN</a:t>
                      </a:r>
                    </a:p>
                  </a:txBody>
                  <a:tcPr marL="45720" marR="45720" marT="18288" marB="18288">
                    <a:solidFill>
                      <a:srgbClr val="F6F7F9"/>
                    </a:solidFill>
                  </a:tcPr>
                </a:tc>
                <a:tc>
                  <a:txBody>
                    <a:bodyPr wrap="square"/>
                    <a:lstStyle/>
                    <a:p>
                      <a:r>
                        <a:rPr sz="1000" b="0">
                          <a:solidFill>
                            <a:srgbClr val="1A1D24"/>
                          </a:solidFill>
                          <a:latin typeface="Calibri"/>
                        </a:rPr>
                        <a:t>Transaccional, retargeting a registrados, nuevos</a:t>
                      </a:r>
                    </a:p>
                  </a:txBody>
                  <a:tcPr marL="45720" marR="45720" marT="18288" marB="18288">
                    <a:solidFill>
                      <a:srgbClr val="F6F7F9"/>
                    </a:solidFill>
                  </a:tcPr>
                </a:tc>
                <a:tc>
                  <a:txBody>
                    <a:bodyPr wrap="square"/>
                    <a:lstStyle/>
                    <a:p>
                      <a:r>
                        <a:rPr sz="1000" b="0">
                          <a:solidFill>
                            <a:srgbClr val="1A1D24"/>
                          </a:solidFill>
                          <a:latin typeface="Calibri"/>
                        </a:rPr>
                        <a:t>Tasa 0, referidos, newsletters, bases frías, más de 1 M</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In-app 38 % de clic sin costo; email 0.93 % a 0.05 MXN; WhatsApp 69 % de lectura a 1.00 MXN; push 1.5 % sin costo.</a:t>
            </a:r>
          </a:p>
          <a:p>
            <a:pPr>
              <a:spcAft>
                <a:spcPts val="350"/>
              </a:spcAft>
            </a:pPr>
            <a:r>
              <a:rPr sz="950" b="1">
                <a:solidFill>
                  <a:srgbClr val="1F4FD8"/>
                </a:solidFill>
                <a:latin typeface="Calibri"/>
              </a:rPr>
              <a:t>2.  </a:t>
            </a:r>
            <a:r>
              <a:rPr sz="950" b="0">
                <a:solidFill>
                  <a:srgbClr val="5B6270"/>
                </a:solidFill>
                <a:latin typeface="Calibri"/>
              </a:rPr>
              <a:t>Referidos y lanzamientos: 74 M emails con 0.22 % de clic, cuando en in-app responden 43 a 55 %.</a:t>
            </a:r>
          </a:p>
          <a:p>
            <a:pPr>
              <a:spcAft>
                <a:spcPts val="350"/>
              </a:spcAft>
            </a:pPr>
            <a:r>
              <a:rPr sz="950" b="1">
                <a:solidFill>
                  <a:srgbClr val="1F4FD8"/>
                </a:solidFill>
                <a:latin typeface="Calibri"/>
              </a:rPr>
              <a:t>3.  </a:t>
            </a:r>
            <a:r>
              <a:rPr sz="950" b="0">
                <a:solidFill>
                  <a:srgbClr val="5B6270"/>
                </a:solidFill>
                <a:latin typeface="Calibri"/>
              </a:rPr>
              <a:t>El email no falla por asunto (abren 24 %) sino porque no hay qué hacer adentro: varios llamados a la acción.</a:t>
            </a:r>
          </a:p>
          <a:p>
            <a:pPr>
              <a:spcAft>
                <a:spcPts val="350"/>
              </a:spcAft>
            </a:pPr>
            <a:r>
              <a:rPr sz="950" b="1">
                <a:solidFill>
                  <a:srgbClr val="1F4FD8"/>
                </a:solidFill>
                <a:latin typeface="Calibri"/>
              </a:rPr>
              <a:t>4.  </a:t>
            </a:r>
            <a:r>
              <a:rPr sz="950" b="0">
                <a:solidFill>
                  <a:srgbClr val="5B6270"/>
                </a:solidFill>
                <a:latin typeface="Calibri"/>
              </a:rPr>
              <a:t>WhatsApp se usa como primer toque a bases frías cuando su valor está en cerrar con quien ya respondió.</a:t>
            </a:r>
          </a:p>
          <a:p>
            <a:pPr>
              <a:spcAft>
                <a:spcPts val="350"/>
              </a:spcAft>
            </a:pPr>
            <a:r>
              <a:rPr sz="950" b="1">
                <a:solidFill>
                  <a:srgbClr val="B5342B"/>
                </a:solidFill>
                <a:latin typeface="Calibri"/>
              </a:rPr>
              <a:t>5.  </a:t>
            </a:r>
            <a:r>
              <a:rPr sz="700" b="1">
                <a:solidFill>
                  <a:srgbClr val="B5342B"/>
                </a:solidFill>
                <a:latin typeface="Calibri"/>
              </a:rPr>
              <a:t>CAUSA RAÍZ · CANAL EQUIVOCADO  </a:t>
            </a:r>
            <a:r>
              <a:rPr sz="950" b="1">
                <a:solidFill>
                  <a:srgbClr val="1A1D24"/>
                </a:solidFill>
                <a:latin typeface="Calibri"/>
              </a:rPr>
              <a:t>No hay regla de canal por tipo de mensaje; cada equipo usa el canal que opera.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Mover lo informativo a in-app mantiene la respuesta y quita 3.7 M MXN de email.</a:t>
            </a:r>
          </a:p>
          <a:p>
            <a:r>
              <a:rPr sz="700" b="1">
                <a:solidFill>
                  <a:srgbClr val="1F4FD8"/>
                </a:solidFill>
                <a:latin typeface="Calibri"/>
              </a:rPr>
              <a:t>O  </a:t>
            </a:r>
            <a:r>
              <a:rPr sz="750">
                <a:solidFill>
                  <a:srgbClr val="5B6270"/>
                </a:solidFill>
                <a:latin typeface="Calibri"/>
              </a:rPr>
              <a:t>In-app se usa poco porque lo configura otro equipo (producto) y no está en el flujo de Marketing.</a:t>
            </a:r>
          </a:p>
          <a:p>
            <a:r>
              <a:rPr sz="700" b="1">
                <a:solidFill>
                  <a:srgbClr val="1F4FD8"/>
                </a:solidFill>
                <a:latin typeface="Calibri"/>
              </a:rPr>
              <a:t>G  </a:t>
            </a:r>
            <a:r>
              <a:rPr sz="750">
                <a:solidFill>
                  <a:srgbClr val="5B6270"/>
                </a:solidFill>
                <a:latin typeface="Calibri"/>
              </a:rPr>
              <a:t>No hay regla de canal por tipo de mensaje escrita.</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Marketing mueve ReferralProgram y lanzamientos a in-app (In-App Message con prioridad) y deja el email con un solo llamado a la acción. Regla del playbook: push primer toque, in-app informativo, email un CTA, WhatsApp nunca abre. Métrica: emails de referidos y lanzamientos al mes, hoy 8 M, meta 2 M.</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Referidos y lanzamientos (74 M emails) a in-app: 3.7 M MXN de email ahorrados en 9 meses y respuesta de 43 a 55 % en lugar de 0.22 %.</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Lo informativo va en in-app, el push es el primer toque, el email lleva un solo llamado a la acción y WhatsApp nunca abre la conversación.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Mientras más grande la audiencia por envío y más toques repetidos, menos clic: audiencias de 10 a 100 mil con 2 toques responden 7 veces más que envíos de más de 1 M con 3 toques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G_Practicas (E1 por banda de tamaño y de toques)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35</a:t>
            </a:r>
          </a:p>
        </p:txBody>
      </p:sp>
      <p:pic>
        <p:nvPicPr>
          <p:cNvPr id="8" name="Picture 7" descr="r35.png"/>
          <p:cNvPicPr>
            <a:picLocks noChangeAspect="1"/>
          </p:cNvPicPr>
          <p:nvPr/>
        </p:nvPicPr>
        <p:blipFill>
          <a:blip r:embed="rId2"/>
          <a:stretch>
            <a:fillRect/>
          </a:stretch>
        </p:blipFill>
        <p:spPr>
          <a:xfrm>
            <a:off x="548640" y="1783080"/>
            <a:ext cx="6949440" cy="2414015"/>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A más de 1 M de usuarios por envío el clic cae a 0.16 %; de 10 a 100 mil está arriba de 1 %.</a:t>
            </a:r>
          </a:p>
          <a:p>
            <a:pPr>
              <a:spcAft>
                <a:spcPts val="350"/>
              </a:spcAft>
            </a:pPr>
            <a:r>
              <a:rPr sz="900" b="1">
                <a:solidFill>
                  <a:srgbClr val="1F4FD8"/>
                </a:solidFill>
                <a:latin typeface="Calibri"/>
              </a:rPr>
              <a:t>2.  </a:t>
            </a:r>
            <a:r>
              <a:rPr sz="900" b="0">
                <a:solidFill>
                  <a:srgbClr val="5B6270"/>
                </a:solidFill>
                <a:latin typeface="Calibri"/>
              </a:rPr>
              <a:t>El segundo toque sube la respuesta (1.8 %); el tercero la hunde (0.5 %).</a:t>
            </a:r>
          </a:p>
          <a:p>
            <a:pPr>
              <a:spcAft>
                <a:spcPts val="350"/>
              </a:spcAft>
            </a:pPr>
            <a:r>
              <a:rPr sz="900" b="1">
                <a:solidFill>
                  <a:srgbClr val="1F4FD8"/>
                </a:solidFill>
                <a:latin typeface="Calibri"/>
              </a:rPr>
              <a:t>3.  </a:t>
            </a:r>
            <a:r>
              <a:rPr sz="900" b="0">
                <a:solidFill>
                  <a:srgbClr val="5B6270"/>
                </a:solidFill>
                <a:latin typeface="Calibri"/>
              </a:rPr>
              <a:t>Las de 10 a 100 mil son segmentos con señal (Active, Precobranza, retargeting); las de más de 1 M son 'Todos' y Leads de Product Growth, NewProducts y Marketing.</a:t>
            </a:r>
          </a:p>
          <a:p>
            <a:pPr>
              <a:spcAft>
                <a:spcPts val="350"/>
              </a:spcAft>
            </a:pPr>
            <a:r>
              <a:rPr sz="900" b="1">
                <a:solidFill>
                  <a:srgbClr val="1F4FD8"/>
                </a:solidFill>
                <a:latin typeface="Calibri"/>
              </a:rPr>
              <a:t>4.  </a:t>
            </a:r>
            <a:r>
              <a:rPr sz="900" b="0">
                <a:solidFill>
                  <a:srgbClr val="5B6270"/>
                </a:solidFill>
                <a:latin typeface="Calibri"/>
              </a:rPr>
              <a:t>El tercer toque va al mismo usuario que no abrió los dos primeros: insistir sin cambiar audiencia ni gancho.</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No hay tope de toques por usuario por pieza ni regla de prueba al 10 % para envíos grandes.</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Es la audiencia, no el tamaño: una pieza de 1 M con señal respondería bien, pero no existe ninguna.</a:t>
            </a:r>
          </a:p>
          <a:p>
            <a:r>
              <a:rPr sz="700" b="1">
                <a:solidFill>
                  <a:srgbClr val="1F4FD8"/>
                </a:solidFill>
                <a:latin typeface="Calibri"/>
              </a:rPr>
              <a:t>O  </a:t>
            </a:r>
            <a:r>
              <a:rPr sz="750">
                <a:solidFill>
                  <a:srgbClr val="5B6270"/>
                </a:solidFill>
                <a:latin typeface="Calibri"/>
              </a:rPr>
              <a:t>El tercer toque se programa 'por si acaso' porque no cuesta.</a:t>
            </a:r>
          </a:p>
          <a:p>
            <a:r>
              <a:rPr sz="700" b="1">
                <a:solidFill>
                  <a:srgbClr val="1F4FD8"/>
                </a:solidFill>
                <a:latin typeface="Calibri"/>
              </a:rPr>
              <a:t>G  </a:t>
            </a:r>
            <a:r>
              <a:rPr sz="750">
                <a:solidFill>
                  <a:srgbClr val="5B6270"/>
                </a:solidFill>
                <a:latin typeface="Calibri"/>
              </a:rPr>
              <a:t>No hay tope de toques en el estándar de Canvas.</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estándar de Canvas: 2 toques y se acabó, el segundo solo a quien no abrió (Decision Split). Más de 1 M obliga prueba al 10 % y segmento. MarTech revisa las 10 piezas masivas con sus dueños. Métrica: clic de las piezas de más de 1 M, hoy 0.16 %, meta 0.6 %.</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Los 125 M de las 10 piezas masivas responderían como las de 100 mil a 1 M (0.6 % contra 0.16 %): 4 veces más clics con la mitad del volumen.</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Audiencias de 10 a 100 mil con un criterio y 2 toques: más de 1 M obliga prueba al 10 % y el tercer toque desaparece.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Solo 38 de 308 piezas de email y 26 de 314 de push pasan el mínimo, y las que pasan existen en todos los tamaños: las 270 que no pasan son 81 % del volumen y 31 % de los clics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Campañas (E1). Escala horizontal logarítmica; puntos arriba del tope se dibujan en el tope</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36</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38 de 308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piezas de email pasan el mínimo de 1.5 %</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26 de 314</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piezas de push pasan el mínimo de 3 %</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81 % / 31 %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del volumen y de los clics de email están en piezas que no pasan</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Chart 14"/>
          <p:cNvGraphicFramePr>
            <a:graphicFrameLocks noGrp="1"/>
          </p:cNvGraphicFramePr>
          <p:nvPr/>
        </p:nvGraphicFramePr>
        <p:xfrm>
          <a:off x="548640" y="2560320"/>
          <a:ext cx="3337560" cy="2148840"/>
        </p:xfrm>
        <a:graphic>
          <a:graphicData uri="http://schemas.openxmlformats.org/drawingml/2006/chart">
            <c:chart xmlns:c="http://schemas.openxmlformats.org/drawingml/2006/chart" r:id="rId2"/>
          </a:graphicData>
        </a:graphic>
      </p:graphicFrame>
      <p:sp>
        <p:nvSpPr>
          <p:cNvPr id="16" name="TextBox 15"/>
          <p:cNvSpPr txBox="1"/>
          <p:nvPr/>
        </p:nvSpPr>
        <p:spPr>
          <a:xfrm>
            <a:off x="548640" y="4709160"/>
            <a:ext cx="3337560" cy="274320"/>
          </a:xfrm>
          <a:prstGeom prst="rect">
            <a:avLst/>
          </a:prstGeom>
          <a:noFill/>
        </p:spPr>
        <p:txBody>
          <a:bodyPr wrap="square" lIns="18288" rIns="18288" tIns="18288" bIns="18288" anchor="t">
            <a:spAutoFit/>
          </a:bodyPr>
          <a:lstStyle/>
          <a:p>
            <a:pPr algn="l"/>
            <a:r>
              <a:rPr sz="850" b="0">
                <a:solidFill>
                  <a:srgbClr val="5B6270"/>
                </a:solidFill>
                <a:latin typeface="Calibri"/>
              </a:rPr>
              <a:t>Mínimo: Mínimo 1.5 %</a:t>
            </a:r>
          </a:p>
        </p:txBody>
      </p:sp>
      <p:graphicFrame>
        <p:nvGraphicFramePr>
          <p:cNvPr id="17" name="Chart 16"/>
          <p:cNvGraphicFramePr>
            <a:graphicFrameLocks noGrp="1"/>
          </p:cNvGraphicFramePr>
          <p:nvPr/>
        </p:nvGraphicFramePr>
        <p:xfrm>
          <a:off x="4160520" y="2560320"/>
          <a:ext cx="3337560" cy="2148840"/>
        </p:xfrm>
        <a:graphic>
          <a:graphicData uri="http://schemas.openxmlformats.org/drawingml/2006/chart">
            <c:chart xmlns:c="http://schemas.openxmlformats.org/drawingml/2006/chart" r:id="rId3"/>
          </a:graphicData>
        </a:graphic>
      </p:graphicFrame>
      <p:sp>
        <p:nvSpPr>
          <p:cNvPr id="18" name="TextBox 17"/>
          <p:cNvSpPr txBox="1"/>
          <p:nvPr/>
        </p:nvSpPr>
        <p:spPr>
          <a:xfrm>
            <a:off x="4160520" y="4709160"/>
            <a:ext cx="3337560" cy="274320"/>
          </a:xfrm>
          <a:prstGeom prst="rect">
            <a:avLst/>
          </a:prstGeom>
          <a:noFill/>
        </p:spPr>
        <p:txBody>
          <a:bodyPr wrap="square" lIns="18288" rIns="18288" tIns="18288" bIns="18288" anchor="t">
            <a:spAutoFit/>
          </a:bodyPr>
          <a:lstStyle/>
          <a:p>
            <a:pPr algn="l"/>
            <a:r>
              <a:rPr sz="850" b="0">
                <a:solidFill>
                  <a:srgbClr val="5B6270"/>
                </a:solidFill>
                <a:latin typeface="Calibri"/>
              </a:rPr>
              <a:t>Mínimo: Mínimo 3 %</a:t>
            </a:r>
          </a:p>
        </p:txBody>
      </p:sp>
      <p:sp>
        <p:nvSpPr>
          <p:cNvPr id="19" name="TextBox 18"/>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38 de 308 piezas de email (200 mil o más entregados) pasan 1.5 %; 26 de 314 de push pasan 3 %.</a:t>
            </a:r>
          </a:p>
          <a:p>
            <a:pPr>
              <a:spcAft>
                <a:spcPts val="350"/>
              </a:spcAft>
            </a:pPr>
            <a:r>
              <a:rPr sz="950" b="1">
                <a:solidFill>
                  <a:srgbClr val="1F4FD8"/>
                </a:solidFill>
                <a:latin typeface="Calibri"/>
              </a:rPr>
              <a:t>2.  </a:t>
            </a:r>
            <a:r>
              <a:rPr sz="950" b="0">
                <a:solidFill>
                  <a:srgbClr val="5B6270"/>
                </a:solidFill>
                <a:latin typeface="Calibri"/>
              </a:rPr>
              <a:t>Pasan chicas y grandes (Veriff con 9.7 M, Precobranza, Payment Confirmation): van a quien ya hizo algo.</a:t>
            </a:r>
          </a:p>
          <a:p>
            <a:pPr>
              <a:spcAft>
                <a:spcPts val="350"/>
              </a:spcAft>
            </a:pPr>
            <a:r>
              <a:rPr sz="950" b="1">
                <a:solidFill>
                  <a:srgbClr val="1F4FD8"/>
                </a:solidFill>
                <a:latin typeface="Calibri"/>
              </a:rPr>
              <a:t>3.  </a:t>
            </a:r>
            <a:r>
              <a:rPr sz="950" b="0">
                <a:solidFill>
                  <a:srgbClr val="5B6270"/>
                </a:solidFill>
                <a:latin typeface="Calibri"/>
              </a:rPr>
              <a:t>Las 270 de email que no pasan son 81 % del volumen y 31 % de los clics; en push las 288 son 88 % y 53 %.</a:t>
            </a:r>
          </a:p>
          <a:p>
            <a:pPr>
              <a:spcAft>
                <a:spcPts val="350"/>
              </a:spcAft>
            </a:pPr>
            <a:r>
              <a:rPr sz="950" b="1">
                <a:solidFill>
                  <a:srgbClr val="1F4FD8"/>
                </a:solidFill>
                <a:latin typeface="Calibri"/>
              </a:rPr>
              <a:t>4.  </a:t>
            </a:r>
            <a:r>
              <a:rPr sz="950" b="0">
                <a:solidFill>
                  <a:srgbClr val="5B6270"/>
                </a:solidFill>
                <a:latin typeface="Calibri"/>
              </a:rPr>
              <a:t>Usan la misma plantilla de audiencia sin señal (Leads, 'Todos', Recurrentes); cambia el gancho, no el público.</a:t>
            </a:r>
          </a:p>
          <a:p>
            <a:pPr>
              <a:spcAft>
                <a:spcPts val="350"/>
              </a:spcAft>
            </a:pPr>
            <a:r>
              <a:rPr sz="950" b="1">
                <a:solidFill>
                  <a:srgbClr val="B5342B"/>
                </a:solidFill>
                <a:latin typeface="Calibri"/>
              </a:rPr>
              <a:t>5.  </a:t>
            </a:r>
            <a:r>
              <a:rPr sz="700" b="1">
                <a:solidFill>
                  <a:srgbClr val="B5342B"/>
                </a:solidFill>
                <a:latin typeface="Calibri"/>
              </a:rPr>
              <a:t>CAUSA RAÍZ · AUDIENCIA SIN SEGMENTO  </a:t>
            </a:r>
            <a:r>
              <a:rPr sz="950" b="1">
                <a:solidFill>
                  <a:srgbClr val="1A1D24"/>
                </a:solidFill>
                <a:latin typeface="Calibri"/>
              </a:rPr>
              <a:t>La mediana está en 0.3 %: el problema es general, y no hay regla de revisión a 4 semanas contra el mínimo.</a:t>
            </a:r>
          </a:p>
        </p:txBody>
      </p:sp>
      <p:cxnSp>
        <p:nvCxnSpPr>
          <p:cNvPr id="20" name="Connector 1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Si las 270 respondieran como las 38, los clics de email se triplican con el mismo volumen.</a:t>
            </a:r>
          </a:p>
          <a:p>
            <a:r>
              <a:rPr sz="700" b="1">
                <a:solidFill>
                  <a:srgbClr val="1F4FD8"/>
                </a:solidFill>
                <a:latin typeface="Calibri"/>
              </a:rPr>
              <a:t>O  </a:t>
            </a:r>
            <a:r>
              <a:rPr sz="750">
                <a:solidFill>
                  <a:srgbClr val="5B6270"/>
                </a:solidFill>
                <a:latin typeface="Calibri"/>
              </a:rPr>
              <a:t>Las piezas se duplican de una plantilla con audiencia por etapa.</a:t>
            </a:r>
          </a:p>
          <a:p>
            <a:r>
              <a:rPr sz="700" b="1">
                <a:solidFill>
                  <a:srgbClr val="1F4FD8"/>
                </a:solidFill>
                <a:latin typeface="Calibri"/>
              </a:rPr>
              <a:t>G  </a:t>
            </a:r>
            <a:r>
              <a:rPr sz="750">
                <a:solidFill>
                  <a:srgbClr val="5B6270"/>
                </a:solidFill>
                <a:latin typeface="Calibri"/>
              </a:rPr>
              <a:t>No hay regla de apagado por mínimo ni dueño que la ejecute.</a:t>
            </a:r>
          </a:p>
        </p:txBody>
      </p:sp>
      <p:sp>
        <p:nvSpPr>
          <p:cNvPr id="22" name="TextBox 2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CRM publica la lista de las 270 y 288 piezas (Sheets Campañas) con su dueño; cada equipo decide por pieza: rehacer con señal, bajar frecuencia o apagar. Regla de 4 semanas en el checklist. Métrica: piezas que pasan el mínimo, hoy 12 %, meta 40 % en 90 días.</a:t>
            </a:r>
          </a:p>
        </p:txBody>
      </p:sp>
      <p:sp>
        <p:nvSpPr>
          <p:cNvPr id="23" name="TextBox 2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Rehacer con señal las 270 que no pasan: si respondieran como las 38 que pasan, los clics de email se multiplican por 3 con el mismo volumen.</a:t>
            </a:r>
          </a:p>
        </p:txBody>
      </p:sp>
      <p:sp>
        <p:nvSpPr>
          <p:cNvPr id="24" name="Rectangle 2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No hay piezas grandes malas y chicas buenas: hay piezas con señal y sin señal. El criterio para apagar es la respuesta contra el mínimo a las 4 semanas, no el tamaño.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La respuesta por pieza es log-normal: la mitad de las piezas de email está debajo de 0.35 % y el promedio de 1.14 % lo infla el 10 % de piezas arriba de 2.9 %; decidir con el promedio esconde a la mayoría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Campañas (E1). Campana: normal con el mismo promedio y desviación que los datos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37</a:t>
            </a:r>
          </a:p>
        </p:txBody>
      </p:sp>
      <p:pic>
        <p:nvPicPr>
          <p:cNvPr id="8" name="Picture 7" descr="r37.png"/>
          <p:cNvPicPr>
            <a:picLocks noChangeAspect="1"/>
          </p:cNvPicPr>
          <p:nvPr/>
        </p:nvPicPr>
        <p:blipFill>
          <a:blip r:embed="rId2"/>
          <a:stretch>
            <a:fillRect/>
          </a:stretch>
        </p:blipFill>
        <p:spPr>
          <a:xfrm>
            <a:off x="548640" y="1783080"/>
            <a:ext cx="6445857" cy="2926080"/>
          </a:xfrm>
          <a:prstGeom prst="rect">
            <a:avLst/>
          </a:prstGeom>
        </p:spPr>
      </p:pic>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Piezas-mes de email con 100 mil o más: 60 % debajo de 0.5 %, 80 % debajo del mínimo de 1.5 %; mediana 0.35 %, promedio 1.14 %.</a:t>
            </a:r>
          </a:p>
          <a:p>
            <a:pPr>
              <a:spcAft>
                <a:spcPts val="350"/>
              </a:spcAft>
            </a:pPr>
            <a:r>
              <a:rPr sz="900" b="1">
                <a:solidFill>
                  <a:srgbClr val="1F4FD8"/>
                </a:solidFill>
                <a:latin typeface="Calibri"/>
              </a:rPr>
              <a:t>2.  </a:t>
            </a:r>
            <a:r>
              <a:rPr sz="900" b="0">
                <a:solidFill>
                  <a:srgbClr val="5B6270"/>
                </a:solidFill>
                <a:latin typeface="Calibri"/>
              </a:rPr>
              <a:t>Push: mediana 0.93 %, promedio 1.67 %, 86 % debajo del mínimo de 3 %.</a:t>
            </a:r>
          </a:p>
          <a:p>
            <a:pPr>
              <a:spcAft>
                <a:spcPts val="350"/>
              </a:spcAft>
            </a:pPr>
            <a:r>
              <a:rPr sz="900" b="1">
                <a:solidFill>
                  <a:srgbClr val="1F4FD8"/>
                </a:solidFill>
                <a:latin typeface="Calibri"/>
              </a:rPr>
              <a:t>3.  </a:t>
            </a:r>
            <a:r>
              <a:rPr sz="900" b="0">
                <a:solidFill>
                  <a:srgbClr val="5B6270"/>
                </a:solidFill>
                <a:latin typeface="Calibri"/>
              </a:rPr>
              <a:t>Pocas piezas con señal (Precobranza, Veriff) inflan el promedio; el tablero por equipo reporta promedio y se ve 'cerca del estándar'.</a:t>
            </a:r>
          </a:p>
          <a:p>
            <a:pPr>
              <a:spcAft>
                <a:spcPts val="350"/>
              </a:spcAft>
            </a:pPr>
            <a:r>
              <a:rPr sz="900" b="1">
                <a:solidFill>
                  <a:srgbClr val="1F4FD8"/>
                </a:solidFill>
                <a:latin typeface="Calibri"/>
              </a:rPr>
              <a:t>4.  </a:t>
            </a:r>
            <a:r>
              <a:rPr sz="900" b="0">
                <a:solidFill>
                  <a:srgbClr val="5B6270"/>
                </a:solidFill>
                <a:latin typeface="Calibri"/>
              </a:rPr>
              <a:t>Log-normal significa que las mejoras se miden en múltiplos: pasar de 0.3 a 0.6 % es el mismo salto que de 1.5 a 3 %.</a:t>
            </a:r>
          </a:p>
          <a:p>
            <a:pPr>
              <a:spcAft>
                <a:spcPts val="350"/>
              </a:spcAft>
            </a:pPr>
            <a:r>
              <a:rPr sz="900" b="1">
                <a:solidFill>
                  <a:srgbClr val="B5342B"/>
                </a:solidFill>
                <a:latin typeface="Calibri"/>
              </a:rPr>
              <a:t>5.  </a:t>
            </a:r>
            <a:r>
              <a:rPr sz="700" b="1">
                <a:solidFill>
                  <a:srgbClr val="B5342B"/>
                </a:solidFill>
                <a:latin typeface="Calibri"/>
              </a:rPr>
              <a:t>CAUSA RAÍZ · SIN MEDICIÓN  </a:t>
            </a:r>
            <a:r>
              <a:rPr sz="900" b="1">
                <a:solidFill>
                  <a:srgbClr val="1A1D24"/>
                </a:solidFill>
                <a:latin typeface="Calibri"/>
              </a:rPr>
              <a:t>Se decide con promedios ponderados por equipo; nadie mira la distribución por pieza ni la mediana.</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mediana y el mínimo muestran que la mitad de las piezas necesita revisión; el promedio dice que todo va bien.</a:t>
            </a:r>
          </a:p>
          <a:p>
            <a:r>
              <a:rPr sz="700" b="1">
                <a:solidFill>
                  <a:srgbClr val="1F4FD8"/>
                </a:solidFill>
                <a:latin typeface="Calibri"/>
              </a:rPr>
              <a:t>O  </a:t>
            </a:r>
            <a:r>
              <a:rPr sz="750">
                <a:solidFill>
                  <a:srgbClr val="5B6270"/>
                </a:solidFill>
                <a:latin typeface="Calibri"/>
              </a:rPr>
              <a:t>Los reportes de Braze por equipo se leen como promedio.</a:t>
            </a:r>
          </a:p>
          <a:p>
            <a:r>
              <a:rPr sz="700" b="1">
                <a:solidFill>
                  <a:srgbClr val="1F4FD8"/>
                </a:solidFill>
                <a:latin typeface="Calibri"/>
              </a:rPr>
              <a:t>G  </a:t>
            </a:r>
            <a:r>
              <a:rPr sz="750">
                <a:solidFill>
                  <a:srgbClr val="5B6270"/>
                </a:solidFill>
                <a:latin typeface="Calibri"/>
              </a:rPr>
              <a:t>Las metas se fijan en promedio, no en mediana.</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el tablero semanal reporta mediana, % de piezas que pasan el mínimo y promedio; las metas de los 24 estándares se expresan por pieza. Dueño: CRM. Métrica: % de piezas-mes arriba del mínimo, hoy 20 %, meta 40 %.</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Decidir por mediana y mínimo: la mitad de las piezas (debajo de 0.35 %) entra a revisión a las 4 semanas en lugar de esconderse detrás del 1.14 %.</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Las metas se fijan con la mediana, no con el promedio: una pieza 'promedio' no existe. El mínimo de 1.5 % ya lo pasan 122 piezas-mes: es exigente, no imposible.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Cada equipo tiene un canal que le funciona y otro que le cuesta: Sales lee 78 % en WhatsApp pero manda su volumen por email (0.21 %); Collections hace clic 1.1 % en email y abre 3.6 % en push</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Vista_equipo, Campañas, Plan_accion P3</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38</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1.30 M MXN</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ahorro al mes en Product Growth, 81 % del total</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0.21 %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email de Sales, el peor de los cinco</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4.3 % y 5.3 %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Precobranza por email y push, la mejor pieza de la empresa</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8" cy="1536192"/>
        </p:xfrm>
        <a:graphic>
          <a:graphicData uri="http://schemas.openxmlformats.org/drawingml/2006/table">
            <a:tbl>
              <a:tblPr firstRow="1" bandRow="1">
                <a:tableStyleId>{5C22544A-7EE6-4342-B048-85BDC9FD1C3A}</a:tableStyleId>
              </a:tblPr>
              <a:tblGrid>
                <a:gridCol w="565652"/>
                <a:gridCol w="484844"/>
                <a:gridCol w="525248"/>
                <a:gridCol w="2424223"/>
                <a:gridCol w="2424223"/>
                <a:gridCol w="525248"/>
              </a:tblGrid>
              <a:tr h="256032">
                <a:tc>
                  <a:txBody>
                    <a:bodyPr wrap="square"/>
                    <a:lstStyle/>
                    <a:p>
                      <a:r>
                        <a:rPr sz="900" b="1">
                          <a:solidFill>
                            <a:srgbClr val="5B6270"/>
                          </a:solidFill>
                          <a:latin typeface="Calibri"/>
                        </a:rPr>
                        <a:t>Equipo</a:t>
                      </a:r>
                    </a:p>
                  </a:txBody>
                  <a:tcPr marL="45720" marR="45720" marT="18288" marB="18288">
                    <a:solidFill>
                      <a:srgbClr val="FFFFFF"/>
                    </a:solidFill>
                  </a:tcPr>
                </a:tc>
                <a:tc>
                  <a:txBody>
                    <a:bodyPr wrap="square"/>
                    <a:lstStyle/>
                    <a:p>
                      <a:r>
                        <a:rPr sz="900" b="1">
                          <a:solidFill>
                            <a:srgbClr val="5B6270"/>
                          </a:solidFill>
                          <a:latin typeface="Calibri"/>
                        </a:rPr>
                        <a:t>Envíos</a:t>
                      </a:r>
                    </a:p>
                  </a:txBody>
                  <a:tcPr marL="45720" marR="45720" marT="18288" marB="18288">
                    <a:solidFill>
                      <a:srgbClr val="FFFFFF"/>
                    </a:solidFill>
                  </a:tcPr>
                </a:tc>
                <a:tc>
                  <a:txBody>
                    <a:bodyPr wrap="square"/>
                    <a:lstStyle/>
                    <a:p>
                      <a:r>
                        <a:rPr sz="900" b="1">
                          <a:solidFill>
                            <a:srgbClr val="5B6270"/>
                          </a:solidFill>
                          <a:latin typeface="Calibri"/>
                        </a:rPr>
                        <a:t>Costo</a:t>
                      </a:r>
                    </a:p>
                  </a:txBody>
                  <a:tcPr marL="45720" marR="45720" marT="18288" marB="18288">
                    <a:solidFill>
                      <a:srgbClr val="FFFFFF"/>
                    </a:solidFill>
                  </a:tcPr>
                </a:tc>
                <a:tc>
                  <a:txBody>
                    <a:bodyPr wrap="square"/>
                    <a:lstStyle/>
                    <a:p>
                      <a:r>
                        <a:rPr sz="900" b="1">
                          <a:solidFill>
                            <a:srgbClr val="5B6270"/>
                          </a:solidFill>
                          <a:latin typeface="Calibri"/>
                        </a:rPr>
                        <a:t>Funciona</a:t>
                      </a:r>
                    </a:p>
                  </a:txBody>
                  <a:tcPr marL="45720" marR="45720" marT="18288" marB="18288">
                    <a:solidFill>
                      <a:srgbClr val="FFFFFF"/>
                    </a:solidFill>
                  </a:tcPr>
                </a:tc>
                <a:tc>
                  <a:txBody>
                    <a:bodyPr wrap="square"/>
                    <a:lstStyle/>
                    <a:p>
                      <a:r>
                        <a:rPr sz="900" b="1">
                          <a:solidFill>
                            <a:srgbClr val="5B6270"/>
                          </a:solidFill>
                          <a:latin typeface="Calibri"/>
                        </a:rPr>
                        <a:t>No funciona</a:t>
                      </a:r>
                    </a:p>
                  </a:txBody>
                  <a:tcPr marL="45720" marR="45720" marT="18288" marB="18288">
                    <a:solidFill>
                      <a:srgbClr val="FFFFFF"/>
                    </a:solidFill>
                  </a:tcPr>
                </a:tc>
                <a:tc>
                  <a:txBody>
                    <a:bodyPr wrap="square"/>
                    <a:lstStyle/>
                    <a:p>
                      <a:r>
                        <a:rPr sz="900" b="1">
                          <a:solidFill>
                            <a:srgbClr val="5B6270"/>
                          </a:solidFill>
                          <a:latin typeface="Calibri"/>
                        </a:rPr>
                        <a:t>Ahorro al mes</a:t>
                      </a:r>
                    </a:p>
                  </a:txBody>
                  <a:tcPr marL="45720" marR="45720" marT="18288" marB="18288">
                    <a:solidFill>
                      <a:srgbClr val="FFFFFF"/>
                    </a:solidFill>
                  </a:tcPr>
                </a:tc>
              </a:tr>
              <a:tr h="256032">
                <a:tc>
                  <a:txBody>
                    <a:bodyPr wrap="square"/>
                    <a:lstStyle/>
                    <a:p>
                      <a:r>
                        <a:rPr sz="1000" b="1">
                          <a:solidFill>
                            <a:srgbClr val="1A1D24"/>
                          </a:solidFill>
                          <a:latin typeface="Calibri"/>
                        </a:rPr>
                        <a:t>Marketing</a:t>
                      </a:r>
                    </a:p>
                  </a:txBody>
                  <a:tcPr marL="45720" marR="45720" marT="18288" marB="18288">
                    <a:solidFill>
                      <a:srgbClr val="FFFFFF"/>
                    </a:solidFill>
                  </a:tcPr>
                </a:tc>
                <a:tc>
                  <a:txBody>
                    <a:bodyPr wrap="square"/>
                    <a:lstStyle/>
                    <a:p>
                      <a:r>
                        <a:rPr sz="1000" b="0">
                          <a:solidFill>
                            <a:srgbClr val="1A1D24"/>
                          </a:solidFill>
                          <a:latin typeface="Calibri"/>
                        </a:rPr>
                        <a:t>262 M (39 %)</a:t>
                      </a:r>
                    </a:p>
                  </a:txBody>
                  <a:tcPr marL="45720" marR="45720" marT="18288" marB="18288">
                    <a:solidFill>
                      <a:srgbClr val="FFFFFF"/>
                    </a:solidFill>
                  </a:tcPr>
                </a:tc>
                <a:tc>
                  <a:txBody>
                    <a:bodyPr wrap="square"/>
                    <a:lstStyle/>
                    <a:p>
                      <a:r>
                        <a:rPr sz="1000" b="0">
                          <a:solidFill>
                            <a:srgbClr val="1A1D24"/>
                          </a:solidFill>
                          <a:latin typeface="Calibri"/>
                        </a:rPr>
                        <a:t>27.2 M (47 %)</a:t>
                      </a:r>
                    </a:p>
                  </a:txBody>
                  <a:tcPr marL="45720" marR="45720" marT="18288" marB="18288">
                    <a:solidFill>
                      <a:srgbClr val="FFFFFF"/>
                    </a:solidFill>
                  </a:tcPr>
                </a:tc>
                <a:tc>
                  <a:txBody>
                    <a:bodyPr wrap="square"/>
                    <a:lstStyle/>
                    <a:p>
                      <a:r>
                        <a:rPr sz="1000" b="0">
                          <a:solidFill>
                            <a:srgbClr val="1A1D24"/>
                          </a:solidFill>
                          <a:latin typeface="Calibri"/>
                        </a:rPr>
                        <a:t>Retargeting Veriff (email 3.0 %, push 5.8 %), in-app de registro (87 %)</a:t>
                      </a:r>
                    </a:p>
                  </a:txBody>
                  <a:tcPr marL="45720" marR="45720" marT="18288" marB="18288">
                    <a:solidFill>
                      <a:srgbClr val="FFFFFF"/>
                    </a:solidFill>
                  </a:tcPr>
                </a:tc>
                <a:tc>
                  <a:txBody>
                    <a:bodyPr wrap="square"/>
                    <a:lstStyle/>
                    <a:p>
                      <a:r>
                        <a:rPr sz="1000" b="0">
                          <a:solidFill>
                            <a:srgbClr val="1A1D24"/>
                          </a:solidFill>
                          <a:latin typeface="Calibri"/>
                        </a:rPr>
                        <a:t>Rescates por push a anónimos (0.6 a 0.8 % en 22 M), referidos por email (0.1 a 0.2 % en 15 M), 4.95 bajas por mil</a:t>
                      </a:r>
                    </a:p>
                  </a:txBody>
                  <a:tcPr marL="45720" marR="45720" marT="18288" marB="18288">
                    <a:solidFill>
                      <a:srgbClr val="FFFFFF"/>
                    </a:solidFill>
                  </a:tcPr>
                </a:tc>
                <a:tc>
                  <a:txBody>
                    <a:bodyPr wrap="square"/>
                    <a:lstStyle/>
                    <a:p>
                      <a:r>
                        <a:rPr sz="1000" b="0">
                          <a:solidFill>
                            <a:srgbClr val="1A1D24"/>
                          </a:solidFill>
                          <a:latin typeface="Calibri"/>
                        </a:rPr>
                        <a:t>0.16 M MXN</a:t>
                      </a:r>
                    </a:p>
                  </a:txBody>
                  <a:tcPr marL="45720" marR="45720" marT="18288" marB="18288">
                    <a:solidFill>
                      <a:srgbClr val="FFFFFF"/>
                    </a:solidFill>
                  </a:tcPr>
                </a:tc>
              </a:tr>
              <a:tr h="256032">
                <a:tc>
                  <a:txBody>
                    <a:bodyPr wrap="square"/>
                    <a:lstStyle/>
                    <a:p>
                      <a:r>
                        <a:rPr sz="1000" b="1">
                          <a:solidFill>
                            <a:srgbClr val="1A1D24"/>
                          </a:solidFill>
                          <a:latin typeface="Calibri"/>
                        </a:rPr>
                        <a:t>Product Growth</a:t>
                      </a:r>
                    </a:p>
                  </a:txBody>
                  <a:tcPr marL="45720" marR="45720" marT="18288" marB="18288">
                    <a:solidFill>
                      <a:srgbClr val="E4EAFB"/>
                    </a:solidFill>
                  </a:tcPr>
                </a:tc>
                <a:tc>
                  <a:txBody>
                    <a:bodyPr wrap="square"/>
                    <a:lstStyle/>
                    <a:p>
                      <a:r>
                        <a:rPr sz="1000" b="0">
                          <a:solidFill>
                            <a:srgbClr val="1A1D24"/>
                          </a:solidFill>
                          <a:latin typeface="Calibri"/>
                        </a:rPr>
                        <a:t>177 M (27 %)</a:t>
                      </a:r>
                    </a:p>
                  </a:txBody>
                  <a:tcPr marL="45720" marR="45720" marT="18288" marB="18288">
                    <a:solidFill>
                      <a:srgbClr val="E4EAFB"/>
                    </a:solidFill>
                  </a:tcPr>
                </a:tc>
                <a:tc>
                  <a:txBody>
                    <a:bodyPr wrap="square"/>
                    <a:lstStyle/>
                    <a:p>
                      <a:r>
                        <a:rPr sz="1000" b="0">
                          <a:solidFill>
                            <a:srgbClr val="1A1D24"/>
                          </a:solidFill>
                          <a:latin typeface="Calibri"/>
                        </a:rPr>
                        <a:t>17.3 M (30 %)</a:t>
                      </a:r>
                    </a:p>
                  </a:txBody>
                  <a:tcPr marL="45720" marR="45720" marT="18288" marB="18288">
                    <a:solidFill>
                      <a:srgbClr val="E4EAFB"/>
                    </a:solidFill>
                  </a:tcPr>
                </a:tc>
                <a:tc>
                  <a:txBody>
                    <a:bodyPr wrap="square"/>
                    <a:lstStyle/>
                    <a:p>
                      <a:r>
                        <a:rPr sz="1000" b="0">
                          <a:solidFill>
                            <a:srgbClr val="1A1D24"/>
                          </a:solidFill>
                          <a:latin typeface="Calibri"/>
                        </a:rPr>
                        <a:t>Retargeting Installments a activos (push 11 %), in-app 46 %</a:t>
                      </a:r>
                    </a:p>
                  </a:txBody>
                  <a:tcPr marL="45720" marR="45720" marT="18288" marB="18288">
                    <a:solidFill>
                      <a:srgbClr val="E4EAFB"/>
                    </a:solidFill>
                  </a:tcPr>
                </a:tc>
                <a:tc>
                  <a:txBody>
                    <a:bodyPr wrap="square"/>
                    <a:lstStyle/>
                    <a:p>
                      <a:r>
                        <a:rPr sz="1000" b="0">
                          <a:solidFill>
                            <a:srgbClr val="1A1D24"/>
                          </a:solidFill>
                          <a:latin typeface="Calibri"/>
                        </a:rPr>
                        <a:t>Tasa 0 por email a registrados (35 M, 0.28 %), NeverActive (13 M, 0.10 %), Canvas de inactividad de 120 pasos</a:t>
                      </a:r>
                    </a:p>
                  </a:txBody>
                  <a:tcPr marL="45720" marR="45720" marT="18288" marB="18288">
                    <a:solidFill>
                      <a:srgbClr val="E4EAFB"/>
                    </a:solidFill>
                  </a:tcPr>
                </a:tc>
                <a:tc>
                  <a:txBody>
                    <a:bodyPr wrap="square"/>
                    <a:lstStyle/>
                    <a:p>
                      <a:r>
                        <a:rPr sz="1000" b="0">
                          <a:solidFill>
                            <a:srgbClr val="1A1D24"/>
                          </a:solidFill>
                          <a:latin typeface="Calibri"/>
                        </a:rPr>
                        <a:t>1.30 M MXN</a:t>
                      </a:r>
                    </a:p>
                  </a:txBody>
                  <a:tcPr marL="45720" marR="45720" marT="18288" marB="18288">
                    <a:solidFill>
                      <a:srgbClr val="E4EAFB"/>
                    </a:solidFill>
                  </a:tcPr>
                </a:tc>
              </a:tr>
              <a:tr h="256032">
                <a:tc>
                  <a:txBody>
                    <a:bodyPr wrap="square"/>
                    <a:lstStyle/>
                    <a:p>
                      <a:r>
                        <a:rPr sz="1000" b="1">
                          <a:solidFill>
                            <a:srgbClr val="1A1D24"/>
                          </a:solidFill>
                          <a:latin typeface="Calibri"/>
                        </a:rPr>
                        <a:t>Sales</a:t>
                      </a:r>
                    </a:p>
                  </a:txBody>
                  <a:tcPr marL="45720" marR="45720" marT="18288" marB="18288">
                    <a:solidFill>
                      <a:srgbClr val="FFFFFF"/>
                    </a:solidFill>
                  </a:tcPr>
                </a:tc>
                <a:tc>
                  <a:txBody>
                    <a:bodyPr wrap="square"/>
                    <a:lstStyle/>
                    <a:p>
                      <a:r>
                        <a:rPr sz="1000" b="0">
                          <a:solidFill>
                            <a:srgbClr val="1A1D24"/>
                          </a:solidFill>
                          <a:latin typeface="Calibri"/>
                        </a:rPr>
                        <a:t>85 M (13 %)</a:t>
                      </a:r>
                    </a:p>
                  </a:txBody>
                  <a:tcPr marL="45720" marR="45720" marT="18288" marB="18288">
                    <a:solidFill>
                      <a:srgbClr val="FFFFFF"/>
                    </a:solidFill>
                  </a:tcPr>
                </a:tc>
                <a:tc>
                  <a:txBody>
                    <a:bodyPr wrap="square"/>
                    <a:lstStyle/>
                    <a:p>
                      <a:r>
                        <a:rPr sz="1000" b="0">
                          <a:solidFill>
                            <a:srgbClr val="1A1D24"/>
                          </a:solidFill>
                          <a:latin typeface="Calibri"/>
                        </a:rPr>
                        <a:t>7.1 M (12 %)</a:t>
                      </a:r>
                    </a:p>
                  </a:txBody>
                  <a:tcPr marL="45720" marR="45720" marT="18288" marB="18288">
                    <a:solidFill>
                      <a:srgbClr val="FFFFFF"/>
                    </a:solidFill>
                  </a:tcPr>
                </a:tc>
                <a:tc>
                  <a:txBody>
                    <a:bodyPr wrap="square"/>
                    <a:lstStyle/>
                    <a:p>
                      <a:r>
                        <a:rPr sz="1000" b="0">
                          <a:solidFill>
                            <a:srgbClr val="1A1D24"/>
                          </a:solidFill>
                          <a:latin typeface="Calibri"/>
                        </a:rPr>
                        <a:t>Push y WhatsApp a recurrentes KPay (80 % entrega, 78 % lectura, push 4.2 %)</a:t>
                      </a:r>
                    </a:p>
                  </a:txBody>
                  <a:tcPr marL="45720" marR="45720" marT="18288" marB="18288">
                    <a:solidFill>
                      <a:srgbClr val="FFFFFF"/>
                    </a:solidFill>
                  </a:tcPr>
                </a:tc>
                <a:tc>
                  <a:txBody>
                    <a:bodyPr wrap="square"/>
                    <a:lstStyle/>
                    <a:p>
                      <a:r>
                        <a:rPr sz="1000" b="0">
                          <a:solidFill>
                            <a:srgbClr val="1A1D24"/>
                          </a:solidFill>
                          <a:latin typeface="Calibri"/>
                        </a:rPr>
                        <a:t>Email (0.21 %, el peor), promoción a tarjetas congeladas (13 M)</a:t>
                      </a:r>
                    </a:p>
                  </a:txBody>
                  <a:tcPr marL="45720" marR="45720" marT="18288" marB="18288">
                    <a:solidFill>
                      <a:srgbClr val="FFFFFF"/>
                    </a:solidFill>
                  </a:tcPr>
                </a:tc>
                <a:tc>
                  <a:txBody>
                    <a:bodyPr wrap="square"/>
                    <a:lstStyle/>
                    <a:p>
                      <a:r>
                        <a:rPr sz="1000" b="0">
                          <a:solidFill>
                            <a:srgbClr val="1A1D24"/>
                          </a:solidFill>
                          <a:latin typeface="Calibri"/>
                        </a:rPr>
                        <a:t>0.10 M MXN</a:t>
                      </a:r>
                    </a:p>
                  </a:txBody>
                  <a:tcPr marL="45720" marR="45720" marT="18288" marB="18288">
                    <a:solidFill>
                      <a:srgbClr val="FFFFFF"/>
                    </a:solidFill>
                  </a:tcPr>
                </a:tc>
              </a:tr>
              <a:tr h="256032">
                <a:tc>
                  <a:txBody>
                    <a:bodyPr wrap="square"/>
                    <a:lstStyle/>
                    <a:p>
                      <a:r>
                        <a:rPr sz="1000" b="1">
                          <a:solidFill>
                            <a:srgbClr val="1A1D24"/>
                          </a:solidFill>
                          <a:latin typeface="Calibri"/>
                        </a:rPr>
                        <a:t>Collections</a:t>
                      </a:r>
                    </a:p>
                  </a:txBody>
                  <a:tcPr marL="45720" marR="45720" marT="18288" marB="18288">
                    <a:solidFill>
                      <a:srgbClr val="F6F7F9"/>
                    </a:solidFill>
                  </a:tcPr>
                </a:tc>
                <a:tc>
                  <a:txBody>
                    <a:bodyPr wrap="square"/>
                    <a:lstStyle/>
                    <a:p>
                      <a:r>
                        <a:rPr sz="1000" b="0">
                          <a:solidFill>
                            <a:srgbClr val="1A1D24"/>
                          </a:solidFill>
                          <a:latin typeface="Calibri"/>
                        </a:rPr>
                        <a:t>45 M (7 %)</a:t>
                      </a:r>
                    </a:p>
                  </a:txBody>
                  <a:tcPr marL="45720" marR="45720" marT="18288" marB="18288">
                    <a:solidFill>
                      <a:srgbClr val="F6F7F9"/>
                    </a:solidFill>
                  </a:tcPr>
                </a:tc>
                <a:tc>
                  <a:txBody>
                    <a:bodyPr wrap="square"/>
                    <a:lstStyle/>
                    <a:p>
                      <a:r>
                        <a:rPr sz="1000" b="0">
                          <a:solidFill>
                            <a:srgbClr val="1A1D24"/>
                          </a:solidFill>
                          <a:latin typeface="Calibri"/>
                        </a:rPr>
                        <a:t>1.6 M (3 %)</a:t>
                      </a:r>
                    </a:p>
                  </a:txBody>
                  <a:tcPr marL="45720" marR="45720" marT="18288" marB="18288">
                    <a:solidFill>
                      <a:srgbClr val="F6F7F9"/>
                    </a:solidFill>
                  </a:tcPr>
                </a:tc>
                <a:tc>
                  <a:txBody>
                    <a:bodyPr wrap="square"/>
                    <a:lstStyle/>
                    <a:p>
                      <a:r>
                        <a:rPr sz="1000" b="0">
                          <a:solidFill>
                            <a:srgbClr val="1A1D24"/>
                          </a:solidFill>
                          <a:latin typeface="Calibri"/>
                        </a:rPr>
                        <a:t>Precobranza: email 4.3 %, push 5.3 %, la mejor pieza de la empresa</a:t>
                      </a:r>
                    </a:p>
                  </a:txBody>
                  <a:tcPr marL="45720" marR="45720" marT="18288" marB="18288">
                    <a:solidFill>
                      <a:srgbClr val="F6F7F9"/>
                    </a:solidFill>
                  </a:tcPr>
                </a:tc>
                <a:tc>
                  <a:txBody>
                    <a:bodyPr wrap="square"/>
                    <a:lstStyle/>
                    <a:p>
                      <a:r>
                        <a:rPr sz="1000" b="0">
                          <a:solidFill>
                            <a:srgbClr val="1A1D24"/>
                          </a:solidFill>
                          <a:latin typeface="Calibri"/>
                        </a:rPr>
                        <a:t>Ticket T000 en todo; Canvas PRUEBA_ a 5 mil usuarios reales</a:t>
                      </a:r>
                    </a:p>
                  </a:txBody>
                  <a:tcPr marL="45720" marR="45720" marT="18288" marB="18288">
                    <a:solidFill>
                      <a:srgbClr val="F6F7F9"/>
                    </a:solidFill>
                  </a:tcPr>
                </a:tc>
                <a:tc>
                  <a:txBody>
                    <a:bodyPr wrap="square"/>
                    <a:lstStyle/>
                    <a:p>
                      <a:r>
                        <a:rPr sz="1000" b="0">
                          <a:solidFill>
                            <a:srgbClr val="1A1D24"/>
                          </a:solidFill>
                          <a:latin typeface="Calibri"/>
                        </a:rPr>
                        <a:t>0</a:t>
                      </a:r>
                    </a:p>
                  </a:txBody>
                  <a:tcPr marL="45720" marR="45720" marT="18288" marB="18288">
                    <a:solidFill>
                      <a:srgbClr val="F6F7F9"/>
                    </a:solidFill>
                  </a:tcPr>
                </a:tc>
              </a:tr>
              <a:tr h="256032">
                <a:tc>
                  <a:txBody>
                    <a:bodyPr wrap="square"/>
                    <a:lstStyle/>
                    <a:p>
                      <a:r>
                        <a:rPr sz="1000" b="1">
                          <a:solidFill>
                            <a:srgbClr val="1A1D24"/>
                          </a:solidFill>
                          <a:latin typeface="Calibri"/>
                        </a:rPr>
                        <a:t>Others</a:t>
                      </a:r>
                    </a:p>
                  </a:txBody>
                  <a:tcPr marL="45720" marR="45720" marT="18288" marB="18288">
                    <a:solidFill>
                      <a:srgbClr val="FFFFFF"/>
                    </a:solidFill>
                  </a:tcPr>
                </a:tc>
                <a:tc>
                  <a:txBody>
                    <a:bodyPr wrap="square"/>
                    <a:lstStyle/>
                    <a:p>
                      <a:r>
                        <a:rPr sz="1000" b="0">
                          <a:solidFill>
                            <a:srgbClr val="1A1D24"/>
                          </a:solidFill>
                          <a:latin typeface="Calibri"/>
                        </a:rPr>
                        <a:t>98 M (15 %)</a:t>
                      </a:r>
                    </a:p>
                  </a:txBody>
                  <a:tcPr marL="45720" marR="45720" marT="18288" marB="18288">
                    <a:solidFill>
                      <a:srgbClr val="FFFFFF"/>
                    </a:solidFill>
                  </a:tcPr>
                </a:tc>
                <a:tc>
                  <a:txBody>
                    <a:bodyPr wrap="square"/>
                    <a:lstStyle/>
                    <a:p>
                      <a:r>
                        <a:rPr sz="1000" b="0">
                          <a:solidFill>
                            <a:srgbClr val="1A1D24"/>
                          </a:solidFill>
                          <a:latin typeface="Calibri"/>
                        </a:rPr>
                        <a:t>4.4 M (8 %)</a:t>
                      </a:r>
                    </a:p>
                  </a:txBody>
                  <a:tcPr marL="45720" marR="45720" marT="18288" marB="18288">
                    <a:solidFill>
                      <a:srgbClr val="FFFFFF"/>
                    </a:solidFill>
                  </a:tcPr>
                </a:tc>
                <a:tc>
                  <a:txBody>
                    <a:bodyPr wrap="square"/>
                    <a:lstStyle/>
                    <a:p>
                      <a:r>
                        <a:rPr sz="1000" b="0">
                          <a:solidFill>
                            <a:srgbClr val="1A1D24"/>
                          </a:solidFill>
                          <a:latin typeface="Calibri"/>
                        </a:rPr>
                        <a:t>Transaccional (Payment Confirmation 3.8 %)</a:t>
                      </a:r>
                    </a:p>
                  </a:txBody>
                  <a:tcPr marL="45720" marR="45720" marT="18288" marB="18288">
                    <a:solidFill>
                      <a:srgbClr val="FFFFFF"/>
                    </a:solidFill>
                  </a:tcPr>
                </a:tc>
                <a:tc>
                  <a:txBody>
                    <a:bodyPr wrap="square"/>
                    <a:lstStyle/>
                    <a:p>
                      <a:r>
                        <a:rPr sz="1000" b="0">
                          <a:solidFill>
                            <a:srgbClr val="1A1D24"/>
                          </a:solidFill>
                          <a:latin typeface="Calibri"/>
                        </a:rPr>
                        <a:t>BillPay Intro (16 M, 0.11 %, 31 % de las bajas de nuevos), Shopping (7 M, 0.12 %)</a:t>
                      </a:r>
                    </a:p>
                  </a:txBody>
                  <a:tcPr marL="45720" marR="45720" marT="18288" marB="18288">
                    <a:solidFill>
                      <a:srgbClr val="FFFFFF"/>
                    </a:solidFill>
                  </a:tcPr>
                </a:tc>
                <a:tc>
                  <a:txBody>
                    <a:bodyPr wrap="square"/>
                    <a:lstStyle/>
                    <a:p>
                      <a:r>
                        <a:rPr sz="1000" b="0">
                          <a:solidFill>
                            <a:srgbClr val="1A1D24"/>
                          </a:solidFill>
                          <a:latin typeface="Calibri"/>
                        </a:rPr>
                        <a:t>0.04 M MXN</a:t>
                      </a:r>
                    </a:p>
                  </a:txBody>
                  <a:tcPr marL="45720" marR="45720" marT="18288" marB="18288">
                    <a:solidFill>
                      <a:srgbClr val="FFFFFF"/>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Sales: 78 % de lectura en WhatsApp y 0.21 % de clic en email, el peor de los cinco; su volumen de email va a recurrentes.</a:t>
            </a:r>
          </a:p>
          <a:p>
            <a:pPr>
              <a:spcAft>
                <a:spcPts val="350"/>
              </a:spcAft>
            </a:pPr>
            <a:r>
              <a:rPr sz="900" b="1">
                <a:solidFill>
                  <a:srgbClr val="1F4FD8"/>
                </a:solidFill>
                <a:latin typeface="Calibri"/>
              </a:rPr>
              <a:t>2.  </a:t>
            </a:r>
            <a:r>
              <a:rPr sz="900" b="0">
                <a:solidFill>
                  <a:srgbClr val="5B6270"/>
                </a:solidFill>
                <a:latin typeface="Calibri"/>
              </a:rPr>
              <a:t>Collections: 3.6 % de apertura de push (la mejor) y 1.1 % en email; Precobranza es la mejor pieza de la empresa (4.3 % email, 5.3 % push).</a:t>
            </a:r>
          </a:p>
          <a:p>
            <a:pPr>
              <a:spcAft>
                <a:spcPts val="350"/>
              </a:spcAft>
            </a:pPr>
            <a:r>
              <a:rPr sz="900" b="1">
                <a:solidFill>
                  <a:srgbClr val="1F4FD8"/>
                </a:solidFill>
                <a:latin typeface="Calibri"/>
              </a:rPr>
              <a:t>3.  </a:t>
            </a:r>
            <a:r>
              <a:rPr sz="900" b="0">
                <a:solidFill>
                  <a:srgbClr val="5B6270"/>
                </a:solidFill>
                <a:latin typeface="Calibri"/>
              </a:rPr>
              <a:t>Product Growth concentra 81 % del ahorro (1.30 M MXN al mes): email masivo Tasa0 y WhatsApp a churn.</a:t>
            </a:r>
          </a:p>
          <a:p>
            <a:pPr>
              <a:spcAft>
                <a:spcPts val="350"/>
              </a:spcAft>
            </a:pPr>
            <a:r>
              <a:rPr sz="900" b="1">
                <a:solidFill>
                  <a:srgbClr val="1F4FD8"/>
                </a:solidFill>
                <a:latin typeface="Calibri"/>
              </a:rPr>
              <a:t>4.  </a:t>
            </a:r>
            <a:r>
              <a:rPr sz="900" b="0">
                <a:solidFill>
                  <a:srgbClr val="5B6270"/>
                </a:solidFill>
                <a:latin typeface="Calibri"/>
              </a:rPr>
              <a:t>Cada equipo usa el canal que tiene a la mano y mide solo su tablero; nadie compara canal por equipo.</a:t>
            </a:r>
          </a:p>
          <a:p>
            <a:pPr>
              <a:spcAft>
                <a:spcPts val="350"/>
              </a:spcAft>
            </a:pPr>
            <a:r>
              <a:rPr sz="900" b="1">
                <a:solidFill>
                  <a:srgbClr val="B5342B"/>
                </a:solidFill>
                <a:latin typeface="Calibri"/>
              </a:rPr>
              <a:t>5.  </a:t>
            </a:r>
            <a:r>
              <a:rPr sz="700" b="1">
                <a:solidFill>
                  <a:srgbClr val="B5342B"/>
                </a:solidFill>
                <a:latin typeface="Calibri"/>
              </a:rPr>
              <a:t>CAUSA RAÍZ · CANAL EQUIVOCADO  </a:t>
            </a:r>
            <a:r>
              <a:rPr sz="900" b="1">
                <a:solidFill>
                  <a:srgbClr val="1A1D24"/>
                </a:solidFill>
                <a:latin typeface="Calibri"/>
              </a:rPr>
              <a:t>La regla de canal es una para toda la empresa (o ninguna) cuando los datos piden una por equipo.</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Mover el volumen de cada equipo a su mejor canal sube la respuesta sin mandar más.</a:t>
            </a:r>
          </a:p>
          <a:p>
            <a:r>
              <a:rPr sz="700" b="1">
                <a:solidFill>
                  <a:srgbClr val="1F4FD8"/>
                </a:solidFill>
                <a:latin typeface="Calibri"/>
              </a:rPr>
              <a:t>O  </a:t>
            </a:r>
            <a:r>
              <a:rPr sz="750">
                <a:solidFill>
                  <a:srgbClr val="5B6270"/>
                </a:solidFill>
                <a:latin typeface="Calibri"/>
              </a:rPr>
              <a:t>Los equipos operan el canal que conocen y no ven el tablero comparado.</a:t>
            </a:r>
          </a:p>
          <a:p>
            <a:r>
              <a:rPr sz="700" b="1">
                <a:solidFill>
                  <a:srgbClr val="1F4FD8"/>
                </a:solidFill>
                <a:latin typeface="Calibri"/>
              </a:rPr>
              <a:t>G  </a:t>
            </a:r>
            <a:r>
              <a:rPr sz="750">
                <a:solidFill>
                  <a:srgbClr val="5B6270"/>
                </a:solidFill>
                <a:latin typeface="Calibri"/>
              </a:rPr>
              <a:t>No hay revisión mensual entre equipos.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Sales mueve su email a recurrentes a push y a WhatsApp con señal; Collections mueve recordatorios de email a push. CRM publica la Vista_equipo mensual comparada. Métrica: respuesta ponderada por equipo en su canal principal, revisada cada mes.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Sales pasa su email a push y WhatsApp (0.21 % a 1.2 % y 78 %); Collections su email a push (1.1 a 3.6 %).</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Cada equipo escala el canal que le funciona y apaga el que le cuesta: la regla de canal se fija por equipo, no una para toda la empresa.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Dentro de cada equipo la respuesta varía más que entre equipos: Marketing promedia 0.62 % de clic con piezas de 0.1 a 3 %; lo que separa una pieza de otra es su audiencia, no quién la manda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Campañas (E7a). Desviación estándar poblacional entre piezas; puntos arriba de 3 % se dibujan en el tope</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39</a:t>
            </a:r>
          </a:p>
        </p:txBody>
      </p:sp>
      <p:sp>
        <p:nvSpPr>
          <p:cNvPr id="8" name="TextBox 7"/>
          <p:cNvSpPr txBox="1"/>
          <p:nvPr/>
        </p:nvSpPr>
        <p:spPr>
          <a:xfrm>
            <a:off x="548640" y="1783080"/>
            <a:ext cx="6949440" cy="274320"/>
          </a:xfrm>
          <a:prstGeom prst="rect">
            <a:avLst/>
          </a:prstGeom>
          <a:noFill/>
        </p:spPr>
        <p:txBody>
          <a:bodyPr wrap="square" lIns="18288" rIns="18288" tIns="18288" bIns="18288" anchor="t">
            <a:spAutoFit/>
          </a:bodyPr>
          <a:lstStyle/>
          <a:p>
            <a:pPr algn="l"/>
            <a:r>
              <a:rPr sz="1100" b="1">
                <a:solidFill>
                  <a:srgbClr val="1A1D24"/>
                </a:solidFill>
                <a:latin typeface="Calibri"/>
              </a:rPr>
              <a:t>Clic de email por pieza (100 mil o más envíos), por equipo</a:t>
            </a:r>
          </a:p>
        </p:txBody>
      </p:sp>
      <p:sp>
        <p:nvSpPr>
          <p:cNvPr id="9" name="TextBox 8"/>
          <p:cNvSpPr txBox="1"/>
          <p:nvPr/>
        </p:nvSpPr>
        <p:spPr>
          <a:xfrm>
            <a:off x="1920240" y="2020824"/>
            <a:ext cx="5577840" cy="228600"/>
          </a:xfrm>
          <a:prstGeom prst="rect">
            <a:avLst/>
          </a:prstGeom>
          <a:noFill/>
        </p:spPr>
        <p:txBody>
          <a:bodyPr wrap="square" lIns="18288" rIns="18288" tIns="18288" bIns="18288" anchor="t">
            <a:spAutoFit/>
          </a:bodyPr>
          <a:lstStyle/>
          <a:p>
            <a:pPr algn="l"/>
            <a:r>
              <a:rPr sz="800" b="0">
                <a:solidFill>
                  <a:srgbClr val="5B6270"/>
                </a:solidFill>
                <a:latin typeface="Calibri"/>
              </a:rPr>
              <a:t>Punto gris: una pieza. Banda: promedio ± 1 desviación estándar. Línea azul: promedio. Línea punteada: mediana.</a:t>
            </a:r>
          </a:p>
        </p:txBody>
      </p:sp>
      <p:sp>
        <p:nvSpPr>
          <p:cNvPr id="10" name="TextBox 9"/>
          <p:cNvSpPr txBox="1"/>
          <p:nvPr/>
        </p:nvSpPr>
        <p:spPr>
          <a:xfrm>
            <a:off x="548640" y="2267712"/>
            <a:ext cx="1280160" cy="228600"/>
          </a:xfrm>
          <a:prstGeom prst="rect">
            <a:avLst/>
          </a:prstGeom>
          <a:noFill/>
        </p:spPr>
        <p:txBody>
          <a:bodyPr wrap="square" lIns="18288" rIns="18288" tIns="18288" bIns="18288" anchor="t">
            <a:spAutoFit/>
          </a:bodyPr>
          <a:lstStyle/>
          <a:p>
            <a:pPr algn="r"/>
            <a:r>
              <a:rPr sz="1000" b="1">
                <a:solidFill>
                  <a:srgbClr val="1A1D24"/>
                </a:solidFill>
                <a:latin typeface="Calibri"/>
              </a:rPr>
              <a:t>Product Growth</a:t>
            </a:r>
          </a:p>
        </p:txBody>
      </p:sp>
      <p:sp>
        <p:nvSpPr>
          <p:cNvPr id="11" name="TextBox 10"/>
          <p:cNvSpPr txBox="1"/>
          <p:nvPr/>
        </p:nvSpPr>
        <p:spPr>
          <a:xfrm>
            <a:off x="548640" y="2468880"/>
            <a:ext cx="1280160" cy="201168"/>
          </a:xfrm>
          <a:prstGeom prst="rect">
            <a:avLst/>
          </a:prstGeom>
          <a:noFill/>
        </p:spPr>
        <p:txBody>
          <a:bodyPr wrap="square" lIns="18288" rIns="18288" tIns="18288" bIns="18288" anchor="t">
            <a:spAutoFit/>
          </a:bodyPr>
          <a:lstStyle/>
          <a:p>
            <a:pPr algn="r"/>
            <a:r>
              <a:rPr sz="800" b="0">
                <a:solidFill>
                  <a:srgbClr val="5B6270"/>
                </a:solidFill>
                <a:latin typeface="Calibri"/>
              </a:rPr>
              <a:t>138 piezas</a:t>
            </a:r>
          </a:p>
        </p:txBody>
      </p:sp>
      <p:cxnSp>
        <p:nvCxnSpPr>
          <p:cNvPr id="12" name="Connector 11"/>
          <p:cNvCxnSpPr/>
          <p:nvPr/>
        </p:nvCxnSpPr>
        <p:spPr>
          <a:xfrm>
            <a:off x="1920240" y="2450592"/>
            <a:ext cx="475487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1920240" y="2304288"/>
            <a:ext cx="1356266" cy="29260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217486" y="238637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126109" y="235473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371364" y="244619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274516" y="234039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283687" y="242515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550882" y="239402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336606" y="233775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889224" y="241994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388159" y="233400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15945" y="2406453"/>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320422" y="2339923"/>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384487" y="234373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03231" y="240478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5825" y="247836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022733" y="2349788"/>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029796" y="2367973"/>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033478" y="244189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98903" y="250046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241680" y="2432688"/>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176381" y="239969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117727" y="250568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161540" y="233566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225534" y="248414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152319" y="2380111"/>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175680" y="2353529"/>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156545" y="2348689"/>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171421" y="2383563"/>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2133720" y="2476401"/>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2020010" y="2360199"/>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2025838" y="2433511"/>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077421" y="244399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2394477" y="240439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950084" y="243646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2517411" y="234777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3114800" y="234719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086628" y="237395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080225" y="246072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2080491" y="241449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2290860" y="23937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2207021" y="244337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048595" y="241917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057695" y="239111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077417" y="248156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050642" y="246412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290011" y="238093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514486" y="244134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3691445" y="24323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038842" y="249633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3092696" y="246969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250176" y="238895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734703" y="251554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897380" y="235788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573437" y="241275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400349" y="247475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2603787" y="236408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513396" y="242571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745756" y="234346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2398229" y="245849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2036959" y="247611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2054127" y="244108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2977690" y="249639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079358" y="239367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2313686" y="246344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2241142" y="244499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2107191" y="24423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438314" y="241972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2812495" y="248990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2483657" y="250905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2246310" y="242299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261547" y="245775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3135917" y="234738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214030" y="246458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179425" y="245463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2388146" y="251790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2044269" y="248660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318658" y="238833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261638" y="24068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2134560" y="245857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2434231" y="234041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623296" y="24207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2311899" y="236702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2196943" y="235770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2588450" y="234707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2646169" y="247678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2404586" y="23599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2346208" y="238157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321550" y="240778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2583596" y="249565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2486578" y="235102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2367554" y="24184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2442665" y="243677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2234876" y="24978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2084672" y="24861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400042" y="249429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415075" y="238720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288139" y="241224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1992550" y="240190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999808" y="249799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961772" y="251144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150636" y="236389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2066629" y="236851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974601" y="237871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2243862" y="23789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986612" y="242498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999130" y="244403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1980656" y="23843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2038058" y="233704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2382752" y="241290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2058623" y="24038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2251856" y="24398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2304827" y="251059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2512307" y="246256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2100266" y="243056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2252258" y="244923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2260143" y="245995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2207067" y="234616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2317418" y="250079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153240" y="247893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443848" y="249622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497680" y="248220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5214198" y="240805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2694907" y="240925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2350447" y="23552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2281725" y="245229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2055917" y="234767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2199654" y="234860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880436" y="237447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2960543" y="236597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2583230" y="239848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2422654" y="234590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2223530" y="233633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2142076" y="236395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2573673" y="235484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2600705" y="240278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2364337" y="234095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2447989" y="249618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2941205" y="244859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2736664" y="236345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2" name="Connector 151"/>
          <p:cNvCxnSpPr/>
          <p:nvPr/>
        </p:nvCxnSpPr>
        <p:spPr>
          <a:xfrm>
            <a:off x="2321689" y="2286000"/>
            <a:ext cx="0" cy="329184"/>
          </a:xfrm>
          <a:prstGeom prst="line">
            <a:avLst/>
          </a:prstGeom>
          <a:ln w="19050">
            <a:solidFill>
              <a:srgbClr val="1A1D24"/>
            </a:solidFill>
            <a:prstDash val="dash"/>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540826" y="2286000"/>
            <a:ext cx="0" cy="329184"/>
          </a:xfrm>
          <a:prstGeom prst="line">
            <a:avLst/>
          </a:prstGeom>
          <a:ln w="38100">
            <a:solidFill>
              <a:srgbClr val="1F4FD8"/>
            </a:solidFill>
          </a:ln>
        </p:spPr>
        <p:style>
          <a:lnRef idx="2">
            <a:schemeClr val="accent1"/>
          </a:lnRef>
          <a:fillRef idx="0">
            <a:schemeClr val="accent1"/>
          </a:fillRef>
          <a:effectRef idx="1">
            <a:schemeClr val="accent1"/>
          </a:effectRef>
          <a:fontRef idx="minor">
            <a:schemeClr val="tx1"/>
          </a:fontRef>
        </p:style>
      </p:cxnSp>
      <p:sp>
        <p:nvSpPr>
          <p:cNvPr id="154" name="TextBox 153"/>
          <p:cNvSpPr txBox="1"/>
          <p:nvPr/>
        </p:nvSpPr>
        <p:spPr>
          <a:xfrm>
            <a:off x="6720839" y="2267712"/>
            <a:ext cx="777240" cy="201168"/>
          </a:xfrm>
          <a:prstGeom prst="rect">
            <a:avLst/>
          </a:prstGeom>
          <a:noFill/>
        </p:spPr>
        <p:txBody>
          <a:bodyPr wrap="square" lIns="18288" rIns="18288" tIns="18288" bIns="18288" anchor="t">
            <a:spAutoFit/>
          </a:bodyPr>
          <a:lstStyle/>
          <a:p>
            <a:pPr algn="l"/>
            <a:r>
              <a:rPr sz="900" b="1">
                <a:solidFill>
                  <a:srgbClr val="1A1D24"/>
                </a:solidFill>
                <a:latin typeface="Calibri"/>
              </a:rPr>
              <a:t>0.39 %</a:t>
            </a:r>
          </a:p>
        </p:txBody>
      </p:sp>
      <p:sp>
        <p:nvSpPr>
          <p:cNvPr id="155" name="TextBox 154"/>
          <p:cNvSpPr txBox="1"/>
          <p:nvPr/>
        </p:nvSpPr>
        <p:spPr>
          <a:xfrm>
            <a:off x="6720839" y="2450592"/>
            <a:ext cx="777240" cy="201168"/>
          </a:xfrm>
          <a:prstGeom prst="rect">
            <a:avLst/>
          </a:prstGeom>
          <a:noFill/>
        </p:spPr>
        <p:txBody>
          <a:bodyPr wrap="square" lIns="18288" rIns="18288" tIns="18288" bIns="18288" anchor="t">
            <a:spAutoFit/>
          </a:bodyPr>
          <a:lstStyle/>
          <a:p>
            <a:pPr algn="l"/>
            <a:r>
              <a:rPr sz="800" b="0">
                <a:solidFill>
                  <a:srgbClr val="5B6270"/>
                </a:solidFill>
                <a:latin typeface="Calibri"/>
              </a:rPr>
              <a:t>± 0.46 %</a:t>
            </a:r>
          </a:p>
        </p:txBody>
      </p:sp>
      <p:sp>
        <p:nvSpPr>
          <p:cNvPr id="156" name="TextBox 155"/>
          <p:cNvSpPr txBox="1"/>
          <p:nvPr/>
        </p:nvSpPr>
        <p:spPr>
          <a:xfrm>
            <a:off x="548640" y="2688336"/>
            <a:ext cx="1280160" cy="228600"/>
          </a:xfrm>
          <a:prstGeom prst="rect">
            <a:avLst/>
          </a:prstGeom>
          <a:noFill/>
        </p:spPr>
        <p:txBody>
          <a:bodyPr wrap="square" lIns="18288" rIns="18288" tIns="18288" bIns="18288" anchor="t">
            <a:spAutoFit/>
          </a:bodyPr>
          <a:lstStyle/>
          <a:p>
            <a:pPr algn="r"/>
            <a:r>
              <a:rPr sz="1000" b="1">
                <a:solidFill>
                  <a:srgbClr val="1A1D24"/>
                </a:solidFill>
                <a:latin typeface="Calibri"/>
              </a:rPr>
              <a:t>Marketing</a:t>
            </a:r>
          </a:p>
        </p:txBody>
      </p:sp>
      <p:sp>
        <p:nvSpPr>
          <p:cNvPr id="157" name="TextBox 156"/>
          <p:cNvSpPr txBox="1"/>
          <p:nvPr/>
        </p:nvSpPr>
        <p:spPr>
          <a:xfrm>
            <a:off x="548640" y="2889504"/>
            <a:ext cx="1280160" cy="201168"/>
          </a:xfrm>
          <a:prstGeom prst="rect">
            <a:avLst/>
          </a:prstGeom>
          <a:noFill/>
        </p:spPr>
        <p:txBody>
          <a:bodyPr wrap="square" lIns="18288" rIns="18288" tIns="18288" bIns="18288" anchor="t">
            <a:spAutoFit/>
          </a:bodyPr>
          <a:lstStyle/>
          <a:p>
            <a:pPr algn="r"/>
            <a:r>
              <a:rPr sz="800" b="0">
                <a:solidFill>
                  <a:srgbClr val="5B6270"/>
                </a:solidFill>
                <a:latin typeface="Calibri"/>
              </a:rPr>
              <a:t>180 piezas</a:t>
            </a:r>
          </a:p>
        </p:txBody>
      </p:sp>
      <p:cxnSp>
        <p:nvCxnSpPr>
          <p:cNvPr id="158" name="Connector 157"/>
          <p:cNvCxnSpPr/>
          <p:nvPr/>
        </p:nvCxnSpPr>
        <p:spPr>
          <a:xfrm>
            <a:off x="1920240" y="2871216"/>
            <a:ext cx="475487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59" name="Rectangle 158"/>
          <p:cNvSpPr/>
          <p:nvPr/>
        </p:nvSpPr>
        <p:spPr>
          <a:xfrm>
            <a:off x="1920240" y="2724912"/>
            <a:ext cx="2702438" cy="29260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6643115" y="279390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6092429" y="281130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2415600" y="281437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2971908" y="277023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2253683" y="290302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2503745" y="292939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2177222" y="283299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2103436" y="283625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2504310" y="2763478"/>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3461346" y="276646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6643115" y="2810433"/>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2847522" y="279619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1963140" y="2899353"/>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2109846" y="27864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2756950" y="27611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1983223" y="2921688"/>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3555214" y="285352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1999700" y="27837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2009118" y="285625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2409021" y="276186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3433586" y="285349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2037328" y="29358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6652259" y="291480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978899" y="288423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1986495" y="280466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969183" y="281483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3223946" y="27874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985826" y="288894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3015165" y="285431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3400270" y="289938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3180737" y="281720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4353459" y="279770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2074950" y="290532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2230100" y="29370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1946364" y="291284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1948822" y="290433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4223960" y="290657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1992567" y="289222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val 197"/>
          <p:cNvSpPr/>
          <p:nvPr/>
        </p:nvSpPr>
        <p:spPr>
          <a:xfrm>
            <a:off x="1946629" y="279838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3395263" y="285158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2191697" y="282194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3315068" y="276221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4278611" y="276202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3039496" y="280801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2056382" y="280431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3814588" y="28835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2014773" y="29318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3750522" y="283870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957888" y="292827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Oval 208"/>
          <p:cNvSpPr/>
          <p:nvPr/>
        </p:nvSpPr>
        <p:spPr>
          <a:xfrm>
            <a:off x="2830014" y="293760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3838004" y="293156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Oval 210"/>
          <p:cNvSpPr/>
          <p:nvPr/>
        </p:nvSpPr>
        <p:spPr>
          <a:xfrm>
            <a:off x="2812837" y="282360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Oval 211"/>
          <p:cNvSpPr/>
          <p:nvPr/>
        </p:nvSpPr>
        <p:spPr>
          <a:xfrm>
            <a:off x="2108637" y="279723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2547461" y="279840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1959368" y="279288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Oval 214"/>
          <p:cNvSpPr/>
          <p:nvPr/>
        </p:nvSpPr>
        <p:spPr>
          <a:xfrm>
            <a:off x="1958365" y="279429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1963604" y="28710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2734125" y="29215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2106936" y="291061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2071885" y="284460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2040998" y="287633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956533" y="290315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2290267" y="277242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1928654" y="287772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2933706" y="292329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4088883" y="289998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Oval 225"/>
          <p:cNvSpPr/>
          <p:nvPr/>
        </p:nvSpPr>
        <p:spPr>
          <a:xfrm>
            <a:off x="2286650" y="289410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Oval 226"/>
          <p:cNvSpPr/>
          <p:nvPr/>
        </p:nvSpPr>
        <p:spPr>
          <a:xfrm>
            <a:off x="2231596" y="284433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Oval 227"/>
          <p:cNvSpPr/>
          <p:nvPr/>
        </p:nvSpPr>
        <p:spPr>
          <a:xfrm>
            <a:off x="2017795" y="27895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Oval 228"/>
          <p:cNvSpPr/>
          <p:nvPr/>
        </p:nvSpPr>
        <p:spPr>
          <a:xfrm>
            <a:off x="2604802" y="290123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2059770" y="28177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Oval 230"/>
          <p:cNvSpPr/>
          <p:nvPr/>
        </p:nvSpPr>
        <p:spPr>
          <a:xfrm>
            <a:off x="2515688" y="290337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2104048" y="293461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Oval 232"/>
          <p:cNvSpPr/>
          <p:nvPr/>
        </p:nvSpPr>
        <p:spPr>
          <a:xfrm>
            <a:off x="2034372" y="282930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Oval 233"/>
          <p:cNvSpPr/>
          <p:nvPr/>
        </p:nvSpPr>
        <p:spPr>
          <a:xfrm>
            <a:off x="5042499" y="28303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Oval 234"/>
          <p:cNvSpPr/>
          <p:nvPr/>
        </p:nvSpPr>
        <p:spPr>
          <a:xfrm>
            <a:off x="2682189" y="293006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Oval 235"/>
          <p:cNvSpPr/>
          <p:nvPr/>
        </p:nvSpPr>
        <p:spPr>
          <a:xfrm>
            <a:off x="2526168" y="288946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Oval 236"/>
          <p:cNvSpPr/>
          <p:nvPr/>
        </p:nvSpPr>
        <p:spPr>
          <a:xfrm>
            <a:off x="3326399" y="278800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Oval 237"/>
          <p:cNvSpPr/>
          <p:nvPr/>
        </p:nvSpPr>
        <p:spPr>
          <a:xfrm>
            <a:off x="2327614" y="278014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Oval 238"/>
          <p:cNvSpPr/>
          <p:nvPr/>
        </p:nvSpPr>
        <p:spPr>
          <a:xfrm>
            <a:off x="2514611" y="278455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Oval 239"/>
          <p:cNvSpPr/>
          <p:nvPr/>
        </p:nvSpPr>
        <p:spPr>
          <a:xfrm>
            <a:off x="2259385" y="292239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Oval 240"/>
          <p:cNvSpPr/>
          <p:nvPr/>
        </p:nvSpPr>
        <p:spPr>
          <a:xfrm>
            <a:off x="2081573" y="290440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Oval 241"/>
          <p:cNvSpPr/>
          <p:nvPr/>
        </p:nvSpPr>
        <p:spPr>
          <a:xfrm>
            <a:off x="2138115" y="278364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Oval 242"/>
          <p:cNvSpPr/>
          <p:nvPr/>
        </p:nvSpPr>
        <p:spPr>
          <a:xfrm>
            <a:off x="3899615" y="290806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Oval 243"/>
          <p:cNvSpPr/>
          <p:nvPr/>
        </p:nvSpPr>
        <p:spPr>
          <a:xfrm>
            <a:off x="2129480" y="293619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Oval 244"/>
          <p:cNvSpPr/>
          <p:nvPr/>
        </p:nvSpPr>
        <p:spPr>
          <a:xfrm>
            <a:off x="2145436" y="287711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Oval 245"/>
          <p:cNvSpPr/>
          <p:nvPr/>
        </p:nvSpPr>
        <p:spPr>
          <a:xfrm>
            <a:off x="2104394" y="282099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Oval 246"/>
          <p:cNvSpPr/>
          <p:nvPr/>
        </p:nvSpPr>
        <p:spPr>
          <a:xfrm>
            <a:off x="2026189" y="285725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Oval 247"/>
          <p:cNvSpPr/>
          <p:nvPr/>
        </p:nvSpPr>
        <p:spPr>
          <a:xfrm>
            <a:off x="2211763" y="278087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Oval 248"/>
          <p:cNvSpPr/>
          <p:nvPr/>
        </p:nvSpPr>
        <p:spPr>
          <a:xfrm>
            <a:off x="2636349" y="275952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Oval 249"/>
          <p:cNvSpPr/>
          <p:nvPr/>
        </p:nvSpPr>
        <p:spPr>
          <a:xfrm>
            <a:off x="2179043" y="293447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Oval 250"/>
          <p:cNvSpPr/>
          <p:nvPr/>
        </p:nvSpPr>
        <p:spPr>
          <a:xfrm>
            <a:off x="1968961" y="287572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Oval 251"/>
          <p:cNvSpPr/>
          <p:nvPr/>
        </p:nvSpPr>
        <p:spPr>
          <a:xfrm>
            <a:off x="6652259" y="285321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Oval 252"/>
          <p:cNvSpPr/>
          <p:nvPr/>
        </p:nvSpPr>
        <p:spPr>
          <a:xfrm>
            <a:off x="2658812" y="292765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Oval 253"/>
          <p:cNvSpPr/>
          <p:nvPr/>
        </p:nvSpPr>
        <p:spPr>
          <a:xfrm>
            <a:off x="2466081" y="283625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Oval 254"/>
          <p:cNvSpPr/>
          <p:nvPr/>
        </p:nvSpPr>
        <p:spPr>
          <a:xfrm>
            <a:off x="3538124" y="291634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Oval 255"/>
          <p:cNvSpPr/>
          <p:nvPr/>
        </p:nvSpPr>
        <p:spPr>
          <a:xfrm>
            <a:off x="2491307" y="290800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Oval 256"/>
          <p:cNvSpPr/>
          <p:nvPr/>
        </p:nvSpPr>
        <p:spPr>
          <a:xfrm>
            <a:off x="1986443" y="279551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Oval 257"/>
          <p:cNvSpPr/>
          <p:nvPr/>
        </p:nvSpPr>
        <p:spPr>
          <a:xfrm>
            <a:off x="2390891" y="280297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4346425" y="281049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Oval 259"/>
          <p:cNvSpPr/>
          <p:nvPr/>
        </p:nvSpPr>
        <p:spPr>
          <a:xfrm>
            <a:off x="6641769" y="280090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Oval 260"/>
          <p:cNvSpPr/>
          <p:nvPr/>
        </p:nvSpPr>
        <p:spPr>
          <a:xfrm>
            <a:off x="3186614" y="286416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Oval 261"/>
          <p:cNvSpPr/>
          <p:nvPr/>
        </p:nvSpPr>
        <p:spPr>
          <a:xfrm>
            <a:off x="2584602" y="280434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Oval 262"/>
          <p:cNvSpPr/>
          <p:nvPr/>
        </p:nvSpPr>
        <p:spPr>
          <a:xfrm>
            <a:off x="2154827" y="28335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Oval 263"/>
          <p:cNvSpPr/>
          <p:nvPr/>
        </p:nvSpPr>
        <p:spPr>
          <a:xfrm>
            <a:off x="2104770" y="278088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Oval 264"/>
          <p:cNvSpPr/>
          <p:nvPr/>
        </p:nvSpPr>
        <p:spPr>
          <a:xfrm>
            <a:off x="3539302" y="29233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Oval 265"/>
          <p:cNvSpPr/>
          <p:nvPr/>
        </p:nvSpPr>
        <p:spPr>
          <a:xfrm>
            <a:off x="2484405" y="282161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Oval 266"/>
          <p:cNvSpPr/>
          <p:nvPr/>
        </p:nvSpPr>
        <p:spPr>
          <a:xfrm>
            <a:off x="2519442" y="284070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2498237" y="286359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2528150" y="292229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2538817" y="283384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2573334" y="292474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2025766" y="284865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Oval 272"/>
          <p:cNvSpPr/>
          <p:nvPr/>
        </p:nvSpPr>
        <p:spPr>
          <a:xfrm>
            <a:off x="2268482" y="285417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Oval 273"/>
          <p:cNvSpPr/>
          <p:nvPr/>
        </p:nvSpPr>
        <p:spPr>
          <a:xfrm>
            <a:off x="1998444" y="285265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Oval 274"/>
          <p:cNvSpPr/>
          <p:nvPr/>
        </p:nvSpPr>
        <p:spPr>
          <a:xfrm>
            <a:off x="4231195" y="276033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Oval 275"/>
          <p:cNvSpPr/>
          <p:nvPr/>
        </p:nvSpPr>
        <p:spPr>
          <a:xfrm>
            <a:off x="1979651" y="283740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Oval 276"/>
          <p:cNvSpPr/>
          <p:nvPr/>
        </p:nvSpPr>
        <p:spPr>
          <a:xfrm>
            <a:off x="2161049" y="279040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Oval 277"/>
          <p:cNvSpPr/>
          <p:nvPr/>
        </p:nvSpPr>
        <p:spPr>
          <a:xfrm>
            <a:off x="2249178" y="275763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Oval 278"/>
          <p:cNvSpPr/>
          <p:nvPr/>
        </p:nvSpPr>
        <p:spPr>
          <a:xfrm>
            <a:off x="2577597" y="290306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Oval 279"/>
          <p:cNvSpPr/>
          <p:nvPr/>
        </p:nvSpPr>
        <p:spPr>
          <a:xfrm>
            <a:off x="2381257" y="278843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Oval 280"/>
          <p:cNvSpPr/>
          <p:nvPr/>
        </p:nvSpPr>
        <p:spPr>
          <a:xfrm>
            <a:off x="1937840" y="284350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3996443" y="28895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2654001" y="285868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2070364" y="281653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2040202" y="285171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4782521" y="285849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Oval 286"/>
          <p:cNvSpPr/>
          <p:nvPr/>
        </p:nvSpPr>
        <p:spPr>
          <a:xfrm>
            <a:off x="2402502" y="29003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Oval 287"/>
          <p:cNvSpPr/>
          <p:nvPr/>
        </p:nvSpPr>
        <p:spPr>
          <a:xfrm>
            <a:off x="2483822" y="27763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Oval 288"/>
          <p:cNvSpPr/>
          <p:nvPr/>
        </p:nvSpPr>
        <p:spPr>
          <a:xfrm>
            <a:off x="4969172" y="285938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Oval 289"/>
          <p:cNvSpPr/>
          <p:nvPr/>
        </p:nvSpPr>
        <p:spPr>
          <a:xfrm>
            <a:off x="3746503" y="280236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Oval 290"/>
          <p:cNvSpPr/>
          <p:nvPr/>
        </p:nvSpPr>
        <p:spPr>
          <a:xfrm>
            <a:off x="2625531" y="280755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Oval 291"/>
          <p:cNvSpPr/>
          <p:nvPr/>
        </p:nvSpPr>
        <p:spPr>
          <a:xfrm>
            <a:off x="1975947" y="289814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Oval 292"/>
          <p:cNvSpPr/>
          <p:nvPr/>
        </p:nvSpPr>
        <p:spPr>
          <a:xfrm>
            <a:off x="4750268" y="284976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Oval 293"/>
          <p:cNvSpPr/>
          <p:nvPr/>
        </p:nvSpPr>
        <p:spPr>
          <a:xfrm>
            <a:off x="2200692" y="28596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2947369" y="289590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Oval 295"/>
          <p:cNvSpPr/>
          <p:nvPr/>
        </p:nvSpPr>
        <p:spPr>
          <a:xfrm>
            <a:off x="2155685" y="292379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Oval 296"/>
          <p:cNvSpPr/>
          <p:nvPr/>
        </p:nvSpPr>
        <p:spPr>
          <a:xfrm>
            <a:off x="2544093" y="283797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Oval 297"/>
          <p:cNvSpPr/>
          <p:nvPr/>
        </p:nvSpPr>
        <p:spPr>
          <a:xfrm>
            <a:off x="2514403" y="286893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Oval 298"/>
          <p:cNvSpPr/>
          <p:nvPr/>
        </p:nvSpPr>
        <p:spPr>
          <a:xfrm>
            <a:off x="2065416" y="284937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Oval 299"/>
          <p:cNvSpPr/>
          <p:nvPr/>
        </p:nvSpPr>
        <p:spPr>
          <a:xfrm>
            <a:off x="2035594" y="285058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Oval 300"/>
          <p:cNvSpPr/>
          <p:nvPr/>
        </p:nvSpPr>
        <p:spPr>
          <a:xfrm>
            <a:off x="2456590" y="288360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Oval 301"/>
          <p:cNvSpPr/>
          <p:nvPr/>
        </p:nvSpPr>
        <p:spPr>
          <a:xfrm>
            <a:off x="4391168" y="283964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2541073" y="28544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Oval 303"/>
          <p:cNvSpPr/>
          <p:nvPr/>
        </p:nvSpPr>
        <p:spPr>
          <a:xfrm>
            <a:off x="2198636" y="28443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Oval 304"/>
          <p:cNvSpPr/>
          <p:nvPr/>
        </p:nvSpPr>
        <p:spPr>
          <a:xfrm>
            <a:off x="4066409" y="292909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Oval 305"/>
          <p:cNvSpPr/>
          <p:nvPr/>
        </p:nvSpPr>
        <p:spPr>
          <a:xfrm>
            <a:off x="2400884" y="288478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Oval 306"/>
          <p:cNvSpPr/>
          <p:nvPr/>
        </p:nvSpPr>
        <p:spPr>
          <a:xfrm>
            <a:off x="2117216" y="291721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Oval 307"/>
          <p:cNvSpPr/>
          <p:nvPr/>
        </p:nvSpPr>
        <p:spPr>
          <a:xfrm>
            <a:off x="2585692" y="29292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Oval 308"/>
          <p:cNvSpPr/>
          <p:nvPr/>
        </p:nvSpPr>
        <p:spPr>
          <a:xfrm>
            <a:off x="2076759" y="280439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Oval 309"/>
          <p:cNvSpPr/>
          <p:nvPr/>
        </p:nvSpPr>
        <p:spPr>
          <a:xfrm>
            <a:off x="2342081" y="28592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Oval 310"/>
          <p:cNvSpPr/>
          <p:nvPr/>
        </p:nvSpPr>
        <p:spPr>
          <a:xfrm>
            <a:off x="2276139" y="292942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Oval 311"/>
          <p:cNvSpPr/>
          <p:nvPr/>
        </p:nvSpPr>
        <p:spPr>
          <a:xfrm>
            <a:off x="1956494" y="291053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Oval 312"/>
          <p:cNvSpPr/>
          <p:nvPr/>
        </p:nvSpPr>
        <p:spPr>
          <a:xfrm>
            <a:off x="4334900" y="278199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Oval 313"/>
          <p:cNvSpPr/>
          <p:nvPr/>
        </p:nvSpPr>
        <p:spPr>
          <a:xfrm>
            <a:off x="2090520" y="277915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Oval 314"/>
          <p:cNvSpPr/>
          <p:nvPr/>
        </p:nvSpPr>
        <p:spPr>
          <a:xfrm>
            <a:off x="2250087" y="283777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Oval 315"/>
          <p:cNvSpPr/>
          <p:nvPr/>
        </p:nvSpPr>
        <p:spPr>
          <a:xfrm>
            <a:off x="2638021" y="277018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Oval 316"/>
          <p:cNvSpPr/>
          <p:nvPr/>
        </p:nvSpPr>
        <p:spPr>
          <a:xfrm>
            <a:off x="2132931" y="280092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Oval 317"/>
          <p:cNvSpPr/>
          <p:nvPr/>
        </p:nvSpPr>
        <p:spPr>
          <a:xfrm>
            <a:off x="2481313" y="277028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Oval 318"/>
          <p:cNvSpPr/>
          <p:nvPr/>
        </p:nvSpPr>
        <p:spPr>
          <a:xfrm>
            <a:off x="2223630" y="287934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Oval 319"/>
          <p:cNvSpPr/>
          <p:nvPr/>
        </p:nvSpPr>
        <p:spPr>
          <a:xfrm>
            <a:off x="2166238" y="290028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Oval 320"/>
          <p:cNvSpPr/>
          <p:nvPr/>
        </p:nvSpPr>
        <p:spPr>
          <a:xfrm>
            <a:off x="3978577" y="29209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Oval 321"/>
          <p:cNvSpPr/>
          <p:nvPr/>
        </p:nvSpPr>
        <p:spPr>
          <a:xfrm>
            <a:off x="2353382" y="278516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Oval 322"/>
          <p:cNvSpPr/>
          <p:nvPr/>
        </p:nvSpPr>
        <p:spPr>
          <a:xfrm>
            <a:off x="2342911" y="288788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Oval 323"/>
          <p:cNvSpPr/>
          <p:nvPr/>
        </p:nvSpPr>
        <p:spPr>
          <a:xfrm>
            <a:off x="2292495" y="287766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Oval 324"/>
          <p:cNvSpPr/>
          <p:nvPr/>
        </p:nvSpPr>
        <p:spPr>
          <a:xfrm>
            <a:off x="2779116" y="278306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Oval 325"/>
          <p:cNvSpPr/>
          <p:nvPr/>
        </p:nvSpPr>
        <p:spPr>
          <a:xfrm>
            <a:off x="2661379" y="291836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Oval 326"/>
          <p:cNvSpPr/>
          <p:nvPr/>
        </p:nvSpPr>
        <p:spPr>
          <a:xfrm>
            <a:off x="2108693" y="293386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Oval 327"/>
          <p:cNvSpPr/>
          <p:nvPr/>
        </p:nvSpPr>
        <p:spPr>
          <a:xfrm>
            <a:off x="2111840" y="279707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Oval 328"/>
          <p:cNvSpPr/>
          <p:nvPr/>
        </p:nvSpPr>
        <p:spPr>
          <a:xfrm>
            <a:off x="6652259" y="293110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Oval 329"/>
          <p:cNvSpPr/>
          <p:nvPr/>
        </p:nvSpPr>
        <p:spPr>
          <a:xfrm>
            <a:off x="2945478" y="282974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Oval 330"/>
          <p:cNvSpPr/>
          <p:nvPr/>
        </p:nvSpPr>
        <p:spPr>
          <a:xfrm>
            <a:off x="4386276" y="28460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4091387" y="29379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Oval 332"/>
          <p:cNvSpPr/>
          <p:nvPr/>
        </p:nvSpPr>
        <p:spPr>
          <a:xfrm>
            <a:off x="2602112" y="290915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Oval 333"/>
          <p:cNvSpPr/>
          <p:nvPr/>
        </p:nvSpPr>
        <p:spPr>
          <a:xfrm>
            <a:off x="2534002" y="278644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Oval 334"/>
          <p:cNvSpPr/>
          <p:nvPr/>
        </p:nvSpPr>
        <p:spPr>
          <a:xfrm>
            <a:off x="2994907" y="283583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Oval 335"/>
          <p:cNvSpPr/>
          <p:nvPr/>
        </p:nvSpPr>
        <p:spPr>
          <a:xfrm>
            <a:off x="2280958" y="285120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Oval 336"/>
          <p:cNvSpPr/>
          <p:nvPr/>
        </p:nvSpPr>
        <p:spPr>
          <a:xfrm>
            <a:off x="2693378" y="281893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Oval 337"/>
          <p:cNvSpPr/>
          <p:nvPr/>
        </p:nvSpPr>
        <p:spPr>
          <a:xfrm>
            <a:off x="2015586" y="279271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2157152" y="281516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0" name="Connector 339"/>
          <p:cNvCxnSpPr/>
          <p:nvPr/>
        </p:nvCxnSpPr>
        <p:spPr>
          <a:xfrm>
            <a:off x="2428622" y="2706624"/>
            <a:ext cx="0" cy="329184"/>
          </a:xfrm>
          <a:prstGeom prst="line">
            <a:avLst/>
          </a:prstGeom>
          <a:ln w="19050">
            <a:solidFill>
              <a:srgbClr val="1A1D24"/>
            </a:solidFill>
            <a:prstDash val="dash"/>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2895078" y="2706624"/>
            <a:ext cx="0" cy="329184"/>
          </a:xfrm>
          <a:prstGeom prst="line">
            <a:avLst/>
          </a:prstGeom>
          <a:ln w="38100">
            <a:solidFill>
              <a:srgbClr val="1F4FD8"/>
            </a:solidFill>
          </a:ln>
        </p:spPr>
        <p:style>
          <a:lnRef idx="2">
            <a:schemeClr val="accent1"/>
          </a:lnRef>
          <a:fillRef idx="0">
            <a:schemeClr val="accent1"/>
          </a:fillRef>
          <a:effectRef idx="1">
            <a:schemeClr val="accent1"/>
          </a:effectRef>
          <a:fontRef idx="minor">
            <a:schemeClr val="tx1"/>
          </a:fontRef>
        </p:style>
      </p:cxnSp>
      <p:sp>
        <p:nvSpPr>
          <p:cNvPr id="342" name="TextBox 341"/>
          <p:cNvSpPr txBox="1"/>
          <p:nvPr/>
        </p:nvSpPr>
        <p:spPr>
          <a:xfrm>
            <a:off x="6720839" y="2688336"/>
            <a:ext cx="777240" cy="201168"/>
          </a:xfrm>
          <a:prstGeom prst="rect">
            <a:avLst/>
          </a:prstGeom>
          <a:noFill/>
        </p:spPr>
        <p:txBody>
          <a:bodyPr wrap="square" lIns="18288" rIns="18288" tIns="18288" bIns="18288" anchor="t">
            <a:spAutoFit/>
          </a:bodyPr>
          <a:lstStyle/>
          <a:p>
            <a:pPr algn="l"/>
            <a:r>
              <a:rPr sz="900" b="1">
                <a:solidFill>
                  <a:srgbClr val="1A1D24"/>
                </a:solidFill>
                <a:latin typeface="Calibri"/>
              </a:rPr>
              <a:t>0.62 %</a:t>
            </a:r>
          </a:p>
        </p:txBody>
      </p:sp>
      <p:sp>
        <p:nvSpPr>
          <p:cNvPr id="343" name="TextBox 342"/>
          <p:cNvSpPr txBox="1"/>
          <p:nvPr/>
        </p:nvSpPr>
        <p:spPr>
          <a:xfrm>
            <a:off x="6720839" y="2871216"/>
            <a:ext cx="777240" cy="201168"/>
          </a:xfrm>
          <a:prstGeom prst="rect">
            <a:avLst/>
          </a:prstGeom>
          <a:noFill/>
        </p:spPr>
        <p:txBody>
          <a:bodyPr wrap="square" lIns="18288" rIns="18288" tIns="18288" bIns="18288" anchor="t">
            <a:spAutoFit/>
          </a:bodyPr>
          <a:lstStyle/>
          <a:p>
            <a:pPr algn="l"/>
            <a:r>
              <a:rPr sz="800" b="0">
                <a:solidFill>
                  <a:srgbClr val="5B6270"/>
                </a:solidFill>
                <a:latin typeface="Calibri"/>
              </a:rPr>
              <a:t>± 1.09 %</a:t>
            </a:r>
          </a:p>
        </p:txBody>
      </p:sp>
      <p:sp>
        <p:nvSpPr>
          <p:cNvPr id="344" name="TextBox 343"/>
          <p:cNvSpPr txBox="1"/>
          <p:nvPr/>
        </p:nvSpPr>
        <p:spPr>
          <a:xfrm>
            <a:off x="548640" y="3108960"/>
            <a:ext cx="1280160" cy="228600"/>
          </a:xfrm>
          <a:prstGeom prst="rect">
            <a:avLst/>
          </a:prstGeom>
          <a:noFill/>
        </p:spPr>
        <p:txBody>
          <a:bodyPr wrap="square" lIns="18288" rIns="18288" tIns="18288" bIns="18288" anchor="t">
            <a:spAutoFit/>
          </a:bodyPr>
          <a:lstStyle/>
          <a:p>
            <a:pPr algn="r"/>
            <a:r>
              <a:rPr sz="1000" b="1">
                <a:solidFill>
                  <a:srgbClr val="1A1D24"/>
                </a:solidFill>
                <a:latin typeface="Calibri"/>
              </a:rPr>
              <a:t>Sales</a:t>
            </a:r>
          </a:p>
        </p:txBody>
      </p:sp>
      <p:sp>
        <p:nvSpPr>
          <p:cNvPr id="345" name="TextBox 344"/>
          <p:cNvSpPr txBox="1"/>
          <p:nvPr/>
        </p:nvSpPr>
        <p:spPr>
          <a:xfrm>
            <a:off x="548640" y="3310128"/>
            <a:ext cx="1280160" cy="201168"/>
          </a:xfrm>
          <a:prstGeom prst="rect">
            <a:avLst/>
          </a:prstGeom>
          <a:noFill/>
        </p:spPr>
        <p:txBody>
          <a:bodyPr wrap="square" lIns="18288" rIns="18288" tIns="18288" bIns="18288" anchor="t">
            <a:spAutoFit/>
          </a:bodyPr>
          <a:lstStyle/>
          <a:p>
            <a:pPr algn="r"/>
            <a:r>
              <a:rPr sz="800" b="0">
                <a:solidFill>
                  <a:srgbClr val="5B6270"/>
                </a:solidFill>
                <a:latin typeface="Calibri"/>
              </a:rPr>
              <a:t>55 piezas</a:t>
            </a:r>
          </a:p>
        </p:txBody>
      </p:sp>
      <p:cxnSp>
        <p:nvCxnSpPr>
          <p:cNvPr id="346" name="Connector 345"/>
          <p:cNvCxnSpPr/>
          <p:nvPr/>
        </p:nvCxnSpPr>
        <p:spPr>
          <a:xfrm>
            <a:off x="1920240" y="3291840"/>
            <a:ext cx="475487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347" name="Rectangle 346"/>
          <p:cNvSpPr/>
          <p:nvPr/>
        </p:nvSpPr>
        <p:spPr>
          <a:xfrm>
            <a:off x="2012757" y="3145536"/>
            <a:ext cx="458002" cy="29260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Oval 347"/>
          <p:cNvSpPr/>
          <p:nvPr/>
        </p:nvSpPr>
        <p:spPr>
          <a:xfrm>
            <a:off x="1989455" y="330960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Oval 348"/>
          <p:cNvSpPr/>
          <p:nvPr/>
        </p:nvSpPr>
        <p:spPr>
          <a:xfrm>
            <a:off x="2031573" y="318110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Oval 349"/>
          <p:cNvSpPr/>
          <p:nvPr/>
        </p:nvSpPr>
        <p:spPr>
          <a:xfrm>
            <a:off x="1963756" y="32788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Oval 350"/>
          <p:cNvSpPr/>
          <p:nvPr/>
        </p:nvSpPr>
        <p:spPr>
          <a:xfrm>
            <a:off x="1948354" y="325809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Oval 351"/>
          <p:cNvSpPr/>
          <p:nvPr/>
        </p:nvSpPr>
        <p:spPr>
          <a:xfrm>
            <a:off x="2161015" y="318084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2275840" y="32381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Oval 353"/>
          <p:cNvSpPr/>
          <p:nvPr/>
        </p:nvSpPr>
        <p:spPr>
          <a:xfrm>
            <a:off x="2077199" y="32916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Oval 354"/>
          <p:cNvSpPr/>
          <p:nvPr/>
        </p:nvSpPr>
        <p:spPr>
          <a:xfrm>
            <a:off x="2271525" y="327122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Oval 355"/>
          <p:cNvSpPr/>
          <p:nvPr/>
        </p:nvSpPr>
        <p:spPr>
          <a:xfrm>
            <a:off x="2093162" y="318929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Oval 356"/>
          <p:cNvSpPr/>
          <p:nvPr/>
        </p:nvSpPr>
        <p:spPr>
          <a:xfrm>
            <a:off x="2115288" y="335769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Oval 357"/>
          <p:cNvSpPr/>
          <p:nvPr/>
        </p:nvSpPr>
        <p:spPr>
          <a:xfrm>
            <a:off x="2244532" y="332171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Oval 358"/>
          <p:cNvSpPr/>
          <p:nvPr/>
        </p:nvSpPr>
        <p:spPr>
          <a:xfrm>
            <a:off x="2238913" y="33552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1979588" y="319670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Oval 360"/>
          <p:cNvSpPr/>
          <p:nvPr/>
        </p:nvSpPr>
        <p:spPr>
          <a:xfrm>
            <a:off x="2261804" y="322610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Oval 361"/>
          <p:cNvSpPr/>
          <p:nvPr/>
        </p:nvSpPr>
        <p:spPr>
          <a:xfrm>
            <a:off x="2099024" y="318477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Oval 362"/>
          <p:cNvSpPr/>
          <p:nvPr/>
        </p:nvSpPr>
        <p:spPr>
          <a:xfrm>
            <a:off x="2151411" y="332000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Oval 363"/>
          <p:cNvSpPr/>
          <p:nvPr/>
        </p:nvSpPr>
        <p:spPr>
          <a:xfrm>
            <a:off x="2329723" y="322699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Oval 364"/>
          <p:cNvSpPr/>
          <p:nvPr/>
        </p:nvSpPr>
        <p:spPr>
          <a:xfrm>
            <a:off x="2193551" y="320123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Oval 365"/>
          <p:cNvSpPr/>
          <p:nvPr/>
        </p:nvSpPr>
        <p:spPr>
          <a:xfrm>
            <a:off x="2436490" y="325476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Oval 366"/>
          <p:cNvSpPr/>
          <p:nvPr/>
        </p:nvSpPr>
        <p:spPr>
          <a:xfrm>
            <a:off x="2814890" y="334421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Oval 367"/>
          <p:cNvSpPr/>
          <p:nvPr/>
        </p:nvSpPr>
        <p:spPr>
          <a:xfrm>
            <a:off x="2147467" y="332731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Oval 368"/>
          <p:cNvSpPr/>
          <p:nvPr/>
        </p:nvSpPr>
        <p:spPr>
          <a:xfrm>
            <a:off x="2262464" y="322483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Oval 369"/>
          <p:cNvSpPr/>
          <p:nvPr/>
        </p:nvSpPr>
        <p:spPr>
          <a:xfrm>
            <a:off x="2091360" y="320485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Oval 370"/>
          <p:cNvSpPr/>
          <p:nvPr/>
        </p:nvSpPr>
        <p:spPr>
          <a:xfrm>
            <a:off x="2505827" y="334563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Oval 371"/>
          <p:cNvSpPr/>
          <p:nvPr/>
        </p:nvSpPr>
        <p:spPr>
          <a:xfrm>
            <a:off x="2215103" y="328189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Oval 372"/>
          <p:cNvSpPr/>
          <p:nvPr/>
        </p:nvSpPr>
        <p:spPr>
          <a:xfrm>
            <a:off x="2539847" y="330563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Oval 373"/>
          <p:cNvSpPr/>
          <p:nvPr/>
        </p:nvSpPr>
        <p:spPr>
          <a:xfrm>
            <a:off x="2126120" y="319390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Oval 374"/>
          <p:cNvSpPr/>
          <p:nvPr/>
        </p:nvSpPr>
        <p:spPr>
          <a:xfrm>
            <a:off x="2164873" y="318806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Oval 375"/>
          <p:cNvSpPr/>
          <p:nvPr/>
        </p:nvSpPr>
        <p:spPr>
          <a:xfrm>
            <a:off x="2448419" y="330339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Oval 376"/>
          <p:cNvSpPr/>
          <p:nvPr/>
        </p:nvSpPr>
        <p:spPr>
          <a:xfrm>
            <a:off x="2188843" y="32553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Oval 377"/>
          <p:cNvSpPr/>
          <p:nvPr/>
        </p:nvSpPr>
        <p:spPr>
          <a:xfrm>
            <a:off x="2037356" y="319078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Oval 378"/>
          <p:cNvSpPr/>
          <p:nvPr/>
        </p:nvSpPr>
        <p:spPr>
          <a:xfrm>
            <a:off x="2021499" y="33491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Oval 379"/>
          <p:cNvSpPr/>
          <p:nvPr/>
        </p:nvSpPr>
        <p:spPr>
          <a:xfrm>
            <a:off x="1987153" y="329356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Oval 380"/>
          <p:cNvSpPr/>
          <p:nvPr/>
        </p:nvSpPr>
        <p:spPr>
          <a:xfrm>
            <a:off x="1983085" y="332414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Oval 381"/>
          <p:cNvSpPr/>
          <p:nvPr/>
        </p:nvSpPr>
        <p:spPr>
          <a:xfrm>
            <a:off x="2090661" y="319285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Oval 382"/>
          <p:cNvSpPr/>
          <p:nvPr/>
        </p:nvSpPr>
        <p:spPr>
          <a:xfrm>
            <a:off x="2005114" y="333412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Oval 383"/>
          <p:cNvSpPr/>
          <p:nvPr/>
        </p:nvSpPr>
        <p:spPr>
          <a:xfrm>
            <a:off x="2801220" y="318972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Oval 384"/>
          <p:cNvSpPr/>
          <p:nvPr/>
        </p:nvSpPr>
        <p:spPr>
          <a:xfrm>
            <a:off x="2248306" y="333532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Oval 385"/>
          <p:cNvSpPr/>
          <p:nvPr/>
        </p:nvSpPr>
        <p:spPr>
          <a:xfrm>
            <a:off x="2588373" y="32605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Oval 386"/>
          <p:cNvSpPr/>
          <p:nvPr/>
        </p:nvSpPr>
        <p:spPr>
          <a:xfrm>
            <a:off x="1953219" y="32395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Oval 387"/>
          <p:cNvSpPr/>
          <p:nvPr/>
        </p:nvSpPr>
        <p:spPr>
          <a:xfrm>
            <a:off x="1947531" y="327868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Oval 388"/>
          <p:cNvSpPr/>
          <p:nvPr/>
        </p:nvSpPr>
        <p:spPr>
          <a:xfrm>
            <a:off x="2103326" y="334700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Oval 389"/>
          <p:cNvSpPr/>
          <p:nvPr/>
        </p:nvSpPr>
        <p:spPr>
          <a:xfrm>
            <a:off x="2451008" y="32265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Oval 390"/>
          <p:cNvSpPr/>
          <p:nvPr/>
        </p:nvSpPr>
        <p:spPr>
          <a:xfrm>
            <a:off x="2098793" y="320117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Oval 391"/>
          <p:cNvSpPr/>
          <p:nvPr/>
        </p:nvSpPr>
        <p:spPr>
          <a:xfrm>
            <a:off x="2122937" y="327390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Oval 392"/>
          <p:cNvSpPr/>
          <p:nvPr/>
        </p:nvSpPr>
        <p:spPr>
          <a:xfrm>
            <a:off x="2582159" y="322114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Oval 393"/>
          <p:cNvSpPr/>
          <p:nvPr/>
        </p:nvSpPr>
        <p:spPr>
          <a:xfrm>
            <a:off x="2473880" y="319755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Oval 394"/>
          <p:cNvSpPr/>
          <p:nvPr/>
        </p:nvSpPr>
        <p:spPr>
          <a:xfrm>
            <a:off x="2502738" y="320706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Oval 395"/>
          <p:cNvSpPr/>
          <p:nvPr/>
        </p:nvSpPr>
        <p:spPr>
          <a:xfrm>
            <a:off x="2481182" y="318675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Oval 396"/>
          <p:cNvSpPr/>
          <p:nvPr/>
        </p:nvSpPr>
        <p:spPr>
          <a:xfrm>
            <a:off x="1964336" y="32144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Oval 397"/>
          <p:cNvSpPr/>
          <p:nvPr/>
        </p:nvSpPr>
        <p:spPr>
          <a:xfrm>
            <a:off x="2342498" y="323459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Oval 398"/>
          <p:cNvSpPr/>
          <p:nvPr/>
        </p:nvSpPr>
        <p:spPr>
          <a:xfrm>
            <a:off x="1995937" y="323331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Oval 399"/>
          <p:cNvSpPr/>
          <p:nvPr/>
        </p:nvSpPr>
        <p:spPr>
          <a:xfrm>
            <a:off x="2803018" y="331643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Oval 400"/>
          <p:cNvSpPr/>
          <p:nvPr/>
        </p:nvSpPr>
        <p:spPr>
          <a:xfrm>
            <a:off x="2038268" y="323056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Oval 401"/>
          <p:cNvSpPr/>
          <p:nvPr/>
        </p:nvSpPr>
        <p:spPr>
          <a:xfrm>
            <a:off x="2048370" y="326899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3" name="Connector 402"/>
          <p:cNvCxnSpPr/>
          <p:nvPr/>
        </p:nvCxnSpPr>
        <p:spPr>
          <a:xfrm>
            <a:off x="2174271" y="3127248"/>
            <a:ext cx="0" cy="329184"/>
          </a:xfrm>
          <a:prstGeom prst="line">
            <a:avLst/>
          </a:prstGeom>
          <a:ln w="19050">
            <a:solidFill>
              <a:srgbClr val="1A1D24"/>
            </a:solidFill>
            <a:prstDash val="dash"/>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a:off x="2241758" y="3127248"/>
            <a:ext cx="0" cy="329184"/>
          </a:xfrm>
          <a:prstGeom prst="line">
            <a:avLst/>
          </a:prstGeom>
          <a:ln w="38100">
            <a:solidFill>
              <a:srgbClr val="1F4FD8"/>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a:off x="6720839" y="3108960"/>
            <a:ext cx="777240" cy="201168"/>
          </a:xfrm>
          <a:prstGeom prst="rect">
            <a:avLst/>
          </a:prstGeom>
          <a:noFill/>
        </p:spPr>
        <p:txBody>
          <a:bodyPr wrap="square" lIns="18288" rIns="18288" tIns="18288" bIns="18288" anchor="t">
            <a:spAutoFit/>
          </a:bodyPr>
          <a:lstStyle/>
          <a:p>
            <a:pPr algn="l"/>
            <a:r>
              <a:rPr sz="900" b="1">
                <a:solidFill>
                  <a:srgbClr val="1A1D24"/>
                </a:solidFill>
                <a:latin typeface="Calibri"/>
              </a:rPr>
              <a:t>0.20 %</a:t>
            </a:r>
          </a:p>
        </p:txBody>
      </p:sp>
      <p:sp>
        <p:nvSpPr>
          <p:cNvPr id="406" name="TextBox 405"/>
          <p:cNvSpPr txBox="1"/>
          <p:nvPr/>
        </p:nvSpPr>
        <p:spPr>
          <a:xfrm>
            <a:off x="6720839" y="3291840"/>
            <a:ext cx="777240" cy="201168"/>
          </a:xfrm>
          <a:prstGeom prst="rect">
            <a:avLst/>
          </a:prstGeom>
          <a:noFill/>
        </p:spPr>
        <p:txBody>
          <a:bodyPr wrap="square" lIns="18288" rIns="18288" tIns="18288" bIns="18288" anchor="t">
            <a:spAutoFit/>
          </a:bodyPr>
          <a:lstStyle/>
          <a:p>
            <a:pPr algn="l"/>
            <a:r>
              <a:rPr sz="800" b="0">
                <a:solidFill>
                  <a:srgbClr val="5B6270"/>
                </a:solidFill>
                <a:latin typeface="Calibri"/>
              </a:rPr>
              <a:t>± 0.14 %</a:t>
            </a:r>
          </a:p>
        </p:txBody>
      </p:sp>
      <p:sp>
        <p:nvSpPr>
          <p:cNvPr id="407" name="TextBox 406"/>
          <p:cNvSpPr txBox="1"/>
          <p:nvPr/>
        </p:nvSpPr>
        <p:spPr>
          <a:xfrm>
            <a:off x="548640" y="3529584"/>
            <a:ext cx="1280160" cy="228600"/>
          </a:xfrm>
          <a:prstGeom prst="rect">
            <a:avLst/>
          </a:prstGeom>
          <a:noFill/>
        </p:spPr>
        <p:txBody>
          <a:bodyPr wrap="square" lIns="18288" rIns="18288" tIns="18288" bIns="18288" anchor="t">
            <a:spAutoFit/>
          </a:bodyPr>
          <a:lstStyle/>
          <a:p>
            <a:pPr algn="r"/>
            <a:r>
              <a:rPr sz="1000" b="1">
                <a:solidFill>
                  <a:srgbClr val="1A1D24"/>
                </a:solidFill>
                <a:latin typeface="Calibri"/>
              </a:rPr>
              <a:t>Collections</a:t>
            </a:r>
          </a:p>
        </p:txBody>
      </p:sp>
      <p:sp>
        <p:nvSpPr>
          <p:cNvPr id="408" name="TextBox 407"/>
          <p:cNvSpPr txBox="1"/>
          <p:nvPr/>
        </p:nvSpPr>
        <p:spPr>
          <a:xfrm>
            <a:off x="548640" y="3730752"/>
            <a:ext cx="1280160" cy="201168"/>
          </a:xfrm>
          <a:prstGeom prst="rect">
            <a:avLst/>
          </a:prstGeom>
          <a:noFill/>
        </p:spPr>
        <p:txBody>
          <a:bodyPr wrap="square" lIns="18288" rIns="18288" tIns="18288" bIns="18288" anchor="t">
            <a:spAutoFit/>
          </a:bodyPr>
          <a:lstStyle/>
          <a:p>
            <a:pPr algn="r"/>
            <a:r>
              <a:rPr sz="800" b="0">
                <a:solidFill>
                  <a:srgbClr val="5B6270"/>
                </a:solidFill>
                <a:latin typeface="Calibri"/>
              </a:rPr>
              <a:t>19 piezas</a:t>
            </a:r>
          </a:p>
        </p:txBody>
      </p:sp>
      <p:cxnSp>
        <p:nvCxnSpPr>
          <p:cNvPr id="409" name="Connector 408"/>
          <p:cNvCxnSpPr/>
          <p:nvPr/>
        </p:nvCxnSpPr>
        <p:spPr>
          <a:xfrm>
            <a:off x="1920240" y="3712464"/>
            <a:ext cx="475487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410" name="Rectangle 409"/>
          <p:cNvSpPr/>
          <p:nvPr/>
        </p:nvSpPr>
        <p:spPr>
          <a:xfrm>
            <a:off x="1920240" y="3566160"/>
            <a:ext cx="3658480" cy="29260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Oval 410"/>
          <p:cNvSpPr/>
          <p:nvPr/>
        </p:nvSpPr>
        <p:spPr>
          <a:xfrm>
            <a:off x="2511177" y="362155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Oval 411"/>
          <p:cNvSpPr/>
          <p:nvPr/>
        </p:nvSpPr>
        <p:spPr>
          <a:xfrm>
            <a:off x="2091448" y="3652479"/>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Oval 412"/>
          <p:cNvSpPr/>
          <p:nvPr/>
        </p:nvSpPr>
        <p:spPr>
          <a:xfrm>
            <a:off x="2156379" y="3592341"/>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Oval 413"/>
          <p:cNvSpPr/>
          <p:nvPr/>
        </p:nvSpPr>
        <p:spPr>
          <a:xfrm>
            <a:off x="6643115" y="363482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Oval 414"/>
          <p:cNvSpPr/>
          <p:nvPr/>
        </p:nvSpPr>
        <p:spPr>
          <a:xfrm>
            <a:off x="5827825" y="3591826"/>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Oval 415"/>
          <p:cNvSpPr/>
          <p:nvPr/>
        </p:nvSpPr>
        <p:spPr>
          <a:xfrm>
            <a:off x="2082621" y="372308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Oval 416"/>
          <p:cNvSpPr/>
          <p:nvPr/>
        </p:nvSpPr>
        <p:spPr>
          <a:xfrm>
            <a:off x="2057231" y="36989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Oval 417"/>
          <p:cNvSpPr/>
          <p:nvPr/>
        </p:nvSpPr>
        <p:spPr>
          <a:xfrm>
            <a:off x="4953593" y="363281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Oval 418"/>
          <p:cNvSpPr/>
          <p:nvPr/>
        </p:nvSpPr>
        <p:spPr>
          <a:xfrm>
            <a:off x="2084271" y="368498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Oval 419"/>
          <p:cNvSpPr/>
          <p:nvPr/>
        </p:nvSpPr>
        <p:spPr>
          <a:xfrm>
            <a:off x="4816407" y="376909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Oval 420"/>
          <p:cNvSpPr/>
          <p:nvPr/>
        </p:nvSpPr>
        <p:spPr>
          <a:xfrm>
            <a:off x="2896137" y="361760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Oval 421"/>
          <p:cNvSpPr/>
          <p:nvPr/>
        </p:nvSpPr>
        <p:spPr>
          <a:xfrm>
            <a:off x="3178133" y="374792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Oval 422"/>
          <p:cNvSpPr/>
          <p:nvPr/>
        </p:nvSpPr>
        <p:spPr>
          <a:xfrm>
            <a:off x="5185260" y="367720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Oval 423"/>
          <p:cNvSpPr/>
          <p:nvPr/>
        </p:nvSpPr>
        <p:spPr>
          <a:xfrm>
            <a:off x="2184811" y="368868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Oval 424"/>
          <p:cNvSpPr/>
          <p:nvPr/>
        </p:nvSpPr>
        <p:spPr>
          <a:xfrm>
            <a:off x="3245288" y="375079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Oval 425"/>
          <p:cNvSpPr/>
          <p:nvPr/>
        </p:nvSpPr>
        <p:spPr>
          <a:xfrm>
            <a:off x="2697486" y="367005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Oval 426"/>
          <p:cNvSpPr/>
          <p:nvPr/>
        </p:nvSpPr>
        <p:spPr>
          <a:xfrm>
            <a:off x="3952206" y="369082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Oval 427"/>
          <p:cNvSpPr/>
          <p:nvPr/>
        </p:nvSpPr>
        <p:spPr>
          <a:xfrm>
            <a:off x="2668004" y="372393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Oval 428"/>
          <p:cNvSpPr/>
          <p:nvPr/>
        </p:nvSpPr>
        <p:spPr>
          <a:xfrm>
            <a:off x="6652259" y="377783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0" name="Connector 429"/>
          <p:cNvCxnSpPr/>
          <p:nvPr/>
        </p:nvCxnSpPr>
        <p:spPr>
          <a:xfrm>
            <a:off x="2918997" y="3547872"/>
            <a:ext cx="0" cy="329184"/>
          </a:xfrm>
          <a:prstGeom prst="line">
            <a:avLst/>
          </a:prstGeom>
          <a:ln w="19050">
            <a:solidFill>
              <a:srgbClr val="1A1D24"/>
            </a:solidFill>
            <a:prstDash val="dash"/>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3727687" y="3547872"/>
            <a:ext cx="0" cy="329184"/>
          </a:xfrm>
          <a:prstGeom prst="line">
            <a:avLst/>
          </a:prstGeom>
          <a:ln w="38100">
            <a:solidFill>
              <a:srgbClr val="1F4FD8"/>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a:off x="6720839" y="3529584"/>
            <a:ext cx="777240" cy="201168"/>
          </a:xfrm>
          <a:prstGeom prst="rect">
            <a:avLst/>
          </a:prstGeom>
          <a:noFill/>
        </p:spPr>
        <p:txBody>
          <a:bodyPr wrap="square" lIns="18288" rIns="18288" tIns="18288" bIns="18288" anchor="t">
            <a:spAutoFit/>
          </a:bodyPr>
          <a:lstStyle/>
          <a:p>
            <a:pPr algn="l"/>
            <a:r>
              <a:rPr sz="900" b="1">
                <a:solidFill>
                  <a:srgbClr val="1A1D24"/>
                </a:solidFill>
                <a:latin typeface="Calibri"/>
              </a:rPr>
              <a:t>1.14 %</a:t>
            </a:r>
          </a:p>
        </p:txBody>
      </p:sp>
      <p:sp>
        <p:nvSpPr>
          <p:cNvPr id="433" name="TextBox 432"/>
          <p:cNvSpPr txBox="1"/>
          <p:nvPr/>
        </p:nvSpPr>
        <p:spPr>
          <a:xfrm>
            <a:off x="6720839" y="3712464"/>
            <a:ext cx="777240" cy="201168"/>
          </a:xfrm>
          <a:prstGeom prst="rect">
            <a:avLst/>
          </a:prstGeom>
          <a:noFill/>
        </p:spPr>
        <p:txBody>
          <a:bodyPr wrap="square" lIns="18288" rIns="18288" tIns="18288" bIns="18288" anchor="t">
            <a:spAutoFit/>
          </a:bodyPr>
          <a:lstStyle/>
          <a:p>
            <a:pPr algn="l"/>
            <a:r>
              <a:rPr sz="800" b="0">
                <a:solidFill>
                  <a:srgbClr val="5B6270"/>
                </a:solidFill>
                <a:latin typeface="Calibri"/>
              </a:rPr>
              <a:t>± 1.17 %</a:t>
            </a:r>
          </a:p>
        </p:txBody>
      </p:sp>
      <p:sp>
        <p:nvSpPr>
          <p:cNvPr id="434" name="TextBox 433"/>
          <p:cNvSpPr txBox="1"/>
          <p:nvPr/>
        </p:nvSpPr>
        <p:spPr>
          <a:xfrm>
            <a:off x="548640" y="3950208"/>
            <a:ext cx="1280160" cy="228600"/>
          </a:xfrm>
          <a:prstGeom prst="rect">
            <a:avLst/>
          </a:prstGeom>
          <a:noFill/>
        </p:spPr>
        <p:txBody>
          <a:bodyPr wrap="square" lIns="18288" rIns="18288" tIns="18288" bIns="18288" anchor="t">
            <a:spAutoFit/>
          </a:bodyPr>
          <a:lstStyle/>
          <a:p>
            <a:pPr algn="r"/>
            <a:r>
              <a:rPr sz="1000" b="1">
                <a:solidFill>
                  <a:srgbClr val="1A1D24"/>
                </a:solidFill>
                <a:latin typeface="Calibri"/>
              </a:rPr>
              <a:t>Others</a:t>
            </a:r>
          </a:p>
        </p:txBody>
      </p:sp>
      <p:sp>
        <p:nvSpPr>
          <p:cNvPr id="435" name="TextBox 434"/>
          <p:cNvSpPr txBox="1"/>
          <p:nvPr/>
        </p:nvSpPr>
        <p:spPr>
          <a:xfrm>
            <a:off x="548640" y="4151376"/>
            <a:ext cx="1280160" cy="201168"/>
          </a:xfrm>
          <a:prstGeom prst="rect">
            <a:avLst/>
          </a:prstGeom>
          <a:noFill/>
        </p:spPr>
        <p:txBody>
          <a:bodyPr wrap="square" lIns="18288" rIns="18288" tIns="18288" bIns="18288" anchor="t">
            <a:spAutoFit/>
          </a:bodyPr>
          <a:lstStyle/>
          <a:p>
            <a:pPr algn="r"/>
            <a:r>
              <a:rPr sz="800" b="0">
                <a:solidFill>
                  <a:srgbClr val="5B6270"/>
                </a:solidFill>
                <a:latin typeface="Calibri"/>
              </a:rPr>
              <a:t>55 piezas</a:t>
            </a:r>
          </a:p>
        </p:txBody>
      </p:sp>
      <p:cxnSp>
        <p:nvCxnSpPr>
          <p:cNvPr id="436" name="Connector 435"/>
          <p:cNvCxnSpPr/>
          <p:nvPr/>
        </p:nvCxnSpPr>
        <p:spPr>
          <a:xfrm>
            <a:off x="1920240" y="4133088"/>
            <a:ext cx="475487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437" name="Rectangle 436"/>
          <p:cNvSpPr/>
          <p:nvPr/>
        </p:nvSpPr>
        <p:spPr>
          <a:xfrm>
            <a:off x="1920240" y="3986784"/>
            <a:ext cx="4754879" cy="29260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Oval 437"/>
          <p:cNvSpPr/>
          <p:nvPr/>
        </p:nvSpPr>
        <p:spPr>
          <a:xfrm>
            <a:off x="2045584" y="407231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Oval 438"/>
          <p:cNvSpPr/>
          <p:nvPr/>
        </p:nvSpPr>
        <p:spPr>
          <a:xfrm>
            <a:off x="2075148" y="416185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Oval 439"/>
          <p:cNvSpPr/>
          <p:nvPr/>
        </p:nvSpPr>
        <p:spPr>
          <a:xfrm>
            <a:off x="6643115" y="4138889"/>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Oval 440"/>
          <p:cNvSpPr/>
          <p:nvPr/>
        </p:nvSpPr>
        <p:spPr>
          <a:xfrm>
            <a:off x="4126031" y="4125951"/>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Oval 441"/>
          <p:cNvSpPr/>
          <p:nvPr/>
        </p:nvSpPr>
        <p:spPr>
          <a:xfrm>
            <a:off x="3895542" y="408365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Oval 442"/>
          <p:cNvSpPr/>
          <p:nvPr/>
        </p:nvSpPr>
        <p:spPr>
          <a:xfrm>
            <a:off x="2758723" y="4073204"/>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Oval 443"/>
          <p:cNvSpPr/>
          <p:nvPr/>
        </p:nvSpPr>
        <p:spPr>
          <a:xfrm>
            <a:off x="5159202" y="4019590"/>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Oval 444"/>
          <p:cNvSpPr/>
          <p:nvPr/>
        </p:nvSpPr>
        <p:spPr>
          <a:xfrm>
            <a:off x="3082513" y="4033385"/>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Oval 445"/>
          <p:cNvSpPr/>
          <p:nvPr/>
        </p:nvSpPr>
        <p:spPr>
          <a:xfrm>
            <a:off x="4597889" y="402257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Oval 446"/>
          <p:cNvSpPr/>
          <p:nvPr/>
        </p:nvSpPr>
        <p:spPr>
          <a:xfrm>
            <a:off x="3910312" y="414513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Oval 447"/>
          <p:cNvSpPr/>
          <p:nvPr/>
        </p:nvSpPr>
        <p:spPr>
          <a:xfrm>
            <a:off x="5914224" y="405638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Oval 448"/>
          <p:cNvSpPr/>
          <p:nvPr/>
        </p:nvSpPr>
        <p:spPr>
          <a:xfrm>
            <a:off x="4559300" y="4039498"/>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Oval 449"/>
          <p:cNvSpPr/>
          <p:nvPr/>
        </p:nvSpPr>
        <p:spPr>
          <a:xfrm>
            <a:off x="2152079" y="403423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Oval 450"/>
          <p:cNvSpPr/>
          <p:nvPr/>
        </p:nvSpPr>
        <p:spPr>
          <a:xfrm>
            <a:off x="6652259" y="41726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Oval 451"/>
          <p:cNvSpPr/>
          <p:nvPr/>
        </p:nvSpPr>
        <p:spPr>
          <a:xfrm>
            <a:off x="3344386" y="4168847"/>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Oval 452"/>
          <p:cNvSpPr/>
          <p:nvPr/>
        </p:nvSpPr>
        <p:spPr>
          <a:xfrm>
            <a:off x="6643115" y="4132272"/>
            <a:ext cx="64008" cy="64008"/>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Oval 453"/>
          <p:cNvSpPr/>
          <p:nvPr/>
        </p:nvSpPr>
        <p:spPr>
          <a:xfrm>
            <a:off x="6652259" y="407034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Oval 454"/>
          <p:cNvSpPr/>
          <p:nvPr/>
        </p:nvSpPr>
        <p:spPr>
          <a:xfrm>
            <a:off x="6652259" y="406308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Oval 455"/>
          <p:cNvSpPr/>
          <p:nvPr/>
        </p:nvSpPr>
        <p:spPr>
          <a:xfrm>
            <a:off x="4899420" y="407238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Oval 456"/>
          <p:cNvSpPr/>
          <p:nvPr/>
        </p:nvSpPr>
        <p:spPr>
          <a:xfrm>
            <a:off x="4258474" y="410281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Oval 457"/>
          <p:cNvSpPr/>
          <p:nvPr/>
        </p:nvSpPr>
        <p:spPr>
          <a:xfrm>
            <a:off x="4050376" y="4047597"/>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Oval 458"/>
          <p:cNvSpPr/>
          <p:nvPr/>
        </p:nvSpPr>
        <p:spPr>
          <a:xfrm>
            <a:off x="6652259" y="410032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Oval 459"/>
          <p:cNvSpPr/>
          <p:nvPr/>
        </p:nvSpPr>
        <p:spPr>
          <a:xfrm>
            <a:off x="6652259" y="406692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Oval 460"/>
          <p:cNvSpPr/>
          <p:nvPr/>
        </p:nvSpPr>
        <p:spPr>
          <a:xfrm>
            <a:off x="6462304" y="419467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Oval 461"/>
          <p:cNvSpPr/>
          <p:nvPr/>
        </p:nvSpPr>
        <p:spPr>
          <a:xfrm>
            <a:off x="1963585" y="419666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Oval 462"/>
          <p:cNvSpPr/>
          <p:nvPr/>
        </p:nvSpPr>
        <p:spPr>
          <a:xfrm>
            <a:off x="2836752" y="411883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Oval 463"/>
          <p:cNvSpPr/>
          <p:nvPr/>
        </p:nvSpPr>
        <p:spPr>
          <a:xfrm>
            <a:off x="4349045" y="406349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Oval 464"/>
          <p:cNvSpPr/>
          <p:nvPr/>
        </p:nvSpPr>
        <p:spPr>
          <a:xfrm>
            <a:off x="2941337" y="419538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Oval 465"/>
          <p:cNvSpPr/>
          <p:nvPr/>
        </p:nvSpPr>
        <p:spPr>
          <a:xfrm>
            <a:off x="3817838" y="407539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Oval 466"/>
          <p:cNvSpPr/>
          <p:nvPr/>
        </p:nvSpPr>
        <p:spPr>
          <a:xfrm>
            <a:off x="3090831" y="408400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Oval 467"/>
          <p:cNvSpPr/>
          <p:nvPr/>
        </p:nvSpPr>
        <p:spPr>
          <a:xfrm>
            <a:off x="6497921" y="401898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Oval 468"/>
          <p:cNvSpPr/>
          <p:nvPr/>
        </p:nvSpPr>
        <p:spPr>
          <a:xfrm>
            <a:off x="3361187" y="408857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Oval 469"/>
          <p:cNvSpPr/>
          <p:nvPr/>
        </p:nvSpPr>
        <p:spPr>
          <a:xfrm>
            <a:off x="3965391" y="410559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Oval 470"/>
          <p:cNvSpPr/>
          <p:nvPr/>
        </p:nvSpPr>
        <p:spPr>
          <a:xfrm>
            <a:off x="6652259" y="411073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Oval 471"/>
          <p:cNvSpPr/>
          <p:nvPr/>
        </p:nvSpPr>
        <p:spPr>
          <a:xfrm>
            <a:off x="2930232" y="405554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Oval 472"/>
          <p:cNvSpPr/>
          <p:nvPr/>
        </p:nvSpPr>
        <p:spPr>
          <a:xfrm>
            <a:off x="3133676" y="411109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Oval 473"/>
          <p:cNvSpPr/>
          <p:nvPr/>
        </p:nvSpPr>
        <p:spPr>
          <a:xfrm>
            <a:off x="4561145" y="4019693"/>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Oval 474"/>
          <p:cNvSpPr/>
          <p:nvPr/>
        </p:nvSpPr>
        <p:spPr>
          <a:xfrm>
            <a:off x="2221100" y="406709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Oval 475"/>
          <p:cNvSpPr/>
          <p:nvPr/>
        </p:nvSpPr>
        <p:spPr>
          <a:xfrm>
            <a:off x="3162278" y="403520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Oval 476"/>
          <p:cNvSpPr/>
          <p:nvPr/>
        </p:nvSpPr>
        <p:spPr>
          <a:xfrm>
            <a:off x="3857714" y="4091850"/>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Oval 477"/>
          <p:cNvSpPr/>
          <p:nvPr/>
        </p:nvSpPr>
        <p:spPr>
          <a:xfrm>
            <a:off x="2270554" y="402640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Oval 478"/>
          <p:cNvSpPr/>
          <p:nvPr/>
        </p:nvSpPr>
        <p:spPr>
          <a:xfrm>
            <a:off x="2560798" y="402290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Oval 479"/>
          <p:cNvSpPr/>
          <p:nvPr/>
        </p:nvSpPr>
        <p:spPr>
          <a:xfrm>
            <a:off x="2687760" y="407442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Oval 480"/>
          <p:cNvSpPr/>
          <p:nvPr/>
        </p:nvSpPr>
        <p:spPr>
          <a:xfrm>
            <a:off x="2663500" y="4061364"/>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Oval 481"/>
          <p:cNvSpPr/>
          <p:nvPr/>
        </p:nvSpPr>
        <p:spPr>
          <a:xfrm>
            <a:off x="5684187" y="412587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Oval 482"/>
          <p:cNvSpPr/>
          <p:nvPr/>
        </p:nvSpPr>
        <p:spPr>
          <a:xfrm>
            <a:off x="2219563" y="411556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Oval 483"/>
          <p:cNvSpPr/>
          <p:nvPr/>
        </p:nvSpPr>
        <p:spPr>
          <a:xfrm>
            <a:off x="2611932" y="415604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Oval 484"/>
          <p:cNvSpPr/>
          <p:nvPr/>
        </p:nvSpPr>
        <p:spPr>
          <a:xfrm>
            <a:off x="2393437" y="4139039"/>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Oval 485"/>
          <p:cNvSpPr/>
          <p:nvPr/>
        </p:nvSpPr>
        <p:spPr>
          <a:xfrm>
            <a:off x="3304596" y="4149728"/>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Oval 486"/>
          <p:cNvSpPr/>
          <p:nvPr/>
        </p:nvSpPr>
        <p:spPr>
          <a:xfrm>
            <a:off x="3393575" y="4179556"/>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Oval 487"/>
          <p:cNvSpPr/>
          <p:nvPr/>
        </p:nvSpPr>
        <p:spPr>
          <a:xfrm>
            <a:off x="1995368" y="4090022"/>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Oval 488"/>
          <p:cNvSpPr/>
          <p:nvPr/>
        </p:nvSpPr>
        <p:spPr>
          <a:xfrm>
            <a:off x="3209922" y="407843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Oval 489"/>
          <p:cNvSpPr/>
          <p:nvPr/>
        </p:nvSpPr>
        <p:spPr>
          <a:xfrm>
            <a:off x="4111441" y="4198875"/>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Oval 490"/>
          <p:cNvSpPr/>
          <p:nvPr/>
        </p:nvSpPr>
        <p:spPr>
          <a:xfrm>
            <a:off x="3553725" y="40461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Oval 491"/>
          <p:cNvSpPr/>
          <p:nvPr/>
        </p:nvSpPr>
        <p:spPr>
          <a:xfrm>
            <a:off x="6652259" y="4151221"/>
            <a:ext cx="45720" cy="45720"/>
          </a:xfrm>
          <a:prstGeom prst="ellipse">
            <a:avLst/>
          </a:prstGeom>
          <a:solidFill>
            <a:srgbClr val="A3AA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3" name="Connector 492"/>
          <p:cNvCxnSpPr/>
          <p:nvPr/>
        </p:nvCxnSpPr>
        <p:spPr>
          <a:xfrm>
            <a:off x="3840698" y="3968496"/>
            <a:ext cx="0" cy="329184"/>
          </a:xfrm>
          <a:prstGeom prst="line">
            <a:avLst/>
          </a:prstGeom>
          <a:ln w="19050">
            <a:solidFill>
              <a:srgbClr val="1A1D24"/>
            </a:solidFill>
            <a:prstDash val="dash"/>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a:off x="4823845" y="3968496"/>
            <a:ext cx="0" cy="329184"/>
          </a:xfrm>
          <a:prstGeom prst="line">
            <a:avLst/>
          </a:prstGeom>
          <a:ln w="38100">
            <a:solidFill>
              <a:srgbClr val="1F4FD8"/>
            </a:solidFill>
          </a:ln>
        </p:spPr>
        <p:style>
          <a:lnRef idx="2">
            <a:schemeClr val="accent1"/>
          </a:lnRef>
          <a:fillRef idx="0">
            <a:schemeClr val="accent1"/>
          </a:fillRef>
          <a:effectRef idx="1">
            <a:schemeClr val="accent1"/>
          </a:effectRef>
          <a:fontRef idx="minor">
            <a:schemeClr val="tx1"/>
          </a:fontRef>
        </p:style>
      </p:cxnSp>
      <p:sp>
        <p:nvSpPr>
          <p:cNvPr id="495" name="TextBox 494"/>
          <p:cNvSpPr txBox="1"/>
          <p:nvPr/>
        </p:nvSpPr>
        <p:spPr>
          <a:xfrm>
            <a:off x="6720839" y="3950208"/>
            <a:ext cx="777240" cy="201168"/>
          </a:xfrm>
          <a:prstGeom prst="rect">
            <a:avLst/>
          </a:prstGeom>
          <a:noFill/>
        </p:spPr>
        <p:txBody>
          <a:bodyPr wrap="square" lIns="18288" rIns="18288" tIns="18288" bIns="18288" anchor="t">
            <a:spAutoFit/>
          </a:bodyPr>
          <a:lstStyle/>
          <a:p>
            <a:pPr algn="l"/>
            <a:r>
              <a:rPr sz="900" b="1">
                <a:solidFill>
                  <a:srgbClr val="1A1D24"/>
                </a:solidFill>
                <a:latin typeface="Calibri"/>
              </a:rPr>
              <a:t>1.83 %</a:t>
            </a:r>
          </a:p>
        </p:txBody>
      </p:sp>
      <p:sp>
        <p:nvSpPr>
          <p:cNvPr id="496" name="TextBox 495"/>
          <p:cNvSpPr txBox="1"/>
          <p:nvPr/>
        </p:nvSpPr>
        <p:spPr>
          <a:xfrm>
            <a:off x="6720839" y="4133088"/>
            <a:ext cx="777240" cy="201168"/>
          </a:xfrm>
          <a:prstGeom prst="rect">
            <a:avLst/>
          </a:prstGeom>
          <a:noFill/>
        </p:spPr>
        <p:txBody>
          <a:bodyPr wrap="square" lIns="18288" rIns="18288" tIns="18288" bIns="18288" anchor="t">
            <a:spAutoFit/>
          </a:bodyPr>
          <a:lstStyle/>
          <a:p>
            <a:pPr algn="l"/>
            <a:r>
              <a:rPr sz="800" b="0">
                <a:solidFill>
                  <a:srgbClr val="5B6270"/>
                </a:solidFill>
                <a:latin typeface="Calibri"/>
              </a:rPr>
              <a:t>± 2.65 %</a:t>
            </a:r>
          </a:p>
        </p:txBody>
      </p:sp>
      <p:cxnSp>
        <p:nvCxnSpPr>
          <p:cNvPr id="497" name="Connector 496"/>
          <p:cNvCxnSpPr/>
          <p:nvPr/>
        </p:nvCxnSpPr>
        <p:spPr>
          <a:xfrm>
            <a:off x="4297679" y="2240280"/>
            <a:ext cx="0" cy="2103120"/>
          </a:xfrm>
          <a:prstGeom prst="line">
            <a:avLst/>
          </a:prstGeom>
          <a:ln>
            <a:solidFill>
              <a:srgbClr val="5B6270"/>
            </a:solidFill>
            <a:prstDash val="dash"/>
          </a:ln>
        </p:spPr>
        <p:style>
          <a:lnRef idx="2">
            <a:schemeClr val="accent1"/>
          </a:lnRef>
          <a:fillRef idx="0">
            <a:schemeClr val="accent1"/>
          </a:fillRef>
          <a:effectRef idx="1">
            <a:schemeClr val="accent1"/>
          </a:effectRef>
          <a:fontRef idx="minor">
            <a:schemeClr val="tx1"/>
          </a:fontRef>
        </p:style>
      </p:cxnSp>
      <p:sp>
        <p:nvSpPr>
          <p:cNvPr id="498" name="TextBox 497"/>
          <p:cNvSpPr txBox="1"/>
          <p:nvPr/>
        </p:nvSpPr>
        <p:spPr>
          <a:xfrm>
            <a:off x="4343399" y="2221992"/>
            <a:ext cx="2286000" cy="201168"/>
          </a:xfrm>
          <a:prstGeom prst="rect">
            <a:avLst/>
          </a:prstGeom>
          <a:noFill/>
        </p:spPr>
        <p:txBody>
          <a:bodyPr wrap="square" lIns="18288" rIns="18288" tIns="18288" bIns="18288" anchor="t">
            <a:spAutoFit/>
          </a:bodyPr>
          <a:lstStyle/>
          <a:p>
            <a:pPr algn="l"/>
            <a:r>
              <a:rPr sz="800" b="0">
                <a:solidFill>
                  <a:srgbClr val="5B6270"/>
                </a:solidFill>
                <a:latin typeface="Calibri"/>
              </a:rPr>
              <a:t>Mínimo 1.5 %</a:t>
            </a:r>
          </a:p>
        </p:txBody>
      </p:sp>
      <p:sp>
        <p:nvSpPr>
          <p:cNvPr id="499" name="TextBox 498"/>
          <p:cNvSpPr txBox="1"/>
          <p:nvPr/>
        </p:nvSpPr>
        <p:spPr>
          <a:xfrm>
            <a:off x="1554480" y="4361688"/>
            <a:ext cx="731520" cy="201168"/>
          </a:xfrm>
          <a:prstGeom prst="rect">
            <a:avLst/>
          </a:prstGeom>
          <a:noFill/>
        </p:spPr>
        <p:txBody>
          <a:bodyPr wrap="square" lIns="18288" rIns="18288" tIns="18288" bIns="18288" anchor="t">
            <a:spAutoFit/>
          </a:bodyPr>
          <a:lstStyle/>
          <a:p>
            <a:pPr algn="ctr"/>
            <a:r>
              <a:rPr sz="800" b="0">
                <a:solidFill>
                  <a:srgbClr val="5B6270"/>
                </a:solidFill>
                <a:latin typeface="Calibri"/>
              </a:rPr>
              <a:t>0.00 %</a:t>
            </a:r>
          </a:p>
        </p:txBody>
      </p:sp>
      <p:sp>
        <p:nvSpPr>
          <p:cNvPr id="500" name="TextBox 499"/>
          <p:cNvSpPr txBox="1"/>
          <p:nvPr/>
        </p:nvSpPr>
        <p:spPr>
          <a:xfrm>
            <a:off x="2743200" y="4361688"/>
            <a:ext cx="731520" cy="201168"/>
          </a:xfrm>
          <a:prstGeom prst="rect">
            <a:avLst/>
          </a:prstGeom>
          <a:noFill/>
        </p:spPr>
        <p:txBody>
          <a:bodyPr wrap="square" lIns="18288" rIns="18288" tIns="18288" bIns="18288" anchor="t">
            <a:spAutoFit/>
          </a:bodyPr>
          <a:lstStyle/>
          <a:p>
            <a:pPr algn="ctr"/>
            <a:r>
              <a:rPr sz="800" b="0">
                <a:solidFill>
                  <a:srgbClr val="5B6270"/>
                </a:solidFill>
                <a:latin typeface="Calibri"/>
              </a:rPr>
              <a:t>0.75 %</a:t>
            </a:r>
          </a:p>
        </p:txBody>
      </p:sp>
      <p:sp>
        <p:nvSpPr>
          <p:cNvPr id="501" name="TextBox 500"/>
          <p:cNvSpPr txBox="1"/>
          <p:nvPr/>
        </p:nvSpPr>
        <p:spPr>
          <a:xfrm>
            <a:off x="3931919" y="4361688"/>
            <a:ext cx="731520" cy="201168"/>
          </a:xfrm>
          <a:prstGeom prst="rect">
            <a:avLst/>
          </a:prstGeom>
          <a:noFill/>
        </p:spPr>
        <p:txBody>
          <a:bodyPr wrap="square" lIns="18288" rIns="18288" tIns="18288" bIns="18288" anchor="t">
            <a:spAutoFit/>
          </a:bodyPr>
          <a:lstStyle/>
          <a:p>
            <a:pPr algn="ctr"/>
            <a:r>
              <a:rPr sz="800" b="0">
                <a:solidFill>
                  <a:srgbClr val="5B6270"/>
                </a:solidFill>
                <a:latin typeface="Calibri"/>
              </a:rPr>
              <a:t>1.50 %</a:t>
            </a:r>
          </a:p>
        </p:txBody>
      </p:sp>
      <p:sp>
        <p:nvSpPr>
          <p:cNvPr id="502" name="TextBox 501"/>
          <p:cNvSpPr txBox="1"/>
          <p:nvPr/>
        </p:nvSpPr>
        <p:spPr>
          <a:xfrm>
            <a:off x="5120640" y="4361688"/>
            <a:ext cx="731520" cy="201168"/>
          </a:xfrm>
          <a:prstGeom prst="rect">
            <a:avLst/>
          </a:prstGeom>
          <a:noFill/>
        </p:spPr>
        <p:txBody>
          <a:bodyPr wrap="square" lIns="18288" rIns="18288" tIns="18288" bIns="18288" anchor="t">
            <a:spAutoFit/>
          </a:bodyPr>
          <a:lstStyle/>
          <a:p>
            <a:pPr algn="ctr"/>
            <a:r>
              <a:rPr sz="800" b="0">
                <a:solidFill>
                  <a:srgbClr val="5B6270"/>
                </a:solidFill>
                <a:latin typeface="Calibri"/>
              </a:rPr>
              <a:t>2.25 %</a:t>
            </a:r>
          </a:p>
        </p:txBody>
      </p:sp>
      <p:sp>
        <p:nvSpPr>
          <p:cNvPr id="503" name="TextBox 502"/>
          <p:cNvSpPr txBox="1"/>
          <p:nvPr/>
        </p:nvSpPr>
        <p:spPr>
          <a:xfrm>
            <a:off x="6309359" y="4361688"/>
            <a:ext cx="731520" cy="201168"/>
          </a:xfrm>
          <a:prstGeom prst="rect">
            <a:avLst/>
          </a:prstGeom>
          <a:noFill/>
        </p:spPr>
        <p:txBody>
          <a:bodyPr wrap="square" lIns="18288" rIns="18288" tIns="18288" bIns="18288" anchor="t">
            <a:spAutoFit/>
          </a:bodyPr>
          <a:lstStyle/>
          <a:p>
            <a:pPr algn="ctr"/>
            <a:r>
              <a:rPr sz="800" b="0">
                <a:solidFill>
                  <a:srgbClr val="5B6270"/>
                </a:solidFill>
                <a:latin typeface="Calibri"/>
              </a:rPr>
              <a:t>3.00 %</a:t>
            </a:r>
          </a:p>
        </p:txBody>
      </p:sp>
      <p:sp>
        <p:nvSpPr>
          <p:cNvPr id="504" name="TextBox 503"/>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Marketing 0.62 % ± 1.09; Product Growth con piezas de 0.1 a 3 %; Sales 0.20 % ± 0.14 sin una sola pieza arriba de 0.6 %.</a:t>
            </a:r>
          </a:p>
          <a:p>
            <a:pPr>
              <a:spcAft>
                <a:spcPts val="350"/>
              </a:spcAft>
            </a:pPr>
            <a:r>
              <a:rPr sz="900" b="1">
                <a:solidFill>
                  <a:srgbClr val="1F4FD8"/>
                </a:solidFill>
                <a:latin typeface="Calibri"/>
              </a:rPr>
              <a:t>2.  </a:t>
            </a:r>
            <a:r>
              <a:rPr sz="900" b="0">
                <a:solidFill>
                  <a:srgbClr val="5B6270"/>
                </a:solidFill>
                <a:latin typeface="Calibri"/>
              </a:rPr>
              <a:t>Push: Collections 3.10 % ± 1.75, Product Growth 1.80 % ± 2.14.</a:t>
            </a:r>
          </a:p>
          <a:p>
            <a:pPr>
              <a:spcAft>
                <a:spcPts val="350"/>
              </a:spcAft>
            </a:pPr>
            <a:r>
              <a:rPr sz="900" b="1">
                <a:solidFill>
                  <a:srgbClr val="1F4FD8"/>
                </a:solidFill>
                <a:latin typeface="Calibri"/>
              </a:rPr>
              <a:t>3.  </a:t>
            </a:r>
            <a:r>
              <a:rPr sz="900" b="0">
                <a:solidFill>
                  <a:srgbClr val="5B6270"/>
                </a:solidFill>
                <a:latin typeface="Calibri"/>
              </a:rPr>
              <a:t>La mitad de las piezas de Marketing y Product Growth está debajo de 0.32 % y 0.25 %: la cola es masivos sin señal; la cabeza (Veriff, Precobranza) tiene señal.</a:t>
            </a:r>
          </a:p>
          <a:p>
            <a:pPr>
              <a:spcAft>
                <a:spcPts val="350"/>
              </a:spcAft>
            </a:pPr>
            <a:r>
              <a:rPr sz="900" b="1">
                <a:solidFill>
                  <a:srgbClr val="1F4FD8"/>
                </a:solidFill>
                <a:latin typeface="Calibri"/>
              </a:rPr>
              <a:t>4.  </a:t>
            </a:r>
            <a:r>
              <a:rPr sz="900" b="0">
                <a:solidFill>
                  <a:srgbClr val="5B6270"/>
                </a:solidFill>
                <a:latin typeface="Calibri"/>
              </a:rPr>
              <a:t>Cada equipo ya tiene piezas que pasan el mínimo; no las replica porque no compara sus propias piezas entre sí.</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No hay revisión por pieza dentro del equipo (ranking propio) ni plantilla de 'cómo se ve una pieza que pasa'.</a:t>
            </a:r>
          </a:p>
        </p:txBody>
      </p:sp>
      <p:cxnSp>
        <p:nvCxnSpPr>
          <p:cNvPr id="505" name="Connector 504"/>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506" name="TextBox 505"/>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Replicar la audiencia de las piezas de arriba de cada equipo vale más que cambiar de equipo.</a:t>
            </a:r>
          </a:p>
          <a:p>
            <a:r>
              <a:rPr sz="700" b="1">
                <a:solidFill>
                  <a:srgbClr val="1F4FD8"/>
                </a:solidFill>
                <a:latin typeface="Calibri"/>
              </a:rPr>
              <a:t>O  </a:t>
            </a:r>
            <a:r>
              <a:rPr sz="750">
                <a:solidFill>
                  <a:srgbClr val="5B6270"/>
                </a:solidFill>
                <a:latin typeface="Calibri"/>
              </a:rPr>
              <a:t>Los equipos crean piezas nuevas en vez de copiar las que funcionan.</a:t>
            </a:r>
          </a:p>
          <a:p>
            <a:r>
              <a:rPr sz="700" b="1">
                <a:solidFill>
                  <a:srgbClr val="1F4FD8"/>
                </a:solidFill>
                <a:latin typeface="Calibri"/>
              </a:rPr>
              <a:t>G  </a:t>
            </a:r>
            <a:r>
              <a:rPr sz="750">
                <a:solidFill>
                  <a:srgbClr val="5B6270"/>
                </a:solidFill>
                <a:latin typeface="Calibri"/>
              </a:rPr>
              <a:t>No hay catálogo de piezas 'modelo' con dueño.</a:t>
            </a:r>
          </a:p>
        </p:txBody>
      </p:sp>
      <p:sp>
        <p:nvSpPr>
          <p:cNvPr id="507" name="TextBox 506"/>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cada equipo recibe su ranking de piezas (Sheets Campañas) y define 3 piezas modelo con su audiencia; apaga la mitad de abajo (debajo de 0.32 y 0.25 %). Sales rehace su email entero. Métrica: mediana de clic por equipo, meta duplicarla en 90 días.</a:t>
            </a:r>
          </a:p>
        </p:txBody>
      </p:sp>
      <p:sp>
        <p:nvSpPr>
          <p:cNvPr id="508" name="TextBox 507"/>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Sales rehace su email (ninguna pieza arriba de 0.6 %); Marketing y Product Growth apagan la mitad de sus piezas y replican la audiencia de las de arriba.</a:t>
            </a:r>
          </a:p>
        </p:txBody>
      </p:sp>
      <p:sp>
        <p:nvSpPr>
          <p:cNvPr id="509" name="Rectangle 508"/>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TextBox 510"/>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 palanca no es cambiar de equipo sino replicar las piezas de arriba de cada equipo y apagar su cola: cada equipo ya sabe cómo se ve una pieza que pasa.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Ningún equipo gana en todo: Collections y Others responden mejor con menos volumen, Sales entrega mejor, Product Growth insiste con 39 % de su volumen y Marketing quema la base (5.9 bajas por mil)</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F_Piezas (E1), Vista_equipo. Tasas ponderadas por volumen en 9 meses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40</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3.6 %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apertura de push de Collections, la mejor; Others 1.8 % de clic</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80 %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entrega de WhatsApp de Sales; Product Growth 72 %</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39 % / 5.9</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del volumen de PG insiste tras fallar; bajas por mil de Marketing</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40.png"/>
          <p:cNvPicPr>
            <a:picLocks noChangeAspect="1"/>
          </p:cNvPicPr>
          <p:nvPr/>
        </p:nvPicPr>
        <p:blipFill>
          <a:blip r:embed="rId2"/>
          <a:stretch>
            <a:fillRect/>
          </a:stretch>
        </p:blipFill>
        <p:spPr>
          <a:xfrm>
            <a:off x="548640" y="2560320"/>
            <a:ext cx="6366933"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Collections: 3.6 % de apertura de push y 0.25 bajas por mil; Others 1.8 % de clic en email: mandan con una razón (pago, transacción).</a:t>
            </a:r>
          </a:p>
          <a:p>
            <a:pPr>
              <a:spcAft>
                <a:spcPts val="350"/>
              </a:spcAft>
            </a:pPr>
            <a:r>
              <a:rPr sz="900" b="1">
                <a:solidFill>
                  <a:srgbClr val="1F4FD8"/>
                </a:solidFill>
                <a:latin typeface="Calibri"/>
              </a:rPr>
              <a:t>2.  </a:t>
            </a:r>
            <a:r>
              <a:rPr sz="900" b="0">
                <a:solidFill>
                  <a:srgbClr val="5B6270"/>
                </a:solidFill>
                <a:latin typeface="Calibri"/>
              </a:rPr>
              <a:t>Sales entrega 80 % en WhatsApp (la mejor) pero hace clic 0.21 % en email.</a:t>
            </a:r>
          </a:p>
          <a:p>
            <a:pPr>
              <a:spcAft>
                <a:spcPts val="350"/>
              </a:spcAft>
            </a:pPr>
            <a:r>
              <a:rPr sz="900" b="1">
                <a:solidFill>
                  <a:srgbClr val="1F4FD8"/>
                </a:solidFill>
                <a:latin typeface="Calibri"/>
              </a:rPr>
              <a:t>3.  </a:t>
            </a:r>
            <a:r>
              <a:rPr sz="900" b="0">
                <a:solidFill>
                  <a:srgbClr val="5B6270"/>
                </a:solidFill>
                <a:latin typeface="Calibri"/>
              </a:rPr>
              <a:t>Product Growth: 39 % de su volumen insiste tras fallar y su email es el más bajo; Marketing: el mejor clic promocional (0.95 %) pero 5.9 bajas por mil, el doble que el resto.</a:t>
            </a:r>
          </a:p>
          <a:p>
            <a:pPr>
              <a:spcAft>
                <a:spcPts val="350"/>
              </a:spcAft>
            </a:pPr>
            <a:r>
              <a:rPr sz="900" b="1">
                <a:solidFill>
                  <a:srgbClr val="1F4FD8"/>
                </a:solidFill>
                <a:latin typeface="Calibri"/>
              </a:rPr>
              <a:t>4.  </a:t>
            </a:r>
            <a:r>
              <a:rPr sz="900" b="0">
                <a:solidFill>
                  <a:srgbClr val="5B6270"/>
                </a:solidFill>
                <a:latin typeface="Calibri"/>
              </a:rPr>
              <a:t>Cada equipo gana donde manda con una razón del usuario y pierde donde manda masivo sin señal.</a:t>
            </a:r>
          </a:p>
          <a:p>
            <a:pPr>
              <a:spcAft>
                <a:spcPts val="350"/>
              </a:spcAft>
            </a:pPr>
            <a:r>
              <a:rPr sz="900" b="1">
                <a:solidFill>
                  <a:srgbClr val="B5342B"/>
                </a:solidFill>
                <a:latin typeface="Calibri"/>
              </a:rPr>
              <a:t>5.  </a:t>
            </a:r>
            <a:r>
              <a:rPr sz="700" b="1">
                <a:solidFill>
                  <a:srgbClr val="B5342B"/>
                </a:solidFill>
                <a:latin typeface="Calibri"/>
              </a:rPr>
              <a:t>CAUSA RAÍZ · SIN MEDICIÓN  </a:t>
            </a:r>
            <a:r>
              <a:rPr sz="900" b="1">
                <a:solidFill>
                  <a:srgbClr val="1A1D24"/>
                </a:solidFill>
                <a:latin typeface="Calibri"/>
              </a:rPr>
              <a:t>Cada equipo opera Braze solo, con su propio tablero; nadie compara los indicadores entre equipos ni revisa a las 4 semanas.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Lo que separa a los equipos es la razón del envío, no la habilidad: transaccional y cobranza responden siempre.</a:t>
            </a:r>
          </a:p>
          <a:p>
            <a:r>
              <a:rPr sz="700" b="1">
                <a:solidFill>
                  <a:srgbClr val="1F4FD8"/>
                </a:solidFill>
                <a:latin typeface="Calibri"/>
              </a:rPr>
              <a:t>O  </a:t>
            </a:r>
            <a:r>
              <a:rPr sz="750">
                <a:solidFill>
                  <a:srgbClr val="5B6270"/>
                </a:solidFill>
                <a:latin typeface="Calibri"/>
              </a:rPr>
              <a:t>Los equipos no ven el tablero de los otros.</a:t>
            </a:r>
          </a:p>
          <a:p>
            <a:r>
              <a:rPr sz="700" b="1">
                <a:solidFill>
                  <a:srgbClr val="1F4FD8"/>
                </a:solidFill>
                <a:latin typeface="Calibri"/>
              </a:rPr>
              <a:t>G  </a:t>
            </a:r>
            <a:r>
              <a:rPr sz="750">
                <a:solidFill>
                  <a:srgbClr val="5B6270"/>
                </a:solidFill>
                <a:latin typeface="Calibri"/>
              </a:rPr>
              <a:t>No hay revisión mensual conjunta ni metas por equipo en estos indicadores.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CRM publica este tablero por equipo (7 indicadores) cada mes y lo revisa en comité; cada equipo fija meta en su indicador rojo: Product Growth insistencia a 10 %, Marketing bajas a 3 por mil, Sales clic de email a 0.6 %. Métrica: indicadores rojos por equipo.</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Product Growth y Marketing dejan de insistir con 125 M mensajes (10.8 M MXN en 9 meses) y Marketing baja sus bajas a la mitad al sacar Leads y 'Todos' de sus masivos.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equipo que 'lo maneja mejor' es el que manda con una razón del usuario. El playbook lleva esa lógica a lo promocional: señal antes que volumen, y un tablero común para que se vea.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22 % de los envíos (149 M, 12 M MXN) salieron después de que la pieza ya había fallado: Tasa0 a nuevos registrados (Product Growth) corrió 8 meses debajo del mínimo y mandó 29 M emails más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F_Piezas (E1). Familia por canal y mes; mínimo del canal según Parámetros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41</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149 M</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mensajes enviados con la pieza ya debajo del mínimo</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12 M MXN</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costo de insistir en 9 meses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29 M</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emails de Tasa0 a nuevos registrados tras fallar en enero</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41.png"/>
          <p:cNvPicPr>
            <a:picLocks noChangeAspect="1"/>
          </p:cNvPicPr>
          <p:nvPr/>
        </p:nvPicPr>
        <p:blipFill>
          <a:blip r:embed="rId2"/>
          <a:stretch>
            <a:fillRect/>
          </a:stretch>
        </p:blipFill>
        <p:spPr>
          <a:xfrm>
            <a:off x="548640" y="2560320"/>
            <a:ext cx="6366933"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149 M mensajes salieron en meses posteriores a que la pieza ya estaba debajo del mínimo (email 0.3 %, push 0.75 %); 12 M MXN.</a:t>
            </a:r>
          </a:p>
          <a:p>
            <a:pPr>
              <a:spcAft>
                <a:spcPts val="350"/>
              </a:spcAft>
            </a:pPr>
            <a:r>
              <a:rPr sz="850" b="1">
                <a:solidFill>
                  <a:srgbClr val="1F4FD8"/>
                </a:solidFill>
                <a:latin typeface="Calibri"/>
              </a:rPr>
              <a:t>2.  </a:t>
            </a:r>
            <a:r>
              <a:rPr sz="850" b="0">
                <a:solidFill>
                  <a:srgbClr val="5B6270"/>
                </a:solidFill>
                <a:latin typeface="Calibri"/>
              </a:rPr>
              <a:t>Product Growth insiste con 39 % de su volumen (69 M, 7.5 M MXN): Tasa0 a nuevos registrados falló en enero y mandó 29 M después (0.25 a 0.33 %); NeverActive Installments 12.6 M a 0.1 %.</a:t>
            </a:r>
          </a:p>
          <a:p>
            <a:pPr>
              <a:spcAft>
                <a:spcPts val="350"/>
              </a:spcAft>
            </a:pPr>
            <a:r>
              <a:rPr sz="850" b="1">
                <a:solidFill>
                  <a:srgbClr val="1F4FD8"/>
                </a:solidFill>
                <a:latin typeface="Calibri"/>
              </a:rPr>
              <a:t>3.  </a:t>
            </a:r>
            <a:r>
              <a:rPr sz="850" b="0">
                <a:solidFill>
                  <a:srgbClr val="5B6270"/>
                </a:solidFill>
                <a:latin typeface="Calibri"/>
              </a:rPr>
              <a:t>Marketing 22 % (57 M): Recurrentes Dormants Referral 6.6 M a 0.05 a 0.13 %; RescateTasa0 push 8.3 M a 0.55 %. Others: WeeklyRecommendation 6.2 M a 0.1 %.</a:t>
            </a:r>
          </a:p>
          <a:p>
            <a:pPr>
              <a:spcAft>
                <a:spcPts val="350"/>
              </a:spcAft>
            </a:pPr>
            <a:r>
              <a:rPr sz="850" b="1">
                <a:solidFill>
                  <a:srgbClr val="1F4FD8"/>
                </a:solidFill>
                <a:latin typeface="Calibri"/>
              </a:rPr>
              <a:t>4.  </a:t>
            </a:r>
            <a:r>
              <a:rPr sz="850" b="0">
                <a:solidFill>
                  <a:srgbClr val="5B6270"/>
                </a:solidFill>
                <a:latin typeface="Calibri"/>
              </a:rPr>
              <a:t>Ninguna de esas familias cambió de audiencia ni de gancho entre el mes que falló y el último envío.</a:t>
            </a:r>
          </a:p>
          <a:p>
            <a:pPr>
              <a:spcAft>
                <a:spcPts val="350"/>
              </a:spcAft>
            </a:pPr>
            <a:r>
              <a:rPr sz="850" b="1">
                <a:solidFill>
                  <a:srgbClr val="B5342B"/>
                </a:solidFill>
                <a:latin typeface="Calibri"/>
              </a:rPr>
              <a:t>5.  </a:t>
            </a:r>
            <a:r>
              <a:rPr sz="700" b="1">
                <a:solidFill>
                  <a:srgbClr val="B5342B"/>
                </a:solidFill>
                <a:latin typeface="Calibri"/>
              </a:rPr>
              <a:t>CAUSA RAÍZ · SIN MEDICIÓN  </a:t>
            </a:r>
            <a:r>
              <a:rPr sz="850" b="1">
                <a:solidFill>
                  <a:srgbClr val="1A1D24"/>
                </a:solidFill>
                <a:latin typeface="Calibri"/>
              </a:rPr>
              <a:t>Nadie revisa la pieza a las 4 semanas: sin tablero por pieza ni regla de apagado, un Canvas que falló en enero sigue en septiembre.</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Una pieza que falla no se recupera sola: las 6 familias siguen planas 8 meses.</a:t>
            </a:r>
          </a:p>
          <a:p>
            <a:r>
              <a:rPr sz="700" b="1">
                <a:solidFill>
                  <a:srgbClr val="1F4FD8"/>
                </a:solidFill>
                <a:latin typeface="Calibri"/>
              </a:rPr>
              <a:t>O  </a:t>
            </a:r>
            <a:r>
              <a:rPr sz="750">
                <a:solidFill>
                  <a:srgbClr val="5B6270"/>
                </a:solidFill>
                <a:latin typeface="Calibri"/>
              </a:rPr>
              <a:t>Los Canvas quedan encendidos porque apagar requiere una decisión y nadie la tiene asignada.</a:t>
            </a:r>
          </a:p>
          <a:p>
            <a:r>
              <a:rPr sz="700" b="1">
                <a:solidFill>
                  <a:srgbClr val="1F4FD8"/>
                </a:solidFill>
                <a:latin typeface="Calibri"/>
              </a:rPr>
              <a:t>G  </a:t>
            </a:r>
            <a:r>
              <a:rPr sz="750">
                <a:solidFill>
                  <a:srgbClr val="5B6270"/>
                </a:solidFill>
                <a:latin typeface="Calibri"/>
              </a:rPr>
              <a:t>No existe la regla de 4 semanas ni quien la ejecute.</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Product Growth pausa Tasa0 a nuevos registrados y NeverActive Installments; Marketing pausa Dormants Referral y RescateTasa0 push. Semana 2: regla de 4 semanas en el checklist (debajo del mínimo se apaga o se rehace) con CRM como ejecutor. Métrica: % de envíos que insisten, hoy 22 %, meta menos de 5 %.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Regla de 4 semanas: 17 M mensajes menos al mes, 1.3 M MXN al mes y las bajas de esas piezas con ellas.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 regla más barata del playbook: a las 4 semanas se mira la respuesta contra el mínimo y lo que no pasa se apaga. Product Growth y Marketing la aplican primero: tienen 125 M de los 149 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El volumen está invertido respecto a la respuesta: Active y Precobranza responden 3 a 10 veces más y reciben 4 % de los envíos; Leads y Recurrent reciben 58 % y responden 0.4 a 0.9 %</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P_Segmentos (E11). Respuesta: clic (email, in-app), apertura (push), lectura (WhatsApp)</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42</a:t>
            </a:r>
          </a:p>
        </p:txBody>
      </p:sp>
      <p:graphicFrame>
        <p:nvGraphicFramePr>
          <p:cNvPr id="8" name="Table 7"/>
          <p:cNvGraphicFramePr>
            <a:graphicFrameLocks noGrp="1"/>
          </p:cNvGraphicFramePr>
          <p:nvPr/>
        </p:nvGraphicFramePr>
        <p:xfrm>
          <a:off x="548640" y="1783080"/>
          <a:ext cx="6949431" cy="2194560"/>
        </p:xfrm>
        <a:graphic>
          <a:graphicData uri="http://schemas.openxmlformats.org/drawingml/2006/table">
            <a:tbl>
              <a:tblPr firstRow="1" bandRow="1">
                <a:tableStyleId>{5C22544A-7EE6-4342-B048-85BDC9FD1C3A}</a:tableStyleId>
              </a:tblPr>
              <a:tblGrid>
                <a:gridCol w="1737360"/>
                <a:gridCol w="579119"/>
                <a:gridCol w="579119"/>
                <a:gridCol w="579119"/>
                <a:gridCol w="579119"/>
                <a:gridCol w="579119"/>
                <a:gridCol w="579119"/>
                <a:gridCol w="579119"/>
                <a:gridCol w="579119"/>
                <a:gridCol w="579119"/>
              </a:tblGrid>
              <a:tr h="365760">
                <a:tc>
                  <a:txBody>
                    <a:bodyPr/>
                    <a:lstStyle/>
                    <a:p>
                      <a:pPr algn="l"/>
                    </a:p>
                  </a:txBody>
                  <a:tcPr marL="45720" marR="45720" marT="45720" marB="45720" anchor="ctr">
                    <a:solidFill>
                      <a:srgbClr val="FFFFFF"/>
                    </a:solidFill>
                  </a:tcPr>
                </a:tc>
                <a:tc>
                  <a:txBody>
                    <a:bodyPr/>
                    <a:lstStyle/>
                    <a:p>
                      <a:pPr algn="ctr"/>
                      <a:r>
                        <a:rPr sz="850" b="1">
                          <a:solidFill>
                            <a:srgbClr val="5B6270"/>
                          </a:solidFill>
                          <a:latin typeface="Calibri"/>
                        </a:rPr>
                        <a:t>Leads</a:t>
                      </a:r>
                    </a:p>
                  </a:txBody>
                  <a:tcPr marL="45720" marR="45720" marT="45720" marB="45720" anchor="ctr">
                    <a:solidFill>
                      <a:srgbClr val="FFFFFF"/>
                    </a:solidFill>
                  </a:tcPr>
                </a:tc>
                <a:tc>
                  <a:txBody>
                    <a:bodyPr/>
                    <a:lstStyle/>
                    <a:p>
                      <a:pPr algn="ctr"/>
                      <a:r>
                        <a:rPr sz="850" b="1">
                          <a:solidFill>
                            <a:srgbClr val="5B6270"/>
                          </a:solidFill>
                          <a:latin typeface="Calibri"/>
                        </a:rPr>
                        <a:t>Recurrent</a:t>
                      </a:r>
                    </a:p>
                  </a:txBody>
                  <a:tcPr marL="45720" marR="45720" marT="45720" marB="45720" anchor="ctr">
                    <a:solidFill>
                      <a:srgbClr val="FFFFFF"/>
                    </a:solidFill>
                  </a:tcPr>
                </a:tc>
                <a:tc>
                  <a:txBody>
                    <a:bodyPr/>
                    <a:lstStyle/>
                    <a:p>
                      <a:pPr algn="ctr"/>
                      <a:r>
                        <a:rPr sz="850" b="1">
                          <a:solidFill>
                            <a:srgbClr val="5B6270"/>
                          </a:solidFill>
                          <a:latin typeface="Calibri"/>
                        </a:rPr>
                        <a:t>No rastr.</a:t>
                      </a:r>
                    </a:p>
                  </a:txBody>
                  <a:tcPr marL="45720" marR="45720" marT="45720" marB="45720" anchor="ctr">
                    <a:solidFill>
                      <a:srgbClr val="FFFFFF"/>
                    </a:solidFill>
                  </a:tcPr>
                </a:tc>
                <a:tc>
                  <a:txBody>
                    <a:bodyPr/>
                    <a:lstStyle/>
                    <a:p>
                      <a:pPr algn="ctr"/>
                      <a:r>
                        <a:rPr sz="850" b="1">
                          <a:solidFill>
                            <a:srgbClr val="5B6270"/>
                          </a:solidFill>
                          <a:latin typeface="Calibri"/>
                        </a:rPr>
                        <a:t>New</a:t>
                      </a:r>
                    </a:p>
                  </a:txBody>
                  <a:tcPr marL="45720" marR="45720" marT="45720" marB="45720" anchor="ctr">
                    <a:solidFill>
                      <a:srgbClr val="FFFFFF"/>
                    </a:solidFill>
                  </a:tcPr>
                </a:tc>
                <a:tc>
                  <a:txBody>
                    <a:bodyPr/>
                    <a:lstStyle/>
                    <a:p>
                      <a:pPr algn="ctr"/>
                      <a:r>
                        <a:rPr sz="850" b="1">
                          <a:solidFill>
                            <a:srgbClr val="5B6270"/>
                          </a:solidFill>
                          <a:latin typeface="Calibri"/>
                        </a:rPr>
                        <a:t>Todos</a:t>
                      </a:r>
                    </a:p>
                  </a:txBody>
                  <a:tcPr marL="45720" marR="45720" marT="45720" marB="45720" anchor="ctr">
                    <a:solidFill>
                      <a:srgbClr val="FFFFFF"/>
                    </a:solidFill>
                  </a:tcPr>
                </a:tc>
                <a:tc>
                  <a:txBody>
                    <a:bodyPr/>
                    <a:lstStyle/>
                    <a:p>
                      <a:pPr algn="ctr"/>
                      <a:r>
                        <a:rPr sz="850" b="1">
                          <a:solidFill>
                            <a:srgbClr val="5B6270"/>
                          </a:solidFill>
                          <a:latin typeface="Calibri"/>
                        </a:rPr>
                        <a:t>Active</a:t>
                      </a:r>
                    </a:p>
                  </a:txBody>
                  <a:tcPr marL="45720" marR="45720" marT="45720" marB="45720" anchor="ctr">
                    <a:solidFill>
                      <a:srgbClr val="FFFFFF"/>
                    </a:solidFill>
                  </a:tcPr>
                </a:tc>
                <a:tc>
                  <a:txBody>
                    <a:bodyPr/>
                    <a:lstStyle/>
                    <a:p>
                      <a:pPr algn="ctr"/>
                      <a:r>
                        <a:rPr sz="850" b="1">
                          <a:solidFill>
                            <a:srgbClr val="5B6270"/>
                          </a:solidFill>
                          <a:latin typeface="Calibri"/>
                        </a:rPr>
                        <a:t>Precobr.</a:t>
                      </a:r>
                    </a:p>
                  </a:txBody>
                  <a:tcPr marL="45720" marR="45720" marT="45720" marB="45720" anchor="ctr">
                    <a:solidFill>
                      <a:srgbClr val="FFFFFF"/>
                    </a:solidFill>
                  </a:tcPr>
                </a:tc>
                <a:tc>
                  <a:txBody>
                    <a:bodyPr/>
                    <a:lstStyle/>
                    <a:p>
                      <a:pPr algn="ctr"/>
                      <a:r>
                        <a:rPr sz="850" b="1">
                          <a:solidFill>
                            <a:srgbClr val="5B6270"/>
                          </a:solidFill>
                          <a:latin typeface="Calibri"/>
                        </a:rPr>
                        <a:t>Churn 12m</a:t>
                      </a:r>
                    </a:p>
                  </a:txBody>
                  <a:tcPr marL="45720" marR="45720" marT="45720" marB="45720" anchor="ctr">
                    <a:solidFill>
                      <a:srgbClr val="FFFFFF"/>
                    </a:solidFill>
                  </a:tcPr>
                </a:tc>
                <a:tc>
                  <a:txBody>
                    <a:bodyPr/>
                    <a:lstStyle/>
                    <a:p>
                      <a:pPr algn="ctr"/>
                      <a:r>
                        <a:rPr sz="850" b="1">
                          <a:solidFill>
                            <a:srgbClr val="5B6270"/>
                          </a:solidFill>
                          <a:latin typeface="Calibri"/>
                        </a:rPr>
                        <a:t>HardInac. 6m</a:t>
                      </a:r>
                    </a:p>
                  </a:txBody>
                  <a:tcPr marL="45720" marR="45720" marT="45720" marB="45720" anchor="ctr">
                    <a:solidFill>
                      <a:srgbClr val="FFFFFF"/>
                    </a:solidFill>
                  </a:tcPr>
                </a:tc>
              </a:tr>
              <a:tr h="365760">
                <a:tc>
                  <a:txBody>
                    <a:bodyPr/>
                    <a:lstStyle/>
                    <a:p>
                      <a:pPr algn="l"/>
                      <a:r>
                        <a:rPr sz="900" b="1">
                          <a:solidFill>
                            <a:srgbClr val="1A1D24"/>
                          </a:solidFill>
                          <a:latin typeface="Calibri"/>
                        </a:rPr>
                        <a:t>% de todos los envíos, por segmento</a:t>
                      </a:r>
                    </a:p>
                  </a:txBody>
                  <a:tcPr marL="45720" marR="45720" marT="45720" marB="45720" anchor="ctr">
                    <a:solidFill>
                      <a:srgbClr val="FFFFFF"/>
                    </a:solidFill>
                  </a:tcPr>
                </a:tc>
                <a:tc>
                  <a:txBody>
                    <a:bodyPr/>
                    <a:lstStyle/>
                    <a:p>
                      <a:pPr algn="ctr"/>
                      <a:r>
                        <a:rPr sz="900" b="0">
                          <a:solidFill>
                            <a:srgbClr val="1A1D24"/>
                          </a:solidFill>
                          <a:latin typeface="Calibri"/>
                        </a:rPr>
                        <a:t>30 %</a:t>
                      </a:r>
                    </a:p>
                  </a:txBody>
                  <a:tcPr marL="45720" marR="45720" marT="45720" marB="45720" anchor="ctr">
                    <a:solidFill>
                      <a:srgbClr val="F6F7F9"/>
                    </a:solidFill>
                  </a:tcPr>
                </a:tc>
                <a:tc>
                  <a:txBody>
                    <a:bodyPr/>
                    <a:lstStyle/>
                    <a:p>
                      <a:pPr algn="ctr"/>
                      <a:r>
                        <a:rPr sz="900" b="0">
                          <a:solidFill>
                            <a:srgbClr val="1A1D24"/>
                          </a:solidFill>
                          <a:latin typeface="Calibri"/>
                        </a:rPr>
                        <a:t>28 %</a:t>
                      </a:r>
                    </a:p>
                  </a:txBody>
                  <a:tcPr marL="45720" marR="45720" marT="45720" marB="45720" anchor="ctr">
                    <a:solidFill>
                      <a:srgbClr val="F6F7F9"/>
                    </a:solidFill>
                  </a:tcPr>
                </a:tc>
                <a:tc>
                  <a:txBody>
                    <a:bodyPr/>
                    <a:lstStyle/>
                    <a:p>
                      <a:pPr algn="ctr"/>
                      <a:r>
                        <a:rPr sz="900" b="0">
                          <a:solidFill>
                            <a:srgbClr val="1A1D24"/>
                          </a:solidFill>
                          <a:latin typeface="Calibri"/>
                        </a:rPr>
                        <a:t>13 %</a:t>
                      </a:r>
                    </a:p>
                  </a:txBody>
                  <a:tcPr marL="45720" marR="45720" marT="45720" marB="45720" anchor="ctr">
                    <a:solidFill>
                      <a:srgbClr val="F6F7F9"/>
                    </a:solidFill>
                  </a:tcPr>
                </a:tc>
                <a:tc>
                  <a:txBody>
                    <a:bodyPr/>
                    <a:lstStyle/>
                    <a:p>
                      <a:pPr algn="ctr"/>
                      <a:r>
                        <a:rPr sz="900" b="0">
                          <a:solidFill>
                            <a:srgbClr val="1A1D24"/>
                          </a:solidFill>
                          <a:latin typeface="Calibri"/>
                        </a:rPr>
                        <a:t>10 %</a:t>
                      </a:r>
                    </a:p>
                  </a:txBody>
                  <a:tcPr marL="45720" marR="45720" marT="45720" marB="45720" anchor="ctr">
                    <a:solidFill>
                      <a:srgbClr val="F6F7F9"/>
                    </a:solidFill>
                  </a:tcPr>
                </a:tc>
                <a:tc>
                  <a:txBody>
                    <a:bodyPr/>
                    <a:lstStyle/>
                    <a:p>
                      <a:pPr algn="ctr"/>
                      <a:r>
                        <a:rPr sz="900" b="0">
                          <a:solidFill>
                            <a:srgbClr val="1A1D24"/>
                          </a:solidFill>
                          <a:latin typeface="Calibri"/>
                        </a:rPr>
                        <a:t>4 %</a:t>
                      </a:r>
                    </a:p>
                  </a:txBody>
                  <a:tcPr marL="45720" marR="45720" marT="45720" marB="45720" anchor="ctr">
                    <a:solidFill>
                      <a:srgbClr val="F6F7F9"/>
                    </a:solidFill>
                  </a:tcPr>
                </a:tc>
                <a:tc>
                  <a:txBody>
                    <a:bodyPr/>
                    <a:lstStyle/>
                    <a:p>
                      <a:pPr algn="ctr"/>
                      <a:r>
                        <a:rPr sz="900" b="0">
                          <a:solidFill>
                            <a:srgbClr val="1A1D24"/>
                          </a:solidFill>
                          <a:latin typeface="Calibri"/>
                        </a:rPr>
                        <a:t>2 %</a:t>
                      </a:r>
                    </a:p>
                  </a:txBody>
                  <a:tcPr marL="45720" marR="45720" marT="45720" marB="45720" anchor="ctr">
                    <a:solidFill>
                      <a:srgbClr val="F6F7F9"/>
                    </a:solidFill>
                  </a:tcPr>
                </a:tc>
                <a:tc>
                  <a:txBody>
                    <a:bodyPr/>
                    <a:lstStyle/>
                    <a:p>
                      <a:pPr algn="ctr"/>
                      <a:r>
                        <a:rPr sz="900" b="0">
                          <a:solidFill>
                            <a:srgbClr val="1A1D24"/>
                          </a:solidFill>
                          <a:latin typeface="Calibri"/>
                        </a:rPr>
                        <a:t>2 %</a:t>
                      </a:r>
                    </a:p>
                  </a:txBody>
                  <a:tcPr marL="45720" marR="45720" marT="45720" marB="45720" anchor="ctr">
                    <a:solidFill>
                      <a:srgbClr val="F6F7F9"/>
                    </a:solidFill>
                  </a:tcPr>
                </a:tc>
                <a:tc>
                  <a:txBody>
                    <a:bodyPr/>
                    <a:lstStyle/>
                    <a:p>
                      <a:pPr algn="ctr"/>
                      <a:r>
                        <a:rPr sz="900" b="0">
                          <a:solidFill>
                            <a:srgbClr val="1A1D24"/>
                          </a:solidFill>
                          <a:latin typeface="Calibri"/>
                        </a:rPr>
                        <a:t>1 %</a:t>
                      </a:r>
                    </a:p>
                  </a:txBody>
                  <a:tcPr marL="45720" marR="45720" marT="45720" marB="45720" anchor="ctr">
                    <a:solidFill>
                      <a:srgbClr val="F6F7F9"/>
                    </a:solidFill>
                  </a:tcPr>
                </a:tc>
                <a:tc>
                  <a:txBody>
                    <a:bodyPr/>
                    <a:lstStyle/>
                    <a:p>
                      <a:pPr algn="ctr"/>
                      <a:r>
                        <a:rPr sz="900" b="0">
                          <a:solidFill>
                            <a:srgbClr val="1A1D24"/>
                          </a:solidFill>
                          <a:latin typeface="Calibri"/>
                        </a:rPr>
                        <a:t>1 %</a:t>
                      </a:r>
                    </a:p>
                  </a:txBody>
                  <a:tcPr marL="45720" marR="45720" marT="45720" marB="45720" anchor="ctr">
                    <a:solidFill>
                      <a:srgbClr val="F6F7F9"/>
                    </a:solidFill>
                  </a:tcPr>
                </a:tc>
              </a:tr>
              <a:tr h="365760">
                <a:tc>
                  <a:txBody>
                    <a:bodyPr/>
                    <a:lstStyle/>
                    <a:p>
                      <a:pPr algn="l"/>
                      <a:r>
                        <a:rPr sz="900" b="1">
                          <a:solidFill>
                            <a:srgbClr val="1A1D24"/>
                          </a:solidFill>
                          <a:latin typeface="Calibri"/>
                        </a:rPr>
                        <a:t>Email (clic)</a:t>
                      </a:r>
                    </a:p>
                  </a:txBody>
                  <a:tcPr marL="45720" marR="45720" marT="45720" marB="45720" anchor="ctr">
                    <a:solidFill>
                      <a:srgbClr val="FFFFFF"/>
                    </a:solidFill>
                  </a:tcPr>
                </a:tc>
                <a:tc>
                  <a:txBody>
                    <a:bodyPr/>
                    <a:lstStyle/>
                    <a:p>
                      <a:pPr algn="ctr"/>
                      <a:r>
                        <a:rPr sz="900" b="0">
                          <a:solidFill>
                            <a:srgbClr val="1A1D24"/>
                          </a:solidFill>
                          <a:latin typeface="Calibri"/>
                        </a:rPr>
                        <a:t>0.91 %</a:t>
                      </a:r>
                    </a:p>
                  </a:txBody>
                  <a:tcPr marL="45720" marR="45720" marT="45720" marB="45720" anchor="ctr">
                    <a:solidFill>
                      <a:srgbClr val="BCCAF3"/>
                    </a:solidFill>
                  </a:tcPr>
                </a:tc>
                <a:tc>
                  <a:txBody>
                    <a:bodyPr/>
                    <a:lstStyle/>
                    <a:p>
                      <a:pPr algn="ctr"/>
                      <a:r>
                        <a:rPr sz="900" b="0">
                          <a:solidFill>
                            <a:srgbClr val="1A1D24"/>
                          </a:solidFill>
                          <a:latin typeface="Calibri"/>
                        </a:rPr>
                        <a:t>0.39 %</a:t>
                      </a:r>
                    </a:p>
                  </a:txBody>
                  <a:tcPr marL="45720" marR="45720" marT="45720" marB="45720" anchor="ctr">
                    <a:solidFill>
                      <a:srgbClr val="DBE3F8"/>
                    </a:solidFill>
                  </a:tcPr>
                </a:tc>
                <a:tc>
                  <a:txBody>
                    <a:bodyPr/>
                    <a:lstStyle/>
                    <a:p>
                      <a:pPr algn="ctr"/>
                      <a:r>
                        <a:rPr sz="900" b="0">
                          <a:solidFill>
                            <a:srgbClr val="1A1D24"/>
                          </a:solidFill>
                          <a:latin typeface="Calibri"/>
                        </a:rPr>
                        <a:t>1.67 %</a:t>
                      </a:r>
                    </a:p>
                  </a:txBody>
                  <a:tcPr marL="45720" marR="45720" marT="45720" marB="45720" anchor="ctr">
                    <a:solidFill>
                      <a:srgbClr val="8DA6EB"/>
                    </a:solidFill>
                  </a:tcPr>
                </a:tc>
                <a:tc>
                  <a:txBody>
                    <a:bodyPr/>
                    <a:lstStyle/>
                    <a:p>
                      <a:pPr algn="ctr"/>
                      <a:r>
                        <a:rPr sz="900" b="0">
                          <a:solidFill>
                            <a:srgbClr val="1A1D24"/>
                          </a:solidFill>
                          <a:latin typeface="Calibri"/>
                        </a:rPr>
                        <a:t>0.23 %</a:t>
                      </a:r>
                    </a:p>
                  </a:txBody>
                  <a:tcPr marL="45720" marR="45720" marT="45720" marB="45720" anchor="ctr">
                    <a:solidFill>
                      <a:srgbClr val="E5EAFA"/>
                    </a:solidFill>
                  </a:tcPr>
                </a:tc>
                <a:tc>
                  <a:txBody>
                    <a:bodyPr/>
                    <a:lstStyle/>
                    <a:p>
                      <a:pPr algn="ctr"/>
                      <a:r>
                        <a:rPr sz="900" b="0">
                          <a:solidFill>
                            <a:srgbClr val="1A1D24"/>
                          </a:solidFill>
                          <a:latin typeface="Calibri"/>
                        </a:rPr>
                        <a:t>0.20 %</a:t>
                      </a:r>
                    </a:p>
                  </a:txBody>
                  <a:tcPr marL="45720" marR="45720" marT="45720" marB="45720" anchor="ctr">
                    <a:solidFill>
                      <a:srgbClr val="E7ECFA"/>
                    </a:solidFill>
                  </a:tcPr>
                </a:tc>
                <a:tc>
                  <a:txBody>
                    <a:bodyPr/>
                    <a:lstStyle/>
                    <a:p>
                      <a:pPr algn="ctr"/>
                      <a:r>
                        <a:rPr sz="900" b="0">
                          <a:solidFill>
                            <a:srgbClr val="FFFFFF"/>
                          </a:solidFill>
                          <a:latin typeface="Calibri"/>
                        </a:rPr>
                        <a:t>2.52 %</a:t>
                      </a:r>
                    </a:p>
                  </a:txBody>
                  <a:tcPr marL="45720" marR="45720" marT="45720" marB="45720" anchor="ctr">
                    <a:solidFill>
                      <a:srgbClr val="5A7DE2"/>
                    </a:solidFill>
                  </a:tcPr>
                </a:tc>
                <a:tc>
                  <a:txBody>
                    <a:bodyPr/>
                    <a:lstStyle/>
                    <a:p>
                      <a:pPr algn="ctr"/>
                      <a:r>
                        <a:rPr sz="900" b="0">
                          <a:solidFill>
                            <a:srgbClr val="FFFFFF"/>
                          </a:solidFill>
                          <a:latin typeface="Calibri"/>
                        </a:rPr>
                        <a:t>3.50 %</a:t>
                      </a:r>
                    </a:p>
                  </a:txBody>
                  <a:tcPr marL="45720" marR="45720" marT="45720" marB="45720" anchor="ctr">
                    <a:solidFill>
                      <a:srgbClr val="1F4FD8"/>
                    </a:solidFill>
                  </a:tcPr>
                </a:tc>
                <a:tc>
                  <a:txBody>
                    <a:bodyPr/>
                    <a:lstStyle/>
                    <a:p>
                      <a:pPr algn="ctr"/>
                      <a:r>
                        <a:rPr sz="900" b="0">
                          <a:solidFill>
                            <a:srgbClr val="1A1D24"/>
                          </a:solidFill>
                          <a:latin typeface="Calibri"/>
                        </a:rPr>
                        <a:t>0.11 %</a:t>
                      </a:r>
                    </a:p>
                  </a:txBody>
                  <a:tcPr marL="45720" marR="45720" marT="45720" marB="45720" anchor="ctr">
                    <a:solidFill>
                      <a:srgbClr val="EDF0FB"/>
                    </a:solidFill>
                  </a:tcPr>
                </a:tc>
                <a:tc>
                  <a:txBody>
                    <a:bodyPr/>
                    <a:lstStyle/>
                    <a:p>
                      <a:pPr algn="ctr"/>
                      <a:r>
                        <a:rPr sz="900" b="0">
                          <a:solidFill>
                            <a:srgbClr val="1A1D24"/>
                          </a:solidFill>
                          <a:latin typeface="Calibri"/>
                        </a:rPr>
                        <a:t>0.21 %</a:t>
                      </a:r>
                    </a:p>
                  </a:txBody>
                  <a:tcPr marL="45720" marR="45720" marT="45720" marB="45720" anchor="ctr">
                    <a:solidFill>
                      <a:srgbClr val="E6EBFA"/>
                    </a:solidFill>
                  </a:tcPr>
                </a:tc>
              </a:tr>
              <a:tr h="365760">
                <a:tc>
                  <a:txBody>
                    <a:bodyPr/>
                    <a:lstStyle/>
                    <a:p>
                      <a:pPr algn="l"/>
                      <a:r>
                        <a:rPr sz="900" b="1">
                          <a:solidFill>
                            <a:srgbClr val="1A1D24"/>
                          </a:solidFill>
                          <a:latin typeface="Calibri"/>
                        </a:rPr>
                        <a:t>Push (apertura)</a:t>
                      </a:r>
                    </a:p>
                  </a:txBody>
                  <a:tcPr marL="45720" marR="45720" marT="45720" marB="45720" anchor="ctr">
                    <a:solidFill>
                      <a:srgbClr val="FFFFFF"/>
                    </a:solidFill>
                  </a:tcPr>
                </a:tc>
                <a:tc>
                  <a:txBody>
                    <a:bodyPr/>
                    <a:lstStyle/>
                    <a:p>
                      <a:pPr algn="ctr"/>
                      <a:r>
                        <a:rPr sz="900" b="0">
                          <a:solidFill>
                            <a:srgbClr val="1A1D24"/>
                          </a:solidFill>
                          <a:latin typeface="Calibri"/>
                        </a:rPr>
                        <a:t>0.96 %</a:t>
                      </a:r>
                    </a:p>
                  </a:txBody>
                  <a:tcPr marL="45720" marR="45720" marT="45720" marB="45720" anchor="ctr">
                    <a:solidFill>
                      <a:srgbClr val="E4EAFA"/>
                    </a:solidFill>
                  </a:tcPr>
                </a:tc>
                <a:tc>
                  <a:txBody>
                    <a:bodyPr/>
                    <a:lstStyle/>
                    <a:p>
                      <a:pPr algn="ctr"/>
                      <a:r>
                        <a:rPr sz="900" b="0">
                          <a:solidFill>
                            <a:srgbClr val="1A1D24"/>
                          </a:solidFill>
                          <a:latin typeface="Calibri"/>
                        </a:rPr>
                        <a:t>1.45 %</a:t>
                      </a:r>
                    </a:p>
                  </a:txBody>
                  <a:tcPr marL="45720" marR="45720" marT="45720" marB="45720" anchor="ctr">
                    <a:solidFill>
                      <a:srgbClr val="D9E1F8"/>
                    </a:solidFill>
                  </a:tcPr>
                </a:tc>
                <a:tc>
                  <a:txBody>
                    <a:bodyPr/>
                    <a:lstStyle/>
                    <a:p>
                      <a:pPr algn="ctr"/>
                      <a:r>
                        <a:rPr sz="900" b="0">
                          <a:solidFill>
                            <a:srgbClr val="1A1D24"/>
                          </a:solidFill>
                          <a:latin typeface="Calibri"/>
                        </a:rPr>
                        <a:t>3.22 %</a:t>
                      </a:r>
                    </a:p>
                  </a:txBody>
                  <a:tcPr marL="45720" marR="45720" marT="45720" marB="45720" anchor="ctr">
                    <a:solidFill>
                      <a:srgbClr val="B2C2F1"/>
                    </a:solidFill>
                  </a:tcPr>
                </a:tc>
                <a:tc>
                  <a:txBody>
                    <a:bodyPr/>
                    <a:lstStyle/>
                    <a:p>
                      <a:pPr algn="ctr"/>
                      <a:r>
                        <a:rPr sz="900" b="0">
                          <a:solidFill>
                            <a:srgbClr val="1A1D24"/>
                          </a:solidFill>
                          <a:latin typeface="Calibri"/>
                        </a:rPr>
                        <a:t>0.71 %</a:t>
                      </a:r>
                    </a:p>
                  </a:txBody>
                  <a:tcPr marL="45720" marR="45720" marT="45720" marB="45720" anchor="ctr">
                    <a:solidFill>
                      <a:srgbClr val="EAEEFB"/>
                    </a:solidFill>
                  </a:tcPr>
                </a:tc>
                <a:tc>
                  <a:txBody>
                    <a:bodyPr/>
                    <a:lstStyle/>
                    <a:p>
                      <a:pPr algn="ctr"/>
                      <a:r>
                        <a:rPr sz="900" b="0">
                          <a:solidFill>
                            <a:srgbClr val="1A1D24"/>
                          </a:solidFill>
                          <a:latin typeface="Calibri"/>
                        </a:rPr>
                        <a:t>1.04 %</a:t>
                      </a:r>
                    </a:p>
                  </a:txBody>
                  <a:tcPr marL="45720" marR="45720" marT="45720" marB="45720" anchor="ctr">
                    <a:solidFill>
                      <a:srgbClr val="E3E9FA"/>
                    </a:solidFill>
                  </a:tcPr>
                </a:tc>
                <a:tc>
                  <a:txBody>
                    <a:bodyPr/>
                    <a:lstStyle/>
                    <a:p>
                      <a:pPr algn="ctr"/>
                      <a:r>
                        <a:rPr sz="900" b="0">
                          <a:solidFill>
                            <a:srgbClr val="FFFFFF"/>
                          </a:solidFill>
                          <a:latin typeface="Calibri"/>
                        </a:rPr>
                        <a:t>9.81 %</a:t>
                      </a:r>
                    </a:p>
                  </a:txBody>
                  <a:tcPr marL="45720" marR="45720" marT="45720" marB="45720" anchor="ctr">
                    <a:solidFill>
                      <a:srgbClr val="1F4FD8"/>
                    </a:solidFill>
                  </a:tcPr>
                </a:tc>
                <a:tc>
                  <a:txBody>
                    <a:bodyPr/>
                    <a:lstStyle/>
                    <a:p>
                      <a:pPr algn="ctr"/>
                      <a:r>
                        <a:rPr sz="900" b="0">
                          <a:solidFill>
                            <a:srgbClr val="1A1D24"/>
                          </a:solidFill>
                          <a:latin typeface="Calibri"/>
                        </a:rPr>
                        <a:t>4.48 %</a:t>
                      </a:r>
                    </a:p>
                  </a:txBody>
                  <a:tcPr marL="45720" marR="45720" marT="45720" marB="45720" anchor="ctr">
                    <a:solidFill>
                      <a:srgbClr val="96ACEC"/>
                    </a:solidFill>
                  </a:tcPr>
                </a:tc>
                <a:tc>
                  <a:txBody>
                    <a:bodyPr/>
                    <a:lstStyle/>
                    <a:p>
                      <a:pPr algn="ctr"/>
                      <a:r>
                        <a:rPr sz="900" b="0">
                          <a:solidFill>
                            <a:srgbClr val="1A1D24"/>
                          </a:solidFill>
                          <a:latin typeface="Calibri"/>
                        </a:rPr>
                        <a:t>0.59 %</a:t>
                      </a:r>
                    </a:p>
                  </a:txBody>
                  <a:tcPr marL="45720" marR="45720" marT="45720" marB="45720" anchor="ctr">
                    <a:solidFill>
                      <a:srgbClr val="EDF0FB"/>
                    </a:solidFill>
                  </a:tcPr>
                </a:tc>
                <a:tc>
                  <a:txBody>
                    <a:bodyPr/>
                    <a:lstStyle/>
                    <a:p>
                      <a:pPr algn="ctr"/>
                      <a:r>
                        <a:rPr sz="900" b="0">
                          <a:solidFill>
                            <a:srgbClr val="1A1D24"/>
                          </a:solidFill>
                          <a:latin typeface="Calibri"/>
                        </a:rPr>
                        <a:t>1.03 %</a:t>
                      </a:r>
                    </a:p>
                  </a:txBody>
                  <a:tcPr marL="45720" marR="45720" marT="45720" marB="45720" anchor="ctr">
                    <a:solidFill>
                      <a:srgbClr val="E3E9FA"/>
                    </a:solidFill>
                  </a:tcPr>
                </a:tc>
              </a:tr>
              <a:tr h="365760">
                <a:tc>
                  <a:txBody>
                    <a:bodyPr/>
                    <a:lstStyle/>
                    <a:p>
                      <a:pPr algn="l"/>
                      <a:r>
                        <a:rPr sz="900" b="1">
                          <a:solidFill>
                            <a:srgbClr val="1A1D24"/>
                          </a:solidFill>
                          <a:latin typeface="Calibri"/>
                        </a:rPr>
                        <a:t>WhatsApp (lectura)</a:t>
                      </a:r>
                    </a:p>
                  </a:txBody>
                  <a:tcPr marL="45720" marR="45720" marT="45720" marB="45720" anchor="ctr">
                    <a:solidFill>
                      <a:srgbClr val="FFFFFF"/>
                    </a:solidFill>
                  </a:tcPr>
                </a:tc>
                <a:tc>
                  <a:txBody>
                    <a:bodyPr/>
                    <a:lstStyle/>
                    <a:p>
                      <a:pPr algn="ctr"/>
                      <a:r>
                        <a:rPr sz="900" b="0">
                          <a:solidFill>
                            <a:srgbClr val="1A1D24"/>
                          </a:solidFill>
                          <a:latin typeface="Calibri"/>
                        </a:rPr>
                        <a:t>52.18 %</a:t>
                      </a:r>
                    </a:p>
                  </a:txBody>
                  <a:tcPr marL="45720" marR="45720" marT="45720" marB="45720" anchor="ctr">
                    <a:solidFill>
                      <a:srgbClr val="9DB2EE"/>
                    </a:solidFill>
                  </a:tcPr>
                </a:tc>
                <a:tc>
                  <a:txBody>
                    <a:bodyPr/>
                    <a:lstStyle/>
                    <a:p>
                      <a:pPr algn="ctr"/>
                      <a:r>
                        <a:rPr sz="900" b="0">
                          <a:solidFill>
                            <a:srgbClr val="1A1D24"/>
                          </a:solidFill>
                          <a:latin typeface="Calibri"/>
                        </a:rPr>
                        <a:t>52.79 %</a:t>
                      </a:r>
                    </a:p>
                  </a:txBody>
                  <a:tcPr marL="45720" marR="45720" marT="45720" marB="45720" anchor="ctr">
                    <a:solidFill>
                      <a:srgbClr val="9AB0ED"/>
                    </a:solidFill>
                  </a:tcPr>
                </a:tc>
                <a:tc>
                  <a:txBody>
                    <a:bodyPr/>
                    <a:lstStyle/>
                    <a:p>
                      <a:pPr algn="ctr"/>
                      <a:r>
                        <a:rPr sz="900" b="0">
                          <a:solidFill>
                            <a:srgbClr val="FFFFFF"/>
                          </a:solidFill>
                          <a:latin typeface="Calibri"/>
                        </a:rPr>
                        <a:t>77.33 %</a:t>
                      </a:r>
                    </a:p>
                  </a:txBody>
                  <a:tcPr marL="45720" marR="45720" marT="45720" marB="45720" anchor="ctr">
                    <a:solidFill>
                      <a:srgbClr val="1F4FD8"/>
                    </a:solidFill>
                  </a:tcPr>
                </a:tc>
                <a:tc>
                  <a:txBody>
                    <a:bodyPr/>
                    <a:lstStyle/>
                    <a:p>
                      <a:pPr algn="ctr"/>
                      <a:r>
                        <a:rPr sz="900" b="0">
                          <a:solidFill>
                            <a:srgbClr val="1A1D24"/>
                          </a:solidFill>
                          <a:latin typeface="Calibri"/>
                        </a:rPr>
                        <a:t>36.45 %</a:t>
                      </a:r>
                    </a:p>
                  </a:txBody>
                  <a:tcPr marL="45720" marR="45720" marT="45720" marB="45720" anchor="ctr">
                    <a:solidFill>
                      <a:srgbClr val="EDF0FB"/>
                    </a:solidFill>
                  </a:tcPr>
                </a:tc>
                <a:tc>
                  <a:txBody>
                    <a:bodyPr/>
                    <a:lstStyle/>
                    <a:p>
                      <a:pPr algn="ctr"/>
                      <a:r>
                        <a:rPr sz="900" b="0">
                          <a:solidFill>
                            <a:srgbClr val="1A1D24"/>
                          </a:solidFill>
                          <a:latin typeface="Calibri"/>
                        </a:rPr>
                        <a:t>58.65 %</a:t>
                      </a:r>
                    </a:p>
                  </a:txBody>
                  <a:tcPr marL="45720" marR="45720" marT="45720" marB="45720" anchor="ctr">
                    <a:solidFill>
                      <a:srgbClr val="7D99E8"/>
                    </a:solidFill>
                  </a:tcPr>
                </a:tc>
                <a:tc>
                  <a:txBody>
                    <a:bodyPr/>
                    <a:lstStyle/>
                    <a:p>
                      <a:pPr algn="ctr"/>
                      <a:r>
                        <a:rPr sz="900" b="0">
                          <a:solidFill>
                            <a:srgbClr val="1A1D24"/>
                          </a:solidFill>
                          <a:latin typeface="Calibri"/>
                        </a:rPr>
                        <a:t>58.58 %</a:t>
                      </a:r>
                    </a:p>
                  </a:txBody>
                  <a:tcPr marL="45720" marR="45720" marT="45720" marB="45720" anchor="ctr">
                    <a:solidFill>
                      <a:srgbClr val="7D99E8"/>
                    </a:solidFill>
                  </a:tcPr>
                </a:tc>
                <a:tc>
                  <a:txBody>
                    <a:bodyPr/>
                    <a:lstStyle/>
                    <a:p>
                      <a:pPr algn="ctr"/>
                    </a:p>
                  </a:txBody>
                  <a:tcPr marL="45720" marR="45720" marT="45720" marB="45720" anchor="ctr">
                    <a:solidFill>
                      <a:srgbClr val="FFFFFF"/>
                    </a:solidFill>
                  </a:tcPr>
                </a:tc>
                <a:tc>
                  <a:txBody>
                    <a:bodyPr/>
                    <a:lstStyle/>
                    <a:p>
                      <a:pPr algn="ctr"/>
                      <a:r>
                        <a:rPr sz="900" b="0">
                          <a:solidFill>
                            <a:srgbClr val="1A1D24"/>
                          </a:solidFill>
                          <a:latin typeface="Calibri"/>
                        </a:rPr>
                        <a:t>38.52 %</a:t>
                      </a:r>
                    </a:p>
                  </a:txBody>
                  <a:tcPr marL="45720" marR="45720" marT="45720" marB="45720" anchor="ctr">
                    <a:solidFill>
                      <a:srgbClr val="E2E8FA"/>
                    </a:solidFill>
                  </a:tcPr>
                </a:tc>
                <a:tc>
                  <a:txBody>
                    <a:bodyPr/>
                    <a:lstStyle/>
                    <a:p>
                      <a:pPr algn="ctr"/>
                      <a:r>
                        <a:rPr sz="900" b="0">
                          <a:solidFill>
                            <a:srgbClr val="1A1D24"/>
                          </a:solidFill>
                          <a:latin typeface="Calibri"/>
                        </a:rPr>
                        <a:t>46.86 %</a:t>
                      </a:r>
                    </a:p>
                  </a:txBody>
                  <a:tcPr marL="45720" marR="45720" marT="45720" marB="45720" anchor="ctr">
                    <a:solidFill>
                      <a:srgbClr val="B8C7F2"/>
                    </a:solidFill>
                  </a:tcPr>
                </a:tc>
              </a:tr>
              <a:tr h="365760">
                <a:tc>
                  <a:txBody>
                    <a:bodyPr/>
                    <a:lstStyle/>
                    <a:p>
                      <a:pPr algn="l"/>
                      <a:r>
                        <a:rPr sz="900" b="1">
                          <a:solidFill>
                            <a:srgbClr val="1A1D24"/>
                          </a:solidFill>
                          <a:latin typeface="Calibri"/>
                        </a:rPr>
                        <a:t>In-app (clic)</a:t>
                      </a:r>
                    </a:p>
                  </a:txBody>
                  <a:tcPr marL="45720" marR="45720" marT="45720" marB="45720" anchor="ctr">
                    <a:solidFill>
                      <a:srgbClr val="FFFFFF"/>
                    </a:solidFill>
                  </a:tcPr>
                </a:tc>
                <a:tc>
                  <a:txBody>
                    <a:bodyPr/>
                    <a:lstStyle/>
                    <a:p>
                      <a:pPr algn="ctr"/>
                      <a:r>
                        <a:rPr sz="900" b="0">
                          <a:solidFill>
                            <a:srgbClr val="1A1D24"/>
                          </a:solidFill>
                          <a:latin typeface="Calibri"/>
                        </a:rPr>
                        <a:t>21.04 %</a:t>
                      </a:r>
                    </a:p>
                  </a:txBody>
                  <a:tcPr marL="45720" marR="45720" marT="45720" marB="45720" anchor="ctr">
                    <a:solidFill>
                      <a:srgbClr val="CED9F6"/>
                    </a:solidFill>
                  </a:tcPr>
                </a:tc>
                <a:tc>
                  <a:txBody>
                    <a:bodyPr/>
                    <a:lstStyle/>
                    <a:p>
                      <a:pPr algn="ctr"/>
                      <a:r>
                        <a:rPr sz="900" b="0">
                          <a:solidFill>
                            <a:srgbClr val="1A1D24"/>
                          </a:solidFill>
                          <a:latin typeface="Calibri"/>
                        </a:rPr>
                        <a:t>23.98 %</a:t>
                      </a:r>
                    </a:p>
                  </a:txBody>
                  <a:tcPr marL="45720" marR="45720" marT="45720" marB="45720" anchor="ctr">
                    <a:solidFill>
                      <a:srgbClr val="C6D2F5"/>
                    </a:solidFill>
                  </a:tcPr>
                </a:tc>
                <a:tc>
                  <a:txBody>
                    <a:bodyPr/>
                    <a:lstStyle/>
                    <a:p>
                      <a:pPr algn="ctr"/>
                      <a:r>
                        <a:rPr sz="900" b="0">
                          <a:solidFill>
                            <a:srgbClr val="FFFFFF"/>
                          </a:solidFill>
                          <a:latin typeface="Calibri"/>
                        </a:rPr>
                        <a:t>81.96 %</a:t>
                      </a:r>
                    </a:p>
                  </a:txBody>
                  <a:tcPr marL="45720" marR="45720" marT="45720" marB="45720" anchor="ctr">
                    <a:solidFill>
                      <a:srgbClr val="1F4FD8"/>
                    </a:solidFill>
                  </a:tcPr>
                </a:tc>
                <a:tc>
                  <a:txBody>
                    <a:bodyPr/>
                    <a:lstStyle/>
                    <a:p>
                      <a:pPr algn="ctr"/>
                      <a:r>
                        <a:rPr sz="900" b="0">
                          <a:solidFill>
                            <a:srgbClr val="1A1D24"/>
                          </a:solidFill>
                          <a:latin typeface="Calibri"/>
                        </a:rPr>
                        <a:t>19.06 %</a:t>
                      </a:r>
                    </a:p>
                  </a:txBody>
                  <a:tcPr marL="45720" marR="45720" marT="45720" marB="45720" anchor="ctr">
                    <a:solidFill>
                      <a:srgbClr val="D4DDF7"/>
                    </a:solidFill>
                  </a:tcPr>
                </a:tc>
                <a:tc>
                  <a:txBody>
                    <a:bodyPr/>
                    <a:lstStyle/>
                    <a:p>
                      <a:pPr algn="ctr"/>
                      <a:r>
                        <a:rPr sz="900" b="0">
                          <a:solidFill>
                            <a:srgbClr val="FFFFFF"/>
                          </a:solidFill>
                          <a:latin typeface="Calibri"/>
                        </a:rPr>
                        <a:t>71.95 %</a:t>
                      </a:r>
                    </a:p>
                  </a:txBody>
                  <a:tcPr marL="45720" marR="45720" marT="45720" marB="45720" anchor="ctr">
                    <a:solidFill>
                      <a:srgbClr val="3B65DD"/>
                    </a:solidFill>
                  </a:tcPr>
                </a:tc>
                <a:tc>
                  <a:txBody>
                    <a:bodyPr/>
                    <a:lstStyle/>
                    <a:p>
                      <a:pPr algn="ctr"/>
                      <a:r>
                        <a:rPr sz="900" b="0">
                          <a:solidFill>
                            <a:srgbClr val="FFFFFF"/>
                          </a:solidFill>
                          <a:latin typeface="Calibri"/>
                        </a:rPr>
                        <a:t>66.50 %</a:t>
                      </a:r>
                    </a:p>
                  </a:txBody>
                  <a:tcPr marL="45720" marR="45720" marT="45720" marB="45720" anchor="ctr">
                    <a:solidFill>
                      <a:srgbClr val="4B72DF"/>
                    </a:solidFill>
                  </a:tcPr>
                </a:tc>
                <a:tc>
                  <a:txBody>
                    <a:bodyPr/>
                    <a:lstStyle/>
                    <a:p>
                      <a:pPr algn="ctr"/>
                    </a:p>
                  </a:txBody>
                  <a:tcPr marL="45720" marR="45720" marT="45720" marB="45720" anchor="ctr">
                    <a:solidFill>
                      <a:srgbClr val="FFFFFF"/>
                    </a:solidFill>
                  </a:tcPr>
                </a:tc>
                <a:tc>
                  <a:txBody>
                    <a:bodyPr/>
                    <a:lstStyle/>
                    <a:p>
                      <a:pPr algn="ctr"/>
                      <a:r>
                        <a:rPr sz="900" b="0">
                          <a:solidFill>
                            <a:srgbClr val="1A1D24"/>
                          </a:solidFill>
                          <a:latin typeface="Calibri"/>
                        </a:rPr>
                        <a:t>10.55 %</a:t>
                      </a:r>
                    </a:p>
                  </a:txBody>
                  <a:tcPr marL="45720" marR="45720" marT="45720" marB="45720" anchor="ctr">
                    <a:solidFill>
                      <a:srgbClr val="EDF0FB"/>
                    </a:solidFill>
                  </a:tcPr>
                </a:tc>
                <a:tc>
                  <a:txBody>
                    <a:bodyPr/>
                    <a:lstStyle/>
                    <a:p>
                      <a:pPr algn="ctr"/>
                      <a:r>
                        <a:rPr sz="900" b="0">
                          <a:solidFill>
                            <a:srgbClr val="1A1D24"/>
                          </a:solidFill>
                          <a:latin typeface="Calibri"/>
                        </a:rPr>
                        <a:t>11.05 %</a:t>
                      </a:r>
                    </a:p>
                  </a:txBody>
                  <a:tcPr marL="45720" marR="45720" marT="45720" marB="45720" anchor="ctr">
                    <a:solidFill>
                      <a:srgbClr val="EBEFFB"/>
                    </a:solidFill>
                  </a:tcPr>
                </a:tc>
              </a:tr>
            </a:tbl>
          </a:graphicData>
        </a:graphic>
      </p:graphicFrame>
      <p:sp>
        <p:nvSpPr>
          <p:cNvPr id="9" name="TextBox 8"/>
          <p:cNvSpPr txBox="1"/>
          <p:nvPr/>
        </p:nvSpPr>
        <p:spPr>
          <a:xfrm>
            <a:off x="548640" y="3995928"/>
            <a:ext cx="6949440" cy="228600"/>
          </a:xfrm>
          <a:prstGeom prst="rect">
            <a:avLst/>
          </a:prstGeom>
          <a:noFill/>
        </p:spPr>
        <p:txBody>
          <a:bodyPr wrap="square" lIns="18288" rIns="18288" tIns="18288" bIns="18288" anchor="t">
            <a:spAutoFit/>
          </a:bodyPr>
          <a:lstStyle/>
          <a:p>
            <a:pPr algn="l"/>
            <a:r>
              <a:rPr sz="900" b="0">
                <a:solidFill>
                  <a:srgbClr val="5B6270"/>
                </a:solidFill>
                <a:latin typeface="Calibri"/>
              </a:rPr>
              <a:t>Respuesta por segmento y canal (color relativo dentro de cada canal)</a:t>
            </a:r>
          </a:p>
        </p:txBody>
      </p:sp>
      <p:sp>
        <p:nvSpPr>
          <p:cNvPr id="10" name="TextBox 9"/>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Active 2.5 % en email y 9.8 % en push con 2 % de los envíos; Leads y Recurrent 0.4 a 0.9 % con 58 %.</a:t>
            </a:r>
          </a:p>
          <a:p>
            <a:pPr>
              <a:spcAft>
                <a:spcPts val="350"/>
              </a:spcAft>
            </a:pPr>
            <a:r>
              <a:rPr sz="900" b="1">
                <a:solidFill>
                  <a:srgbClr val="1F4FD8"/>
                </a:solidFill>
                <a:latin typeface="Calibri"/>
              </a:rPr>
              <a:t>2.  </a:t>
            </a:r>
            <a:r>
              <a:rPr sz="900" b="0">
                <a:solidFill>
                  <a:srgbClr val="5B6270"/>
                </a:solidFill>
                <a:latin typeface="Calibri"/>
              </a:rPr>
              <a:t>Not Tracked (13 %) responde bien porque es transaccional sin etiquetar; Churn y HardInactive 0.1 a 0.2 % en email.</a:t>
            </a:r>
          </a:p>
          <a:p>
            <a:pPr>
              <a:spcAft>
                <a:spcPts val="350"/>
              </a:spcAft>
            </a:pPr>
            <a:r>
              <a:rPr sz="900" b="1">
                <a:solidFill>
                  <a:srgbClr val="1F4FD8"/>
                </a:solidFill>
                <a:latin typeface="Calibri"/>
              </a:rPr>
              <a:t>3.  </a:t>
            </a:r>
            <a:r>
              <a:rPr sz="900" b="0">
                <a:solidFill>
                  <a:srgbClr val="5B6270"/>
                </a:solidFill>
                <a:latin typeface="Calibri"/>
              </a:rPr>
              <a:t>WhatsApp e in-app responden 20 a 80 % en todos los segmentos: ahí el canal explica la tasa, no el segmento.</a:t>
            </a:r>
          </a:p>
          <a:p>
            <a:pPr>
              <a:spcAft>
                <a:spcPts val="350"/>
              </a:spcAft>
            </a:pPr>
            <a:r>
              <a:rPr sz="900" b="1">
                <a:solidFill>
                  <a:srgbClr val="1F4FD8"/>
                </a:solidFill>
                <a:latin typeface="Calibri"/>
              </a:rPr>
              <a:t>4.  </a:t>
            </a:r>
            <a:r>
              <a:rPr sz="900" b="0">
                <a:solidFill>
                  <a:srgbClr val="5B6270"/>
                </a:solidFill>
                <a:latin typeface="Calibri"/>
              </a:rPr>
              <a:t>Se manda por tamaño de lista: Leads y Recurrent son las listas más grandes y por eso reciben más.</a:t>
            </a:r>
          </a:p>
          <a:p>
            <a:pPr>
              <a:spcAft>
                <a:spcPts val="350"/>
              </a:spcAft>
            </a:pPr>
            <a:r>
              <a:rPr sz="900" b="1">
                <a:solidFill>
                  <a:srgbClr val="B5342B"/>
                </a:solidFill>
                <a:latin typeface="Calibri"/>
              </a:rPr>
              <a:t>5.  </a:t>
            </a:r>
            <a:r>
              <a:rPr sz="700" b="1">
                <a:solidFill>
                  <a:srgbClr val="B5342B"/>
                </a:solidFill>
                <a:latin typeface="Calibri"/>
              </a:rPr>
              <a:t>CAUSA RAÍZ · AUDIENCIA SIN SEGMENTO  </a:t>
            </a:r>
            <a:r>
              <a:rPr sz="900" b="1">
                <a:solidFill>
                  <a:srgbClr val="1A1D24"/>
                </a:solidFill>
                <a:latin typeface="Calibri"/>
              </a:rPr>
              <a:t>La asignación de volumen no mira respuesta por segmento; no hay tablero por segmento ni dueño de segmentos.</a:t>
            </a:r>
          </a:p>
        </p:txBody>
      </p:sp>
      <p:cxnSp>
        <p:nvCxnSpPr>
          <p:cNvPr id="11" name="Connector 10"/>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Quitar 20 % del volumen de Leads y Recurrent no cambia la respuesta total.</a:t>
            </a:r>
          </a:p>
          <a:p>
            <a:r>
              <a:rPr sz="700" b="1">
                <a:solidFill>
                  <a:srgbClr val="1F4FD8"/>
                </a:solidFill>
                <a:latin typeface="Calibri"/>
              </a:rPr>
              <a:t>O  </a:t>
            </a:r>
            <a:r>
              <a:rPr sz="750">
                <a:solidFill>
                  <a:srgbClr val="5B6270"/>
                </a:solidFill>
                <a:latin typeface="Calibri"/>
              </a:rPr>
              <a:t>Las listas grandes se usan porque llenar la meta de alcance es fácil.</a:t>
            </a:r>
          </a:p>
          <a:p>
            <a:r>
              <a:rPr sz="700" b="1">
                <a:solidFill>
                  <a:srgbClr val="1F4FD8"/>
                </a:solidFill>
                <a:latin typeface="Calibri"/>
              </a:rPr>
              <a:t>G  </a:t>
            </a:r>
            <a:r>
              <a:rPr sz="750">
                <a:solidFill>
                  <a:srgbClr val="5B6270"/>
                </a:solidFill>
                <a:latin typeface="Calibri"/>
              </a:rPr>
              <a:t>No hay dueño por segmento que decida cuánto recibe.</a:t>
            </a:r>
          </a:p>
        </p:txBody>
      </p:sp>
      <p:sp>
        <p:nvSpPr>
          <p:cNvPr id="13" name="TextBox 12"/>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Leads y Recurrent solo con oferta probada y prueba al 10 %; Active y Precobranza pueden recibir más (con frequency cap). Datos etiqueta Not Tracked este mes. Un dueño por segmento (lámina 55). Métrica: % de envíos a Active y Precobranza, hoy 4 %, meta 10 %.</a:t>
            </a:r>
          </a:p>
        </p:txBody>
      </p:sp>
      <p:sp>
        <p:nvSpPr>
          <p:cNvPr id="14" name="TextBox 13"/>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Leads y Recurrent solo con oferta probada y prueba al 10 %: 20 % menos volumen (80 M) con la misma respuesta total, porque lo que se quita va a quien no responde.</a:t>
            </a:r>
          </a:p>
        </p:txBody>
      </p:sp>
      <p:sp>
        <p:nvSpPr>
          <p:cNvPr id="15" name="Rectangle 14"/>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volumen sigue a la respuesta: Active y Precobranza pueden recibir más; Leads y Recurrent solo con oferta probada y prueba al 10 %. Not Tracked se etiqueta este 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C. QUÉ FUNCIONA</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Las familias grandes aportan menos respuesta de la que su volumen justifica: las 10 más grandes de email son 37 % de los envíos y 30 % de los clics; en push, 25 % y 15 %; 6 piezas con señal se protegen</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Plan_accion P4, Campañas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43</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37 % / 30 %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del volumen y de los clics de email en las 10 familias más grandes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25 % / 15 %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del volumen y de las aperturas de push en sus 10 más grandes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6</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piezas a proteger (3 a 87 % de respuesta)</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43.png"/>
          <p:cNvPicPr>
            <a:picLocks noChangeAspect="1"/>
          </p:cNvPicPr>
          <p:nvPr/>
        </p:nvPicPr>
        <p:blipFill>
          <a:blip r:embed="rId2"/>
          <a:stretch>
            <a:fillRect/>
          </a:stretch>
        </p:blipFill>
        <p:spPr>
          <a:xfrm>
            <a:off x="548640" y="2560320"/>
            <a:ext cx="6174360"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Email: 1,250 familias; las 10 más grandes son 37 % de los envíos y 30 % de los clics. Push: 708 familias; las 10 más grandes son 25 % y 15 %.</a:t>
            </a:r>
          </a:p>
          <a:p>
            <a:pPr>
              <a:spcAft>
                <a:spcPts val="350"/>
              </a:spcAft>
            </a:pPr>
            <a:r>
              <a:rPr sz="850" b="1">
                <a:solidFill>
                  <a:srgbClr val="1F4FD8"/>
                </a:solidFill>
                <a:latin typeface="Calibri"/>
              </a:rPr>
              <a:t>2.  </a:t>
            </a:r>
            <a:r>
              <a:rPr sz="850" b="0">
                <a:solidFill>
                  <a:srgbClr val="5B6270"/>
                </a:solidFill>
                <a:latin typeface="Calibri"/>
              </a:rPr>
              <a:t>Son masivos sin segmento: Tasa0 a registrados (0.28 %), BillPay Intro (0.11 %) y NeverActive (0.10 %) de Product Growth y NewProducts; Referral (0.23 %) de Marketing; en push RescateTasa0 y Referral a Leads (0.5 a 0.8 %).</a:t>
            </a:r>
          </a:p>
          <a:p>
            <a:pPr>
              <a:spcAft>
                <a:spcPts val="350"/>
              </a:spcAft>
            </a:pPr>
            <a:r>
              <a:rPr sz="850" b="1">
                <a:solidFill>
                  <a:srgbClr val="1F4FD8"/>
                </a:solidFill>
                <a:latin typeface="Calibri"/>
              </a:rPr>
              <a:t>3.  </a:t>
            </a:r>
            <a:r>
              <a:rPr sz="850" b="0">
                <a:solidFill>
                  <a:srgbClr val="5B6270"/>
                </a:solidFill>
                <a:latin typeface="Calibri"/>
              </a:rPr>
              <a:t>Las 6 a proteger son segmentadas: Precobranza (4.3 y 5.3 %), Retargeting Veriff (3.0 y 5.8 %), Installments a activos (push 11 %), Payment Confirmation (3.8 %) y Quincenas (4.2 %).</a:t>
            </a:r>
          </a:p>
          <a:p>
            <a:pPr>
              <a:spcAft>
                <a:spcPts val="350"/>
              </a:spcAft>
            </a:pPr>
            <a:r>
              <a:rPr sz="850" b="1">
                <a:solidFill>
                  <a:srgbClr val="1F4FD8"/>
                </a:solidFill>
                <a:latin typeface="Calibri"/>
              </a:rPr>
              <a:t>4.  </a:t>
            </a:r>
            <a:r>
              <a:rPr sz="850" b="0">
                <a:solidFill>
                  <a:srgbClr val="5B6270"/>
                </a:solidFill>
                <a:latin typeface="Calibri"/>
              </a:rPr>
              <a:t>La acción por pieza sale de una regla con datos (respuesta contra mínimo, señal, canal), no del nombre ni del tamaño.</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Las piezas más grandes son las menos revisadas porque 'siempre han corrido'; nadie compara volumen contra aporte.</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Apagar o rehacer las 10 masivas quita 19 % del volumen total y menos de 10 % de los clics.</a:t>
            </a:r>
          </a:p>
          <a:p>
            <a:r>
              <a:rPr sz="700" b="1">
                <a:solidFill>
                  <a:srgbClr val="1F4FD8"/>
                </a:solidFill>
                <a:latin typeface="Calibri"/>
              </a:rPr>
              <a:t>O  </a:t>
            </a:r>
            <a:r>
              <a:rPr sz="750">
                <a:solidFill>
                  <a:srgbClr val="5B6270"/>
                </a:solidFill>
                <a:latin typeface="Calibri"/>
              </a:rPr>
              <a:t>Las piezas grandes tienen inercia: nadie quiere apagar lo que 'da volumen'.</a:t>
            </a:r>
          </a:p>
          <a:p>
            <a:r>
              <a:rPr sz="700" b="1">
                <a:solidFill>
                  <a:srgbClr val="1F4FD8"/>
                </a:solidFill>
                <a:latin typeface="Calibri"/>
              </a:rPr>
              <a:t>G  </a:t>
            </a:r>
            <a:r>
              <a:rPr sz="750">
                <a:solidFill>
                  <a:srgbClr val="5B6270"/>
                </a:solidFill>
                <a:latin typeface="Calibri"/>
              </a:rPr>
              <a:t>No hay dueño con autoridad para apagar una pieza de otro equipo.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reunión de 60 min con los dueños de las 10 piezas (Product Growth, NewProducts, Marketing) y decisión por pieza: apagar, rehacer con señal o bajar frecuencia (tabla en Plan_accion P4). Las 6 protegidas se marcan con tag PROTEGIDA y frequency cap propio. Métrica: envíos de las 10, hoy 14 M al mes, meta la mitad.</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Apagar o rehacer las 10 quita 125 M envíos (19 %) que aportan menos de 10 % de los clics de email; Veriff se protege y baja a 1 email al día.</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Estas 10 piezas son 19 % del volumen: su acción (apagar, rehacer, bajar frecuencia) se decide esta semana con el dueño de cada una. Las 6 con señal se protegen.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1280160"/>
          </a:xfrm>
          <a:prstGeom prst="rect">
            <a:avLst/>
          </a:prstGeom>
          <a:noFill/>
        </p:spPr>
        <p:txBody>
          <a:bodyPr wrap="square" lIns="18288" rIns="18288" tIns="18288" bIns="18288" anchor="t">
            <a:spAutoFit/>
          </a:bodyPr>
          <a:lstStyle/>
          <a:p>
            <a:pPr algn="l"/>
            <a:r>
              <a:rPr sz="7200" b="1">
                <a:solidFill>
                  <a:srgbClr val="FFFFFF"/>
                </a:solidFill>
                <a:latin typeface="Calibri"/>
              </a:rPr>
              <a:t>D</a:t>
            </a:r>
          </a:p>
        </p:txBody>
      </p:sp>
      <p:sp>
        <p:nvSpPr>
          <p:cNvPr id="4" name="TextBox 3"/>
          <p:cNvSpPr txBox="1"/>
          <p:nvPr/>
        </p:nvSpPr>
        <p:spPr>
          <a:xfrm>
            <a:off x="822960" y="2926080"/>
            <a:ext cx="9144000" cy="1097280"/>
          </a:xfrm>
          <a:prstGeom prst="rect">
            <a:avLst/>
          </a:prstGeom>
          <a:noFill/>
        </p:spPr>
        <p:txBody>
          <a:bodyPr wrap="square" lIns="18288" rIns="18288" tIns="18288" bIns="18288" anchor="t">
            <a:spAutoFit/>
          </a:bodyPr>
          <a:lstStyle/>
          <a:p>
            <a:pPr algn="l"/>
            <a:r>
              <a:rPr sz="3200" b="1">
                <a:solidFill>
                  <a:srgbClr val="FFFFFF"/>
                </a:solidFill>
                <a:latin typeface="Calibri"/>
              </a:rPr>
              <a:t>Nadie puede demostrar cuánto vende Braze</a:t>
            </a:r>
          </a:p>
        </p:txBody>
      </p:sp>
      <p:sp>
        <p:nvSpPr>
          <p:cNvPr id="5" name="TextBox 4"/>
          <p:cNvSpPr txBox="1"/>
          <p:nvPr/>
        </p:nvSpPr>
        <p:spPr>
          <a:xfrm>
            <a:off x="822960" y="4023360"/>
            <a:ext cx="9144000" cy="731520"/>
          </a:xfrm>
          <a:prstGeom prst="rect">
            <a:avLst/>
          </a:prstGeom>
          <a:noFill/>
        </p:spPr>
        <p:txBody>
          <a:bodyPr wrap="square" lIns="18288" rIns="18288" tIns="18288" bIns="18288" anchor="t">
            <a:spAutoFit/>
          </a:bodyPr>
          <a:lstStyle/>
          <a:p>
            <a:pPr algn="l"/>
            <a:r>
              <a:rPr sz="1600" b="0">
                <a:solidFill>
                  <a:srgbClr val="FFFFFF"/>
                </a:solidFill>
                <a:latin typeface="Calibri"/>
              </a:rPr>
              <a:t>Sin grupo de control, sin pruebas A/B y sin nombres, no hay forma de defender una pieza</a:t>
            </a:r>
          </a:p>
        </p:txBody>
      </p:sp>
      <p:sp>
        <p:nvSpPr>
          <p:cNvPr id="6" name="TextBox 5"/>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FFFFFF"/>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D. SIN MEDICIÓN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0 de 3,228 Canvas tienen grupo de control y no hubo una prueba A/B de mensaje en 9 meses: ninguna cifra de conversión dice cuánto vende Braze</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Q_Control (E13), R_Experimentos (E14), K_Abren (E7c)</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45</a:t>
            </a:r>
          </a:p>
        </p:txBody>
      </p:sp>
      <p:sp>
        <p:nvSpPr>
          <p:cNvPr id="8" name="Rectangle 7"/>
          <p:cNvSpPr/>
          <p:nvPr/>
        </p:nvSpPr>
        <p:spPr>
          <a:xfrm>
            <a:off x="548640" y="178308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892807"/>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0 de 3,228</a:t>
            </a:r>
          </a:p>
        </p:txBody>
      </p:sp>
      <p:sp>
        <p:nvSpPr>
          <p:cNvPr id="10" name="TextBox 9"/>
          <p:cNvSpPr txBox="1"/>
          <p:nvPr/>
        </p:nvSpPr>
        <p:spPr>
          <a:xfrm>
            <a:off x="548640" y="249631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Canvas con control real</a:t>
            </a:r>
          </a:p>
        </p:txBody>
      </p:sp>
      <p:sp>
        <p:nvSpPr>
          <p:cNvPr id="11" name="TextBox 10"/>
          <p:cNvSpPr txBox="1"/>
          <p:nvPr/>
        </p:nvSpPr>
        <p:spPr>
          <a:xfrm>
            <a:off x="548640" y="280720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22 tienen usuarios marcados; el único grande abrió el mensaje 84 %</a:t>
            </a:r>
          </a:p>
        </p:txBody>
      </p:sp>
      <p:sp>
        <p:nvSpPr>
          <p:cNvPr id="12" name="Rectangle 11"/>
          <p:cNvSpPr/>
          <p:nvPr/>
        </p:nvSpPr>
        <p:spPr>
          <a:xfrm>
            <a:off x="4023359" y="178308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3359" y="1892807"/>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0</a:t>
            </a:r>
          </a:p>
        </p:txBody>
      </p:sp>
      <p:sp>
        <p:nvSpPr>
          <p:cNvPr id="14" name="TextBox 13"/>
          <p:cNvSpPr txBox="1"/>
          <p:nvPr/>
        </p:nvSpPr>
        <p:spPr>
          <a:xfrm>
            <a:off x="4023359" y="249631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pruebas A/B de mensaje</a:t>
            </a:r>
          </a:p>
        </p:txBody>
      </p:sp>
      <p:sp>
        <p:nvSpPr>
          <p:cNvPr id="15" name="TextBox 14"/>
          <p:cNvSpPr txBox="1"/>
          <p:nvPr/>
        </p:nvSpPr>
        <p:spPr>
          <a:xfrm>
            <a:off x="4023359" y="280720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313 Canvas con 'experimento' son caminos de audiencia; la variante es siempre Variant 1</a:t>
            </a:r>
          </a:p>
        </p:txBody>
      </p:sp>
      <p:sp>
        <p:nvSpPr>
          <p:cNvPr id="16" name="Rectangle 15"/>
          <p:cNvSpPr/>
          <p:nvPr/>
        </p:nvSpPr>
        <p:spPr>
          <a:xfrm>
            <a:off x="548640" y="324612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355848"/>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4</a:t>
            </a:r>
          </a:p>
        </p:txBody>
      </p:sp>
      <p:sp>
        <p:nvSpPr>
          <p:cNvPr id="18" name="TextBox 17"/>
          <p:cNvSpPr txBox="1"/>
          <p:nvPr/>
        </p:nvSpPr>
        <p:spPr>
          <a:xfrm>
            <a:off x="548640" y="395935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Canvas con push silencioso</a:t>
            </a:r>
          </a:p>
        </p:txBody>
      </p:sp>
      <p:sp>
        <p:nvSpPr>
          <p:cNvPr id="19" name="TextBox 18"/>
          <p:cNvSpPr txBox="1"/>
          <p:nvPr/>
        </p:nvSpPr>
        <p:spPr>
          <a:xfrm>
            <a:off x="548640" y="427024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650 mil usuarios para simular control</a:t>
            </a:r>
          </a:p>
        </p:txBody>
      </p:sp>
      <p:sp>
        <p:nvSpPr>
          <p:cNvPr id="20" name="Rectangle 19"/>
          <p:cNvSpPr/>
          <p:nvPr/>
        </p:nvSpPr>
        <p:spPr>
          <a:xfrm>
            <a:off x="4023359" y="324612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59" y="3355848"/>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2.3 veces</a:t>
            </a:r>
          </a:p>
        </p:txBody>
      </p:sp>
      <p:sp>
        <p:nvSpPr>
          <p:cNvPr id="22" name="TextBox 21"/>
          <p:cNvSpPr txBox="1"/>
          <p:nvPr/>
        </p:nvSpPr>
        <p:spPr>
          <a:xfrm>
            <a:off x="4023359" y="395935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convierten más los que abren</a:t>
            </a:r>
          </a:p>
        </p:txBody>
      </p:sp>
      <p:sp>
        <p:nvSpPr>
          <p:cNvPr id="23" name="TextBox 22"/>
          <p:cNvSpPr txBox="1"/>
          <p:nvPr/>
        </p:nvSpPr>
        <p:spPr>
          <a:xfrm>
            <a:off x="4023359" y="427024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no es causal: parte iba a comprar igual</a:t>
            </a:r>
          </a:p>
        </p:txBody>
      </p:sp>
      <p:sp>
        <p:nvSpPr>
          <p:cNvPr id="24" name="TextBox 23"/>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0 de 3,228 Canvas con grupo de control real; 0 pruebas A/B de mensaje en 9 meses.</a:t>
            </a:r>
          </a:p>
          <a:p>
            <a:pPr>
              <a:spcAft>
                <a:spcPts val="350"/>
              </a:spcAft>
            </a:pPr>
            <a:r>
              <a:rPr sz="950" b="1">
                <a:solidFill>
                  <a:srgbClr val="1F4FD8"/>
                </a:solidFill>
                <a:latin typeface="Calibri"/>
              </a:rPr>
              <a:t>2.  </a:t>
            </a:r>
            <a:r>
              <a:rPr sz="950" b="0">
                <a:solidFill>
                  <a:srgbClr val="5B6270"/>
                </a:solidFill>
                <a:latin typeface="Calibri"/>
              </a:rPr>
              <a:t>La conversión reportada es correlación: quien responde a 2 o más canales convierte 46 % porque ya es cliente activo, no porque recibió el mensaje.</a:t>
            </a:r>
          </a:p>
          <a:p>
            <a:pPr>
              <a:spcAft>
                <a:spcPts val="350"/>
              </a:spcAft>
            </a:pPr>
            <a:r>
              <a:rPr sz="950" b="1">
                <a:solidFill>
                  <a:srgbClr val="1F4FD8"/>
                </a:solidFill>
                <a:latin typeface="Calibri"/>
              </a:rPr>
              <a:t>3.  </a:t>
            </a:r>
            <a:r>
              <a:rPr sz="950" b="0">
                <a:solidFill>
                  <a:srgbClr val="5B6270"/>
                </a:solidFill>
                <a:latin typeface="Calibri"/>
              </a:rPr>
              <a:t>Braze trae control nativo en campañas y en la entrada del Canvas y reporta el lift solo; nadie lo activó.</a:t>
            </a:r>
          </a:p>
          <a:p>
            <a:pPr>
              <a:spcAft>
                <a:spcPts val="350"/>
              </a:spcAft>
            </a:pPr>
            <a:r>
              <a:rPr sz="950" b="1">
                <a:solidFill>
                  <a:srgbClr val="1F4FD8"/>
                </a:solidFill>
                <a:latin typeface="Calibri"/>
              </a:rPr>
              <a:t>4.  </a:t>
            </a:r>
            <a:r>
              <a:rPr sz="950" b="0">
                <a:solidFill>
                  <a:srgbClr val="5B6270"/>
                </a:solidFill>
                <a:latin typeface="Calibri"/>
              </a:rPr>
              <a:t>Sin lift, ninguna pieza se puede apagar 'con datos' y todas se defienden con su conversión.</a:t>
            </a:r>
          </a:p>
          <a:p>
            <a:pPr>
              <a:spcAft>
                <a:spcPts val="350"/>
              </a:spcAft>
            </a:pPr>
            <a:r>
              <a:rPr sz="950" b="1">
                <a:solidFill>
                  <a:srgbClr val="B5342B"/>
                </a:solidFill>
                <a:latin typeface="Calibri"/>
              </a:rPr>
              <a:t>5.  </a:t>
            </a:r>
            <a:r>
              <a:rPr sz="700" b="1">
                <a:solidFill>
                  <a:srgbClr val="B5342B"/>
                </a:solidFill>
                <a:latin typeface="Calibri"/>
              </a:rPr>
              <a:t>CAUSA RAÍZ · SIN MEDICIÓN  </a:t>
            </a:r>
            <a:r>
              <a:rPr sz="950" b="1">
                <a:solidFill>
                  <a:srgbClr val="1A1D24"/>
                </a:solidFill>
                <a:latin typeface="Calibri"/>
              </a:rPr>
              <a:t>No hay cultura ni regla de experimento: medir incrementalidad no es responsabilidad de nadie.</a:t>
            </a:r>
          </a:p>
        </p:txBody>
      </p:sp>
      <p:cxnSp>
        <p:nvCxnSpPr>
          <p:cNvPr id="25" name="Connector 24"/>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Con control del 10 % en 4 semanas se conoce el lift de las 20 piezas más grandes.</a:t>
            </a:r>
          </a:p>
          <a:p>
            <a:r>
              <a:rPr sz="700" b="1">
                <a:solidFill>
                  <a:srgbClr val="1F4FD8"/>
                </a:solidFill>
                <a:latin typeface="Calibri"/>
              </a:rPr>
              <a:t>O  </a:t>
            </a:r>
            <a:r>
              <a:rPr sz="750">
                <a:solidFill>
                  <a:srgbClr val="5B6270"/>
                </a:solidFill>
                <a:latin typeface="Calibri"/>
              </a:rPr>
              <a:t>El control no se activa porque 'quita alcance' a la pieza.</a:t>
            </a:r>
          </a:p>
          <a:p>
            <a:r>
              <a:rPr sz="700" b="1">
                <a:solidFill>
                  <a:srgbClr val="1F4FD8"/>
                </a:solidFill>
                <a:latin typeface="Calibri"/>
              </a:rPr>
              <a:t>G  </a:t>
            </a:r>
            <a:r>
              <a:rPr sz="750">
                <a:solidFill>
                  <a:srgbClr val="5B6270"/>
                </a:solidFill>
                <a:latin typeface="Calibri"/>
              </a:rPr>
              <a:t>Nadie es dueño de la medición de incrementalidad.</a:t>
            </a:r>
          </a:p>
        </p:txBody>
      </p:sp>
      <p:sp>
        <p:nvSpPr>
          <p:cNvPr id="27" name="TextBox 26"/>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MarTech activa Global Control Group 5 % en Braze (Settings) y control 10 % en la entrada de los 20 Canvas más grandes. Semana 4: Datos lee el lift por pieza; lift cero se apaga aunque 'convierta'. Una prueba A/B por equipo al mes. Métrica: piezas con lift medido, hoy 0, meta 20 en 30 días.</a:t>
            </a:r>
          </a:p>
        </p:txBody>
      </p:sp>
      <p:sp>
        <p:nvSpPr>
          <p:cNvPr id="28" name="TextBox 27"/>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En 4 semanas se sabe el lift de las 20 piezas más grandes; lo que da cero se apaga con datos y el ahorro de 1.6 M MXN al mes pasa de techo a medición.</a:t>
            </a:r>
          </a:p>
        </p:txBody>
      </p:sp>
      <p:sp>
        <p:nvSpPr>
          <p:cNvPr id="29" name="Rectangle 28"/>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Mientras no haya control del 10 % en toda pieza, ninguna cifra de conversión justifica mantener una campaña. Se activa en Braze en una semana.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D. SIN MEDICIÓN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748 piezas 'Not Tracked' sin dueño ni ticket mandaron 85 M mensajes y 321 de QA/Test mandaron 4.5 M a usuarios reales: no hay revisión antes de activar ni dueño del catálogo</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Catálogo, P_Segmentos (E11)</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46</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748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piezas Not Tracked sin dueño ni ticket: 85 M mensajes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321</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piezas de QA/Test: 4.5 M mensajes a usuarios reales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731</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formas de escribir la audiencia</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46.png"/>
          <p:cNvPicPr>
            <a:picLocks noChangeAspect="1"/>
          </p:cNvPicPr>
          <p:nvPr/>
        </p:nvPicPr>
        <p:blipFill>
          <a:blip r:embed="rId2"/>
          <a:stretch>
            <a:fillRect/>
          </a:stretch>
        </p:blipFill>
        <p:spPr>
          <a:xfrm>
            <a:off x="548640" y="2560320"/>
            <a:ext cx="5159931"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749 piezas sin ticket, 731 formas de escribir la audiencia y 171 pruebas y copias que llegaron a usuarios reales (7.26 M envíos).</a:t>
            </a:r>
          </a:p>
          <a:p>
            <a:pPr>
              <a:spcAft>
                <a:spcPts val="350"/>
              </a:spcAft>
            </a:pPr>
            <a:r>
              <a:rPr sz="900" b="1">
                <a:solidFill>
                  <a:srgbClr val="1F4FD8"/>
                </a:solidFill>
                <a:latin typeface="Calibri"/>
              </a:rPr>
              <a:t>2.  </a:t>
            </a:r>
            <a:r>
              <a:rPr sz="900" b="0">
                <a:solidFill>
                  <a:srgbClr val="5B6270"/>
                </a:solidFill>
                <a:latin typeface="Calibri"/>
              </a:rPr>
              <a:t>Not Tracked: 748 piezas, 85 M mensajes (13 % del volumen) sin equipo ni ticket. QA/Test: 321 piezas, 4.5 M mensajes a usuarios reales.</a:t>
            </a:r>
          </a:p>
          <a:p>
            <a:pPr>
              <a:spcAft>
                <a:spcPts val="350"/>
              </a:spcAft>
            </a:pPr>
            <a:r>
              <a:rPr sz="900" b="1">
                <a:solidFill>
                  <a:srgbClr val="1F4FD8"/>
                </a:solidFill>
                <a:latin typeface="Calibri"/>
              </a:rPr>
              <a:t>3.  </a:t>
            </a:r>
            <a:r>
              <a:rPr sz="900" b="0">
                <a:solidFill>
                  <a:srgbClr val="5B6270"/>
                </a:solidFill>
                <a:latin typeface="Calibri"/>
              </a:rPr>
              <a:t>Marketing y Lending sí ponen ticket (0 sin ticket) pero 19 y 6 piezas tienen el nombre fuera de norma; B2B y Research tienen 43 y 37.</a:t>
            </a:r>
          </a:p>
          <a:p>
            <a:pPr>
              <a:spcAft>
                <a:spcPts val="350"/>
              </a:spcAft>
            </a:pPr>
            <a:r>
              <a:rPr sz="900" b="1">
                <a:solidFill>
                  <a:srgbClr val="1F4FD8"/>
                </a:solidFill>
                <a:latin typeface="Calibri"/>
              </a:rPr>
              <a:t>4.  </a:t>
            </a:r>
            <a:r>
              <a:rPr sz="900" b="0">
                <a:solidFill>
                  <a:srgbClr val="5B6270"/>
                </a:solidFill>
                <a:latin typeface="Calibri"/>
              </a:rPr>
              <a:t>Los tags de Braze no llegan a Databricks: no se puede auditar por tag.</a:t>
            </a:r>
          </a:p>
          <a:p>
            <a:pPr>
              <a:spcAft>
                <a:spcPts val="350"/>
              </a:spcAft>
            </a:pPr>
            <a:r>
              <a:rPr sz="900" b="1">
                <a:solidFill>
                  <a:srgbClr val="B5342B"/>
                </a:solidFill>
                <a:latin typeface="Calibri"/>
              </a:rPr>
              <a:t>5.  </a:t>
            </a:r>
            <a:r>
              <a:rPr sz="700" b="1">
                <a:solidFill>
                  <a:srgbClr val="B5342B"/>
                </a:solidFill>
                <a:latin typeface="Calibri"/>
              </a:rPr>
              <a:t>CAUSA RAÍZ · OPERACIÓN  </a:t>
            </a:r>
            <a:r>
              <a:rPr sz="900" b="1">
                <a:solidFill>
                  <a:srgbClr val="1A1D24"/>
                </a:solidFill>
                <a:latin typeface="Calibri"/>
              </a:rPr>
              <a:t>No hay dueño del catálogo de Braze ni paso de aprobación (roles) antes de activar: cualquier usuario crea y lanza.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Lo que no tiene dueño es lo que peor se comporta: Not Tracked es 13 % del volumen sin nadie que lo revise.</a:t>
            </a:r>
          </a:p>
          <a:p>
            <a:r>
              <a:rPr sz="700" b="1">
                <a:solidFill>
                  <a:srgbClr val="1F4FD8"/>
                </a:solidFill>
                <a:latin typeface="Calibri"/>
              </a:rPr>
              <a:t>O  </a:t>
            </a:r>
            <a:r>
              <a:rPr sz="750">
                <a:solidFill>
                  <a:srgbClr val="5B6270"/>
                </a:solidFill>
                <a:latin typeface="Calibri"/>
              </a:rPr>
              <a:t>Braze permite activar sin aprobación y los equipos lo usan así.</a:t>
            </a:r>
          </a:p>
          <a:p>
            <a:r>
              <a:rPr sz="700" b="1">
                <a:solidFill>
                  <a:srgbClr val="1F4FD8"/>
                </a:solidFill>
                <a:latin typeface="Calibri"/>
              </a:rPr>
              <a:t>G  </a:t>
            </a:r>
            <a:r>
              <a:rPr sz="750">
                <a:solidFill>
                  <a:srgbClr val="5B6270"/>
                </a:solidFill>
                <a:latin typeface="Calibri"/>
              </a:rPr>
              <a:t>No hay roles de aprobación ni dueño del catálogo.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00">
                <a:solidFill>
                  <a:srgbClr val="5B6270"/>
                </a:solidFill>
                <a:latin typeface="Calibri"/>
              </a:rPr>
              <a:t>Semana 1: MarTech activa en Braze permisos por rol (crear sin lanzar; lanzar solo el aprobador) y limita QA a listas internas. Semana 2: regla de nombres Ticket-Producto-Audiencia-Gancho y tags de lista cerrada (tipo, equipo, producto, trimestre) obligatorios; Datos etiqueta las 748 Not Tracked. Métrica: piezas activas sin ticket, hoy 749, meta 0 en 60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Nombre y ticket obligatorios y roles de aprobación: 171 pruebas (7.26 M envíos) no llegan a usuarios reales y 100 % del volumen se audita por equipo.</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Sin ticket ni nombre estándar no hay dueño ni auditoría: regla de nombres, tags de lista cerrada y roles de aprobación desde la próxima pieza.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D. SIN MEDICIÓN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Se vuelve a crear la pieza en vez de medir la que existe: 74 familias crearon 5 o más versiones este año; Nuevos MPNeverCash Tasa0 (Product Growth) tiene 22 y Leads RescateTasa0 (Marketing) 18 con 16 M envíos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Catálogo (E1, E2), P_Segmentos (E11). Agrupación por nombre normalizado</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47</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74</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familias crearon 5 o más versiones nuevas en 2026; 187 las acumulan</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22</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versiones de Nuevos MPNeverCash Tasa0, Product Growth</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109</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piezas activas duplicadas en 13 combinaciones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47.png"/>
          <p:cNvPicPr>
            <a:picLocks noChangeAspect="1"/>
          </p:cNvPicPr>
          <p:nvPr/>
        </p:nvPicPr>
        <p:blipFill>
          <a:blip r:embed="rId2"/>
          <a:stretch>
            <a:fillRect/>
          </a:stretch>
        </p:blipFill>
        <p:spPr>
          <a:xfrm>
            <a:off x="548640" y="2560320"/>
            <a:ext cx="5631442"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187 familias tienen 5 o más versiones y concentran 35 % de los envíos; 74 crearon 5 o más versiones nuevas solo en 2026.</a:t>
            </a:r>
          </a:p>
          <a:p>
            <a:pPr>
              <a:spcAft>
                <a:spcPts val="350"/>
              </a:spcAft>
            </a:pPr>
            <a:r>
              <a:rPr sz="850" b="1">
                <a:solidFill>
                  <a:srgbClr val="1F4FD8"/>
                </a:solidFill>
                <a:latin typeface="Calibri"/>
              </a:rPr>
              <a:t>2.  </a:t>
            </a:r>
            <a:r>
              <a:rPr sz="850" b="0">
                <a:solidFill>
                  <a:srgbClr val="5B6270"/>
                </a:solidFill>
                <a:latin typeface="Calibri"/>
              </a:rPr>
              <a:t>Las que más: MPNeverCash Tasa0 (22) y NeverActive Installments (19, 15.5 M envíos) de Product Growth; RescateTasa0 a BBDD rezagada (18, 16.4 M) de Marketing; Churn 12 meses (18, 7.3 M).</a:t>
            </a:r>
          </a:p>
          <a:p>
            <a:pPr>
              <a:spcAft>
                <a:spcPts val="350"/>
              </a:spcAft>
            </a:pPr>
            <a:r>
              <a:rPr sz="850" b="1">
                <a:solidFill>
                  <a:srgbClr val="1F4FD8"/>
                </a:solidFill>
                <a:latin typeface="Calibri"/>
              </a:rPr>
              <a:t>3.  </a:t>
            </a:r>
            <a:r>
              <a:rPr sz="850" b="0">
                <a:solidFill>
                  <a:srgbClr val="5B6270"/>
                </a:solidFill>
                <a:latin typeface="Calibri"/>
              </a:rPr>
              <a:t>Se copia la pieza, se cambia la fecha y se activa sin archivar la anterior: 109 piezas activas duplicadas en 13 combinaciones mandan dos veces al mismo usuario.</a:t>
            </a:r>
          </a:p>
          <a:p>
            <a:pPr>
              <a:spcAft>
                <a:spcPts val="350"/>
              </a:spcAft>
            </a:pPr>
            <a:r>
              <a:rPr sz="850" b="1">
                <a:solidFill>
                  <a:srgbClr val="1F4FD8"/>
                </a:solidFill>
                <a:latin typeface="Calibri"/>
              </a:rPr>
              <a:t>4.  </a:t>
            </a:r>
            <a:r>
              <a:rPr sz="850" b="0">
                <a:solidFill>
                  <a:srgbClr val="5B6270"/>
                </a:solidFill>
                <a:latin typeface="Calibri"/>
              </a:rPr>
              <a:t>El segmento se escribe con el mes ('ComercioDelDia_Junio') o la ola ('W1'): 481 combinaciones para 30 audiencias reales; 'Comercio del día' existe en 9 segmentos y 'Cuponera' en 7.</a:t>
            </a:r>
          </a:p>
          <a:p>
            <a:pPr>
              <a:spcAft>
                <a:spcPts val="350"/>
              </a:spcAft>
            </a:pPr>
            <a:r>
              <a:rPr sz="850" b="1">
                <a:solidFill>
                  <a:srgbClr val="B5342B"/>
                </a:solidFill>
                <a:latin typeface="Calibri"/>
              </a:rPr>
              <a:t>5.  </a:t>
            </a:r>
            <a:r>
              <a:rPr sz="700" b="1">
                <a:solidFill>
                  <a:srgbClr val="B5342B"/>
                </a:solidFill>
                <a:latin typeface="Calibri"/>
              </a:rPr>
              <a:t>CAUSA RAÍZ · OPERACIÓN  </a:t>
            </a:r>
            <a:r>
              <a:rPr sz="850" b="1">
                <a:solidFill>
                  <a:srgbClr val="1A1D24"/>
                </a:solidFill>
                <a:latin typeface="Calibri"/>
              </a:rPr>
              <a:t>No hay segmentos maestros con dueño ni archivo de versiones: Braze acumula lo que nadie borra.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Una pieza viva por combinación evita los choques de la misma familia sobre el mismo usuario.</a:t>
            </a:r>
          </a:p>
          <a:p>
            <a:r>
              <a:rPr sz="700" b="1">
                <a:solidFill>
                  <a:srgbClr val="1F4FD8"/>
                </a:solidFill>
                <a:latin typeface="Calibri"/>
              </a:rPr>
              <a:t>O  </a:t>
            </a:r>
            <a:r>
              <a:rPr sz="750">
                <a:solidFill>
                  <a:srgbClr val="5B6270"/>
                </a:solidFill>
                <a:latin typeface="Calibri"/>
              </a:rPr>
              <a:t>Copiar es más rápido que editar y medir; nadie archiva.</a:t>
            </a:r>
          </a:p>
          <a:p>
            <a:r>
              <a:rPr sz="700" b="1">
                <a:solidFill>
                  <a:srgbClr val="1F4FD8"/>
                </a:solidFill>
                <a:latin typeface="Calibri"/>
              </a:rPr>
              <a:t>G  </a:t>
            </a:r>
            <a:r>
              <a:rPr sz="750">
                <a:solidFill>
                  <a:srgbClr val="5B6270"/>
                </a:solidFill>
                <a:latin typeface="Calibri"/>
              </a:rPr>
              <a:t>No hay dueño del catálogo ni revisión trimestral.</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MarTech crea 30 segmentos maestros SEG-Producto-Audiencia con dueño y archiva (Archive) las versiones sin envío en 60 días. Regla: una pieza viva por combinación producto, audiencia y gancho; Comercio del día y Cuponera leen del catálogo (Catalogs). Métrica: piezas activas duplicadas, hoy 109, meta 0.</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30 segmentos maestros y una pieza viva por combinación: 55 valores duplicados pasan a 8, las 109 piezas duplicadas a una por combinación y los choques de la misma familia desaparecen.</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Nomenclatura Ticket-Producto-Audiencia-Gancho, segmentos SEG- con dueño y archivo trimestral: dos semanas de MarTech y evita los choques dentro del mismo equipo.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1280160"/>
          </a:xfrm>
          <a:prstGeom prst="rect">
            <a:avLst/>
          </a:prstGeom>
          <a:noFill/>
        </p:spPr>
        <p:txBody>
          <a:bodyPr wrap="square" lIns="18288" rIns="18288" tIns="18288" bIns="18288" anchor="t">
            <a:spAutoFit/>
          </a:bodyPr>
          <a:lstStyle/>
          <a:p>
            <a:pPr algn="l"/>
            <a:r>
              <a:rPr sz="7200" b="1">
                <a:solidFill>
                  <a:srgbClr val="FFFFFF"/>
                </a:solidFill>
                <a:latin typeface="Calibri"/>
              </a:rPr>
              <a:t>E</a:t>
            </a:r>
          </a:p>
        </p:txBody>
      </p:sp>
      <p:sp>
        <p:nvSpPr>
          <p:cNvPr id="4" name="TextBox 3"/>
          <p:cNvSpPr txBox="1"/>
          <p:nvPr/>
        </p:nvSpPr>
        <p:spPr>
          <a:xfrm>
            <a:off x="822960" y="2926080"/>
            <a:ext cx="9144000" cy="1097280"/>
          </a:xfrm>
          <a:prstGeom prst="rect">
            <a:avLst/>
          </a:prstGeom>
          <a:noFill/>
        </p:spPr>
        <p:txBody>
          <a:bodyPr wrap="square" lIns="18288" rIns="18288" tIns="18288" bIns="18288" anchor="t">
            <a:spAutoFit/>
          </a:bodyPr>
          <a:lstStyle/>
          <a:p>
            <a:pPr algn="l"/>
            <a:r>
              <a:rPr sz="3200" b="1">
                <a:solidFill>
                  <a:srgbClr val="FFFFFF"/>
                </a:solidFill>
                <a:latin typeface="Calibri"/>
              </a:rPr>
              <a:t>El plan</a:t>
            </a:r>
          </a:p>
        </p:txBody>
      </p:sp>
      <p:sp>
        <p:nvSpPr>
          <p:cNvPr id="5" name="TextBox 4"/>
          <p:cNvSpPr txBox="1"/>
          <p:nvPr/>
        </p:nvSpPr>
        <p:spPr>
          <a:xfrm>
            <a:off x="822960" y="4023360"/>
            <a:ext cx="9144000" cy="731520"/>
          </a:xfrm>
          <a:prstGeom prst="rect">
            <a:avLst/>
          </a:prstGeom>
          <a:noFill/>
        </p:spPr>
        <p:txBody>
          <a:bodyPr wrap="square" lIns="18288" rIns="18288" tIns="18288" bIns="18288" anchor="t">
            <a:spAutoFit/>
          </a:bodyPr>
          <a:lstStyle/>
          <a:p>
            <a:pPr algn="l"/>
            <a:r>
              <a:rPr sz="1600" b="0">
                <a:solidFill>
                  <a:srgbClr val="FFFFFF"/>
                </a:solidFill>
                <a:latin typeface="Calibri"/>
              </a:rPr>
              <a:t>Limpiar, configurar, medir: 90 días</a:t>
            </a:r>
          </a:p>
        </p:txBody>
      </p:sp>
      <p:sp>
        <p:nvSpPr>
          <p:cNvPr id="6" name="TextBox 5"/>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FFFFFF"/>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582 campañas a tocar: 1.6 M MXN al mes de ahorro (33 % del gasto) y 27 M mensajes menos al mes; apagar las 48 con señal ya vale 1.16 M y se hace en 30 días sin configurar nada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Plan_accion P1 y P2</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49</a:t>
            </a:r>
          </a:p>
        </p:txBody>
      </p:sp>
      <p:graphicFrame>
        <p:nvGraphicFramePr>
          <p:cNvPr id="8" name="Chart 7"/>
          <p:cNvGraphicFramePr>
            <a:graphicFrameLocks noGrp="1"/>
          </p:cNvGraphicFramePr>
          <p:nvPr/>
        </p:nvGraphicFramePr>
        <p:xfrm>
          <a:off x="548640" y="1783080"/>
          <a:ext cx="6949440" cy="2651760"/>
        </p:xfrm>
        <a:graphic>
          <a:graphicData uri="http://schemas.openxmlformats.org/drawingml/2006/chart">
            <c:chart xmlns:c="http://schemas.openxmlformats.org/drawingml/2006/chart" r:id="rId2"/>
          </a:graphicData>
        </a:graphic>
      </p:graphicFrame>
      <p:sp>
        <p:nvSpPr>
          <p:cNvPr id="9" name="TextBox 8"/>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Apagar: 48 campañas activas, 18.4 M mensajes al mes, 1.16 M MXN al mes. Confirmar apagado: 232 que ya no envían, que no revivan.</a:t>
            </a:r>
          </a:p>
          <a:p>
            <a:pPr>
              <a:spcAft>
                <a:spcPts val="350"/>
              </a:spcAft>
            </a:pPr>
            <a:r>
              <a:rPr sz="850" b="1">
                <a:solidFill>
                  <a:srgbClr val="1F4FD8"/>
                </a:solidFill>
                <a:latin typeface="Calibri"/>
              </a:rPr>
              <a:t>2.  </a:t>
            </a:r>
            <a:r>
              <a:rPr sz="850" b="0">
                <a:solidFill>
                  <a:srgbClr val="5B6270"/>
                </a:solidFill>
                <a:latin typeface="Calibri"/>
              </a:rPr>
              <a:t>Bajar frecuencia: 84 (Referral, Newsletter, Rescate de Marketing). Proteger: 138. Escalar: 154 con señal.</a:t>
            </a:r>
          </a:p>
          <a:p>
            <a:pPr>
              <a:spcAft>
                <a:spcPts val="350"/>
              </a:spcAft>
            </a:pPr>
            <a:r>
              <a:rPr sz="850" b="1">
                <a:solidFill>
                  <a:srgbClr val="1F4FD8"/>
                </a:solidFill>
                <a:latin typeface="Calibri"/>
              </a:rPr>
              <a:t>3.  </a:t>
            </a:r>
            <a:r>
              <a:rPr sz="850" b="0">
                <a:solidFill>
                  <a:srgbClr val="5B6270"/>
                </a:solidFill>
                <a:latin typeface="Calibri"/>
              </a:rPr>
              <a:t>El ahorro sale de donde está el desperdicio: WhatsApp a mudos y bloqueados, email a quien nunca respondió, push repetido.</a:t>
            </a:r>
          </a:p>
          <a:p>
            <a:pPr>
              <a:spcAft>
                <a:spcPts val="350"/>
              </a:spcAft>
            </a:pPr>
            <a:r>
              <a:rPr sz="850" b="1">
                <a:solidFill>
                  <a:srgbClr val="1F4FD8"/>
                </a:solidFill>
                <a:latin typeface="Calibri"/>
              </a:rPr>
              <a:t>4.  </a:t>
            </a:r>
            <a:r>
              <a:rPr sz="850" b="0">
                <a:solidFill>
                  <a:srgbClr val="5B6270"/>
                </a:solidFill>
                <a:latin typeface="Calibri"/>
              </a:rPr>
              <a:t>Es un techo: supone apagar todo lo que tiene señal de fallo; con WhatsApp cobrado por enviado sería el doble. No incluye el costo fijo de Braze.</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El desperdicio existe porque 5 equipos operan Braze sin reglas comunes de audiencia, frecuencia y canal; el plan lo ataca campaña por campaña.</a:t>
            </a:r>
          </a:p>
        </p:txBody>
      </p:sp>
      <p:cxnSp>
        <p:nvCxnSpPr>
          <p:cNvPr id="10" name="Connector 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El ahorro no toca conversiones: lo apagado responde debajo del mínimo y convierte 0.08 %.</a:t>
            </a:r>
          </a:p>
          <a:p>
            <a:r>
              <a:rPr sz="700" b="1">
                <a:solidFill>
                  <a:srgbClr val="1F4FD8"/>
                </a:solidFill>
                <a:latin typeface="Calibri"/>
              </a:rPr>
              <a:t>O  </a:t>
            </a:r>
            <a:r>
              <a:rPr sz="750">
                <a:solidFill>
                  <a:srgbClr val="5B6270"/>
                </a:solidFill>
                <a:latin typeface="Calibri"/>
              </a:rPr>
              <a:t>Apagar no requiere configurar nada en Braze: se hace en 30 días.</a:t>
            </a:r>
          </a:p>
          <a:p>
            <a:r>
              <a:rPr sz="700" b="1">
                <a:solidFill>
                  <a:srgbClr val="1F4FD8"/>
                </a:solidFill>
                <a:latin typeface="Calibri"/>
              </a:rPr>
              <a:t>G  </a:t>
            </a:r>
            <a:r>
              <a:rPr sz="750">
                <a:solidFill>
                  <a:srgbClr val="5B6270"/>
                </a:solidFill>
                <a:latin typeface="Calibri"/>
              </a:rPr>
              <a:t>Se necesita una decisión por campaña con dueño, no una política general.</a:t>
            </a:r>
          </a:p>
        </p:txBody>
      </p:sp>
      <p:sp>
        <p:nvSpPr>
          <p:cNvPr id="12" name="TextBox 1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Dirección aprueba el plan por campaña (Plan_accion P1 y P2); cada equipo recibe su lista con acción y fecha. Semanas 1 a 4: apagar 48 y confirmar 232. Mes 2: bajar frecuencia a 84 y configurar reglas. Métrica: ahorro mensual realizado contra 1.6 M, medido en el mismo Sheets.</a:t>
            </a:r>
          </a:p>
        </p:txBody>
      </p:sp>
      <p:sp>
        <p:nvSpPr>
          <p:cNvPr id="13" name="TextBox 1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1.6 M MXN al mes (19 M al año), 27 M mensajes menos al mes y cerca de 50 mil bajas menos al mes si se ejecuta en 30 días.</a:t>
            </a:r>
          </a:p>
        </p:txBody>
      </p:sp>
      <p:sp>
        <p:nvSpPr>
          <p:cNvPr id="14" name="Rectangle 1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Aprobar el plan por campaña: 1.6 M MXN al mes es un techo, pero apagar las 48 con señal ya vale 1.16 M al mes y se hace en 30 días sin configurar nada.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Product Growth tiene 81 % del ahorro (1.30 M MXN al mes) con apagar y re-segmentar sus Canvas de Tasa 0 y nuevos registrados; Marketing tiene el mayor volumen a bajar frecuencia y limpiar WhatsApp</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Plan_accion P3</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50</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1.30 M MXN</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al mes de ahorro en Product Growth, 81 % del total</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17</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campañas de Product Growth a apagar: 1.04 M MXN al mes desde la semana 1</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23</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WhatsApp de Marketing a limpiar base</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50.png"/>
          <p:cNvPicPr>
            <a:picLocks noChangeAspect="1"/>
          </p:cNvPicPr>
          <p:nvPr/>
        </p:nvPicPr>
        <p:blipFill>
          <a:blip r:embed="rId2"/>
          <a:stretch>
            <a:fillRect/>
          </a:stretch>
        </p:blipFill>
        <p:spPr>
          <a:xfrm>
            <a:off x="548640" y="2560320"/>
            <a:ext cx="6949440" cy="1906524"/>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Product Growth: 1.30 M MXN al mes; solo apagar 17 campañas vale 1.04 M (9 M mensajes al mes): WhatsApp a churn y email Tasa0 masivo.</a:t>
            </a:r>
          </a:p>
          <a:p>
            <a:pPr>
              <a:spcAft>
                <a:spcPts val="350"/>
              </a:spcAft>
            </a:pPr>
            <a:r>
              <a:rPr sz="850" b="1">
                <a:solidFill>
                  <a:srgbClr val="1F4FD8"/>
                </a:solidFill>
                <a:latin typeface="Calibri"/>
              </a:rPr>
              <a:t>2.  </a:t>
            </a:r>
            <a:r>
              <a:rPr sz="850" b="0">
                <a:solidFill>
                  <a:srgbClr val="5B6270"/>
                </a:solidFill>
                <a:latin typeface="Calibri"/>
              </a:rPr>
              <a:t>Marketing: 0.16 M; 23 campañas a apagar y 23 WhatsApp a limpiar base (11.9 M MXN del periodo); Referral, Newsletter y Rescate a bajar frecuencia.</a:t>
            </a:r>
          </a:p>
          <a:p>
            <a:pPr>
              <a:spcAft>
                <a:spcPts val="350"/>
              </a:spcAft>
            </a:pPr>
            <a:r>
              <a:rPr sz="850" b="1">
                <a:solidFill>
                  <a:srgbClr val="1F4FD8"/>
                </a:solidFill>
                <a:latin typeface="Calibri"/>
              </a:rPr>
              <a:t>3.  </a:t>
            </a:r>
            <a:r>
              <a:rPr sz="850" b="0">
                <a:solidFill>
                  <a:srgbClr val="5B6270"/>
                </a:solidFill>
                <a:latin typeface="Calibri"/>
              </a:rPr>
              <a:t>Sales: 0.10 M, en rehacer 18 campañas activas de email a recurrentes. Collections no entra: cobranza no se toca sin Legal. Others 0.04 M.</a:t>
            </a:r>
          </a:p>
          <a:p>
            <a:pPr>
              <a:spcAft>
                <a:spcPts val="350"/>
              </a:spcAft>
            </a:pPr>
            <a:r>
              <a:rPr sz="850" b="1">
                <a:solidFill>
                  <a:srgbClr val="1F4FD8"/>
                </a:solidFill>
                <a:latin typeface="Calibri"/>
              </a:rPr>
              <a:t>4.  </a:t>
            </a:r>
            <a:r>
              <a:rPr sz="850" b="0">
                <a:solidFill>
                  <a:srgbClr val="5B6270"/>
                </a:solidFill>
                <a:latin typeface="Calibri"/>
              </a:rPr>
              <a:t>Product Growth concentra el canal caro (WhatsApp a churn) y el email masivo a nuevos: es el equipo con más insistencia (39 %).</a:t>
            </a:r>
          </a:p>
          <a:p>
            <a:pPr>
              <a:spcAft>
                <a:spcPts val="350"/>
              </a:spcAft>
            </a:pPr>
            <a:r>
              <a:rPr sz="850" b="1">
                <a:solidFill>
                  <a:srgbClr val="B5342B"/>
                </a:solidFill>
                <a:latin typeface="Calibri"/>
              </a:rPr>
              <a:t>5.  </a:t>
            </a:r>
            <a:r>
              <a:rPr sz="700" b="1">
                <a:solidFill>
                  <a:srgbClr val="B5342B"/>
                </a:solidFill>
                <a:latin typeface="Calibri"/>
              </a:rPr>
              <a:t>CAUSA RAÍZ · AUDIENCIA SIN SEGMENTO  </a:t>
            </a:r>
            <a:r>
              <a:rPr sz="850" b="1">
                <a:solidFill>
                  <a:srgbClr val="1A1D24"/>
                </a:solidFill>
                <a:latin typeface="Calibri"/>
              </a:rPr>
              <a:t>El ahorro se concentra donde se concentran las decisiones de canal y audiencia sin regla: dos equipos.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El 81 % en Product Growth no es un juicio al equipo: es donde está el canal caro y el masivo.</a:t>
            </a:r>
          </a:p>
          <a:p>
            <a:r>
              <a:rPr sz="700" b="1">
                <a:solidFill>
                  <a:srgbClr val="1F4FD8"/>
                </a:solidFill>
                <a:latin typeface="Calibri"/>
              </a:rPr>
              <a:t>O  </a:t>
            </a:r>
            <a:r>
              <a:rPr sz="750">
                <a:solidFill>
                  <a:srgbClr val="5B6270"/>
                </a:solidFill>
                <a:latin typeface="Calibri"/>
              </a:rPr>
              <a:t>Product Growth puede ejecutar en la semana 1: sus 17 campañas a apagar están identificadas.</a:t>
            </a:r>
          </a:p>
          <a:p>
            <a:r>
              <a:rPr sz="700" b="1">
                <a:solidFill>
                  <a:srgbClr val="1F4FD8"/>
                </a:solidFill>
                <a:latin typeface="Calibri"/>
              </a:rPr>
              <a:t>G  </a:t>
            </a:r>
            <a:r>
              <a:rPr sz="750">
                <a:solidFill>
                  <a:srgbClr val="5B6270"/>
                </a:solidFill>
                <a:latin typeface="Calibri"/>
              </a:rPr>
              <a:t>El plan necesita un dueño por equipo con autoridad para apagar.</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Product Growth apaga 17 campañas (lista en Plan_accion P3); Marketing limpia la base de WhatsApp con EXC-WA_SinSeñal y baja frecuencia de Referral y Newsletter; Sales rehace su email a recurrentes con push y WhatsApp con señal. Métrica: ahorro realizado por equipo al mes.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Product Growth solo con apagar 17 campañas: 1.04 M MXN al mes desde la semana 1; Marketing 0.16 M y Sales 0.10 M.</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Product Growth decide primero: 17 campañas a apagar valen 1.04 M MXN al mes. Marketing limpia la base de WhatsApp; Sales rehace su email.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Diez piezas con dueño y acción concreta cubren 125 M envíos y 0.9 M MXN al mes: se ejecutan en las semanas 1 y 2 sin esperar la configuración de Braze</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Plan_accion P4; playbook sección 8</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51</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125 M</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envíos cubiertos por diez acciones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6 de 10</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se apagan o se confirma su apagado</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14 M</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mensajes menos al mes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8" cy="2011680"/>
        </p:xfrm>
        <a:graphic>
          <a:graphicData uri="http://schemas.openxmlformats.org/drawingml/2006/table">
            <a:tbl>
              <a:tblPr firstRow="1" bandRow="1">
                <a:tableStyleId>{5C22544A-7EE6-4342-B048-85BDC9FD1C3A}</a:tableStyleId>
              </a:tblPr>
              <a:tblGrid>
                <a:gridCol w="3021495"/>
                <a:gridCol w="906448"/>
                <a:gridCol w="3021495"/>
              </a:tblGrid>
              <a:tr h="182880">
                <a:tc>
                  <a:txBody>
                    <a:bodyPr wrap="square"/>
                    <a:lstStyle/>
                    <a:p>
                      <a:r>
                        <a:rPr sz="700" b="1">
                          <a:solidFill>
                            <a:srgbClr val="5B6270"/>
                          </a:solidFill>
                          <a:latin typeface="Calibri"/>
                        </a:rPr>
                        <a:t>Pieza</a:t>
                      </a:r>
                    </a:p>
                  </a:txBody>
                  <a:tcPr marL="45720" marR="45720" marT="18288" marB="18288">
                    <a:solidFill>
                      <a:srgbClr val="FFFFFF"/>
                    </a:solidFill>
                  </a:tcPr>
                </a:tc>
                <a:tc>
                  <a:txBody>
                    <a:bodyPr wrap="square"/>
                    <a:lstStyle/>
                    <a:p>
                      <a:r>
                        <a:rPr sz="700" b="1">
                          <a:solidFill>
                            <a:srgbClr val="5B6270"/>
                          </a:solidFill>
                          <a:latin typeface="Calibri"/>
                        </a:rPr>
                        <a:t>Acción</a:t>
                      </a:r>
                    </a:p>
                  </a:txBody>
                  <a:tcPr marL="45720" marR="45720" marT="18288" marB="18288">
                    <a:solidFill>
                      <a:srgbClr val="FFFFFF"/>
                    </a:solidFill>
                  </a:tcPr>
                </a:tc>
                <a:tc>
                  <a:txBody>
                    <a:bodyPr wrap="square"/>
                    <a:lstStyle/>
                    <a:p>
                      <a:r>
                        <a:rPr sz="700" b="1">
                          <a:solidFill>
                            <a:srgbClr val="5B6270"/>
                          </a:solidFill>
                          <a:latin typeface="Calibri"/>
                        </a:rPr>
                        <a:t>Qué cambia</a:t>
                      </a:r>
                    </a:p>
                  </a:txBody>
                  <a:tcPr marL="45720" marR="45720" marT="18288" marB="18288">
                    <a:solidFill>
                      <a:srgbClr val="FFFFFF"/>
                    </a:solidFill>
                  </a:tcPr>
                </a:tc>
              </a:tr>
              <a:tr h="182880">
                <a:tc>
                  <a:txBody>
                    <a:bodyPr wrap="square"/>
                    <a:lstStyle/>
                    <a:p>
                      <a:r>
                        <a:rPr sz="800" b="1">
                          <a:solidFill>
                            <a:srgbClr val="1A1D24"/>
                          </a:solidFill>
                          <a:latin typeface="Calibri"/>
                        </a:rPr>
                        <a:t>B0211 Tasa0 a registrados (email, 34.9 M)</a:t>
                      </a:r>
                    </a:p>
                  </a:txBody>
                  <a:tcPr marL="45720" marR="45720" marT="18288" marB="18288">
                    <a:solidFill>
                      <a:srgbClr val="FFFFFF"/>
                    </a:solidFill>
                  </a:tcPr>
                </a:tc>
                <a:tc>
                  <a:txBody>
                    <a:bodyPr wrap="square"/>
                    <a:lstStyle/>
                    <a:p>
                      <a:r>
                        <a:rPr sz="800" b="1">
                          <a:solidFill>
                            <a:srgbClr val="B5342B"/>
                          </a:solidFill>
                          <a:latin typeface="Calibri"/>
                        </a:rPr>
                        <a:t>Apagar</a:t>
                      </a:r>
                    </a:p>
                  </a:txBody>
                  <a:tcPr marL="45720" marR="45720" marT="18288" marB="18288">
                    <a:solidFill>
                      <a:srgbClr val="FFFFFF"/>
                    </a:solidFill>
                  </a:tcPr>
                </a:tc>
                <a:tc>
                  <a:txBody>
                    <a:bodyPr wrap="square"/>
                    <a:lstStyle/>
                    <a:p>
                      <a:r>
                        <a:rPr sz="800" b="0">
                          <a:solidFill>
                            <a:srgbClr val="1A1D24"/>
                          </a:solidFill>
                          <a:latin typeface="Calibri"/>
                        </a:rPr>
                        <a:t>Se deja en push acotado a quien abrió un push en 60 días, 2 toques</a:t>
                      </a:r>
                    </a:p>
                  </a:txBody>
                  <a:tcPr marL="45720" marR="45720" marT="18288" marB="18288">
                    <a:solidFill>
                      <a:srgbClr val="FFFFFF"/>
                    </a:solidFill>
                  </a:tcPr>
                </a:tc>
              </a:tr>
              <a:tr h="182880">
                <a:tc>
                  <a:txBody>
                    <a:bodyPr wrap="square"/>
                    <a:lstStyle/>
                    <a:p>
                      <a:r>
                        <a:rPr sz="800" b="1">
                          <a:solidFill>
                            <a:srgbClr val="1A1D24"/>
                          </a:solidFill>
                          <a:latin typeface="Calibri"/>
                        </a:rPr>
                        <a:t>BillPay Intro (email, 16.1 M)</a:t>
                      </a:r>
                    </a:p>
                  </a:txBody>
                  <a:tcPr marL="45720" marR="45720" marT="18288" marB="18288">
                    <a:solidFill>
                      <a:srgbClr val="F6F7F9"/>
                    </a:solidFill>
                  </a:tcPr>
                </a:tc>
                <a:tc>
                  <a:txBody>
                    <a:bodyPr wrap="square"/>
                    <a:lstStyle/>
                    <a:p>
                      <a:r>
                        <a:rPr sz="800" b="1">
                          <a:solidFill>
                            <a:srgbClr val="B5342B"/>
                          </a:solidFill>
                          <a:latin typeface="Calibri"/>
                        </a:rPr>
                        <a:t>Confirmar apagado</a:t>
                      </a:r>
                    </a:p>
                  </a:txBody>
                  <a:tcPr marL="45720" marR="45720" marT="18288" marB="18288">
                    <a:solidFill>
                      <a:srgbClr val="F6F7F9"/>
                    </a:solidFill>
                  </a:tcPr>
                </a:tc>
                <a:tc>
                  <a:txBody>
                    <a:bodyPr wrap="square"/>
                    <a:lstStyle/>
                    <a:p>
                      <a:r>
                        <a:rPr sz="800" b="0">
                          <a:solidFill>
                            <a:srgbClr val="1A1D24"/>
                          </a:solidFill>
                          <a:latin typeface="Calibri"/>
                        </a:rPr>
                        <a:t>Archivar; BillPay entra a las reglas de todos</a:t>
                      </a:r>
                    </a:p>
                  </a:txBody>
                  <a:tcPr marL="45720" marR="45720" marT="18288" marB="18288">
                    <a:solidFill>
                      <a:srgbClr val="F6F7F9"/>
                    </a:solidFill>
                  </a:tcPr>
                </a:tc>
              </a:tr>
              <a:tr h="182880">
                <a:tc>
                  <a:txBody>
                    <a:bodyPr wrap="square"/>
                    <a:lstStyle/>
                    <a:p>
                      <a:r>
                        <a:rPr sz="800" b="1">
                          <a:solidFill>
                            <a:srgbClr val="1A1D24"/>
                          </a:solidFill>
                          <a:latin typeface="Calibri"/>
                        </a:rPr>
                        <a:t>B0223 NeverActive Installments (email, 13.5 M)</a:t>
                      </a:r>
                    </a:p>
                  </a:txBody>
                  <a:tcPr marL="45720" marR="45720" marT="18288" marB="18288">
                    <a:solidFill>
                      <a:srgbClr val="FFFFFF"/>
                    </a:solidFill>
                  </a:tcPr>
                </a:tc>
                <a:tc>
                  <a:txBody>
                    <a:bodyPr wrap="square"/>
                    <a:lstStyle/>
                    <a:p>
                      <a:r>
                        <a:rPr sz="800" b="1">
                          <a:solidFill>
                            <a:srgbClr val="B5342B"/>
                          </a:solidFill>
                          <a:latin typeface="Calibri"/>
                        </a:rPr>
                        <a:t>Apagar</a:t>
                      </a:r>
                    </a:p>
                  </a:txBody>
                  <a:tcPr marL="45720" marR="45720" marT="18288" marB="18288">
                    <a:solidFill>
                      <a:srgbClr val="FFFFFF"/>
                    </a:solidFill>
                  </a:tcPr>
                </a:tc>
                <a:tc>
                  <a:txBody>
                    <a:bodyPr wrap="square"/>
                    <a:lstStyle/>
                    <a:p>
                      <a:r>
                        <a:rPr sz="800" b="0">
                          <a:solidFill>
                            <a:srgbClr val="1A1D24"/>
                          </a:solidFill>
                          <a:latin typeface="Calibri"/>
                        </a:rPr>
                        <a:t>Fríos solo con señal y solo Lending</a:t>
                      </a:r>
                    </a:p>
                  </a:txBody>
                  <a:tcPr marL="45720" marR="45720" marT="18288" marB="18288">
                    <a:solidFill>
                      <a:srgbClr val="FFFFFF"/>
                    </a:solidFill>
                  </a:tcPr>
                </a:tc>
              </a:tr>
              <a:tr h="182880">
                <a:tc>
                  <a:txBody>
                    <a:bodyPr wrap="square"/>
                    <a:lstStyle/>
                    <a:p>
                      <a:r>
                        <a:rPr sz="800" b="1">
                          <a:solidFill>
                            <a:srgbClr val="1A1D24"/>
                          </a:solidFill>
                          <a:latin typeface="Calibri"/>
                        </a:rPr>
                        <a:t>B0391 RescateFinesDeSemana (push, 13.4 M)</a:t>
                      </a:r>
                    </a:p>
                  </a:txBody>
                  <a:tcPr marL="45720" marR="45720" marT="18288" marB="18288">
                    <a:solidFill>
                      <a:srgbClr val="F6F7F9"/>
                    </a:solidFill>
                  </a:tcPr>
                </a:tc>
                <a:tc>
                  <a:txBody>
                    <a:bodyPr wrap="square"/>
                    <a:lstStyle/>
                    <a:p>
                      <a:r>
                        <a:rPr sz="800" b="1">
                          <a:solidFill>
                            <a:srgbClr val="B8860B"/>
                          </a:solidFill>
                          <a:latin typeface="Calibri"/>
                        </a:rPr>
                        <a:t>Rehacer</a:t>
                      </a:r>
                    </a:p>
                  </a:txBody>
                  <a:tcPr marL="45720" marR="45720" marT="18288" marB="18288">
                    <a:solidFill>
                      <a:srgbClr val="F6F7F9"/>
                    </a:solidFill>
                  </a:tcPr>
                </a:tc>
                <a:tc>
                  <a:txBody>
                    <a:bodyPr wrap="square"/>
                    <a:lstStyle/>
                    <a:p>
                      <a:r>
                        <a:rPr sz="800" b="0">
                          <a:solidFill>
                            <a:srgbClr val="1A1D24"/>
                          </a:solidFill>
                          <a:latin typeface="Calibri"/>
                        </a:rPr>
                        <a:t>Solo a quien abrió un push en 60 días; nunca a nuevos en fin de semana</a:t>
                      </a:r>
                    </a:p>
                  </a:txBody>
                  <a:tcPr marL="45720" marR="45720" marT="18288" marB="18288">
                    <a:solidFill>
                      <a:srgbClr val="F6F7F9"/>
                    </a:solidFill>
                  </a:tcPr>
                </a:tc>
              </a:tr>
              <a:tr h="182880">
                <a:tc>
                  <a:txBody>
                    <a:bodyPr wrap="square"/>
                    <a:lstStyle/>
                    <a:p>
                      <a:r>
                        <a:rPr sz="800" b="1">
                          <a:solidFill>
                            <a:srgbClr val="1A1D24"/>
                          </a:solidFill>
                          <a:latin typeface="Calibri"/>
                        </a:rPr>
                        <a:t>B0000 Retargeting Veriff (email, 9.7 M)</a:t>
                      </a:r>
                    </a:p>
                  </a:txBody>
                  <a:tcPr marL="45720" marR="45720" marT="18288" marB="18288">
                    <a:solidFill>
                      <a:srgbClr val="FFFFFF"/>
                    </a:solidFill>
                  </a:tcPr>
                </a:tc>
                <a:tc>
                  <a:txBody>
                    <a:bodyPr wrap="square"/>
                    <a:lstStyle/>
                    <a:p>
                      <a:r>
                        <a:rPr sz="800" b="1">
                          <a:solidFill>
                            <a:srgbClr val="B8860B"/>
                          </a:solidFill>
                          <a:latin typeface="Calibri"/>
                        </a:rPr>
                        <a:t>Bajar frecuencia</a:t>
                      </a:r>
                    </a:p>
                  </a:txBody>
                  <a:tcPr marL="45720" marR="45720" marT="18288" marB="18288">
                    <a:solidFill>
                      <a:srgbClr val="FFFFFF"/>
                    </a:solidFill>
                  </a:tcPr>
                </a:tc>
                <a:tc>
                  <a:txBody>
                    <a:bodyPr wrap="square"/>
                    <a:lstStyle/>
                    <a:p>
                      <a:r>
                        <a:rPr sz="800" b="0">
                          <a:solidFill>
                            <a:srgbClr val="1A1D24"/>
                          </a:solidFill>
                          <a:latin typeface="Calibri"/>
                        </a:rPr>
                        <a:t>De 2 emails al día a 1; funciona (3.04 %)</a:t>
                      </a:r>
                    </a:p>
                  </a:txBody>
                  <a:tcPr marL="45720" marR="45720" marT="18288" marB="18288">
                    <a:solidFill>
                      <a:srgbClr val="FFFFFF"/>
                    </a:solidFill>
                  </a:tcPr>
                </a:tc>
              </a:tr>
              <a:tr h="182880">
                <a:tc>
                  <a:txBody>
                    <a:bodyPr wrap="square"/>
                    <a:lstStyle/>
                    <a:p>
                      <a:r>
                        <a:rPr sz="800" b="1">
                          <a:solidFill>
                            <a:srgbClr val="1A1D24"/>
                          </a:solidFill>
                          <a:latin typeface="Calibri"/>
                        </a:rPr>
                        <a:t>B0171 RescateTasa0 a anónimos (push, 8.9 M)</a:t>
                      </a:r>
                    </a:p>
                  </a:txBody>
                  <a:tcPr marL="45720" marR="45720" marT="18288" marB="18288">
                    <a:solidFill>
                      <a:srgbClr val="F6F7F9"/>
                    </a:solidFill>
                  </a:tcPr>
                </a:tc>
                <a:tc>
                  <a:txBody>
                    <a:bodyPr wrap="square"/>
                    <a:lstStyle/>
                    <a:p>
                      <a:r>
                        <a:rPr sz="800" b="1">
                          <a:solidFill>
                            <a:srgbClr val="B5342B"/>
                          </a:solidFill>
                          <a:latin typeface="Calibri"/>
                        </a:rPr>
                        <a:t>Apagar</a:t>
                      </a:r>
                    </a:p>
                  </a:txBody>
                  <a:tcPr marL="45720" marR="45720" marT="18288" marB="18288">
                    <a:solidFill>
                      <a:srgbClr val="F6F7F9"/>
                    </a:solidFill>
                  </a:tcPr>
                </a:tc>
                <a:tc>
                  <a:txBody>
                    <a:bodyPr wrap="square"/>
                    <a:lstStyle/>
                    <a:p>
                      <a:r>
                        <a:rPr sz="800" b="0">
                          <a:solidFill>
                            <a:srgbClr val="1A1D24"/>
                          </a:solidFill>
                          <a:latin typeface="Calibri"/>
                        </a:rPr>
                        <a:t>Anónimos van por in-app</a:t>
                      </a:r>
                    </a:p>
                  </a:txBody>
                  <a:tcPr marL="45720" marR="45720" marT="18288" marB="18288">
                    <a:solidFill>
                      <a:srgbClr val="F6F7F9"/>
                    </a:solidFill>
                  </a:tcPr>
                </a:tc>
              </a:tr>
              <a:tr h="182880">
                <a:tc>
                  <a:txBody>
                    <a:bodyPr wrap="square"/>
                    <a:lstStyle/>
                    <a:p>
                      <a:r>
                        <a:rPr sz="800" b="1">
                          <a:solidFill>
                            <a:srgbClr val="1A1D24"/>
                          </a:solidFill>
                          <a:latin typeface="Calibri"/>
                        </a:rPr>
                        <a:t>B0326 ReferralProgram (email, 15.5 M en dos)</a:t>
                      </a:r>
                    </a:p>
                  </a:txBody>
                  <a:tcPr marL="45720" marR="45720" marT="18288" marB="18288">
                    <a:solidFill>
                      <a:srgbClr val="FFFFFF"/>
                    </a:solidFill>
                  </a:tcPr>
                </a:tc>
                <a:tc>
                  <a:txBody>
                    <a:bodyPr wrap="square"/>
                    <a:lstStyle/>
                    <a:p>
                      <a:r>
                        <a:rPr sz="800" b="1">
                          <a:solidFill>
                            <a:srgbClr val="B5342B"/>
                          </a:solidFill>
                          <a:latin typeface="Calibri"/>
                        </a:rPr>
                        <a:t>Apagar y confirmar</a:t>
                      </a:r>
                    </a:p>
                  </a:txBody>
                  <a:tcPr marL="45720" marR="45720" marT="18288" marB="18288">
                    <a:solidFill>
                      <a:srgbClr val="FFFFFF"/>
                    </a:solidFill>
                  </a:tcPr>
                </a:tc>
                <a:tc>
                  <a:txBody>
                    <a:bodyPr wrap="square"/>
                    <a:lstStyle/>
                    <a:p>
                      <a:r>
                        <a:rPr sz="800" b="0">
                          <a:solidFill>
                            <a:srgbClr val="1A1D24"/>
                          </a:solidFill>
                          <a:latin typeface="Calibri"/>
                        </a:rPr>
                        <a:t>Referidos a in-app y push a clientes activos</a:t>
                      </a:r>
                    </a:p>
                  </a:txBody>
                  <a:tcPr marL="45720" marR="45720" marT="18288" marB="18288">
                    <a:solidFill>
                      <a:srgbClr val="FFFFFF"/>
                    </a:solidFill>
                  </a:tcPr>
                </a:tc>
              </a:tr>
              <a:tr h="182880">
                <a:tc>
                  <a:txBody>
                    <a:bodyPr wrap="square"/>
                    <a:lstStyle/>
                    <a:p>
                      <a:r>
                        <a:rPr sz="800" b="1">
                          <a:solidFill>
                            <a:srgbClr val="1A1D24"/>
                          </a:solidFill>
                          <a:latin typeface="Calibri"/>
                        </a:rPr>
                        <a:t>S0004 WeeklyRecommendations (email, 7.0 M)</a:t>
                      </a:r>
                    </a:p>
                  </a:txBody>
                  <a:tcPr marL="45720" marR="45720" marT="18288" marB="18288">
                    <a:solidFill>
                      <a:srgbClr val="F6F7F9"/>
                    </a:solidFill>
                  </a:tcPr>
                </a:tc>
                <a:tc>
                  <a:txBody>
                    <a:bodyPr wrap="square"/>
                    <a:lstStyle/>
                    <a:p>
                      <a:r>
                        <a:rPr sz="800" b="1">
                          <a:solidFill>
                            <a:srgbClr val="B8860B"/>
                          </a:solidFill>
                          <a:latin typeface="Calibri"/>
                        </a:rPr>
                        <a:t>Rehacer</a:t>
                      </a:r>
                    </a:p>
                  </a:txBody>
                  <a:tcPr marL="45720" marR="45720" marT="18288" marB="18288">
                    <a:solidFill>
                      <a:srgbClr val="F6F7F9"/>
                    </a:solidFill>
                  </a:tcPr>
                </a:tc>
                <a:tc>
                  <a:txBody>
                    <a:bodyPr wrap="square"/>
                    <a:lstStyle/>
                    <a:p>
                      <a:r>
                        <a:rPr sz="800" b="0">
                          <a:solidFill>
                            <a:srgbClr val="1A1D24"/>
                          </a:solidFill>
                          <a:latin typeface="Calibri"/>
                        </a:rPr>
                        <a:t>Solo recurrentes KPay; quitar 57 mil REUS</a:t>
                      </a:r>
                    </a:p>
                  </a:txBody>
                  <a:tcPr marL="45720" marR="45720" marT="18288" marB="18288">
                    <a:solidFill>
                      <a:srgbClr val="F6F7F9"/>
                    </a:solidFill>
                  </a:tcPr>
                </a:tc>
              </a:tr>
              <a:tr h="182880">
                <a:tc>
                  <a:txBody>
                    <a:bodyPr wrap="square"/>
                    <a:lstStyle/>
                    <a:p>
                      <a:r>
                        <a:rPr sz="800" b="1">
                          <a:solidFill>
                            <a:srgbClr val="1A1D24"/>
                          </a:solidFill>
                          <a:latin typeface="Calibri"/>
                        </a:rPr>
                        <a:t>B0335 PromocionesMerchants (email, 6.4 M)</a:t>
                      </a:r>
                    </a:p>
                  </a:txBody>
                  <a:tcPr marL="45720" marR="45720" marT="18288" marB="18288">
                    <a:solidFill>
                      <a:srgbClr val="FFFFFF"/>
                    </a:solidFill>
                  </a:tcPr>
                </a:tc>
                <a:tc>
                  <a:txBody>
                    <a:bodyPr wrap="square"/>
                    <a:lstStyle/>
                    <a:p>
                      <a:r>
                        <a:rPr sz="800" b="1">
                          <a:solidFill>
                            <a:srgbClr val="B8860B"/>
                          </a:solidFill>
                          <a:latin typeface="Calibri"/>
                        </a:rPr>
                        <a:t>Rehacer</a:t>
                      </a:r>
                    </a:p>
                  </a:txBody>
                  <a:tcPr marL="45720" marR="45720" marT="18288" marB="18288">
                    <a:solidFill>
                      <a:srgbClr val="FFFFFF"/>
                    </a:solidFill>
                  </a:tcPr>
                </a:tc>
                <a:tc>
                  <a:txBody>
                    <a:bodyPr wrap="square"/>
                    <a:lstStyle/>
                    <a:p>
                      <a:r>
                        <a:rPr sz="800" b="0">
                          <a:solidFill>
                            <a:srgbClr val="1A1D24"/>
                          </a:solidFill>
                          <a:latin typeface="Calibri"/>
                        </a:rPr>
                        <a:t>Push y WhatsApp a recurrentes; email no</a:t>
                      </a:r>
                    </a:p>
                  </a:txBody>
                  <a:tcPr marL="45720" marR="45720" marT="18288" marB="18288">
                    <a:solidFill>
                      <a:srgbClr val="FFFFFF"/>
                    </a:solidFill>
                  </a:tcPr>
                </a:tc>
              </a:tr>
              <a:tr h="182880">
                <a:tc>
                  <a:txBody>
                    <a:bodyPr wrap="square"/>
                    <a:lstStyle/>
                    <a:p>
                      <a:r>
                        <a:rPr sz="800" b="1">
                          <a:solidFill>
                            <a:srgbClr val="1A1D24"/>
                          </a:solidFill>
                          <a:latin typeface="Calibri"/>
                        </a:rPr>
                        <a:t>Canvas ConSinOferta B0331 a B0333 (19 Canvas, 734 mil usuarios)</a:t>
                      </a:r>
                    </a:p>
                  </a:txBody>
                  <a:tcPr marL="45720" marR="45720" marT="18288" marB="18288">
                    <a:solidFill>
                      <a:srgbClr val="F6F7F9"/>
                    </a:solidFill>
                  </a:tcPr>
                </a:tc>
                <a:tc>
                  <a:txBody>
                    <a:bodyPr wrap="square"/>
                    <a:lstStyle/>
                    <a:p>
                      <a:r>
                        <a:rPr sz="800" b="1">
                          <a:solidFill>
                            <a:srgbClr val="B8860B"/>
                          </a:solidFill>
                          <a:latin typeface="Calibri"/>
                        </a:rPr>
                        <a:t>Rehacer</a:t>
                      </a:r>
                    </a:p>
                  </a:txBody>
                  <a:tcPr marL="45720" marR="45720" marT="18288" marB="18288">
                    <a:solidFill>
                      <a:srgbClr val="F6F7F9"/>
                    </a:solidFill>
                  </a:tcPr>
                </a:tc>
                <a:tc>
                  <a:txBody>
                    <a:bodyPr wrap="square"/>
                    <a:lstStyle/>
                    <a:p>
                      <a:r>
                        <a:rPr sz="800" b="0">
                          <a:solidFill>
                            <a:srgbClr val="1A1D24"/>
                          </a:solidFill>
                          <a:latin typeface="Calibri"/>
                        </a:rPr>
                        <a:t>8 pasos, control 10 %, partidos por audiencia</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125 M envíos en 10 piezas (19 % del total); 6 de 10 se apagan o se confirma su apagado; 14 M mensajes menos al mes.</a:t>
            </a:r>
          </a:p>
          <a:p>
            <a:pPr>
              <a:spcAft>
                <a:spcPts val="350"/>
              </a:spcAft>
            </a:pPr>
            <a:r>
              <a:rPr sz="950" b="1">
                <a:solidFill>
                  <a:srgbClr val="1F4FD8"/>
                </a:solidFill>
                <a:latin typeface="Calibri"/>
              </a:rPr>
              <a:t>2.  </a:t>
            </a:r>
            <a:r>
              <a:rPr sz="950" b="0">
                <a:solidFill>
                  <a:srgbClr val="5B6270"/>
                </a:solidFill>
                <a:latin typeface="Calibri"/>
              </a:rPr>
              <a:t>Son masivos sin segmento (Tasa0 a registrados, NeverActive, BillPay, Referral, Newsletter), repetidos y a quien no responde.</a:t>
            </a:r>
          </a:p>
          <a:p>
            <a:pPr>
              <a:spcAft>
                <a:spcPts val="350"/>
              </a:spcAft>
            </a:pPr>
            <a:r>
              <a:rPr sz="950" b="1">
                <a:solidFill>
                  <a:srgbClr val="1F4FD8"/>
                </a:solidFill>
                <a:latin typeface="Calibri"/>
              </a:rPr>
              <a:t>3.  </a:t>
            </a:r>
            <a:r>
              <a:rPr sz="950" b="0">
                <a:solidFill>
                  <a:srgbClr val="5B6270"/>
                </a:solidFill>
                <a:latin typeface="Calibri"/>
              </a:rPr>
              <a:t>Cada acción sale de una regla con datos de las láminas anteriores: respuesta contra mínimo, bajas por mil, señal.</a:t>
            </a:r>
          </a:p>
          <a:p>
            <a:pPr>
              <a:spcAft>
                <a:spcPts val="350"/>
              </a:spcAft>
            </a:pPr>
            <a:r>
              <a:rPr sz="950" b="1">
                <a:solidFill>
                  <a:srgbClr val="1F4FD8"/>
                </a:solidFill>
                <a:latin typeface="Calibri"/>
              </a:rPr>
              <a:t>4.  </a:t>
            </a:r>
            <a:r>
              <a:rPr sz="950" b="0">
                <a:solidFill>
                  <a:srgbClr val="5B6270"/>
                </a:solidFill>
                <a:latin typeface="Calibri"/>
              </a:rPr>
              <a:t>No requieren configuración de cuenta: son decisiones del dueño de la pieza.</a:t>
            </a:r>
          </a:p>
          <a:p>
            <a:pPr>
              <a:spcAft>
                <a:spcPts val="350"/>
              </a:spcAft>
            </a:pPr>
            <a:r>
              <a:rPr sz="950" b="1">
                <a:solidFill>
                  <a:srgbClr val="B5342B"/>
                </a:solidFill>
                <a:latin typeface="Calibri"/>
              </a:rPr>
              <a:t>5.  </a:t>
            </a:r>
            <a:r>
              <a:rPr sz="700" b="1">
                <a:solidFill>
                  <a:srgbClr val="B5342B"/>
                </a:solidFill>
                <a:latin typeface="Calibri"/>
              </a:rPr>
              <a:t>CAUSA RAÍZ · AUDIENCIA SIN SEGMENTO  </a:t>
            </a:r>
            <a:r>
              <a:rPr sz="950" b="1">
                <a:solidFill>
                  <a:srgbClr val="1A1D24"/>
                </a:solidFill>
                <a:latin typeface="Calibri"/>
              </a:rPr>
              <a:t>Siguen vivas porque nadie tenía la autoridad ni el dato para apagarlas.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Las 10 aportan menos de 10 % de los clics: apagarlas no mueve la respuesta total.</a:t>
            </a:r>
          </a:p>
          <a:p>
            <a:r>
              <a:rPr sz="700" b="1">
                <a:solidFill>
                  <a:srgbClr val="1F4FD8"/>
                </a:solidFill>
                <a:latin typeface="Calibri"/>
              </a:rPr>
              <a:t>O  </a:t>
            </a:r>
            <a:r>
              <a:rPr sz="750">
                <a:solidFill>
                  <a:srgbClr val="5B6270"/>
                </a:solidFill>
                <a:latin typeface="Calibri"/>
              </a:rPr>
              <a:t>Son 10 decisiones de 10 dueños, no un proyecto.</a:t>
            </a:r>
          </a:p>
          <a:p>
            <a:r>
              <a:rPr sz="700" b="1">
                <a:solidFill>
                  <a:srgbClr val="1F4FD8"/>
                </a:solidFill>
                <a:latin typeface="Calibri"/>
              </a:rPr>
              <a:t>G  </a:t>
            </a:r>
            <a:r>
              <a:rPr sz="750">
                <a:solidFill>
                  <a:srgbClr val="5B6270"/>
                </a:solidFill>
                <a:latin typeface="Calibri"/>
              </a:rPr>
              <a:t>Dirección respalda al dueño que apaga la pieza de otro equipo.</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reunión de 60 min con los 10 dueños; cada uno confirma acción y fecha. Semana 2: ejecutado y verificado en el tablero semanal. Dueño del seguimiento: CRM. Métrica: envíos de las 10 piezas, hoy 14 M al mes, meta menos de 5 M.</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125 M envíos corregidos en dos semanas: cerca de 14 M mensajes menos al mes y 0.9 M MXN al mes del ahorro total.</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Cada pieza tiene dueño y acción: se ejecuta en las semanas 1 y 2 del plan sin esperar la configuración de Braze.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Las 12 reglas del playbook atacan 15 de los 19 indicadores en rojo y las 6 configurables viven en Braze (exclusiones, frequency cap, control): el orden no depende de que cada equipo se acuerde</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Playbook de Braze para Kueski, versión 4</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52</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12</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reglas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15 de 19</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indicadores en rojo que atacan</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10 %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grupo de control en toda pieza</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2560320"/>
            <a:ext cx="3200400" cy="2148840"/>
          </a:xfrm>
          <a:prstGeom prst="rect">
            <a:avLst/>
          </a:prstGeom>
          <a:noFill/>
        </p:spPr>
        <p:txBody>
          <a:bodyPr wrap="square">
            <a:spAutoFit/>
          </a:bodyPr>
          <a:lstStyle/>
          <a:p>
            <a:pPr>
              <a:spcAft>
                <a:spcPts val="400"/>
              </a:spcAft>
            </a:pPr>
            <a:r>
              <a:rPr b="1" sz="850">
                <a:solidFill>
                  <a:srgbClr val="1F4FD8"/>
                </a:solidFill>
                <a:latin typeface="Calibri"/>
              </a:rPr>
              <a:t>1.  </a:t>
            </a:r>
            <a:r>
              <a:rPr sz="850">
                <a:solidFill>
                  <a:srgbClr val="1A1D24"/>
                </a:solidFill>
                <a:latin typeface="Calibri"/>
              </a:rPr>
              <a:t>Una pieza se llama Ticket-Producto-Audiencia-Gancho. Sin ticket no se activa.</a:t>
            </a:r>
          </a:p>
          <a:p>
            <a:pPr>
              <a:spcAft>
                <a:spcPts val="400"/>
              </a:spcAft>
            </a:pPr>
            <a:r>
              <a:rPr b="1" sz="850">
                <a:solidFill>
                  <a:srgbClr val="1F4FD8"/>
                </a:solidFill>
                <a:latin typeface="Calibri"/>
              </a:rPr>
              <a:t>2.  </a:t>
            </a:r>
            <a:r>
              <a:rPr sz="850">
                <a:solidFill>
                  <a:srgbClr val="1A1D24"/>
                </a:solidFill>
                <a:latin typeface="Calibri"/>
              </a:rPr>
              <a:t>No se le escribe a lista negra, REUS o ARCO, tarjeta congelada, dados de baja, WhatsApp fallido 3 veces ni a quien no respondió en 90 días.</a:t>
            </a:r>
          </a:p>
          <a:p>
            <a:pPr>
              <a:spcAft>
                <a:spcPts val="400"/>
              </a:spcAft>
            </a:pPr>
            <a:r>
              <a:rPr b="1" sz="850">
                <a:solidFill>
                  <a:srgbClr val="1F4FD8"/>
                </a:solidFill>
                <a:latin typeface="Calibri"/>
              </a:rPr>
              <a:t>3.  </a:t>
            </a:r>
            <a:r>
              <a:rPr sz="850">
                <a:solidFill>
                  <a:srgbClr val="1A1D24"/>
                </a:solidFill>
                <a:latin typeface="Calibri"/>
              </a:rPr>
              <a:t>Máximo 2 toques de la misma pieza al mes. El segundo solo a quien no abrió el primero.</a:t>
            </a:r>
          </a:p>
          <a:p>
            <a:pPr>
              <a:spcAft>
                <a:spcPts val="400"/>
              </a:spcAft>
            </a:pPr>
            <a:r>
              <a:rPr b="1" sz="850">
                <a:solidFill>
                  <a:srgbClr val="1F4FD8"/>
                </a:solidFill>
                <a:latin typeface="Calibri"/>
              </a:rPr>
              <a:t>4.  </a:t>
            </a:r>
            <a:r>
              <a:rPr sz="850">
                <a:solidFill>
                  <a:srgbClr val="1A1D24"/>
                </a:solidFill>
                <a:latin typeface="Calibri"/>
              </a:rPr>
              <a:t>Máximo 5 promocionales por semana, 2 piezas al día y 1 push al día.</a:t>
            </a:r>
          </a:p>
          <a:p>
            <a:pPr>
              <a:spcAft>
                <a:spcPts val="400"/>
              </a:spcAft>
            </a:pPr>
            <a:r>
              <a:rPr b="1" sz="850">
                <a:solidFill>
                  <a:srgbClr val="1F4FD8"/>
                </a:solidFill>
                <a:latin typeface="Calibri"/>
              </a:rPr>
              <a:t>5.  </a:t>
            </a:r>
            <a:r>
              <a:rPr sz="850">
                <a:solidFill>
                  <a:srgbClr val="1A1D24"/>
                </a:solidFill>
                <a:latin typeface="Calibri"/>
              </a:rPr>
              <a:t>Se manda por el canal al que el usuario responde.</a:t>
            </a:r>
          </a:p>
          <a:p>
            <a:pPr>
              <a:spcAft>
                <a:spcPts val="400"/>
              </a:spcAft>
            </a:pPr>
            <a:r>
              <a:rPr b="1" sz="850">
                <a:solidFill>
                  <a:srgbClr val="1F4FD8"/>
                </a:solidFill>
                <a:latin typeface="Calibri"/>
              </a:rPr>
              <a:t>6.  </a:t>
            </a:r>
            <a:r>
              <a:rPr sz="850">
                <a:solidFill>
                  <a:srgbClr val="1A1D24"/>
                </a:solidFill>
                <a:latin typeface="Calibri"/>
              </a:rPr>
              <a:t>WhatsApp solo a quien ya dio señal o a clientes activos. Nunca a bases frías.</a:t>
            </a:r>
          </a:p>
        </p:txBody>
      </p:sp>
      <p:sp>
        <p:nvSpPr>
          <p:cNvPr id="16" name="TextBox 15"/>
          <p:cNvSpPr txBox="1"/>
          <p:nvPr/>
        </p:nvSpPr>
        <p:spPr>
          <a:xfrm>
            <a:off x="4023359" y="2560320"/>
            <a:ext cx="3200400" cy="2148840"/>
          </a:xfrm>
          <a:prstGeom prst="rect">
            <a:avLst/>
          </a:prstGeom>
          <a:noFill/>
        </p:spPr>
        <p:txBody>
          <a:bodyPr wrap="square">
            <a:spAutoFit/>
          </a:bodyPr>
          <a:lstStyle/>
          <a:p>
            <a:pPr>
              <a:spcAft>
                <a:spcPts val="400"/>
              </a:spcAft>
            </a:pPr>
            <a:r>
              <a:rPr b="1" sz="850">
                <a:solidFill>
                  <a:srgbClr val="1F4FD8"/>
                </a:solidFill>
                <a:latin typeface="Calibri"/>
              </a:rPr>
              <a:t>7.  </a:t>
            </a:r>
            <a:r>
              <a:rPr sz="850">
                <a:solidFill>
                  <a:srgbClr val="1A1D24"/>
                </a:solidFill>
                <a:latin typeface="Calibri"/>
              </a:rPr>
              <a:t>Nada a toda la base. Más de 1 millón: prueba al 10 % y un segmento.</a:t>
            </a:r>
          </a:p>
          <a:p>
            <a:pPr>
              <a:spcAft>
                <a:spcPts val="400"/>
              </a:spcAft>
            </a:pPr>
            <a:r>
              <a:rPr b="1" sz="850">
                <a:solidFill>
                  <a:srgbClr val="1F4FD8"/>
                </a:solidFill>
                <a:latin typeface="Calibri"/>
              </a:rPr>
              <a:t>8.  </a:t>
            </a:r>
            <a:r>
              <a:rPr sz="850">
                <a:solidFill>
                  <a:srgbClr val="1A1D24"/>
                </a:solidFill>
                <a:latin typeface="Calibri"/>
              </a:rPr>
              <a:t>El gancho principal es recordar algo que el usuario empezó.</a:t>
            </a:r>
          </a:p>
          <a:p>
            <a:pPr>
              <a:spcAft>
                <a:spcPts val="400"/>
              </a:spcAft>
            </a:pPr>
            <a:r>
              <a:rPr b="1" sz="850">
                <a:solidFill>
                  <a:srgbClr val="1F4FD8"/>
                </a:solidFill>
                <a:latin typeface="Calibri"/>
              </a:rPr>
              <a:t>9.  </a:t>
            </a:r>
            <a:r>
              <a:rPr sz="850">
                <a:solidFill>
                  <a:srgbClr val="1A1D24"/>
                </a:solidFill>
                <a:latin typeface="Calibri"/>
              </a:rPr>
              <a:t>Referidos, lanzamientos y novedades van en in-app, no por email.</a:t>
            </a:r>
          </a:p>
          <a:p>
            <a:pPr>
              <a:spcAft>
                <a:spcPts val="400"/>
              </a:spcAft>
            </a:pPr>
            <a:r>
              <a:rPr b="1" sz="850">
                <a:solidFill>
                  <a:srgbClr val="1F4FD8"/>
                </a:solidFill>
                <a:latin typeface="Calibri"/>
              </a:rPr>
              <a:t>10.  </a:t>
            </a:r>
            <a:r>
              <a:rPr sz="850">
                <a:solidFill>
                  <a:srgbClr val="1A1D24"/>
                </a:solidFill>
                <a:latin typeface="Calibri"/>
              </a:rPr>
              <a:t>A las 4 semanas se revisa. Debajo del mínimo del canal se apaga o se rehace.</a:t>
            </a:r>
          </a:p>
          <a:p>
            <a:pPr>
              <a:spcAft>
                <a:spcPts val="400"/>
              </a:spcAft>
            </a:pPr>
            <a:r>
              <a:rPr b="1" sz="850">
                <a:solidFill>
                  <a:srgbClr val="1F4FD8"/>
                </a:solidFill>
                <a:latin typeface="Calibri"/>
              </a:rPr>
              <a:t>11.  </a:t>
            </a:r>
            <a:r>
              <a:rPr sz="850">
                <a:solidFill>
                  <a:srgbClr val="1A1D24"/>
                </a:solidFill>
                <a:latin typeface="Calibri"/>
              </a:rPr>
              <a:t>Toda pieza lleva grupo de control del 10 % con la opción nativa de Braze.</a:t>
            </a:r>
          </a:p>
          <a:p>
            <a:pPr>
              <a:spcAft>
                <a:spcPts val="400"/>
              </a:spcAft>
            </a:pPr>
            <a:r>
              <a:rPr b="1" sz="850">
                <a:solidFill>
                  <a:srgbClr val="1F4FD8"/>
                </a:solidFill>
                <a:latin typeface="Calibri"/>
              </a:rPr>
              <a:t>12.  </a:t>
            </a:r>
            <a:r>
              <a:rPr sz="850">
                <a:solidFill>
                  <a:srgbClr val="1A1D24"/>
                </a:solidFill>
                <a:latin typeface="Calibri"/>
              </a:rPr>
              <a:t>Un Canvas tiene máximo 8 pasos y el usuario entra una sola vez.</a:t>
            </a:r>
          </a:p>
        </p:txBody>
      </p:sp>
      <p:sp>
        <p:nvSpPr>
          <p:cNvPr id="17" name="TextBox 16"/>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12 reglas; 15 de 19 indicadores en rojo cubiertos; 10 % de control en toda pieza.</a:t>
            </a:r>
          </a:p>
          <a:p>
            <a:pPr>
              <a:spcAft>
                <a:spcPts val="350"/>
              </a:spcAft>
            </a:pPr>
            <a:r>
              <a:rPr sz="900" b="1">
                <a:solidFill>
                  <a:srgbClr val="1F4FD8"/>
                </a:solidFill>
                <a:latin typeface="Calibri"/>
              </a:rPr>
              <a:t>2.  </a:t>
            </a:r>
            <a:r>
              <a:rPr sz="900" b="0">
                <a:solidFill>
                  <a:srgbClr val="5B6270"/>
                </a:solidFill>
                <a:latin typeface="Calibri"/>
              </a:rPr>
              <a:t>Cada regla sale de una lámina: señal antes que volumen, canal preferido, 2 toques, 8 pasos, un promocional al día, 5 por semana, exclusiones, calendario.</a:t>
            </a:r>
          </a:p>
          <a:p>
            <a:pPr>
              <a:spcAft>
                <a:spcPts val="350"/>
              </a:spcAft>
            </a:pPr>
            <a:r>
              <a:rPr sz="900" b="1">
                <a:solidFill>
                  <a:srgbClr val="1F4FD8"/>
                </a:solidFill>
                <a:latin typeface="Calibri"/>
              </a:rPr>
              <a:t>3.  </a:t>
            </a:r>
            <a:r>
              <a:rPr sz="900" b="0">
                <a:solidFill>
                  <a:srgbClr val="5B6270"/>
                </a:solidFill>
                <a:latin typeface="Calibri"/>
              </a:rPr>
              <a:t>Las reglas se cargan como configuración de cuenta (frequency cap, exclusiones globales, control) y como checklist de activación.</a:t>
            </a:r>
          </a:p>
          <a:p>
            <a:pPr>
              <a:spcAft>
                <a:spcPts val="350"/>
              </a:spcAft>
            </a:pPr>
            <a:r>
              <a:rPr sz="900" b="1">
                <a:solidFill>
                  <a:srgbClr val="1F4FD8"/>
                </a:solidFill>
                <a:latin typeface="Calibri"/>
              </a:rPr>
              <a:t>4.  </a:t>
            </a:r>
            <a:r>
              <a:rPr sz="900" b="0">
                <a:solidFill>
                  <a:srgbClr val="5B6270"/>
                </a:solidFill>
                <a:latin typeface="Calibri"/>
              </a:rPr>
              <a:t>Son sugerencias con datos: cada equipo las ajusta con sus pruebas, pero no las ignora.</a:t>
            </a:r>
          </a:p>
          <a:p>
            <a:pPr>
              <a:spcAft>
                <a:spcPts val="350"/>
              </a:spcAft>
            </a:pPr>
            <a:r>
              <a:rPr sz="900" b="1">
                <a:solidFill>
                  <a:srgbClr val="B5342B"/>
                </a:solidFill>
                <a:latin typeface="Calibri"/>
              </a:rPr>
              <a:t>5.  </a:t>
            </a:r>
            <a:r>
              <a:rPr sz="700" b="1">
                <a:solidFill>
                  <a:srgbClr val="B5342B"/>
                </a:solidFill>
                <a:latin typeface="Calibri"/>
              </a:rPr>
              <a:t>CAUSA RAÍZ · OPERACIÓN  </a:t>
            </a:r>
            <a:r>
              <a:rPr sz="900" b="1">
                <a:solidFill>
                  <a:srgbClr val="1A1D24"/>
                </a:solidFill>
                <a:latin typeface="Calibri"/>
              </a:rPr>
              <a:t>Hacen falta porque 5 equipos tienen 5 formas de nombrar, segmentar y mandar; sin reglas comunes el desorden vuelve.</a:t>
            </a:r>
          </a:p>
        </p:txBody>
      </p:sp>
      <p:cxnSp>
        <p:nvCxnSpPr>
          <p:cNvPr id="18" name="Connector 17"/>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Las reglas atacan causas, no síntomas: cada una tiene una lámina con el dato detrás.</a:t>
            </a:r>
          </a:p>
          <a:p>
            <a:r>
              <a:rPr sz="700" b="1">
                <a:solidFill>
                  <a:srgbClr val="1F4FD8"/>
                </a:solidFill>
                <a:latin typeface="Calibri"/>
              </a:rPr>
              <a:t>O  </a:t>
            </a:r>
            <a:r>
              <a:rPr sz="750">
                <a:solidFill>
                  <a:srgbClr val="5B6270"/>
                </a:solidFill>
                <a:latin typeface="Calibri"/>
              </a:rPr>
              <a:t>Lo que vive en Braze se cumple; lo que vive en un documento, no.</a:t>
            </a:r>
          </a:p>
          <a:p>
            <a:r>
              <a:rPr sz="700" b="1">
                <a:solidFill>
                  <a:srgbClr val="1F4FD8"/>
                </a:solidFill>
                <a:latin typeface="Calibri"/>
              </a:rPr>
              <a:t>G  </a:t>
            </a:r>
            <a:r>
              <a:rPr sz="750">
                <a:solidFill>
                  <a:srgbClr val="5B6270"/>
                </a:solidFill>
                <a:latin typeface="Calibri"/>
              </a:rPr>
              <a:t>Las reglas necesitan un dueño (MarTech) y un comité que las haga valer.</a:t>
            </a:r>
          </a:p>
        </p:txBody>
      </p:sp>
      <p:sp>
        <p:nvSpPr>
          <p:cNvPr id="20" name="TextBox 19"/>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MarTech carga en Braze las 6 reglas configurables (frequency cap, exclusiones, control, rate limit, quiet hours, tags obligatorios). Semana 3: CRM publica el checklist de activación (sección 7 del playbook); ninguna pieza nueva sale sin cumplirlo. Métrica: piezas nuevas que pasan el checklist, meta 100 %.</a:t>
            </a:r>
          </a:p>
        </p:txBody>
      </p:sp>
      <p:sp>
        <p:nvSpPr>
          <p:cNvPr id="21" name="TextBox 20"/>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Las 12 reglas cubren las causas de 15 de los 19 indicadores en rojo; cargadas en Braze no dependen de que cada equipo se acuerde.</a:t>
            </a:r>
          </a:p>
        </p:txBody>
      </p:sp>
      <p:sp>
        <p:nvSpPr>
          <p:cNvPr id="22" name="Rectangle 21"/>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Las 12 reglas son el estándar de activación: ninguna pieza nueva sale sin cumplirlas, y las 6 configurables viven en Braze, no en un documento.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Qué mandar por tipo: el canal, el día y las veces ya están decididos con datos; un recordatorio por email responde 3.09 % y es el gancho base</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Playbook de Braze para Kueski, sección 0</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53</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tipos de mensaje con canal, día y veces decididos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3.09 %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un recordatorio por email, el gancho base</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toques máximo; el segundo solo a quien no abrió</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7" cy="2011680"/>
        </p:xfrm>
        <a:graphic>
          <a:graphicData uri="http://schemas.openxmlformats.org/drawingml/2006/table">
            <a:tbl>
              <a:tblPr firstRow="1" bandRow="1">
                <a:tableStyleId>{5C22544A-7EE6-4342-B048-85BDC9FD1C3A}</a:tableStyleId>
              </a:tblPr>
              <a:tblGrid>
                <a:gridCol w="1415626"/>
                <a:gridCol w="2402275"/>
                <a:gridCol w="1587217"/>
                <a:gridCol w="1244035"/>
                <a:gridCol w="300284"/>
              </a:tblGrid>
              <a:tr h="223520">
                <a:tc>
                  <a:txBody>
                    <a:bodyPr wrap="square"/>
                    <a:lstStyle/>
                    <a:p>
                      <a:r>
                        <a:rPr sz="800" b="1">
                          <a:solidFill>
                            <a:srgbClr val="5B6270"/>
                          </a:solidFill>
                          <a:latin typeface="Calibri"/>
                        </a:rPr>
                        <a:t>Vas a mandar</a:t>
                      </a:r>
                    </a:p>
                  </a:txBody>
                  <a:tcPr marL="45720" marR="45720" marT="18288" marB="18288">
                    <a:solidFill>
                      <a:srgbClr val="FFFFFF"/>
                    </a:solidFill>
                  </a:tcPr>
                </a:tc>
                <a:tc>
                  <a:txBody>
                    <a:bodyPr wrap="square"/>
                    <a:lstStyle/>
                    <a:p>
                      <a:r>
                        <a:rPr sz="800" b="1">
                          <a:solidFill>
                            <a:srgbClr val="5B6270"/>
                          </a:solidFill>
                          <a:latin typeface="Calibri"/>
                        </a:rPr>
                        <a:t>Canal</a:t>
                      </a:r>
                    </a:p>
                  </a:txBody>
                  <a:tcPr marL="45720" marR="45720" marT="18288" marB="18288">
                    <a:solidFill>
                      <a:srgbClr val="FFFFFF"/>
                    </a:solidFill>
                  </a:tcPr>
                </a:tc>
                <a:tc>
                  <a:txBody>
                    <a:bodyPr wrap="square"/>
                    <a:lstStyle/>
                    <a:p>
                      <a:r>
                        <a:rPr sz="800" b="1">
                          <a:solidFill>
                            <a:srgbClr val="5B6270"/>
                          </a:solidFill>
                          <a:latin typeface="Calibri"/>
                        </a:rPr>
                        <a:t>Día</a:t>
                      </a:r>
                    </a:p>
                  </a:txBody>
                  <a:tcPr marL="45720" marR="45720" marT="18288" marB="18288">
                    <a:solidFill>
                      <a:srgbClr val="FFFFFF"/>
                    </a:solidFill>
                  </a:tcPr>
                </a:tc>
                <a:tc>
                  <a:txBody>
                    <a:bodyPr wrap="square"/>
                    <a:lstStyle/>
                    <a:p>
                      <a:r>
                        <a:rPr sz="800" b="1">
                          <a:solidFill>
                            <a:srgbClr val="5B6270"/>
                          </a:solidFill>
                          <a:latin typeface="Calibri"/>
                        </a:rPr>
                        <a:t>Veces</a:t>
                      </a:r>
                    </a:p>
                  </a:txBody>
                  <a:tcPr marL="45720" marR="45720" marT="18288" marB="18288">
                    <a:solidFill>
                      <a:srgbClr val="FFFFFF"/>
                    </a:solidFill>
                  </a:tcPr>
                </a:tc>
                <a:tc>
                  <a:txBody>
                    <a:bodyPr wrap="square"/>
                    <a:lstStyle/>
                    <a:p>
                      <a:r>
                        <a:rPr sz="800" b="1">
                          <a:solidFill>
                            <a:srgbClr val="5B6270"/>
                          </a:solidFill>
                          <a:latin typeface="Calibri"/>
                        </a:rPr>
                        <a:t>Control</a:t>
                      </a:r>
                    </a:p>
                  </a:txBody>
                  <a:tcPr marL="45720" marR="45720" marT="18288" marB="18288">
                    <a:solidFill>
                      <a:srgbClr val="FFFFFF"/>
                    </a:solidFill>
                  </a:tcPr>
                </a:tc>
              </a:tr>
              <a:tr h="223520">
                <a:tc>
                  <a:txBody>
                    <a:bodyPr wrap="square"/>
                    <a:lstStyle/>
                    <a:p>
                      <a:r>
                        <a:rPr sz="900" b="1">
                          <a:solidFill>
                            <a:srgbClr val="1A1D24"/>
                          </a:solidFill>
                          <a:latin typeface="Calibri"/>
                        </a:rPr>
                        <a:t>Retargeting de algo empezado</a:t>
                      </a:r>
                    </a:p>
                  </a:txBody>
                  <a:tcPr marL="45720" marR="45720" marT="18288" marB="18288">
                    <a:solidFill>
                      <a:srgbClr val="FFFFFF"/>
                    </a:solidFill>
                  </a:tcPr>
                </a:tc>
                <a:tc>
                  <a:txBody>
                    <a:bodyPr wrap="square"/>
                    <a:lstStyle/>
                    <a:p>
                      <a:r>
                        <a:rPr sz="900" b="0">
                          <a:solidFill>
                            <a:srgbClr val="1A1D24"/>
                          </a:solidFill>
                          <a:latin typeface="Calibri"/>
                        </a:rPr>
                        <a:t>Email y push</a:t>
                      </a:r>
                    </a:p>
                  </a:txBody>
                  <a:tcPr marL="45720" marR="45720" marT="18288" marB="18288">
                    <a:solidFill>
                      <a:srgbClr val="FFFFFF"/>
                    </a:solidFill>
                  </a:tcPr>
                </a:tc>
                <a:tc>
                  <a:txBody>
                    <a:bodyPr wrap="square"/>
                    <a:lstStyle/>
                    <a:p>
                      <a:r>
                        <a:rPr sz="900" b="0">
                          <a:solidFill>
                            <a:srgbClr val="1A1D24"/>
                          </a:solidFill>
                          <a:latin typeface="Calibri"/>
                        </a:rPr>
                        <a:t>Martes a jueves</a:t>
                      </a:r>
                    </a:p>
                  </a:txBody>
                  <a:tcPr marL="45720" marR="45720" marT="18288" marB="18288">
                    <a:solidFill>
                      <a:srgbClr val="FFFFFF"/>
                    </a:solidFill>
                  </a:tcPr>
                </a:tc>
                <a:tc>
                  <a:txBody>
                    <a:bodyPr wrap="square"/>
                    <a:lstStyle/>
                    <a:p>
                      <a:r>
                        <a:rPr sz="900" b="0">
                          <a:solidFill>
                            <a:srgbClr val="1A1D24"/>
                          </a:solidFill>
                          <a:latin typeface="Calibri"/>
                        </a:rPr>
                        <a:t>2 en 7 días</a:t>
                      </a:r>
                    </a:p>
                  </a:txBody>
                  <a:tcPr marL="45720" marR="45720" marT="18288" marB="18288">
                    <a:solidFill>
                      <a:srgbClr val="FFFFFF"/>
                    </a:solidFill>
                  </a:tcPr>
                </a:tc>
                <a:tc>
                  <a:txBody>
                    <a:bodyPr wrap="square"/>
                    <a:lstStyle/>
                    <a:p>
                      <a:r>
                        <a:rPr sz="900" b="0">
                          <a:solidFill>
                            <a:srgbClr val="1A1D24"/>
                          </a:solidFill>
                          <a:latin typeface="Calibri"/>
                        </a:rPr>
                        <a:t>10 %</a:t>
                      </a:r>
                    </a:p>
                  </a:txBody>
                  <a:tcPr marL="45720" marR="45720" marT="18288" marB="18288">
                    <a:solidFill>
                      <a:srgbClr val="FFFFFF"/>
                    </a:solidFill>
                  </a:tcPr>
                </a:tc>
              </a:tr>
              <a:tr h="223520">
                <a:tc>
                  <a:txBody>
                    <a:bodyPr wrap="square"/>
                    <a:lstStyle/>
                    <a:p>
                      <a:r>
                        <a:rPr sz="900" b="1">
                          <a:solidFill>
                            <a:srgbClr val="1A1D24"/>
                          </a:solidFill>
                          <a:latin typeface="Calibri"/>
                        </a:rPr>
                        <a:t>Bienvenida</a:t>
                      </a:r>
                    </a:p>
                  </a:txBody>
                  <a:tcPr marL="45720" marR="45720" marT="18288" marB="18288">
                    <a:solidFill>
                      <a:srgbClr val="F6F7F9"/>
                    </a:solidFill>
                  </a:tcPr>
                </a:tc>
                <a:tc>
                  <a:txBody>
                    <a:bodyPr wrap="square"/>
                    <a:lstStyle/>
                    <a:p>
                      <a:r>
                        <a:rPr sz="900" b="0">
                          <a:solidFill>
                            <a:srgbClr val="1A1D24"/>
                          </a:solidFill>
                          <a:latin typeface="Calibri"/>
                        </a:rPr>
                        <a:t>Email día 1, luego push e in-app</a:t>
                      </a:r>
                    </a:p>
                  </a:txBody>
                  <a:tcPr marL="45720" marR="45720" marT="18288" marB="18288">
                    <a:solidFill>
                      <a:srgbClr val="F6F7F9"/>
                    </a:solidFill>
                  </a:tcPr>
                </a:tc>
                <a:tc>
                  <a:txBody>
                    <a:bodyPr wrap="square"/>
                    <a:lstStyle/>
                    <a:p>
                      <a:r>
                        <a:rPr sz="900" b="0">
                          <a:solidFill>
                            <a:srgbClr val="1A1D24"/>
                          </a:solidFill>
                          <a:latin typeface="Calibri"/>
                        </a:rPr>
                        <a:t>El día que entra</a:t>
                      </a:r>
                    </a:p>
                  </a:txBody>
                  <a:tcPr marL="45720" marR="45720" marT="18288" marB="18288">
                    <a:solidFill>
                      <a:srgbClr val="F6F7F9"/>
                    </a:solidFill>
                  </a:tcPr>
                </a:tc>
                <a:tc>
                  <a:txBody>
                    <a:bodyPr wrap="square"/>
                    <a:lstStyle/>
                    <a:p>
                      <a:r>
                        <a:rPr sz="900" b="0">
                          <a:solidFill>
                            <a:srgbClr val="1A1D24"/>
                          </a:solidFill>
                          <a:latin typeface="Calibri"/>
                        </a:rPr>
                        <a:t>1 al día, 3 la primera semana</a:t>
                      </a:r>
                    </a:p>
                  </a:txBody>
                  <a:tcPr marL="45720" marR="45720" marT="18288" marB="18288">
                    <a:solidFill>
                      <a:srgbClr val="F6F7F9"/>
                    </a:solidFill>
                  </a:tcPr>
                </a:tc>
                <a:tc>
                  <a:txBody>
                    <a:bodyPr wrap="square"/>
                    <a:lstStyle/>
                    <a:p>
                      <a:r>
                        <a:rPr sz="900" b="0">
                          <a:solidFill>
                            <a:srgbClr val="1A1D24"/>
                          </a:solidFill>
                          <a:latin typeface="Calibri"/>
                        </a:rPr>
                        <a:t>10 %</a:t>
                      </a:r>
                    </a:p>
                  </a:txBody>
                  <a:tcPr marL="45720" marR="45720" marT="18288" marB="18288">
                    <a:solidFill>
                      <a:srgbClr val="F6F7F9"/>
                    </a:solidFill>
                  </a:tcPr>
                </a:tc>
              </a:tr>
              <a:tr h="223520">
                <a:tc>
                  <a:txBody>
                    <a:bodyPr wrap="square"/>
                    <a:lstStyle/>
                    <a:p>
                      <a:r>
                        <a:rPr sz="900" b="1">
                          <a:solidFill>
                            <a:srgbClr val="1A1D24"/>
                          </a:solidFill>
                          <a:latin typeface="Calibri"/>
                        </a:rPr>
                        <a:t>Oferta de crédito (Tasa 0)</a:t>
                      </a:r>
                    </a:p>
                  </a:txBody>
                  <a:tcPr marL="45720" marR="45720" marT="18288" marB="18288">
                    <a:solidFill>
                      <a:srgbClr val="FFFFFF"/>
                    </a:solidFill>
                  </a:tcPr>
                </a:tc>
                <a:tc>
                  <a:txBody>
                    <a:bodyPr wrap="square"/>
                    <a:lstStyle/>
                    <a:p>
                      <a:r>
                        <a:rPr sz="900" b="0">
                          <a:solidFill>
                            <a:srgbClr val="1A1D24"/>
                          </a:solidFill>
                          <a:latin typeface="Calibri"/>
                        </a:rPr>
                        <a:t>Push a quien abrió push en 60 días; WhatsApp solo detrás</a:t>
                      </a:r>
                    </a:p>
                  </a:txBody>
                  <a:tcPr marL="45720" marR="45720" marT="18288" marB="18288">
                    <a:solidFill>
                      <a:srgbClr val="FFFFFF"/>
                    </a:solidFill>
                  </a:tcPr>
                </a:tc>
                <a:tc>
                  <a:txBody>
                    <a:bodyPr wrap="square"/>
                    <a:lstStyle/>
                    <a:p>
                      <a:r>
                        <a:rPr sz="900" b="0">
                          <a:solidFill>
                            <a:srgbClr val="1A1D24"/>
                          </a:solidFill>
                          <a:latin typeface="Calibri"/>
                        </a:rPr>
                        <a:t>Martes a jueves</a:t>
                      </a:r>
                    </a:p>
                  </a:txBody>
                  <a:tcPr marL="45720" marR="45720" marT="18288" marB="18288">
                    <a:solidFill>
                      <a:srgbClr val="FFFFFF"/>
                    </a:solidFill>
                  </a:tcPr>
                </a:tc>
                <a:tc>
                  <a:txBody>
                    <a:bodyPr wrap="square"/>
                    <a:lstStyle/>
                    <a:p>
                      <a:r>
                        <a:rPr sz="900" b="0">
                          <a:solidFill>
                            <a:srgbClr val="1A1D24"/>
                          </a:solidFill>
                          <a:latin typeface="Calibri"/>
                        </a:rPr>
                        <a:t>2 al mes</a:t>
                      </a:r>
                    </a:p>
                  </a:txBody>
                  <a:tcPr marL="45720" marR="45720" marT="18288" marB="18288">
                    <a:solidFill>
                      <a:srgbClr val="FFFFFF"/>
                    </a:solidFill>
                  </a:tcPr>
                </a:tc>
                <a:tc>
                  <a:txBody>
                    <a:bodyPr wrap="square"/>
                    <a:lstStyle/>
                    <a:p>
                      <a:r>
                        <a:rPr sz="900" b="0">
                          <a:solidFill>
                            <a:srgbClr val="1A1D24"/>
                          </a:solidFill>
                          <a:latin typeface="Calibri"/>
                        </a:rPr>
                        <a:t>10 %</a:t>
                      </a:r>
                    </a:p>
                  </a:txBody>
                  <a:tcPr marL="45720" marR="45720" marT="18288" marB="18288">
                    <a:solidFill>
                      <a:srgbClr val="FFFFFF"/>
                    </a:solidFill>
                  </a:tcPr>
                </a:tc>
              </a:tr>
              <a:tr h="223520">
                <a:tc>
                  <a:txBody>
                    <a:bodyPr wrap="square"/>
                    <a:lstStyle/>
                    <a:p>
                      <a:r>
                        <a:rPr sz="900" b="1">
                          <a:solidFill>
                            <a:srgbClr val="1A1D24"/>
                          </a:solidFill>
                          <a:latin typeface="Calibri"/>
                        </a:rPr>
                        <a:t>Descuento o comercio KPay</a:t>
                      </a:r>
                    </a:p>
                  </a:txBody>
                  <a:tcPr marL="45720" marR="45720" marT="18288" marB="18288">
                    <a:solidFill>
                      <a:srgbClr val="F6F7F9"/>
                    </a:solidFill>
                  </a:tcPr>
                </a:tc>
                <a:tc>
                  <a:txBody>
                    <a:bodyPr wrap="square"/>
                    <a:lstStyle/>
                    <a:p>
                      <a:r>
                        <a:rPr sz="900" b="0">
                          <a:solidFill>
                            <a:srgbClr val="1A1D24"/>
                          </a:solidFill>
                          <a:latin typeface="Calibri"/>
                        </a:rPr>
                        <a:t>Push y WhatsApp a recurrentes</a:t>
                      </a:r>
                    </a:p>
                  </a:txBody>
                  <a:tcPr marL="45720" marR="45720" marT="18288" marB="18288">
                    <a:solidFill>
                      <a:srgbClr val="F6F7F9"/>
                    </a:solidFill>
                  </a:tcPr>
                </a:tc>
                <a:tc>
                  <a:txBody>
                    <a:bodyPr wrap="square"/>
                    <a:lstStyle/>
                    <a:p>
                      <a:r>
                        <a:rPr sz="900" b="0">
                          <a:solidFill>
                            <a:srgbClr val="1A1D24"/>
                          </a:solidFill>
                          <a:latin typeface="Calibri"/>
                        </a:rPr>
                        <a:t>Sábado WhatsApp; martes a jueves push</a:t>
                      </a:r>
                    </a:p>
                  </a:txBody>
                  <a:tcPr marL="45720" marR="45720" marT="18288" marB="18288">
                    <a:solidFill>
                      <a:srgbClr val="F6F7F9"/>
                    </a:solidFill>
                  </a:tcPr>
                </a:tc>
                <a:tc>
                  <a:txBody>
                    <a:bodyPr wrap="square"/>
                    <a:lstStyle/>
                    <a:p>
                      <a:r>
                        <a:rPr sz="900" b="0">
                          <a:solidFill>
                            <a:srgbClr val="1A1D24"/>
                          </a:solidFill>
                          <a:latin typeface="Calibri"/>
                        </a:rPr>
                        <a:t>2 por evento</a:t>
                      </a:r>
                    </a:p>
                  </a:txBody>
                  <a:tcPr marL="45720" marR="45720" marT="18288" marB="18288">
                    <a:solidFill>
                      <a:srgbClr val="F6F7F9"/>
                    </a:solidFill>
                  </a:tcPr>
                </a:tc>
                <a:tc>
                  <a:txBody>
                    <a:bodyPr wrap="square"/>
                    <a:lstStyle/>
                    <a:p>
                      <a:r>
                        <a:rPr sz="900" b="0">
                          <a:solidFill>
                            <a:srgbClr val="1A1D24"/>
                          </a:solidFill>
                          <a:latin typeface="Calibri"/>
                        </a:rPr>
                        <a:t>10 %</a:t>
                      </a:r>
                    </a:p>
                  </a:txBody>
                  <a:tcPr marL="45720" marR="45720" marT="18288" marB="18288">
                    <a:solidFill>
                      <a:srgbClr val="F6F7F9"/>
                    </a:solidFill>
                  </a:tcPr>
                </a:tc>
              </a:tr>
              <a:tr h="223520">
                <a:tc>
                  <a:txBody>
                    <a:bodyPr wrap="square"/>
                    <a:lstStyle/>
                    <a:p>
                      <a:r>
                        <a:rPr sz="900" b="1">
                          <a:solidFill>
                            <a:srgbClr val="1A1D24"/>
                          </a:solidFill>
                          <a:latin typeface="Calibri"/>
                        </a:rPr>
                        <a:t>Referidos, lanzamiento, novedades</a:t>
                      </a:r>
                    </a:p>
                  </a:txBody>
                  <a:tcPr marL="45720" marR="45720" marT="18288" marB="18288">
                    <a:solidFill>
                      <a:srgbClr val="FFFFFF"/>
                    </a:solidFill>
                  </a:tcPr>
                </a:tc>
                <a:tc>
                  <a:txBody>
                    <a:bodyPr wrap="square"/>
                    <a:lstStyle/>
                    <a:p>
                      <a:r>
                        <a:rPr sz="900" b="0">
                          <a:solidFill>
                            <a:srgbClr val="1A1D24"/>
                          </a:solidFill>
                          <a:latin typeface="Calibri"/>
                        </a:rPr>
                        <a:t>In-app</a:t>
                      </a:r>
                    </a:p>
                  </a:txBody>
                  <a:tcPr marL="45720" marR="45720" marT="18288" marB="18288">
                    <a:solidFill>
                      <a:srgbClr val="FFFFFF"/>
                    </a:solidFill>
                  </a:tcPr>
                </a:tc>
                <a:tc>
                  <a:txBody>
                    <a:bodyPr wrap="square"/>
                    <a:lstStyle/>
                    <a:p>
                      <a:r>
                        <a:rPr sz="900" b="0">
                          <a:solidFill>
                            <a:srgbClr val="1A1D24"/>
                          </a:solidFill>
                          <a:latin typeface="Calibri"/>
                        </a:rPr>
                        <a:t>Cualquiera</a:t>
                      </a:r>
                    </a:p>
                  </a:txBody>
                  <a:tcPr marL="45720" marR="45720" marT="18288" marB="18288">
                    <a:solidFill>
                      <a:srgbClr val="FFFFFF"/>
                    </a:solidFill>
                  </a:tcPr>
                </a:tc>
                <a:tc>
                  <a:txBody>
                    <a:bodyPr wrap="square"/>
                    <a:lstStyle/>
                    <a:p>
                      <a:r>
                        <a:rPr sz="900" b="0">
                          <a:solidFill>
                            <a:srgbClr val="1A1D24"/>
                          </a:solidFill>
                          <a:latin typeface="Calibri"/>
                        </a:rPr>
                        <a:t>1</a:t>
                      </a:r>
                    </a:p>
                  </a:txBody>
                  <a:tcPr marL="45720" marR="45720" marT="18288" marB="18288">
                    <a:solidFill>
                      <a:srgbClr val="FFFFFF"/>
                    </a:solidFill>
                  </a:tcPr>
                </a:tc>
                <a:tc>
                  <a:txBody>
                    <a:bodyPr wrap="square"/>
                    <a:lstStyle/>
                    <a:p>
                      <a:r>
                        <a:rPr sz="900" b="0">
                          <a:solidFill>
                            <a:srgbClr val="1A1D24"/>
                          </a:solidFill>
                          <a:latin typeface="Calibri"/>
                        </a:rPr>
                        <a:t>10 %</a:t>
                      </a:r>
                    </a:p>
                  </a:txBody>
                  <a:tcPr marL="45720" marR="45720" marT="18288" marB="18288">
                    <a:solidFill>
                      <a:srgbClr val="FFFFFF"/>
                    </a:solidFill>
                  </a:tcPr>
                </a:tc>
              </a:tr>
              <a:tr h="223520">
                <a:tc>
                  <a:txBody>
                    <a:bodyPr wrap="square"/>
                    <a:lstStyle/>
                    <a:p>
                      <a:r>
                        <a:rPr sz="900" b="1">
                          <a:solidFill>
                            <a:srgbClr val="1A1D24"/>
                          </a:solidFill>
                          <a:latin typeface="Calibri"/>
                        </a:rPr>
                        <a:t>Reactivación de fríos</a:t>
                      </a:r>
                    </a:p>
                  </a:txBody>
                  <a:tcPr marL="45720" marR="45720" marT="18288" marB="18288">
                    <a:solidFill>
                      <a:srgbClr val="F6F7F9"/>
                    </a:solidFill>
                  </a:tcPr>
                </a:tc>
                <a:tc>
                  <a:txBody>
                    <a:bodyPr wrap="square"/>
                    <a:lstStyle/>
                    <a:p>
                      <a:r>
                        <a:rPr sz="900" b="0">
                          <a:solidFill>
                            <a:srgbClr val="1A1D24"/>
                          </a:solidFill>
                          <a:latin typeface="Calibri"/>
                        </a:rPr>
                        <a:t>Push barato; WhatsApp solo con señal</a:t>
                      </a:r>
                    </a:p>
                  </a:txBody>
                  <a:tcPr marL="45720" marR="45720" marT="18288" marB="18288">
                    <a:solidFill>
                      <a:srgbClr val="F6F7F9"/>
                    </a:solidFill>
                  </a:tcPr>
                </a:tc>
                <a:tc>
                  <a:txBody>
                    <a:bodyPr wrap="square"/>
                    <a:lstStyle/>
                    <a:p>
                      <a:r>
                        <a:rPr sz="900" b="0">
                          <a:solidFill>
                            <a:srgbClr val="1A1D24"/>
                          </a:solidFill>
                          <a:latin typeface="Calibri"/>
                        </a:rPr>
                        <a:t>Martes a jueves</a:t>
                      </a:r>
                    </a:p>
                  </a:txBody>
                  <a:tcPr marL="45720" marR="45720" marT="18288" marB="18288">
                    <a:solidFill>
                      <a:srgbClr val="F6F7F9"/>
                    </a:solidFill>
                  </a:tcPr>
                </a:tc>
                <a:tc>
                  <a:txBody>
                    <a:bodyPr wrap="square"/>
                    <a:lstStyle/>
                    <a:p>
                      <a:r>
                        <a:rPr sz="900" b="0">
                          <a:solidFill>
                            <a:srgbClr val="1A1D24"/>
                          </a:solidFill>
                          <a:latin typeface="Calibri"/>
                        </a:rPr>
                        <a:t>3 en 30 días y sale 90</a:t>
                      </a:r>
                    </a:p>
                  </a:txBody>
                  <a:tcPr marL="45720" marR="45720" marT="18288" marB="18288">
                    <a:solidFill>
                      <a:srgbClr val="F6F7F9"/>
                    </a:solidFill>
                  </a:tcPr>
                </a:tc>
                <a:tc>
                  <a:txBody>
                    <a:bodyPr wrap="square"/>
                    <a:lstStyle/>
                    <a:p>
                      <a:r>
                        <a:rPr sz="900" b="0">
                          <a:solidFill>
                            <a:srgbClr val="1A1D24"/>
                          </a:solidFill>
                          <a:latin typeface="Calibri"/>
                        </a:rPr>
                        <a:t>10 %</a:t>
                      </a:r>
                    </a:p>
                  </a:txBody>
                  <a:tcPr marL="45720" marR="45720" marT="18288" marB="18288">
                    <a:solidFill>
                      <a:srgbClr val="F6F7F9"/>
                    </a:solidFill>
                  </a:tcPr>
                </a:tc>
              </a:tr>
              <a:tr h="223520">
                <a:tc>
                  <a:txBody>
                    <a:bodyPr wrap="square"/>
                    <a:lstStyle/>
                    <a:p>
                      <a:r>
                        <a:rPr sz="900" b="1">
                          <a:solidFill>
                            <a:srgbClr val="1A1D24"/>
                          </a:solidFill>
                          <a:latin typeface="Calibri"/>
                        </a:rPr>
                        <a:t>Encuesta</a:t>
                      </a:r>
                    </a:p>
                  </a:txBody>
                  <a:tcPr marL="45720" marR="45720" marT="18288" marB="18288">
                    <a:solidFill>
                      <a:srgbClr val="FFFFFF"/>
                    </a:solidFill>
                  </a:tcPr>
                </a:tc>
                <a:tc>
                  <a:txBody>
                    <a:bodyPr wrap="square"/>
                    <a:lstStyle/>
                    <a:p>
                      <a:r>
                        <a:rPr sz="900" b="0">
                          <a:solidFill>
                            <a:srgbClr val="1A1D24"/>
                          </a:solidFill>
                          <a:latin typeface="Calibri"/>
                        </a:rPr>
                        <a:t>In-app o email</a:t>
                      </a:r>
                    </a:p>
                  </a:txBody>
                  <a:tcPr marL="45720" marR="45720" marT="18288" marB="18288">
                    <a:solidFill>
                      <a:srgbClr val="FFFFFF"/>
                    </a:solidFill>
                  </a:tcPr>
                </a:tc>
                <a:tc>
                  <a:txBody>
                    <a:bodyPr wrap="square"/>
                    <a:lstStyle/>
                    <a:p>
                      <a:r>
                        <a:rPr sz="900" b="0">
                          <a:solidFill>
                            <a:srgbClr val="1A1D24"/>
                          </a:solidFill>
                          <a:latin typeface="Calibri"/>
                        </a:rPr>
                        <a:t>Martes a jueves</a:t>
                      </a:r>
                    </a:p>
                  </a:txBody>
                  <a:tcPr marL="45720" marR="45720" marT="18288" marB="18288">
                    <a:solidFill>
                      <a:srgbClr val="FFFFFF"/>
                    </a:solidFill>
                  </a:tcPr>
                </a:tc>
                <a:tc>
                  <a:txBody>
                    <a:bodyPr wrap="square"/>
                    <a:lstStyle/>
                    <a:p>
                      <a:r>
                        <a:rPr sz="900" b="0">
                          <a:solidFill>
                            <a:srgbClr val="1A1D24"/>
                          </a:solidFill>
                          <a:latin typeface="Calibri"/>
                        </a:rPr>
                        <a:t>1</a:t>
                      </a:r>
                    </a:p>
                  </a:txBody>
                  <a:tcPr marL="45720" marR="45720" marT="18288" marB="18288">
                    <a:solidFill>
                      <a:srgbClr val="FFFFFF"/>
                    </a:solidFill>
                  </a:tcPr>
                </a:tc>
                <a:tc>
                  <a:txBody>
                    <a:bodyPr wrap="square"/>
                    <a:lstStyle/>
                    <a:p>
                      <a:r>
                        <a:rPr sz="900" b="0">
                          <a:solidFill>
                            <a:srgbClr val="1A1D24"/>
                          </a:solidFill>
                          <a:latin typeface="Calibri"/>
                        </a:rPr>
                        <a:t>No</a:t>
                      </a:r>
                    </a:p>
                  </a:txBody>
                  <a:tcPr marL="45720" marR="45720" marT="18288" marB="18288">
                    <a:solidFill>
                      <a:srgbClr val="FFFFFF"/>
                    </a:solidFill>
                  </a:tcPr>
                </a:tc>
              </a:tr>
              <a:tr h="223520">
                <a:tc>
                  <a:txBody>
                    <a:bodyPr wrap="square"/>
                    <a:lstStyle/>
                    <a:p>
                      <a:r>
                        <a:rPr sz="900" b="1">
                          <a:solidFill>
                            <a:srgbClr val="1A1D24"/>
                          </a:solidFill>
                          <a:latin typeface="Calibri"/>
                        </a:rPr>
                        <a:t>Cobranza</a:t>
                      </a:r>
                    </a:p>
                  </a:txBody>
                  <a:tcPr marL="45720" marR="45720" marT="18288" marB="18288">
                    <a:solidFill>
                      <a:srgbClr val="F6F7F9"/>
                    </a:solidFill>
                  </a:tcPr>
                </a:tc>
                <a:tc>
                  <a:txBody>
                    <a:bodyPr wrap="square"/>
                    <a:lstStyle/>
                    <a:p>
                      <a:r>
                        <a:rPr sz="900" b="0">
                          <a:solidFill>
                            <a:srgbClr val="1A1D24"/>
                          </a:solidFill>
                          <a:latin typeface="Calibri"/>
                        </a:rPr>
                        <a:t>El del proceso</a:t>
                      </a:r>
                    </a:p>
                  </a:txBody>
                  <a:tcPr marL="45720" marR="45720" marT="18288" marB="18288">
                    <a:solidFill>
                      <a:srgbClr val="F6F7F9"/>
                    </a:solidFill>
                  </a:tcPr>
                </a:tc>
                <a:tc>
                  <a:txBody>
                    <a:bodyPr wrap="square"/>
                    <a:lstStyle/>
                    <a:p>
                      <a:r>
                        <a:rPr sz="900" b="0">
                          <a:solidFill>
                            <a:srgbClr val="1A1D24"/>
                          </a:solidFill>
                          <a:latin typeface="Calibri"/>
                        </a:rPr>
                        <a:t>Según el proceso</a:t>
                      </a:r>
                    </a:p>
                  </a:txBody>
                  <a:tcPr marL="45720" marR="45720" marT="18288" marB="18288">
                    <a:solidFill>
                      <a:srgbClr val="F6F7F9"/>
                    </a:solidFill>
                  </a:tcPr>
                </a:tc>
                <a:tc>
                  <a:txBody>
                    <a:bodyPr wrap="square"/>
                    <a:lstStyle/>
                    <a:p>
                      <a:r>
                        <a:rPr sz="900" b="0">
                          <a:solidFill>
                            <a:srgbClr val="1A1D24"/>
                          </a:solidFill>
                          <a:latin typeface="Calibri"/>
                        </a:rPr>
                        <a:t>Según el proceso</a:t>
                      </a:r>
                    </a:p>
                  </a:txBody>
                  <a:tcPr marL="45720" marR="45720" marT="18288" marB="18288">
                    <a:solidFill>
                      <a:srgbClr val="F6F7F9"/>
                    </a:solidFill>
                  </a:tcPr>
                </a:tc>
                <a:tc>
                  <a:txBody>
                    <a:bodyPr wrap="square"/>
                    <a:lstStyle/>
                    <a:p>
                      <a:r>
                        <a:rPr sz="900" b="0">
                          <a:solidFill>
                            <a:srgbClr val="1A1D24"/>
                          </a:solidFill>
                          <a:latin typeface="Calibri"/>
                        </a:rPr>
                        <a:t>No</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8 tipos de mensaje con canal, día y veces decididos; 2 toques máximo, el segundo solo a quien no abrió.</a:t>
            </a:r>
          </a:p>
          <a:p>
            <a:pPr>
              <a:spcAft>
                <a:spcPts val="350"/>
              </a:spcAft>
            </a:pPr>
            <a:r>
              <a:rPr sz="950" b="1">
                <a:solidFill>
                  <a:srgbClr val="1F4FD8"/>
                </a:solidFill>
                <a:latin typeface="Calibri"/>
              </a:rPr>
              <a:t>2.  </a:t>
            </a:r>
            <a:r>
              <a:rPr sz="950" b="0">
                <a:solidFill>
                  <a:srgbClr val="5B6270"/>
                </a:solidFill>
                <a:latin typeface="Calibri"/>
              </a:rPr>
              <a:t>Hoy cada equipo elige canal y día por costumbre; los datos de respuesta por tipo, canal y tamaño ya dicen qué funciona.</a:t>
            </a:r>
          </a:p>
          <a:p>
            <a:pPr>
              <a:spcAft>
                <a:spcPts val="350"/>
              </a:spcAft>
            </a:pPr>
            <a:r>
              <a:rPr sz="950" b="1">
                <a:solidFill>
                  <a:srgbClr val="1F4FD8"/>
                </a:solidFill>
                <a:latin typeface="Calibri"/>
              </a:rPr>
              <a:t>3.  </a:t>
            </a:r>
            <a:r>
              <a:rPr sz="950" b="0">
                <a:solidFill>
                  <a:srgbClr val="5B6270"/>
                </a:solidFill>
                <a:latin typeface="Calibri"/>
              </a:rPr>
              <a:t>Recordatorio por email 3.09 %; informativo en in-app 38 %; cobranza por push 4 %; bienvenida por push 2.5 % y no por email (0.16 %).</a:t>
            </a:r>
          </a:p>
          <a:p>
            <a:pPr>
              <a:spcAft>
                <a:spcPts val="350"/>
              </a:spcAft>
            </a:pPr>
            <a:r>
              <a:rPr sz="950" b="1">
                <a:solidFill>
                  <a:srgbClr val="1F4FD8"/>
                </a:solidFill>
                <a:latin typeface="Calibri"/>
              </a:rPr>
              <a:t>4.  </a:t>
            </a:r>
            <a:r>
              <a:rPr sz="950" b="0">
                <a:solidFill>
                  <a:srgbClr val="5B6270"/>
                </a:solidFill>
                <a:latin typeface="Calibri"/>
              </a:rPr>
              <a:t>La tabla quita la decisión pieza por pieza y deja solo lo que se quiera probar.</a:t>
            </a:r>
          </a:p>
          <a:p>
            <a:pPr>
              <a:spcAft>
                <a:spcPts val="350"/>
              </a:spcAft>
            </a:pPr>
            <a:r>
              <a:rPr sz="950" b="1">
                <a:solidFill>
                  <a:srgbClr val="B5342B"/>
                </a:solidFill>
                <a:latin typeface="Calibri"/>
              </a:rPr>
              <a:t>5.  </a:t>
            </a:r>
            <a:r>
              <a:rPr sz="700" b="1">
                <a:solidFill>
                  <a:srgbClr val="B5342B"/>
                </a:solidFill>
                <a:latin typeface="Calibri"/>
              </a:rPr>
              <a:t>CAUSA RAÍZ · CANAL EQUIVOCADO  </a:t>
            </a:r>
            <a:r>
              <a:rPr sz="950" b="1">
                <a:solidFill>
                  <a:srgbClr val="1A1D24"/>
                </a:solidFill>
                <a:latin typeface="Calibri"/>
              </a:rPr>
              <a:t>No existía porque nadie había cruzado tipo, canal y respuesta en un solo lugar.</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Cada tipo tiene un canal ganador claro en los datos.</a:t>
            </a:r>
          </a:p>
          <a:p>
            <a:r>
              <a:rPr sz="700" b="1">
                <a:solidFill>
                  <a:srgbClr val="1F4FD8"/>
                </a:solidFill>
                <a:latin typeface="Calibri"/>
              </a:rPr>
              <a:t>O  </a:t>
            </a:r>
            <a:r>
              <a:rPr sz="750">
                <a:solidFill>
                  <a:srgbClr val="5B6270"/>
                </a:solidFill>
                <a:latin typeface="Calibri"/>
              </a:rPr>
              <a:t>Decidir por tabla ahorra tiempo de armado y evita el canal equivocado.</a:t>
            </a:r>
          </a:p>
          <a:p>
            <a:r>
              <a:rPr sz="700" b="1">
                <a:solidFill>
                  <a:srgbClr val="1F4FD8"/>
                </a:solidFill>
                <a:latin typeface="Calibri"/>
              </a:rPr>
              <a:t>G  </a:t>
            </a:r>
            <a:r>
              <a:rPr sz="750">
                <a:solidFill>
                  <a:srgbClr val="5B6270"/>
                </a:solidFill>
                <a:latin typeface="Calibri"/>
              </a:rPr>
              <a:t>La tabla es el estándar; cambiarla requiere una prueba.</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CRM publica la tabla (playbook sección 0) y la incluye en el checklist; el brief de cada pieza declara el tipo, y canal y veces salen de la tabla. Una prueba por equipo al mes para retar la tabla. Métrica: respuesta por tipo contra la esperada.</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Cada pieza nueva nace con canal, día y veces decididos: respuesta esperada por tipo entre 1.5 y 5 %, no 0.2 a 0.5 %.</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equipo ya no decide canal, día ni frecuencia pieza por pieza: lo toma de esta tabla y solo prueba lo que quiera cambiar.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Dieciocho ajustes de Braze se configuran una vez a nivel cuenta y protegen todas las piezas aunque una salga mal: hoy ninguno está activo</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Playbook de Braze para Kueski, sección 11</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54</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ajustes que se configuran una vez</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5 / 2 / 1</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promocionales por semana, piezas al día, push al día</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10 %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grupo de control nativo en toda pieza</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9" cy="2011680"/>
        </p:xfrm>
        <a:graphic>
          <a:graphicData uri="http://schemas.openxmlformats.org/drawingml/2006/table">
            <a:tbl>
              <a:tblPr firstRow="1" bandRow="1">
                <a:tableStyleId>{5C22544A-7EE6-4342-B048-85BDC9FD1C3A}</a:tableStyleId>
              </a:tblPr>
              <a:tblGrid>
                <a:gridCol w="1199903"/>
                <a:gridCol w="2999758"/>
                <a:gridCol w="2749778"/>
              </a:tblGrid>
              <a:tr h="182880">
                <a:tc>
                  <a:txBody>
                    <a:bodyPr wrap="square"/>
                    <a:lstStyle/>
                    <a:p>
                      <a:r>
                        <a:rPr sz="700" b="1">
                          <a:solidFill>
                            <a:srgbClr val="5B6270"/>
                          </a:solidFill>
                          <a:latin typeface="Calibri"/>
                        </a:rPr>
                        <a:t>Ajuste</a:t>
                      </a:r>
                    </a:p>
                  </a:txBody>
                  <a:tcPr marL="45720" marR="45720" marT="18288" marB="18288">
                    <a:solidFill>
                      <a:srgbClr val="FFFFFF"/>
                    </a:solidFill>
                  </a:tcPr>
                </a:tc>
                <a:tc>
                  <a:txBody>
                    <a:bodyPr wrap="square"/>
                    <a:lstStyle/>
                    <a:p>
                      <a:r>
                        <a:rPr sz="700" b="1">
                          <a:solidFill>
                            <a:srgbClr val="5B6270"/>
                          </a:solidFill>
                          <a:latin typeface="Calibri"/>
                        </a:rPr>
                        <a:t>Cómo se deja</a:t>
                      </a:r>
                    </a:p>
                  </a:txBody>
                  <a:tcPr marL="45720" marR="45720" marT="18288" marB="18288">
                    <a:solidFill>
                      <a:srgbClr val="FFFFFF"/>
                    </a:solidFill>
                  </a:tcPr>
                </a:tc>
                <a:tc>
                  <a:txBody>
                    <a:bodyPr wrap="square"/>
                    <a:lstStyle/>
                    <a:p>
                      <a:r>
                        <a:rPr sz="700" b="1">
                          <a:solidFill>
                            <a:srgbClr val="5B6270"/>
                          </a:solidFill>
                          <a:latin typeface="Calibri"/>
                        </a:rPr>
                        <a:t>Por qué</a:t>
                      </a:r>
                    </a:p>
                  </a:txBody>
                  <a:tcPr marL="45720" marR="45720" marT="18288" marB="18288">
                    <a:solidFill>
                      <a:srgbClr val="FFFFFF"/>
                    </a:solidFill>
                  </a:tcPr>
                </a:tc>
              </a:tr>
              <a:tr h="182880">
                <a:tc>
                  <a:txBody>
                    <a:bodyPr wrap="square"/>
                    <a:lstStyle/>
                    <a:p>
                      <a:r>
                        <a:rPr sz="800" b="1">
                          <a:solidFill>
                            <a:srgbClr val="1A1D24"/>
                          </a:solidFill>
                          <a:latin typeface="Calibri"/>
                        </a:rPr>
                        <a:t>Frequency capping global</a:t>
                      </a:r>
                    </a:p>
                  </a:txBody>
                  <a:tcPr marL="45720" marR="45720" marT="18288" marB="18288">
                    <a:solidFill>
                      <a:srgbClr val="FFFFFF"/>
                    </a:solidFill>
                  </a:tcPr>
                </a:tc>
                <a:tc>
                  <a:txBody>
                    <a:bodyPr wrap="square"/>
                    <a:lstStyle/>
                    <a:p>
                      <a:r>
                        <a:rPr sz="800" b="0">
                          <a:solidFill>
                            <a:srgbClr val="1A1D24"/>
                          </a:solidFill>
                          <a:latin typeface="Calibri"/>
                        </a:rPr>
                        <a:t>5 promocionales por semana, 2 piezas al día, 1 push al día, 1 WhatsApp al mes</a:t>
                      </a:r>
                    </a:p>
                  </a:txBody>
                  <a:tcPr marL="45720" marR="45720" marT="18288" marB="18288">
                    <a:solidFill>
                      <a:srgbClr val="FFFFFF"/>
                    </a:solidFill>
                  </a:tcPr>
                </a:tc>
                <a:tc>
                  <a:txBody>
                    <a:bodyPr wrap="square"/>
                    <a:lstStyle/>
                    <a:p>
                      <a:r>
                        <a:rPr sz="800" b="0">
                          <a:solidFill>
                            <a:srgbClr val="1A1D24"/>
                          </a:solidFill>
                          <a:latin typeface="Calibri"/>
                        </a:rPr>
                        <a:t>9 % de los usuario-días reciben 3 o más piezas</a:t>
                      </a:r>
                    </a:p>
                  </a:txBody>
                  <a:tcPr marL="45720" marR="45720" marT="18288" marB="18288">
                    <a:solidFill>
                      <a:srgbClr val="FFFFFF"/>
                    </a:solidFill>
                  </a:tcPr>
                </a:tc>
              </a:tr>
              <a:tr h="182880">
                <a:tc>
                  <a:txBody>
                    <a:bodyPr wrap="square"/>
                    <a:lstStyle/>
                    <a:p>
                      <a:r>
                        <a:rPr sz="800" b="1">
                          <a:solidFill>
                            <a:srgbClr val="1A1D24"/>
                          </a:solidFill>
                          <a:latin typeface="Calibri"/>
                        </a:rPr>
                        <a:t>Grupo de control nativo</a:t>
                      </a:r>
                    </a:p>
                  </a:txBody>
                  <a:tcPr marL="45720" marR="45720" marT="18288" marB="18288">
                    <a:solidFill>
                      <a:srgbClr val="F6F7F9"/>
                    </a:solidFill>
                  </a:tcPr>
                </a:tc>
                <a:tc>
                  <a:txBody>
                    <a:bodyPr wrap="square"/>
                    <a:lstStyle/>
                    <a:p>
                      <a:r>
                        <a:rPr sz="800" b="0">
                          <a:solidFill>
                            <a:srgbClr val="1A1D24"/>
                          </a:solidFill>
                          <a:latin typeface="Calibri"/>
                        </a:rPr>
                        <a:t>10 % en toda pieza promocional, 5 % si pasa de 1 M, conversión a 7 días</a:t>
                      </a:r>
                    </a:p>
                  </a:txBody>
                  <a:tcPr marL="45720" marR="45720" marT="18288" marB="18288">
                    <a:solidFill>
                      <a:srgbClr val="F6F7F9"/>
                    </a:solidFill>
                  </a:tcPr>
                </a:tc>
                <a:tc>
                  <a:txBody>
                    <a:bodyPr wrap="square"/>
                    <a:lstStyle/>
                    <a:p>
                      <a:r>
                        <a:rPr sz="800" b="0">
                          <a:solidFill>
                            <a:srgbClr val="1A1D24"/>
                          </a:solidFill>
                          <a:latin typeface="Calibri"/>
                        </a:rPr>
                        <a:t>Hoy no hay ninguno</a:t>
                      </a:r>
                    </a:p>
                  </a:txBody>
                  <a:tcPr marL="45720" marR="45720" marT="18288" marB="18288">
                    <a:solidFill>
                      <a:srgbClr val="F6F7F9"/>
                    </a:solidFill>
                  </a:tcPr>
                </a:tc>
              </a:tr>
              <a:tr h="182880">
                <a:tc>
                  <a:txBody>
                    <a:bodyPr wrap="square"/>
                    <a:lstStyle/>
                    <a:p>
                      <a:r>
                        <a:rPr sz="800" b="1">
                          <a:solidFill>
                            <a:srgbClr val="1A1D24"/>
                          </a:solidFill>
                          <a:latin typeface="Calibri"/>
                        </a:rPr>
                        <a:t>Horas de silencio</a:t>
                      </a:r>
                    </a:p>
                  </a:txBody>
                  <a:tcPr marL="45720" marR="45720" marT="18288" marB="18288">
                    <a:solidFill>
                      <a:srgbClr val="FFFFFF"/>
                    </a:solidFill>
                  </a:tcPr>
                </a:tc>
                <a:tc>
                  <a:txBody>
                    <a:bodyPr wrap="square"/>
                    <a:lstStyle/>
                    <a:p>
                      <a:r>
                        <a:rPr sz="800" b="0">
                          <a:solidFill>
                            <a:srgbClr val="1A1D24"/>
                          </a:solidFill>
                          <a:latin typeface="Calibri"/>
                        </a:rPr>
                        <a:t>21:00 a 9:00 hora del usuario</a:t>
                      </a:r>
                    </a:p>
                  </a:txBody>
                  <a:tcPr marL="45720" marR="45720" marT="18288" marB="18288">
                    <a:solidFill>
                      <a:srgbClr val="FFFFFF"/>
                    </a:solidFill>
                  </a:tcPr>
                </a:tc>
                <a:tc>
                  <a:txBody>
                    <a:bodyPr wrap="square"/>
                    <a:lstStyle/>
                    <a:p>
                      <a:r>
                        <a:rPr sz="800" b="0">
                          <a:solidFill>
                            <a:srgbClr val="1A1D24"/>
                          </a:solidFill>
                          <a:latin typeface="Calibri"/>
                        </a:rPr>
                        <a:t>No hay hora en Databricks; es la única protección</a:t>
                      </a:r>
                    </a:p>
                  </a:txBody>
                  <a:tcPr marL="45720" marR="45720" marT="18288" marB="18288">
                    <a:solidFill>
                      <a:srgbClr val="FFFFFF"/>
                    </a:solidFill>
                  </a:tcPr>
                </a:tc>
              </a:tr>
              <a:tr h="182880">
                <a:tc>
                  <a:txBody>
                    <a:bodyPr wrap="square"/>
                    <a:lstStyle/>
                    <a:p>
                      <a:r>
                        <a:rPr sz="800" b="1">
                          <a:solidFill>
                            <a:srgbClr val="1A1D24"/>
                          </a:solidFill>
                          <a:latin typeface="Calibri"/>
                        </a:rPr>
                        <a:t>Re-elegibilidad</a:t>
                      </a:r>
                    </a:p>
                  </a:txBody>
                  <a:tcPr marL="45720" marR="45720" marT="18288" marB="18288">
                    <a:solidFill>
                      <a:srgbClr val="F6F7F9"/>
                    </a:solidFill>
                  </a:tcPr>
                </a:tc>
                <a:tc>
                  <a:txBody>
                    <a:bodyPr wrap="square"/>
                    <a:lstStyle/>
                    <a:p>
                      <a:r>
                        <a:rPr sz="800" b="0">
                          <a:solidFill>
                            <a:srgbClr val="1A1D24"/>
                          </a:solidFill>
                          <a:latin typeface="Calibri"/>
                        </a:rPr>
                        <a:t>Apagada en lifecycle y oferta</a:t>
                      </a:r>
                    </a:p>
                  </a:txBody>
                  <a:tcPr marL="45720" marR="45720" marT="18288" marB="18288">
                    <a:solidFill>
                      <a:srgbClr val="F6F7F9"/>
                    </a:solidFill>
                  </a:tcPr>
                </a:tc>
                <a:tc>
                  <a:txBody>
                    <a:bodyPr wrap="square"/>
                    <a:lstStyle/>
                    <a:p>
                      <a:r>
                        <a:rPr sz="800" b="0">
                          <a:solidFill>
                            <a:srgbClr val="1A1D24"/>
                          </a:solidFill>
                          <a:latin typeface="Calibri"/>
                        </a:rPr>
                        <a:t>Causa probable de 17 a 31 envíos de la misma pieza</a:t>
                      </a:r>
                    </a:p>
                  </a:txBody>
                  <a:tcPr marL="45720" marR="45720" marT="18288" marB="18288">
                    <a:solidFill>
                      <a:srgbClr val="F6F7F9"/>
                    </a:solidFill>
                  </a:tcPr>
                </a:tc>
              </a:tr>
              <a:tr h="182880">
                <a:tc>
                  <a:txBody>
                    <a:bodyPr wrap="square"/>
                    <a:lstStyle/>
                    <a:p>
                      <a:r>
                        <a:rPr sz="800" b="1">
                          <a:solidFill>
                            <a:srgbClr val="1A1D24"/>
                          </a:solidFill>
                          <a:latin typeface="Calibri"/>
                        </a:rPr>
                        <a:t>Salida del Canvas</a:t>
                      </a:r>
                    </a:p>
                  </a:txBody>
                  <a:tcPr marL="45720" marR="45720" marT="18288" marB="18288">
                    <a:solidFill>
                      <a:srgbClr val="FFFFFF"/>
                    </a:solidFill>
                  </a:tcPr>
                </a:tc>
                <a:tc>
                  <a:txBody>
                    <a:bodyPr wrap="square"/>
                    <a:lstStyle/>
                    <a:p>
                      <a:r>
                        <a:rPr sz="800" b="0">
                          <a:solidFill>
                            <a:srgbClr val="1A1D24"/>
                          </a:solidFill>
                          <a:latin typeface="Calibri"/>
                        </a:rPr>
                        <a:t>Al convertir, al darse de baja o a los 30 días</a:t>
                      </a:r>
                    </a:p>
                  </a:txBody>
                  <a:tcPr marL="45720" marR="45720" marT="18288" marB="18288">
                    <a:solidFill>
                      <a:srgbClr val="FFFFFF"/>
                    </a:solidFill>
                  </a:tcPr>
                </a:tc>
                <a:tc>
                  <a:txBody>
                    <a:bodyPr wrap="square"/>
                    <a:lstStyle/>
                    <a:p>
                      <a:r>
                        <a:rPr sz="800" b="0">
                          <a:solidFill>
                            <a:srgbClr val="1A1D24"/>
                          </a:solidFill>
                          <a:latin typeface="Calibri"/>
                        </a:rPr>
                        <a:t>Hoy sigue mandando después de convertir</a:t>
                      </a:r>
                    </a:p>
                  </a:txBody>
                  <a:tcPr marL="45720" marR="45720" marT="18288" marB="18288">
                    <a:solidFill>
                      <a:srgbClr val="FFFFFF"/>
                    </a:solidFill>
                  </a:tcPr>
                </a:tc>
              </a:tr>
              <a:tr h="182880">
                <a:tc>
                  <a:txBody>
                    <a:bodyPr wrap="square"/>
                    <a:lstStyle/>
                    <a:p>
                      <a:r>
                        <a:rPr sz="800" b="1">
                          <a:solidFill>
                            <a:srgbClr val="1A1D24"/>
                          </a:solidFill>
                          <a:latin typeface="Calibri"/>
                        </a:rPr>
                        <a:t>Caducidad del push</a:t>
                      </a:r>
                    </a:p>
                  </a:txBody>
                  <a:tcPr marL="45720" marR="45720" marT="18288" marB="18288">
                    <a:solidFill>
                      <a:srgbClr val="F6F7F9"/>
                    </a:solidFill>
                  </a:tcPr>
                </a:tc>
                <a:tc>
                  <a:txBody>
                    <a:bodyPr wrap="square"/>
                    <a:lstStyle/>
                    <a:p>
                      <a:r>
                        <a:rPr sz="800" b="0">
                          <a:solidFill>
                            <a:srgbClr val="1A1D24"/>
                          </a:solidFill>
                          <a:latin typeface="Calibri"/>
                        </a:rPr>
                        <a:t>24 horas promocional, 72 cobranza</a:t>
                      </a:r>
                    </a:p>
                  </a:txBody>
                  <a:tcPr marL="45720" marR="45720" marT="18288" marB="18288">
                    <a:solidFill>
                      <a:srgbClr val="F6F7F9"/>
                    </a:solidFill>
                  </a:tcPr>
                </a:tc>
                <a:tc>
                  <a:txBody>
                    <a:bodyPr wrap="square"/>
                    <a:lstStyle/>
                    <a:p>
                      <a:r>
                        <a:rPr sz="800" b="0">
                          <a:solidFill>
                            <a:srgbClr val="1A1D24"/>
                          </a:solidFill>
                          <a:latin typeface="Calibri"/>
                        </a:rPr>
                        <a:t>Un push de dos días después se abre como spam</a:t>
                      </a:r>
                    </a:p>
                  </a:txBody>
                  <a:tcPr marL="45720" marR="45720" marT="18288" marB="18288">
                    <a:solidFill>
                      <a:srgbClr val="F6F7F9"/>
                    </a:solidFill>
                  </a:tcPr>
                </a:tc>
              </a:tr>
              <a:tr h="182880">
                <a:tc>
                  <a:txBody>
                    <a:bodyPr wrap="square"/>
                    <a:lstStyle/>
                    <a:p>
                      <a:r>
                        <a:rPr sz="800" b="1">
                          <a:solidFill>
                            <a:srgbClr val="1A1D24"/>
                          </a:solidFill>
                          <a:latin typeface="Calibri"/>
                        </a:rPr>
                        <a:t>Centro de preferencias</a:t>
                      </a:r>
                    </a:p>
                  </a:txBody>
                  <a:tcPr marL="45720" marR="45720" marT="18288" marB="18288">
                    <a:solidFill>
                      <a:srgbClr val="FFFFFF"/>
                    </a:solidFill>
                  </a:tcPr>
                </a:tc>
                <a:tc>
                  <a:txBody>
                    <a:bodyPr wrap="square"/>
                    <a:lstStyle/>
                    <a:p>
                      <a:r>
                        <a:rPr sz="800" b="0">
                          <a:solidFill>
                            <a:srgbClr val="1A1D24"/>
                          </a:solidFill>
                          <a:latin typeface="Calibri"/>
                        </a:rPr>
                        <a:t>7 grupos de suscripción y baja total en el pie</a:t>
                      </a:r>
                    </a:p>
                  </a:txBody>
                  <a:tcPr marL="45720" marR="45720" marT="18288" marB="18288">
                    <a:solidFill>
                      <a:srgbClr val="FFFFFF"/>
                    </a:solidFill>
                  </a:tcPr>
                </a:tc>
                <a:tc>
                  <a:txBody>
                    <a:bodyPr wrap="square"/>
                    <a:lstStyle/>
                    <a:p>
                      <a:r>
                        <a:rPr sz="800" b="0">
                          <a:solidFill>
                            <a:srgbClr val="1A1D24"/>
                          </a:solidFill>
                          <a:latin typeface="Calibri"/>
                        </a:rPr>
                        <a:t>3.1 bajas por mil; hoy la única opción es irse del todo</a:t>
                      </a:r>
                    </a:p>
                  </a:txBody>
                  <a:tcPr marL="45720" marR="45720" marT="18288" marB="18288">
                    <a:solidFill>
                      <a:srgbClr val="FFFFFF"/>
                    </a:solidFill>
                  </a:tcPr>
                </a:tc>
              </a:tr>
              <a:tr h="182880">
                <a:tc>
                  <a:txBody>
                    <a:bodyPr wrap="square"/>
                    <a:lstStyle/>
                    <a:p>
                      <a:r>
                        <a:rPr sz="800" b="1">
                          <a:solidFill>
                            <a:srgbClr val="1A1D24"/>
                          </a:solidFill>
                          <a:latin typeface="Calibri"/>
                        </a:rPr>
                        <a:t>Calidad de WhatsApp</a:t>
                      </a:r>
                    </a:p>
                  </a:txBody>
                  <a:tcPr marL="45720" marR="45720" marT="18288" marB="18288">
                    <a:solidFill>
                      <a:srgbClr val="F6F7F9"/>
                    </a:solidFill>
                  </a:tcPr>
                </a:tc>
                <a:tc>
                  <a:txBody>
                    <a:bodyPr wrap="square"/>
                    <a:lstStyle/>
                    <a:p>
                      <a:r>
                        <a:rPr sz="800" b="0">
                          <a:solidFill>
                            <a:srgbClr val="1A1D24"/>
                          </a:solidFill>
                          <a:latin typeface="Calibri"/>
                        </a:rPr>
                        <a:t>Un número por tipo, plantillas con categoría correcta, pausa si baja la calidad</a:t>
                      </a:r>
                    </a:p>
                  </a:txBody>
                  <a:tcPr marL="45720" marR="45720" marT="18288" marB="18288">
                    <a:solidFill>
                      <a:srgbClr val="F6F7F9"/>
                    </a:solidFill>
                  </a:tcPr>
                </a:tc>
                <a:tc>
                  <a:txBody>
                    <a:bodyPr wrap="square"/>
                    <a:lstStyle/>
                    <a:p>
                      <a:r>
                        <a:rPr sz="800" b="0">
                          <a:solidFill>
                            <a:srgbClr val="1A1D24"/>
                          </a:solidFill>
                          <a:latin typeface="Calibri"/>
                        </a:rPr>
                        <a:t>1 de 4 no llega y se paga</a:t>
                      </a:r>
                    </a:p>
                  </a:txBody>
                  <a:tcPr marL="45720" marR="45720" marT="18288" marB="18288">
                    <a:solidFill>
                      <a:srgbClr val="F6F7F9"/>
                    </a:solidFill>
                  </a:tcPr>
                </a:tc>
              </a:tr>
              <a:tr h="182880">
                <a:tc>
                  <a:txBody>
                    <a:bodyPr wrap="square"/>
                    <a:lstStyle/>
                    <a:p>
                      <a:r>
                        <a:rPr sz="800" b="1">
                          <a:solidFill>
                            <a:srgbClr val="1A1D24"/>
                          </a:solidFill>
                          <a:latin typeface="Calibri"/>
                        </a:rPr>
                        <a:t>Roles y permisos</a:t>
                      </a:r>
                    </a:p>
                  </a:txBody>
                  <a:tcPr marL="45720" marR="45720" marT="18288" marB="18288">
                    <a:solidFill>
                      <a:srgbClr val="FFFFFF"/>
                    </a:solidFill>
                  </a:tcPr>
                </a:tc>
                <a:tc>
                  <a:txBody>
                    <a:bodyPr wrap="square"/>
                    <a:lstStyle/>
                    <a:p>
                      <a:r>
                        <a:rPr sz="800" b="0">
                          <a:solidFill>
                            <a:srgbClr val="1A1D24"/>
                          </a:solidFill>
                          <a:latin typeface="Calibri"/>
                        </a:rPr>
                        <a:t>Editor crea, aprobador activa, nadie activa lo que creó</a:t>
                      </a:r>
                    </a:p>
                  </a:txBody>
                  <a:tcPr marL="45720" marR="45720" marT="18288" marB="18288">
                    <a:solidFill>
                      <a:srgbClr val="FFFFFF"/>
                    </a:solidFill>
                  </a:tcPr>
                </a:tc>
                <a:tc>
                  <a:txBody>
                    <a:bodyPr wrap="square"/>
                    <a:lstStyle/>
                    <a:p>
                      <a:r>
                        <a:rPr sz="800" b="0">
                          <a:solidFill>
                            <a:srgbClr val="1A1D24"/>
                          </a:solidFill>
                          <a:latin typeface="Calibri"/>
                        </a:rPr>
                        <a:t>171 pruebas llegaron a usuarios reales</a:t>
                      </a:r>
                    </a:p>
                  </a:txBody>
                  <a:tcPr marL="45720" marR="45720" marT="18288" marB="18288">
                    <a:solidFill>
                      <a:srgbClr val="FFFFFF"/>
                    </a:solidFill>
                  </a:tcPr>
                </a:tc>
              </a:tr>
              <a:tr h="182880">
                <a:tc>
                  <a:txBody>
                    <a:bodyPr wrap="square"/>
                    <a:lstStyle/>
                    <a:p>
                      <a:r>
                        <a:rPr sz="800" b="1">
                          <a:solidFill>
                            <a:srgbClr val="1A1D24"/>
                          </a:solidFill>
                          <a:latin typeface="Calibri"/>
                        </a:rPr>
                        <a:t>Currents a Databricks</a:t>
                      </a:r>
                    </a:p>
                  </a:txBody>
                  <a:tcPr marL="45720" marR="45720" marT="18288" marB="18288">
                    <a:solidFill>
                      <a:srgbClr val="F6F7F9"/>
                    </a:solidFill>
                  </a:tcPr>
                </a:tc>
                <a:tc>
                  <a:txBody>
                    <a:bodyPr wrap="square"/>
                    <a:lstStyle/>
                    <a:p>
                      <a:r>
                        <a:rPr sz="800" b="0">
                          <a:solidFill>
                            <a:srgbClr val="1A1D24"/>
                          </a:solidFill>
                          <a:latin typeface="Calibri"/>
                        </a:rPr>
                        <a:t>Hora de envío, dispositivo, rebotes y quejas</a:t>
                      </a:r>
                    </a:p>
                  </a:txBody>
                  <a:tcPr marL="45720" marR="45720" marT="18288" marB="18288">
                    <a:solidFill>
                      <a:srgbClr val="F6F7F9"/>
                    </a:solidFill>
                  </a:tcPr>
                </a:tc>
                <a:tc>
                  <a:txBody>
                    <a:bodyPr wrap="square"/>
                    <a:lstStyle/>
                    <a:p>
                      <a:r>
                        <a:rPr sz="800" b="0">
                          <a:solidFill>
                            <a:srgbClr val="1A1D24"/>
                          </a:solidFill>
                          <a:latin typeface="Calibri"/>
                        </a:rPr>
                        <a:t>Hoy no se puede medir hora ni rebotes</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850" b="1">
                <a:solidFill>
                  <a:srgbClr val="1F4FD8"/>
                </a:solidFill>
                <a:latin typeface="Calibri"/>
              </a:rPr>
              <a:t>1.  </a:t>
            </a:r>
            <a:r>
              <a:rPr sz="850" b="0">
                <a:solidFill>
                  <a:srgbClr val="5B6270"/>
                </a:solidFill>
                <a:latin typeface="Calibri"/>
              </a:rPr>
              <a:t>Los 10 primeros: frequency cap (5 por semana, 2 al día, 1 push), exclusiones globales, control nativo 10 %, rate limit, quiet hours, canal preferido, validación de número, tags obligatorios, roles, re-evaluación de audiencia.</a:t>
            </a:r>
          </a:p>
          <a:p>
            <a:pPr>
              <a:spcAft>
                <a:spcPts val="350"/>
              </a:spcAft>
            </a:pPr>
            <a:r>
              <a:rPr sz="850" b="1">
                <a:solidFill>
                  <a:srgbClr val="1F4FD8"/>
                </a:solidFill>
                <a:latin typeface="Calibri"/>
              </a:rPr>
              <a:t>2.  </a:t>
            </a:r>
            <a:r>
              <a:rPr sz="850" b="0">
                <a:solidFill>
                  <a:srgbClr val="5B6270"/>
                </a:solidFill>
                <a:latin typeface="Calibri"/>
              </a:rPr>
              <a:t>Los otros 8: Intelligent Timing y Channel a prueba contra control, permiso in-app, SPF, DKIM y DMARC, Liquid con valor por defecto, prioridad in-app, catálogos, MAU y puntos de datos.</a:t>
            </a:r>
          </a:p>
          <a:p>
            <a:pPr>
              <a:spcAft>
                <a:spcPts val="350"/>
              </a:spcAft>
            </a:pPr>
            <a:r>
              <a:rPr sz="850" b="1">
                <a:solidFill>
                  <a:srgbClr val="1F4FD8"/>
                </a:solidFill>
                <a:latin typeface="Calibri"/>
              </a:rPr>
              <a:t>3.  </a:t>
            </a:r>
            <a:r>
              <a:rPr sz="850" b="0">
                <a:solidFill>
                  <a:srgbClr val="5B6270"/>
                </a:solidFill>
                <a:latin typeface="Calibri"/>
              </a:rPr>
              <a:t>Cada ajuste ataca una causa de las láminas anteriores: saturación, bloqueados, canal mudo, sin control.</a:t>
            </a:r>
          </a:p>
          <a:p>
            <a:pPr>
              <a:spcAft>
                <a:spcPts val="350"/>
              </a:spcAft>
            </a:pPr>
            <a:r>
              <a:rPr sz="850" b="1">
                <a:solidFill>
                  <a:srgbClr val="1F4FD8"/>
                </a:solidFill>
                <a:latin typeface="Calibri"/>
              </a:rPr>
              <a:t>4.  </a:t>
            </a:r>
            <a:r>
              <a:rPr sz="850" b="0">
                <a:solidFill>
                  <a:srgbClr val="5B6270"/>
                </a:solidFill>
                <a:latin typeface="Calibri"/>
              </a:rPr>
              <a:t>Hoy ninguno está activo porque nadie tiene el rol de administrar la cuenta como producto.</a:t>
            </a:r>
          </a:p>
          <a:p>
            <a:pPr>
              <a:spcAft>
                <a:spcPts val="350"/>
              </a:spcAft>
            </a:pPr>
            <a:r>
              <a:rPr sz="850" b="1">
                <a:solidFill>
                  <a:srgbClr val="B5342B"/>
                </a:solidFill>
                <a:latin typeface="Calibri"/>
              </a:rPr>
              <a:t>5.  </a:t>
            </a:r>
            <a:r>
              <a:rPr sz="700" b="1">
                <a:solidFill>
                  <a:srgbClr val="B5342B"/>
                </a:solidFill>
                <a:latin typeface="Calibri"/>
              </a:rPr>
              <a:t>CAUSA RAÍZ · OPERACIÓN  </a:t>
            </a:r>
            <a:r>
              <a:rPr sz="850" b="1">
                <a:solidFill>
                  <a:srgbClr val="1A1D24"/>
                </a:solidFill>
                <a:latin typeface="Calibri"/>
              </a:rPr>
              <a:t>Braze se administra por equipo y pieza, no a nivel cuenta.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Un ajuste de cuenta protege 100 % de las piezas; una regla de pieza protege una.</a:t>
            </a:r>
          </a:p>
          <a:p>
            <a:r>
              <a:rPr sz="700" b="1">
                <a:solidFill>
                  <a:srgbClr val="1F4FD8"/>
                </a:solidFill>
                <a:latin typeface="Calibri"/>
              </a:rPr>
              <a:t>O  </a:t>
            </a:r>
            <a:r>
              <a:rPr sz="750">
                <a:solidFill>
                  <a:srgbClr val="5B6270"/>
                </a:solidFill>
                <a:latin typeface="Calibri"/>
              </a:rPr>
              <a:t>Los ajustes requieren un administrador con tiempo asignado: MarTech.</a:t>
            </a:r>
          </a:p>
          <a:p>
            <a:r>
              <a:rPr sz="700" b="1">
                <a:solidFill>
                  <a:srgbClr val="1F4FD8"/>
                </a:solidFill>
                <a:latin typeface="Calibri"/>
              </a:rPr>
              <a:t>G  </a:t>
            </a:r>
            <a:r>
              <a:rPr sz="750">
                <a:solidFill>
                  <a:srgbClr val="5B6270"/>
                </a:solidFill>
                <a:latin typeface="Calibri"/>
              </a:rPr>
              <a:t>Dirección nombra al dueño de la cuenta Braze.</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MarTech configura los 10 primeros (Settings: Frequency Capping, Global Control Group, Subscription Groups, Rate Limiting, Quiet Hours; Segments EXC-; roles). Semanas 4 a 8: los otros 8. Métrica: ajustes activos, hoy 0, meta 10 en la semana 2 y 18 en 60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Frequency cap, exclusiones y control nativo protegen el 100 % de las piezas desde el día que se configuran; el ahorro deja de depender de revisar pieza por pieza.</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Los 10 primeros ajustes se configuran en la semana 2 y protegen todo aunque una pieza salga mal: tope de frecuencia, control, silencio y exclusiones.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Sin dueño no se sostiene: un dueño por nombre, segmento, calendario y pieza, un comité quincenal de 30 min y dos meses en rojo abren ticket</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Playbook de Braze para Kueski, sección 9</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55</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dueño por nombre, segmento, calendario y pieza</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30 min</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comité quincenal para 'Todos' y más de 1 M</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 meses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 rojo abren un ticket</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40" cy="2011680"/>
        </p:xfrm>
        <a:graphic>
          <a:graphicData uri="http://schemas.openxmlformats.org/drawingml/2006/table">
            <a:tbl>
              <a:tblPr firstRow="1" bandRow="1">
                <a:tableStyleId>{5C22544A-7EE6-4342-B048-85BDC9FD1C3A}</a:tableStyleId>
              </a:tblPr>
              <a:tblGrid>
                <a:gridCol w="2316480"/>
                <a:gridCol w="2316480"/>
                <a:gridCol w="2316480"/>
              </a:tblGrid>
              <a:tr h="251460">
                <a:tc>
                  <a:txBody>
                    <a:bodyPr wrap="square"/>
                    <a:lstStyle/>
                    <a:p>
                      <a:r>
                        <a:rPr sz="800" b="1">
                          <a:solidFill>
                            <a:srgbClr val="5B6270"/>
                          </a:solidFill>
                          <a:latin typeface="Calibri"/>
                        </a:rPr>
                        <a:t>Qué</a:t>
                      </a:r>
                    </a:p>
                  </a:txBody>
                  <a:tcPr marL="45720" marR="45720" marT="18288" marB="18288">
                    <a:solidFill>
                      <a:srgbClr val="FFFFFF"/>
                    </a:solidFill>
                  </a:tcPr>
                </a:tc>
                <a:tc>
                  <a:txBody>
                    <a:bodyPr wrap="square"/>
                    <a:lstStyle/>
                    <a:p>
                      <a:r>
                        <a:rPr sz="800" b="1">
                          <a:solidFill>
                            <a:srgbClr val="5B6270"/>
                          </a:solidFill>
                          <a:latin typeface="Calibri"/>
                        </a:rPr>
                        <a:t>Dueño</a:t>
                      </a:r>
                    </a:p>
                  </a:txBody>
                  <a:tcPr marL="45720" marR="45720" marT="18288" marB="18288">
                    <a:solidFill>
                      <a:srgbClr val="FFFFFF"/>
                    </a:solidFill>
                  </a:tcPr>
                </a:tc>
                <a:tc>
                  <a:txBody>
                    <a:bodyPr wrap="square"/>
                    <a:lstStyle/>
                    <a:p>
                      <a:r>
                        <a:rPr sz="800" b="1">
                          <a:solidFill>
                            <a:srgbClr val="5B6270"/>
                          </a:solidFill>
                          <a:latin typeface="Calibri"/>
                        </a:rPr>
                        <a:t>Cómo</a:t>
                      </a:r>
                    </a:p>
                  </a:txBody>
                  <a:tcPr marL="45720" marR="45720" marT="18288" marB="18288">
                    <a:solidFill>
                      <a:srgbClr val="FFFFFF"/>
                    </a:solidFill>
                  </a:tcPr>
                </a:tc>
              </a:tr>
              <a:tr h="251460">
                <a:tc>
                  <a:txBody>
                    <a:bodyPr wrap="square"/>
                    <a:lstStyle/>
                    <a:p>
                      <a:r>
                        <a:rPr sz="900" b="1">
                          <a:solidFill>
                            <a:srgbClr val="1A1D24"/>
                          </a:solidFill>
                          <a:latin typeface="Calibri"/>
                        </a:rPr>
                        <a:t>Nombres, tags, suscripciones, plantillas, exclusiones, frequency cap</a:t>
                      </a:r>
                    </a:p>
                  </a:txBody>
                  <a:tcPr marL="45720" marR="45720" marT="18288" marB="18288">
                    <a:solidFill>
                      <a:srgbClr val="FFFFFF"/>
                    </a:solidFill>
                  </a:tcPr>
                </a:tc>
                <a:tc>
                  <a:txBody>
                    <a:bodyPr wrap="square"/>
                    <a:lstStyle/>
                    <a:p>
                      <a:r>
                        <a:rPr sz="900" b="0">
                          <a:solidFill>
                            <a:srgbClr val="1A1D24"/>
                          </a:solidFill>
                          <a:latin typeface="Calibri"/>
                        </a:rPr>
                        <a:t>MarTech</a:t>
                      </a:r>
                    </a:p>
                  </a:txBody>
                  <a:tcPr marL="45720" marR="45720" marT="18288" marB="18288">
                    <a:solidFill>
                      <a:srgbClr val="FFFFFF"/>
                    </a:solidFill>
                  </a:tcPr>
                </a:tc>
                <a:tc>
                  <a:txBody>
                    <a:bodyPr wrap="square"/>
                    <a:lstStyle/>
                    <a:p>
                      <a:r>
                        <a:rPr sz="900" b="0">
                          <a:solidFill>
                            <a:srgbClr val="1A1D24"/>
                          </a:solidFill>
                          <a:latin typeface="Calibri"/>
                        </a:rPr>
                        <a:t>Nadie activa una pieza que no cumpla</a:t>
                      </a:r>
                    </a:p>
                  </a:txBody>
                  <a:tcPr marL="45720" marR="45720" marT="18288" marB="18288">
                    <a:solidFill>
                      <a:srgbClr val="FFFFFF"/>
                    </a:solidFill>
                  </a:tcPr>
                </a:tc>
              </a:tr>
              <a:tr h="251460">
                <a:tc>
                  <a:txBody>
                    <a:bodyPr wrap="square"/>
                    <a:lstStyle/>
                    <a:p>
                      <a:r>
                        <a:rPr sz="900" b="1">
                          <a:solidFill>
                            <a:srgbClr val="1A1D24"/>
                          </a:solidFill>
                          <a:latin typeface="Calibri"/>
                        </a:rPr>
                        <a:t>Calendario y estándares</a:t>
                      </a:r>
                    </a:p>
                  </a:txBody>
                  <a:tcPr marL="45720" marR="45720" marT="18288" marB="18288">
                    <a:solidFill>
                      <a:srgbClr val="F6F7F9"/>
                    </a:solidFill>
                  </a:tcPr>
                </a:tc>
                <a:tc>
                  <a:txBody>
                    <a:bodyPr wrap="square"/>
                    <a:lstStyle/>
                    <a:p>
                      <a:r>
                        <a:rPr sz="900" b="0">
                          <a:solidFill>
                            <a:srgbClr val="1A1D24"/>
                          </a:solidFill>
                          <a:latin typeface="Calibri"/>
                        </a:rPr>
                        <a:t>CRM</a:t>
                      </a:r>
                    </a:p>
                  </a:txBody>
                  <a:tcPr marL="45720" marR="45720" marT="18288" marB="18288">
                    <a:solidFill>
                      <a:srgbClr val="F6F7F9"/>
                    </a:solidFill>
                  </a:tcPr>
                </a:tc>
                <a:tc>
                  <a:txBody>
                    <a:bodyPr wrap="square"/>
                    <a:lstStyle/>
                    <a:p>
                      <a:r>
                        <a:rPr sz="900" b="0">
                          <a:solidFill>
                            <a:srgbClr val="1A1D24"/>
                          </a:solidFill>
                          <a:latin typeface="Calibri"/>
                        </a:rPr>
                        <a:t>Una vista compartida: fecha, equipo, pieza, audiencia, canal, gancho, tamaño</a:t>
                      </a:r>
                    </a:p>
                  </a:txBody>
                  <a:tcPr marL="45720" marR="45720" marT="18288" marB="18288">
                    <a:solidFill>
                      <a:srgbClr val="F6F7F9"/>
                    </a:solidFill>
                  </a:tcPr>
                </a:tc>
              </a:tr>
              <a:tr h="251460">
                <a:tc>
                  <a:txBody>
                    <a:bodyPr wrap="square"/>
                    <a:lstStyle/>
                    <a:p>
                      <a:r>
                        <a:rPr sz="900" b="1">
                          <a:solidFill>
                            <a:srgbClr val="1A1D24"/>
                          </a:solidFill>
                          <a:latin typeface="Calibri"/>
                        </a:rPr>
                        <a:t>Cada familia de segmentos</a:t>
                      </a:r>
                    </a:p>
                  </a:txBody>
                  <a:tcPr marL="45720" marR="45720" marT="18288" marB="18288">
                    <a:solidFill>
                      <a:srgbClr val="FFFFFF"/>
                    </a:solidFill>
                  </a:tcPr>
                </a:tc>
                <a:tc>
                  <a:txBody>
                    <a:bodyPr wrap="square"/>
                    <a:lstStyle/>
                    <a:p>
                      <a:r>
                        <a:rPr sz="900" b="0">
                          <a:solidFill>
                            <a:srgbClr val="1A1D24"/>
                          </a:solidFill>
                          <a:latin typeface="Calibri"/>
                        </a:rPr>
                        <a:t>Marketing (embudo), Lending (nuevos, activos, fríos), Sales (comercios), Collections (mora)</a:t>
                      </a:r>
                    </a:p>
                  </a:txBody>
                  <a:tcPr marL="45720" marR="45720" marT="18288" marB="18288">
                    <a:solidFill>
                      <a:srgbClr val="FFFFFF"/>
                    </a:solidFill>
                  </a:tcPr>
                </a:tc>
                <a:tc>
                  <a:txBody>
                    <a:bodyPr wrap="square"/>
                    <a:lstStyle/>
                    <a:p>
                      <a:r>
                        <a:rPr sz="900" b="0">
                          <a:solidFill>
                            <a:srgbClr val="1A1D24"/>
                          </a:solidFill>
                          <a:latin typeface="Calibri"/>
                        </a:rPr>
                        <a:t>Un segmento nuevo se pide en el ticket y lo aprueba el dueño</a:t>
                      </a:r>
                    </a:p>
                  </a:txBody>
                  <a:tcPr marL="45720" marR="45720" marT="18288" marB="18288">
                    <a:solidFill>
                      <a:srgbClr val="FFFFFF"/>
                    </a:solidFill>
                  </a:tcPr>
                </a:tc>
              </a:tr>
              <a:tr h="251460">
                <a:tc>
                  <a:txBody>
                    <a:bodyPr wrap="square"/>
                    <a:lstStyle/>
                    <a:p>
                      <a:r>
                        <a:rPr sz="900" b="1">
                          <a:solidFill>
                            <a:srgbClr val="1A1D24"/>
                          </a:solidFill>
                          <a:latin typeface="Calibri"/>
                        </a:rPr>
                        <a:t>Cada pieza</a:t>
                      </a:r>
                    </a:p>
                  </a:txBody>
                  <a:tcPr marL="45720" marR="45720" marT="18288" marB="18288">
                    <a:solidFill>
                      <a:srgbClr val="F6F7F9"/>
                    </a:solidFill>
                  </a:tcPr>
                </a:tc>
                <a:tc>
                  <a:txBody>
                    <a:bodyPr wrap="square"/>
                    <a:lstStyle/>
                    <a:p>
                      <a:r>
                        <a:rPr sz="900" b="0">
                          <a:solidFill>
                            <a:srgbClr val="1A1D24"/>
                          </a:solidFill>
                          <a:latin typeface="Calibri"/>
                        </a:rPr>
                        <a:t>El ticket</a:t>
                      </a:r>
                    </a:p>
                  </a:txBody>
                  <a:tcPr marL="45720" marR="45720" marT="18288" marB="18288">
                    <a:solidFill>
                      <a:srgbClr val="F6F7F9"/>
                    </a:solidFill>
                  </a:tcPr>
                </a:tc>
                <a:tc>
                  <a:txBody>
                    <a:bodyPr wrap="square"/>
                    <a:lstStyle/>
                    <a:p>
                      <a:r>
                        <a:rPr sz="900" b="0">
                          <a:solidFill>
                            <a:srgbClr val="1A1D24"/>
                          </a:solidFill>
                          <a:latin typeface="Calibri"/>
                        </a:rPr>
                        <a:t>Un dueño, un evento de conversión, un grupo de control</a:t>
                      </a:r>
                    </a:p>
                  </a:txBody>
                  <a:tcPr marL="45720" marR="45720" marT="18288" marB="18288">
                    <a:solidFill>
                      <a:srgbClr val="F6F7F9"/>
                    </a:solidFill>
                  </a:tcPr>
                </a:tc>
              </a:tr>
              <a:tr h="251460">
                <a:tc>
                  <a:txBody>
                    <a:bodyPr wrap="square"/>
                    <a:lstStyle/>
                    <a:p>
                      <a:r>
                        <a:rPr sz="900" b="1">
                          <a:solidFill>
                            <a:srgbClr val="1A1D24"/>
                          </a:solidFill>
                          <a:latin typeface="Calibri"/>
                        </a:rPr>
                        <a:t>Piezas a Todos, más de 1 M, cambios a exclusiones</a:t>
                      </a:r>
                    </a:p>
                  </a:txBody>
                  <a:tcPr marL="45720" marR="45720" marT="18288" marB="18288">
                    <a:solidFill>
                      <a:srgbClr val="FFFFFF"/>
                    </a:solidFill>
                  </a:tcPr>
                </a:tc>
                <a:tc>
                  <a:txBody>
                    <a:bodyPr wrap="square"/>
                    <a:lstStyle/>
                    <a:p>
                      <a:r>
                        <a:rPr sz="900" b="0">
                          <a:solidFill>
                            <a:srgbClr val="1A1D24"/>
                          </a:solidFill>
                          <a:latin typeface="Calibri"/>
                        </a:rPr>
                        <a:t>Comité quincenal de 30 minutos</a:t>
                      </a:r>
                    </a:p>
                  </a:txBody>
                  <a:tcPr marL="45720" marR="45720" marT="18288" marB="18288">
                    <a:solidFill>
                      <a:srgbClr val="FFFFFF"/>
                    </a:solidFill>
                  </a:tcPr>
                </a:tc>
                <a:tc>
                  <a:txBody>
                    <a:bodyPr wrap="square"/>
                    <a:lstStyle/>
                    <a:p>
                      <a:r>
                        <a:rPr sz="900" b="0">
                          <a:solidFill>
                            <a:srgbClr val="1A1D24"/>
                          </a:solidFill>
                          <a:latin typeface="Calibri"/>
                        </a:rPr>
                        <a:t>Se defienden con grupo de control, no con opinión</a:t>
                      </a:r>
                    </a:p>
                  </a:txBody>
                  <a:tcPr marL="45720" marR="45720" marT="18288" marB="18288">
                    <a:solidFill>
                      <a:srgbClr val="FFFFFF"/>
                    </a:solidFill>
                  </a:tcPr>
                </a:tc>
              </a:tr>
              <a:tr h="251460">
                <a:tc>
                  <a:txBody>
                    <a:bodyPr wrap="square"/>
                    <a:lstStyle/>
                    <a:p>
                      <a:r>
                        <a:rPr sz="900" b="1">
                          <a:solidFill>
                            <a:srgbClr val="1A1D24"/>
                          </a:solidFill>
                          <a:latin typeface="Calibri"/>
                        </a:rPr>
                        <a:t>Excepciones</a:t>
                      </a:r>
                    </a:p>
                  </a:txBody>
                  <a:tcPr marL="45720" marR="45720" marT="18288" marB="18288">
                    <a:solidFill>
                      <a:srgbClr val="F6F7F9"/>
                    </a:solidFill>
                  </a:tcPr>
                </a:tc>
                <a:tc>
                  <a:txBody>
                    <a:bodyPr wrap="square"/>
                    <a:lstStyle/>
                    <a:p>
                      <a:r>
                        <a:rPr sz="900" b="0">
                          <a:solidFill>
                            <a:srgbClr val="1A1D24"/>
                          </a:solidFill>
                          <a:latin typeface="Calibri"/>
                        </a:rPr>
                        <a:t>Comité</a:t>
                      </a:r>
                    </a:p>
                  </a:txBody>
                  <a:tcPr marL="45720" marR="45720" marT="18288" marB="18288">
                    <a:solidFill>
                      <a:srgbClr val="F6F7F9"/>
                    </a:solidFill>
                  </a:tcPr>
                </a:tc>
                <a:tc>
                  <a:txBody>
                    <a:bodyPr wrap="square"/>
                    <a:lstStyle/>
                    <a:p>
                      <a:r>
                        <a:rPr sz="900" b="0">
                          <a:solidFill>
                            <a:srgbClr val="1A1D24"/>
                          </a:solidFill>
                          <a:latin typeface="Calibri"/>
                        </a:rPr>
                        <a:t>Con fecha de fin</a:t>
                      </a:r>
                    </a:p>
                  </a:txBody>
                  <a:tcPr marL="45720" marR="45720" marT="18288" marB="18288">
                    <a:solidFill>
                      <a:srgbClr val="F6F7F9"/>
                    </a:solidFill>
                  </a:tcPr>
                </a:tc>
              </a:tr>
              <a:tr h="251460">
                <a:tc>
                  <a:txBody>
                    <a:bodyPr wrap="square"/>
                    <a:lstStyle/>
                    <a:p>
                      <a:r>
                        <a:rPr sz="900" b="1">
                          <a:solidFill>
                            <a:srgbClr val="1A1D24"/>
                          </a:solidFill>
                          <a:latin typeface="Calibri"/>
                        </a:rPr>
                        <a:t>Indicador en rojo dos meses seguidos</a:t>
                      </a:r>
                    </a:p>
                  </a:txBody>
                  <a:tcPr marL="45720" marR="45720" marT="18288" marB="18288">
                    <a:solidFill>
                      <a:srgbClr val="FFFFFF"/>
                    </a:solidFill>
                  </a:tcPr>
                </a:tc>
                <a:tc>
                  <a:txBody>
                    <a:bodyPr wrap="square"/>
                    <a:lstStyle/>
                    <a:p>
                      <a:r>
                        <a:rPr sz="900" b="0">
                          <a:solidFill>
                            <a:srgbClr val="1A1D24"/>
                          </a:solidFill>
                          <a:latin typeface="Calibri"/>
                        </a:rPr>
                        <a:t>El equipo que lo mueve</a:t>
                      </a:r>
                    </a:p>
                  </a:txBody>
                  <a:tcPr marL="45720" marR="45720" marT="18288" marB="18288">
                    <a:solidFill>
                      <a:srgbClr val="FFFFFF"/>
                    </a:solidFill>
                  </a:tcPr>
                </a:tc>
                <a:tc>
                  <a:txBody>
                    <a:bodyPr wrap="square"/>
                    <a:lstStyle/>
                    <a:p>
                      <a:r>
                        <a:rPr sz="900" b="0">
                          <a:solidFill>
                            <a:srgbClr val="1A1D24"/>
                          </a:solidFill>
                          <a:latin typeface="Calibri"/>
                        </a:rPr>
                        <a:t>Abre un ticket</a:t>
                      </a:r>
                    </a:p>
                  </a:txBody>
                  <a:tcPr marL="45720" marR="45720" marT="18288" marB="18288">
                    <a:solidFill>
                      <a:srgbClr val="FFFFFF"/>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481 combinaciones de segmento sin dueño; piezas a 'Todos' que se activan sin ver las del otro equipo; 749 piezas sin ticket.</a:t>
            </a:r>
          </a:p>
          <a:p>
            <a:pPr>
              <a:spcAft>
                <a:spcPts val="350"/>
              </a:spcAft>
            </a:pPr>
            <a:r>
              <a:rPr sz="950" b="1">
                <a:solidFill>
                  <a:srgbClr val="1F4FD8"/>
                </a:solidFill>
                <a:latin typeface="Calibri"/>
              </a:rPr>
              <a:t>2.  </a:t>
            </a:r>
            <a:r>
              <a:rPr sz="950" b="0">
                <a:solidFill>
                  <a:srgbClr val="5B6270"/>
                </a:solidFill>
                <a:latin typeface="Calibri"/>
              </a:rPr>
              <a:t>Los choques y repeticiones vienen de que nadie es dueño del calendario ni de los segmentos.</a:t>
            </a:r>
          </a:p>
          <a:p>
            <a:pPr>
              <a:spcAft>
                <a:spcPts val="350"/>
              </a:spcAft>
            </a:pPr>
            <a:r>
              <a:rPr sz="950" b="1">
                <a:solidFill>
                  <a:srgbClr val="1F4FD8"/>
                </a:solidFill>
                <a:latin typeface="Calibri"/>
              </a:rPr>
              <a:t>3.  </a:t>
            </a:r>
            <a:r>
              <a:rPr sz="950" b="0">
                <a:solidFill>
                  <a:srgbClr val="5B6270"/>
                </a:solidFill>
                <a:latin typeface="Calibri"/>
              </a:rPr>
              <a:t>Ritual mensual: semana 1 datos y lift; semana 2 plan y limpieza; semana 3 calendario del mes siguiente; semana 4 piezas nuevas con checklist.</a:t>
            </a:r>
          </a:p>
          <a:p>
            <a:pPr>
              <a:spcAft>
                <a:spcPts val="350"/>
              </a:spcAft>
            </a:pPr>
            <a:r>
              <a:rPr sz="950" b="1">
                <a:solidFill>
                  <a:srgbClr val="1F4FD8"/>
                </a:solidFill>
                <a:latin typeface="Calibri"/>
              </a:rPr>
              <a:t>4.  </a:t>
            </a:r>
            <a:r>
              <a:rPr sz="950" b="0">
                <a:solidFill>
                  <a:srgbClr val="5B6270"/>
                </a:solidFill>
                <a:latin typeface="Calibri"/>
              </a:rPr>
              <a:t>Trimestral: archivar segmentos, tags y plantillas sin uso; actualizar el playbook.</a:t>
            </a:r>
          </a:p>
          <a:p>
            <a:pPr>
              <a:spcAft>
                <a:spcPts val="350"/>
              </a:spcAft>
            </a:pPr>
            <a:r>
              <a:rPr sz="950" b="1">
                <a:solidFill>
                  <a:srgbClr val="B5342B"/>
                </a:solidFill>
                <a:latin typeface="Calibri"/>
              </a:rPr>
              <a:t>5.  </a:t>
            </a:r>
            <a:r>
              <a:rPr sz="700" b="1">
                <a:solidFill>
                  <a:srgbClr val="B5342B"/>
                </a:solidFill>
                <a:latin typeface="Calibri"/>
              </a:rPr>
              <a:t>CAUSA RAÍZ · SOLAPE ENTRE EQUIPOS  </a:t>
            </a:r>
            <a:r>
              <a:rPr sz="950" b="1">
                <a:solidFill>
                  <a:srgbClr val="1A1D24"/>
                </a:solidFill>
                <a:latin typeface="Calibri"/>
              </a:rPr>
              <a:t>Braze no tiene gobierno: ni dueño de cuenta, ni de catálogo, ni de calendario.</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Con calendario y comité, los choques de 3 o más campañas (9 % de los usuario-días) bajan a cero por diseño.</a:t>
            </a:r>
          </a:p>
          <a:p>
            <a:r>
              <a:rPr sz="700" b="1">
                <a:solidFill>
                  <a:srgbClr val="1F4FD8"/>
                </a:solidFill>
                <a:latin typeface="Calibri"/>
              </a:rPr>
              <a:t>O  </a:t>
            </a:r>
            <a:r>
              <a:rPr sz="750">
                <a:solidFill>
                  <a:srgbClr val="5B6270"/>
                </a:solidFill>
                <a:latin typeface="Calibri"/>
              </a:rPr>
              <a:t>30 min quincenales bastan si solo se aprueban masivos y envíos de más de 1 M.</a:t>
            </a:r>
          </a:p>
          <a:p>
            <a:r>
              <a:rPr sz="700" b="1">
                <a:solidFill>
                  <a:srgbClr val="1F4FD8"/>
                </a:solidFill>
                <a:latin typeface="Calibri"/>
              </a:rPr>
              <a:t>G  </a:t>
            </a:r>
            <a:r>
              <a:rPr sz="750">
                <a:solidFill>
                  <a:srgbClr val="5B6270"/>
                </a:solidFill>
                <a:latin typeface="Calibri"/>
              </a:rPr>
              <a:t>Dirección nombra esta semana a MarTech (cuenta), CRM (calendario y tablero) y un dueño por familia de segmentos.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Dirección nombra dueños (MarTech, CRM, uno por familia de segmentos). Semana 2: primer comité quincenal con calendario único. Mes 1: arranca el ritual mensual. Métrica: piezas activadas sin pasar por comité, meta 0; segmentos sin dueño, hoy 481, meta 0.</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Con calendario y comité quincenal no hay dos piezas a 'Todos' el mismo día: los choques de 3 o más campañas (9 % de los usuario-días, 24 % de los mensajes) bajan a cero por diseño.</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Sin dueño no se sostiene: Dirección nombra esta semana a MarTech, CRM y un dueño por familia de segmentos. Lo demás es ritual.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Plan a 90 días: limpiar en 30 (apagar 48, pausar 171, 7 exclusiones) captura el ahorro grande; configurar en 60 evita que vuelva; medir en 90 demuestra cuánto vende Braze</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Plan de acción y playbook secciones 6, 9 y 11</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56</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30 días</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limpiar: apagar 48, pausar 171, 7 exclusiones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60 días</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configurar: frequency cap, control, segmentos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90 días</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medir: primer lift y primera prueba A/B por equipo</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754879" y="2560320"/>
            <a:ext cx="91439" cy="274320"/>
          </a:xfrm>
          <a:prstGeom prst="rect">
            <a:avLst/>
          </a:prstGeom>
          <a:noFill/>
        </p:spPr>
        <p:txBody>
          <a:bodyPr wrap="square" lIns="18288" rIns="18288" tIns="18288" bIns="18288" anchor="t">
            <a:spAutoFit/>
          </a:bodyPr>
          <a:lstStyle/>
          <a:p>
            <a:pPr algn="ctr"/>
            <a:r>
              <a:rPr sz="900" b="1">
                <a:solidFill>
                  <a:srgbClr val="5B6270"/>
                </a:solidFill>
                <a:latin typeface="Calibri"/>
              </a:rPr>
              <a:t>Semanas 1 y 2</a:t>
            </a:r>
          </a:p>
        </p:txBody>
      </p:sp>
      <p:sp>
        <p:nvSpPr>
          <p:cNvPr id="16" name="TextBox 15"/>
          <p:cNvSpPr txBox="1"/>
          <p:nvPr/>
        </p:nvSpPr>
        <p:spPr>
          <a:xfrm>
            <a:off x="4846319" y="2560320"/>
            <a:ext cx="91439" cy="274320"/>
          </a:xfrm>
          <a:prstGeom prst="rect">
            <a:avLst/>
          </a:prstGeom>
          <a:noFill/>
        </p:spPr>
        <p:txBody>
          <a:bodyPr wrap="square" lIns="18288" rIns="18288" tIns="18288" bIns="18288" anchor="t">
            <a:spAutoFit/>
          </a:bodyPr>
          <a:lstStyle/>
          <a:p>
            <a:pPr algn="ctr"/>
            <a:r>
              <a:rPr sz="900" b="1">
                <a:solidFill>
                  <a:srgbClr val="5B6270"/>
                </a:solidFill>
                <a:latin typeface="Calibri"/>
              </a:rPr>
              <a:t>Semanas 3 y 4</a:t>
            </a:r>
          </a:p>
        </p:txBody>
      </p:sp>
      <p:sp>
        <p:nvSpPr>
          <p:cNvPr id="17" name="TextBox 16"/>
          <p:cNvSpPr txBox="1"/>
          <p:nvPr/>
        </p:nvSpPr>
        <p:spPr>
          <a:xfrm>
            <a:off x="4937759" y="2560320"/>
            <a:ext cx="91439" cy="274320"/>
          </a:xfrm>
          <a:prstGeom prst="rect">
            <a:avLst/>
          </a:prstGeom>
          <a:noFill/>
        </p:spPr>
        <p:txBody>
          <a:bodyPr wrap="square" lIns="18288" rIns="18288" tIns="18288" bIns="18288" anchor="t">
            <a:spAutoFit/>
          </a:bodyPr>
          <a:lstStyle/>
          <a:p>
            <a:pPr algn="ctr"/>
            <a:r>
              <a:rPr sz="900" b="1">
                <a:solidFill>
                  <a:srgbClr val="5B6270"/>
                </a:solidFill>
                <a:latin typeface="Calibri"/>
              </a:rPr>
              <a:t>Mes 2</a:t>
            </a:r>
          </a:p>
        </p:txBody>
      </p:sp>
      <p:sp>
        <p:nvSpPr>
          <p:cNvPr id="18" name="TextBox 17"/>
          <p:cNvSpPr txBox="1"/>
          <p:nvPr/>
        </p:nvSpPr>
        <p:spPr>
          <a:xfrm>
            <a:off x="5029199" y="2560320"/>
            <a:ext cx="91439" cy="274320"/>
          </a:xfrm>
          <a:prstGeom prst="rect">
            <a:avLst/>
          </a:prstGeom>
          <a:noFill/>
        </p:spPr>
        <p:txBody>
          <a:bodyPr wrap="square" lIns="18288" rIns="18288" tIns="18288" bIns="18288" anchor="t">
            <a:spAutoFit/>
          </a:bodyPr>
          <a:lstStyle/>
          <a:p>
            <a:pPr algn="ctr"/>
            <a:r>
              <a:rPr sz="900" b="1">
                <a:solidFill>
                  <a:srgbClr val="5B6270"/>
                </a:solidFill>
                <a:latin typeface="Calibri"/>
              </a:rPr>
              <a:t>Mes 3</a:t>
            </a:r>
          </a:p>
        </p:txBody>
      </p:sp>
      <p:cxnSp>
        <p:nvCxnSpPr>
          <p:cNvPr id="19" name="Connector 18"/>
          <p:cNvCxnSpPr/>
          <p:nvPr/>
        </p:nvCxnSpPr>
        <p:spPr>
          <a:xfrm>
            <a:off x="548640" y="2852927"/>
            <a:ext cx="6949439" cy="0"/>
          </a:xfrm>
          <a:prstGeom prst="line">
            <a:avLst/>
          </a:prstGeom>
          <a:ln>
            <a:solidFill>
              <a:srgbClr val="1A1D2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48640" y="2926079"/>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Apagar 48 campañas y pausar 171 pruebas</a:t>
            </a:r>
          </a:p>
        </p:txBody>
      </p:sp>
      <p:sp>
        <p:nvSpPr>
          <p:cNvPr id="21" name="Rectangle 20"/>
          <p:cNvSpPr/>
          <p:nvPr/>
        </p:nvSpPr>
        <p:spPr>
          <a:xfrm>
            <a:off x="4828031" y="2979572"/>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79" y="2926079"/>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Cada equipo con MarTech</a:t>
            </a:r>
          </a:p>
        </p:txBody>
      </p:sp>
      <p:cxnSp>
        <p:nvCxnSpPr>
          <p:cNvPr id="23" name="Connector 22"/>
          <p:cNvCxnSpPr/>
          <p:nvPr/>
        </p:nvCxnSpPr>
        <p:spPr>
          <a:xfrm>
            <a:off x="548640" y="3104387"/>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3104387"/>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Confirmar 232 apagados y limpiar base de WhatsApp (56)</a:t>
            </a:r>
          </a:p>
        </p:txBody>
      </p:sp>
      <p:sp>
        <p:nvSpPr>
          <p:cNvPr id="25" name="Rectangle 24"/>
          <p:cNvSpPr/>
          <p:nvPr/>
        </p:nvSpPr>
        <p:spPr>
          <a:xfrm>
            <a:off x="4828031" y="3157880"/>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919471" y="3157880"/>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79" y="3104387"/>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MarTech</a:t>
            </a:r>
          </a:p>
        </p:txBody>
      </p:sp>
      <p:cxnSp>
        <p:nvCxnSpPr>
          <p:cNvPr id="28" name="Connector 27"/>
          <p:cNvCxnSpPr/>
          <p:nvPr/>
        </p:nvCxnSpPr>
        <p:spPr>
          <a:xfrm>
            <a:off x="548640" y="3282695"/>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3282696"/>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7 exclusiones como filtro negativo en todo lo promocional</a:t>
            </a:r>
          </a:p>
        </p:txBody>
      </p:sp>
      <p:sp>
        <p:nvSpPr>
          <p:cNvPr id="30" name="Rectangle 29"/>
          <p:cNvSpPr/>
          <p:nvPr/>
        </p:nvSpPr>
        <p:spPr>
          <a:xfrm>
            <a:off x="4828031" y="3336188"/>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919471" y="3336188"/>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79" y="3282696"/>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MarTech con Legal y Riesgo</a:t>
            </a:r>
          </a:p>
        </p:txBody>
      </p:sp>
      <p:cxnSp>
        <p:nvCxnSpPr>
          <p:cNvPr id="33" name="Connector 32"/>
          <p:cNvCxnSpPr/>
          <p:nvPr/>
        </p:nvCxnSpPr>
        <p:spPr>
          <a:xfrm>
            <a:off x="548640" y="3461003"/>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48640" y="3461003"/>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Frequency cap, horas de silencio, TTL, re-elegibilidad</a:t>
            </a:r>
          </a:p>
        </p:txBody>
      </p:sp>
      <p:sp>
        <p:nvSpPr>
          <p:cNvPr id="35" name="Rectangle 34"/>
          <p:cNvSpPr/>
          <p:nvPr/>
        </p:nvSpPr>
        <p:spPr>
          <a:xfrm>
            <a:off x="4919471" y="3514496"/>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12079" y="3461003"/>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MarTech</a:t>
            </a:r>
          </a:p>
        </p:txBody>
      </p:sp>
      <p:cxnSp>
        <p:nvCxnSpPr>
          <p:cNvPr id="37" name="Connector 36"/>
          <p:cNvCxnSpPr/>
          <p:nvPr/>
        </p:nvCxnSpPr>
        <p:spPr>
          <a:xfrm>
            <a:off x="548640" y="3639311"/>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3639311"/>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Rehacer 62 campañas activas con señal, 8 pasos y control</a:t>
            </a:r>
          </a:p>
        </p:txBody>
      </p:sp>
      <p:sp>
        <p:nvSpPr>
          <p:cNvPr id="39" name="Rectangle 38"/>
          <p:cNvSpPr/>
          <p:nvPr/>
        </p:nvSpPr>
        <p:spPr>
          <a:xfrm>
            <a:off x="4919471" y="3692804"/>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10912" y="3692804"/>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12079" y="3639311"/>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Dueños con ticket</a:t>
            </a:r>
          </a:p>
        </p:txBody>
      </p:sp>
      <p:cxnSp>
        <p:nvCxnSpPr>
          <p:cNvPr id="42" name="Connector 41"/>
          <p:cNvCxnSpPr/>
          <p:nvPr/>
        </p:nvCxnSpPr>
        <p:spPr>
          <a:xfrm>
            <a:off x="548640" y="3817620"/>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8640" y="3817620"/>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30 segmentos maestros, nombres y tags; roles de aprobación</a:t>
            </a:r>
          </a:p>
        </p:txBody>
      </p:sp>
      <p:sp>
        <p:nvSpPr>
          <p:cNvPr id="44" name="Rectangle 43"/>
          <p:cNvSpPr/>
          <p:nvPr/>
        </p:nvSpPr>
        <p:spPr>
          <a:xfrm>
            <a:off x="4919471" y="3871112"/>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10912" y="3871112"/>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12079" y="3817620"/>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MarTech y dueños</a:t>
            </a:r>
          </a:p>
        </p:txBody>
      </p:sp>
      <p:cxnSp>
        <p:nvCxnSpPr>
          <p:cNvPr id="47" name="Connector 46"/>
          <p:cNvCxnSpPr/>
          <p:nvPr/>
        </p:nvCxnSpPr>
        <p:spPr>
          <a:xfrm>
            <a:off x="548640" y="3995928"/>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48640" y="3995927"/>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Calendario único y comité quincenal</a:t>
            </a:r>
          </a:p>
        </p:txBody>
      </p:sp>
      <p:sp>
        <p:nvSpPr>
          <p:cNvPr id="49" name="Rectangle 48"/>
          <p:cNvSpPr/>
          <p:nvPr/>
        </p:nvSpPr>
        <p:spPr>
          <a:xfrm>
            <a:off x="4919471" y="4049420"/>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10912" y="4049420"/>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102351" y="4049420"/>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12079" y="3995927"/>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CRM</a:t>
            </a:r>
          </a:p>
        </p:txBody>
      </p:sp>
      <p:cxnSp>
        <p:nvCxnSpPr>
          <p:cNvPr id="53" name="Connector 52"/>
          <p:cNvCxnSpPr/>
          <p:nvPr/>
        </p:nvCxnSpPr>
        <p:spPr>
          <a:xfrm>
            <a:off x="548640" y="4174235"/>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48640" y="4174235"/>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Leer el lift a 4 semanas; apagar lo que da cero</a:t>
            </a:r>
          </a:p>
        </p:txBody>
      </p:sp>
      <p:sp>
        <p:nvSpPr>
          <p:cNvPr id="55" name="Rectangle 54"/>
          <p:cNvSpPr/>
          <p:nvPr/>
        </p:nvSpPr>
        <p:spPr>
          <a:xfrm>
            <a:off x="5010912" y="4227728"/>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02351" y="4227728"/>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212079" y="4174235"/>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CRM con cada equipo</a:t>
            </a:r>
          </a:p>
        </p:txBody>
      </p:sp>
      <p:cxnSp>
        <p:nvCxnSpPr>
          <p:cNvPr id="58" name="Connector 57"/>
          <p:cNvCxnSpPr/>
          <p:nvPr/>
        </p:nvCxnSpPr>
        <p:spPr>
          <a:xfrm>
            <a:off x="548640" y="4352544"/>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548640" y="4352544"/>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Primera prueba A/B por equipo (día, asunto, monto)</a:t>
            </a:r>
          </a:p>
        </p:txBody>
      </p:sp>
      <p:sp>
        <p:nvSpPr>
          <p:cNvPr id="60" name="Rectangle 59"/>
          <p:cNvSpPr/>
          <p:nvPr/>
        </p:nvSpPr>
        <p:spPr>
          <a:xfrm>
            <a:off x="5010912" y="4406036"/>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102351" y="4406036"/>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212079" y="4352544"/>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Cada equipo</a:t>
            </a:r>
          </a:p>
        </p:txBody>
      </p:sp>
      <p:cxnSp>
        <p:nvCxnSpPr>
          <p:cNvPr id="63" name="Connector 62"/>
          <p:cNvCxnSpPr/>
          <p:nvPr/>
        </p:nvCxnSpPr>
        <p:spPr>
          <a:xfrm>
            <a:off x="548640" y="4530852"/>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4530852"/>
            <a:ext cx="4114800" cy="178308"/>
          </a:xfrm>
          <a:prstGeom prst="rect">
            <a:avLst/>
          </a:prstGeom>
          <a:noFill/>
        </p:spPr>
        <p:txBody>
          <a:bodyPr wrap="square" lIns="18288" rIns="18288" tIns="18288" bIns="18288" anchor="ctr">
            <a:spAutoFit/>
          </a:bodyPr>
          <a:lstStyle/>
          <a:p>
            <a:pPr algn="l"/>
            <a:r>
              <a:rPr sz="950" b="1">
                <a:solidFill>
                  <a:srgbClr val="1A1D24"/>
                </a:solidFill>
                <a:latin typeface="Calibri"/>
              </a:rPr>
              <a:t>Hora, dispositivo y rebotes de Currents a Databricks</a:t>
            </a:r>
          </a:p>
        </p:txBody>
      </p:sp>
      <p:sp>
        <p:nvSpPr>
          <p:cNvPr id="65" name="Rectangle 64"/>
          <p:cNvSpPr/>
          <p:nvPr/>
        </p:nvSpPr>
        <p:spPr>
          <a:xfrm>
            <a:off x="5010912" y="4584344"/>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102351" y="4584344"/>
            <a:ext cx="-54864" cy="71323"/>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212079" y="4530852"/>
            <a:ext cx="2286000" cy="178308"/>
          </a:xfrm>
          <a:prstGeom prst="rect">
            <a:avLst/>
          </a:prstGeom>
          <a:noFill/>
        </p:spPr>
        <p:txBody>
          <a:bodyPr wrap="square" lIns="18288" rIns="18288" tIns="18288" bIns="18288" anchor="ctr">
            <a:spAutoFit/>
          </a:bodyPr>
          <a:lstStyle/>
          <a:p>
            <a:pPr algn="l"/>
            <a:r>
              <a:rPr sz="900" b="0">
                <a:solidFill>
                  <a:srgbClr val="5B6270"/>
                </a:solidFill>
                <a:latin typeface="Calibri"/>
              </a:rPr>
              <a:t>Datos</a:t>
            </a:r>
          </a:p>
        </p:txBody>
      </p:sp>
      <p:cxnSp>
        <p:nvCxnSpPr>
          <p:cNvPr id="68" name="Connector 67"/>
          <p:cNvCxnSpPr/>
          <p:nvPr/>
        </p:nvCxnSpPr>
        <p:spPr>
          <a:xfrm>
            <a:off x="548640" y="4709160"/>
            <a:ext cx="6949439"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30 días limpiar: apagar 48, pausar 171 pruebas, 7 exclusiones; cerca de 1.0 M MXN al mes solo con apagar.</a:t>
            </a:r>
          </a:p>
          <a:p>
            <a:pPr>
              <a:spcAft>
                <a:spcPts val="350"/>
              </a:spcAft>
            </a:pPr>
            <a:r>
              <a:rPr sz="950" b="1">
                <a:solidFill>
                  <a:srgbClr val="1F4FD8"/>
                </a:solidFill>
                <a:latin typeface="Calibri"/>
              </a:rPr>
              <a:t>2.  </a:t>
            </a:r>
            <a:r>
              <a:rPr sz="950" b="0">
                <a:solidFill>
                  <a:srgbClr val="5B6270"/>
                </a:solidFill>
                <a:latin typeface="Calibri"/>
              </a:rPr>
              <a:t>60 días configurar: frequency cap, control, segmentos maestros, canal preferido.</a:t>
            </a:r>
          </a:p>
          <a:p>
            <a:pPr>
              <a:spcAft>
                <a:spcPts val="350"/>
              </a:spcAft>
            </a:pPr>
            <a:r>
              <a:rPr sz="950" b="1">
                <a:solidFill>
                  <a:srgbClr val="1F4FD8"/>
                </a:solidFill>
                <a:latin typeface="Calibri"/>
              </a:rPr>
              <a:t>3.  </a:t>
            </a:r>
            <a:r>
              <a:rPr sz="950" b="0">
                <a:solidFill>
                  <a:srgbClr val="5B6270"/>
                </a:solidFill>
                <a:latin typeface="Calibri"/>
              </a:rPr>
              <a:t>90 días medir: primer lift y primera prueba A/B por equipo.</a:t>
            </a:r>
          </a:p>
          <a:p>
            <a:pPr>
              <a:spcAft>
                <a:spcPts val="350"/>
              </a:spcAft>
            </a:pPr>
            <a:r>
              <a:rPr sz="950" b="1">
                <a:solidFill>
                  <a:srgbClr val="1F4FD8"/>
                </a:solidFill>
                <a:latin typeface="Calibri"/>
              </a:rPr>
              <a:t>4.  </a:t>
            </a:r>
            <a:r>
              <a:rPr sz="950" b="0">
                <a:solidFill>
                  <a:srgbClr val="5B6270"/>
                </a:solidFill>
                <a:latin typeface="Calibri"/>
              </a:rPr>
              <a:t>El orden sigue a la causa: el desperdicio se apaga sin configurar nada; las reglas evitan que vuelva; el control mide lo que queda.</a:t>
            </a:r>
          </a:p>
          <a:p>
            <a:pPr>
              <a:spcAft>
                <a:spcPts val="350"/>
              </a:spcAft>
            </a:pPr>
            <a:r>
              <a:rPr sz="950" b="1">
                <a:solidFill>
                  <a:srgbClr val="B5342B"/>
                </a:solidFill>
                <a:latin typeface="Calibri"/>
              </a:rPr>
              <a:t>5.  </a:t>
            </a:r>
            <a:r>
              <a:rPr sz="700" b="1">
                <a:solidFill>
                  <a:srgbClr val="B5342B"/>
                </a:solidFill>
                <a:latin typeface="Calibri"/>
              </a:rPr>
              <a:t>CAUSA RAÍZ · OPERACIÓN  </a:t>
            </a:r>
            <a:r>
              <a:rPr sz="950" b="1">
                <a:solidFill>
                  <a:srgbClr val="1A1D24"/>
                </a:solidFill>
                <a:latin typeface="Calibri"/>
              </a:rPr>
              <a:t>90 y no 30 porque la configuración depende de datos nuevos en Braze (atributos) y el lift necesita 4 semanas.</a:t>
            </a:r>
          </a:p>
        </p:txBody>
      </p:sp>
      <p:cxnSp>
        <p:nvCxnSpPr>
          <p:cNvPr id="70" name="Connector 69"/>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El 70 % del ahorro se captura en el mes 1 sin tocar la configuración de Braze.</a:t>
            </a:r>
          </a:p>
          <a:p>
            <a:r>
              <a:rPr sz="700" b="1">
                <a:solidFill>
                  <a:srgbClr val="1F4FD8"/>
                </a:solidFill>
                <a:latin typeface="Calibri"/>
              </a:rPr>
              <a:t>O  </a:t>
            </a:r>
            <a:r>
              <a:rPr sz="750">
                <a:solidFill>
                  <a:srgbClr val="5B6270"/>
                </a:solidFill>
                <a:latin typeface="Calibri"/>
              </a:rPr>
              <a:t>Las dependencias (atributos, roles) marcan el mes 2.</a:t>
            </a:r>
          </a:p>
          <a:p>
            <a:r>
              <a:rPr sz="700" b="1">
                <a:solidFill>
                  <a:srgbClr val="1F4FD8"/>
                </a:solidFill>
                <a:latin typeface="Calibri"/>
              </a:rPr>
              <a:t>G  </a:t>
            </a:r>
            <a:r>
              <a:rPr sz="750">
                <a:solidFill>
                  <a:srgbClr val="5B6270"/>
                </a:solidFill>
                <a:latin typeface="Calibri"/>
              </a:rPr>
              <a:t>El plan necesita aprobación hoy para que la semana 1 sea esta.</a:t>
            </a:r>
          </a:p>
        </p:txBody>
      </p:sp>
      <p:sp>
        <p:nvSpPr>
          <p:cNvPr id="72" name="TextBox 71"/>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Hoy: aprobar plan y dueños. Semanas 1 a 4: apagar y exclusiones (Product Growth, Marketing, MarTech). Semanas 5 a 8: ajustes de cuenta y segmentos maestros (MarTech, Datos). Semanas 9 a 12: lift y A/B (Datos, cada equipo). Métrica: hitos cumplidos por semana en el tablero.</a:t>
            </a:r>
          </a:p>
        </p:txBody>
      </p:sp>
      <p:sp>
        <p:nvSpPr>
          <p:cNvPr id="73" name="TextBox 72"/>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Mes 1: cerca de 1.0 M MXN al mes de ahorro solo con apagar. Mes 2: reglas en Braze. Mes 3: primer lift medido.</a:t>
            </a:r>
          </a:p>
        </p:txBody>
      </p:sp>
      <p:sp>
        <p:nvSpPr>
          <p:cNvPr id="74" name="Rectangle 73"/>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Limpiar en 30 días captura el ahorro grande; configurar en 60 evita que vuelva; medir en 90 permite demostrar cuánto vende Braze.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No hacer nada cuesta 1.6 M MXN al mes y 50 mil usuarios que dejan de ser alcanzables por email: en un año, 19 M MXN y 600 mil bajas evitables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Plan_accion P2, B_Canales B2, J_Canal</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57</a:t>
            </a:r>
          </a:p>
        </p:txBody>
      </p:sp>
      <p:sp>
        <p:nvSpPr>
          <p:cNvPr id="8" name="Rectangle 7"/>
          <p:cNvSpPr/>
          <p:nvPr/>
        </p:nvSpPr>
        <p:spPr>
          <a:xfrm>
            <a:off x="548640" y="178308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892807"/>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19.2 M MXN</a:t>
            </a:r>
          </a:p>
        </p:txBody>
      </p:sp>
      <p:sp>
        <p:nvSpPr>
          <p:cNvPr id="10" name="TextBox 9"/>
          <p:cNvSpPr txBox="1"/>
          <p:nvPr/>
        </p:nvSpPr>
        <p:spPr>
          <a:xfrm>
            <a:off x="548640" y="249631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al año en campañas con señal</a:t>
            </a:r>
          </a:p>
        </p:txBody>
      </p:sp>
      <p:sp>
        <p:nvSpPr>
          <p:cNvPr id="11" name="TextBox 10"/>
          <p:cNvSpPr txBox="1"/>
          <p:nvPr/>
        </p:nvSpPr>
        <p:spPr>
          <a:xfrm>
            <a:off x="548640" y="280720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1.6 M al mes que ya se sabe que no responden</a:t>
            </a:r>
          </a:p>
        </p:txBody>
      </p:sp>
      <p:sp>
        <p:nvSpPr>
          <p:cNvPr id="12" name="Rectangle 11"/>
          <p:cNvSpPr/>
          <p:nvPr/>
        </p:nvSpPr>
        <p:spPr>
          <a:xfrm>
            <a:off x="4023359" y="178308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3359" y="1892807"/>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50 mil</a:t>
            </a:r>
          </a:p>
        </p:txBody>
      </p:sp>
      <p:sp>
        <p:nvSpPr>
          <p:cNvPr id="14" name="TextBox 13"/>
          <p:cNvSpPr txBox="1"/>
          <p:nvPr/>
        </p:nvSpPr>
        <p:spPr>
          <a:xfrm>
            <a:off x="4023359" y="249631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bajas de email al mes</a:t>
            </a:r>
          </a:p>
        </p:txBody>
      </p:sp>
      <p:sp>
        <p:nvSpPr>
          <p:cNvPr id="15" name="TextBox 14"/>
          <p:cNvSpPr txBox="1"/>
          <p:nvPr/>
        </p:nvSpPr>
        <p:spPr>
          <a:xfrm>
            <a:off x="4023359" y="280720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457 mil usuario-mes en 9 meses; 2.2 % de la base</a:t>
            </a:r>
          </a:p>
        </p:txBody>
      </p:sp>
      <p:sp>
        <p:nvSpPr>
          <p:cNvPr id="16" name="Rectangle 15"/>
          <p:cNvSpPr/>
          <p:nvPr/>
        </p:nvSpPr>
        <p:spPr>
          <a:xfrm>
            <a:off x="548640" y="324612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355848"/>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14.2 M</a:t>
            </a:r>
          </a:p>
        </p:txBody>
      </p:sp>
      <p:sp>
        <p:nvSpPr>
          <p:cNvPr id="18" name="TextBox 17"/>
          <p:cNvSpPr txBox="1"/>
          <p:nvPr/>
        </p:nvSpPr>
        <p:spPr>
          <a:xfrm>
            <a:off x="548640" y="395935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usuarios que no responden a nada</a:t>
            </a:r>
          </a:p>
        </p:txBody>
      </p:sp>
      <p:sp>
        <p:nvSpPr>
          <p:cNvPr id="19" name="TextBox 18"/>
          <p:cNvSpPr txBox="1"/>
          <p:nvPr/>
        </p:nvSpPr>
        <p:spPr>
          <a:xfrm>
            <a:off x="548640" y="427024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siguen contando como MAU facturable si reciben algo</a:t>
            </a:r>
          </a:p>
        </p:txBody>
      </p:sp>
      <p:sp>
        <p:nvSpPr>
          <p:cNvPr id="20" name="Rectangle 19"/>
          <p:cNvSpPr/>
          <p:nvPr/>
        </p:nvSpPr>
        <p:spPr>
          <a:xfrm>
            <a:off x="4023359" y="3246120"/>
            <a:ext cx="3200400" cy="36576"/>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59" y="3355848"/>
            <a:ext cx="3200400" cy="548640"/>
          </a:xfrm>
          <a:prstGeom prst="rect">
            <a:avLst/>
          </a:prstGeom>
          <a:noFill/>
        </p:spPr>
        <p:txBody>
          <a:bodyPr wrap="square" lIns="18288" rIns="18288" tIns="18288" bIns="18288" anchor="t">
            <a:spAutoFit/>
          </a:bodyPr>
          <a:lstStyle/>
          <a:p>
            <a:pPr algn="l"/>
            <a:r>
              <a:rPr sz="2600" b="1">
                <a:solidFill>
                  <a:srgbClr val="1F4FD8"/>
                </a:solidFill>
                <a:latin typeface="Calibri"/>
              </a:rPr>
              <a:t>0</a:t>
            </a:r>
          </a:p>
        </p:txBody>
      </p:sp>
      <p:sp>
        <p:nvSpPr>
          <p:cNvPr id="22" name="TextBox 21"/>
          <p:cNvSpPr txBox="1"/>
          <p:nvPr/>
        </p:nvSpPr>
        <p:spPr>
          <a:xfrm>
            <a:off x="4023359" y="3959352"/>
            <a:ext cx="3200400" cy="365760"/>
          </a:xfrm>
          <a:prstGeom prst="rect">
            <a:avLst/>
          </a:prstGeom>
          <a:noFill/>
        </p:spPr>
        <p:txBody>
          <a:bodyPr wrap="square" lIns="18288" rIns="18288" tIns="18288" bIns="18288" anchor="t">
            <a:spAutoFit/>
          </a:bodyPr>
          <a:lstStyle/>
          <a:p>
            <a:pPr algn="l"/>
            <a:r>
              <a:rPr sz="1200" b="1">
                <a:solidFill>
                  <a:srgbClr val="1A1D24"/>
                </a:solidFill>
                <a:latin typeface="Calibri"/>
              </a:rPr>
              <a:t>piezas con lift medido</a:t>
            </a:r>
          </a:p>
        </p:txBody>
      </p:sp>
      <p:sp>
        <p:nvSpPr>
          <p:cNvPr id="23" name="TextBox 22"/>
          <p:cNvSpPr txBox="1"/>
          <p:nvPr/>
        </p:nvSpPr>
        <p:spPr>
          <a:xfrm>
            <a:off x="4023359" y="4270248"/>
            <a:ext cx="3200400" cy="548640"/>
          </a:xfrm>
          <a:prstGeom prst="rect">
            <a:avLst/>
          </a:prstGeom>
          <a:noFill/>
        </p:spPr>
        <p:txBody>
          <a:bodyPr wrap="square" lIns="18288" rIns="18288" tIns="18288" bIns="18288" anchor="t">
            <a:spAutoFit/>
          </a:bodyPr>
          <a:lstStyle/>
          <a:p>
            <a:pPr algn="l"/>
            <a:r>
              <a:rPr sz="950" b="0">
                <a:solidFill>
                  <a:srgbClr val="5B6270"/>
                </a:solidFill>
                <a:latin typeface="Calibri"/>
              </a:rPr>
              <a:t>sin control, cada discusión sigue siendo de opinión</a:t>
            </a:r>
          </a:p>
        </p:txBody>
      </p:sp>
      <p:sp>
        <p:nvSpPr>
          <p:cNvPr id="24" name="TextBox 23"/>
          <p:cNvSpPr txBox="1"/>
          <p:nvPr/>
        </p:nvSpPr>
        <p:spPr>
          <a:xfrm>
            <a:off x="7726679" y="1783080"/>
            <a:ext cx="3931920" cy="292608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19 M MXN al año salen del costo variable actual a mudos, bloqueados y repetidos; 50 mil bajas al mes salen de los masivos a Leads y 'Todos'.</a:t>
            </a:r>
          </a:p>
          <a:p>
            <a:pPr>
              <a:spcAft>
                <a:spcPts val="350"/>
              </a:spcAft>
            </a:pPr>
            <a:r>
              <a:rPr sz="950" b="1">
                <a:solidFill>
                  <a:srgbClr val="1F4FD8"/>
                </a:solidFill>
                <a:latin typeface="Calibri"/>
              </a:rPr>
              <a:t>2.  </a:t>
            </a:r>
            <a:r>
              <a:rPr sz="950" b="0">
                <a:solidFill>
                  <a:srgbClr val="5B6270"/>
                </a:solidFill>
                <a:latin typeface="Calibri"/>
              </a:rPr>
              <a:t>Las bajas no se recuperan: cada usuario que se da de baja deja de ser alcanzable por el canal más barato.</a:t>
            </a:r>
          </a:p>
          <a:p>
            <a:pPr>
              <a:spcAft>
                <a:spcPts val="350"/>
              </a:spcAft>
            </a:pPr>
            <a:r>
              <a:rPr sz="950" b="1">
                <a:solidFill>
                  <a:srgbClr val="1F4FD8"/>
                </a:solidFill>
                <a:latin typeface="Calibri"/>
              </a:rPr>
              <a:t>3.  </a:t>
            </a:r>
            <a:r>
              <a:rPr sz="950" b="0">
                <a:solidFill>
                  <a:srgbClr val="5B6270"/>
                </a:solidFill>
                <a:latin typeface="Calibri"/>
              </a:rPr>
              <a:t>WhatsApp a números que no reciben degrada la calidad del número ante Meta y baja el tope diario.</a:t>
            </a:r>
          </a:p>
          <a:p>
            <a:pPr>
              <a:spcAft>
                <a:spcPts val="350"/>
              </a:spcAft>
            </a:pPr>
            <a:r>
              <a:rPr sz="950" b="1">
                <a:solidFill>
                  <a:srgbClr val="1F4FD8"/>
                </a:solidFill>
                <a:latin typeface="Calibri"/>
              </a:rPr>
              <a:t>4.  </a:t>
            </a:r>
            <a:r>
              <a:rPr sz="950" b="0">
                <a:solidFill>
                  <a:srgbClr val="5B6270"/>
                </a:solidFill>
                <a:latin typeface="Calibri"/>
              </a:rPr>
              <a:t>El costo fijo de Braze (MAU y puntos de datos) crece con usuarios que no responden.</a:t>
            </a:r>
          </a:p>
          <a:p>
            <a:pPr>
              <a:spcAft>
                <a:spcPts val="350"/>
              </a:spcAft>
            </a:pPr>
            <a:r>
              <a:rPr sz="950" b="1">
                <a:solidFill>
                  <a:srgbClr val="B5342B"/>
                </a:solidFill>
                <a:latin typeface="Calibri"/>
              </a:rPr>
              <a:t>5.  </a:t>
            </a:r>
            <a:r>
              <a:rPr sz="700" b="1">
                <a:solidFill>
                  <a:srgbClr val="B5342B"/>
                </a:solidFill>
                <a:latin typeface="Calibri"/>
              </a:rPr>
              <a:t>CAUSA RAÍZ · AUDIENCIA SIN SEGMENTO  </a:t>
            </a:r>
            <a:r>
              <a:rPr sz="950" b="1">
                <a:solidFill>
                  <a:srgbClr val="1A1D24"/>
                </a:solidFill>
                <a:latin typeface="Calibri"/>
              </a:rPr>
              <a:t>Sigue porque sin decisión de Dirección cada equipo continúa con su inercia de volumen.</a:t>
            </a:r>
          </a:p>
        </p:txBody>
      </p:sp>
      <p:cxnSp>
        <p:nvCxnSpPr>
          <p:cNvPr id="25" name="Connector 24"/>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El costo es lineal en el tiempo: cada mes sin actuar cuesta lo mismo.</a:t>
            </a:r>
          </a:p>
          <a:p>
            <a:r>
              <a:rPr sz="700" b="1">
                <a:solidFill>
                  <a:srgbClr val="1F4FD8"/>
                </a:solidFill>
                <a:latin typeface="Calibri"/>
              </a:rPr>
              <a:t>O  </a:t>
            </a:r>
            <a:r>
              <a:rPr sz="750">
                <a:solidFill>
                  <a:srgbClr val="5B6270"/>
                </a:solidFill>
                <a:latin typeface="Calibri"/>
              </a:rPr>
              <a:t>La inercia operativa no se frena sola.</a:t>
            </a:r>
          </a:p>
          <a:p>
            <a:r>
              <a:rPr sz="700" b="1">
                <a:solidFill>
                  <a:srgbClr val="1F4FD8"/>
                </a:solidFill>
                <a:latin typeface="Calibri"/>
              </a:rPr>
              <a:t>G  </a:t>
            </a:r>
            <a:r>
              <a:rPr sz="750">
                <a:solidFill>
                  <a:srgbClr val="5B6270"/>
                </a:solidFill>
                <a:latin typeface="Calibri"/>
              </a:rPr>
              <a:t>Es una decisión de Dirección esta semana, no del próximo trimestre.</a:t>
            </a:r>
          </a:p>
        </p:txBody>
      </p:sp>
      <p:sp>
        <p:nvSpPr>
          <p:cNvPr id="27" name="TextBox 26"/>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Hoy: aprobar plan, playbook y dueños. Semana 1: arrancan las 8 tareas (lámina 59). Métrica: ahorro y bajas mes a mes contra la línea base de junio a septiembre.</a:t>
            </a:r>
          </a:p>
        </p:txBody>
      </p:sp>
      <p:sp>
        <p:nvSpPr>
          <p:cNvPr id="28" name="TextBox 27"/>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Cada mes sin actuar cuesta 1.6 M MXN y 50 mil usuarios que dejan de ser alcanzables; en un año, 19 M MXN y 600 mil bajas evitables.</a:t>
            </a:r>
          </a:p>
        </p:txBody>
      </p:sp>
      <p:sp>
        <p:nvSpPr>
          <p:cNvPr id="29" name="Rectangle 28"/>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La decisión es esta semana, no el próximo trimestre: cada mes cuesta 1.6 M MXN y 50 mil usuarios.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Lo que todavía no sabemos se resuelve con tres datos (hora, dispositivo, rebotes) y el costo fijo de Braze: 6 de 8 preguntas en 60 días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Playbook y Sheets, pestaña Léeme</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58</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preguntas abiertas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6 de 8</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se resuelven con datos que ya existen</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depende de Finanzas: el costo fijo de Braze</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9" cy="2011680"/>
        </p:xfrm>
        <a:graphic>
          <a:graphicData uri="http://schemas.openxmlformats.org/drawingml/2006/table">
            <a:tbl>
              <a:tblPr firstRow="1" bandRow="1">
                <a:tableStyleId>{5C22544A-7EE6-4342-B048-85BDC9FD1C3A}</a:tableStyleId>
              </a:tblPr>
              <a:tblGrid>
                <a:gridCol w="2299814"/>
                <a:gridCol w="1699863"/>
                <a:gridCol w="2949762"/>
              </a:tblGrid>
              <a:tr h="223520">
                <a:tc>
                  <a:txBody>
                    <a:bodyPr wrap="square"/>
                    <a:lstStyle/>
                    <a:p>
                      <a:r>
                        <a:rPr sz="800" b="1">
                          <a:solidFill>
                            <a:srgbClr val="5B6270"/>
                          </a:solidFill>
                          <a:latin typeface="Calibri"/>
                        </a:rPr>
                        <a:t>Pregunta</a:t>
                      </a:r>
                    </a:p>
                  </a:txBody>
                  <a:tcPr marL="45720" marR="45720" marT="18288" marB="18288">
                    <a:solidFill>
                      <a:srgbClr val="FFFFFF"/>
                    </a:solidFill>
                  </a:tcPr>
                </a:tc>
                <a:tc>
                  <a:txBody>
                    <a:bodyPr wrap="square"/>
                    <a:lstStyle/>
                    <a:p>
                      <a:r>
                        <a:rPr sz="800" b="1">
                          <a:solidFill>
                            <a:srgbClr val="5B6270"/>
                          </a:solidFill>
                          <a:latin typeface="Calibri"/>
                        </a:rPr>
                        <a:t>Estado</a:t>
                      </a:r>
                    </a:p>
                  </a:txBody>
                  <a:tcPr marL="45720" marR="45720" marT="18288" marB="18288">
                    <a:solidFill>
                      <a:srgbClr val="FFFFFF"/>
                    </a:solidFill>
                  </a:tcPr>
                </a:tc>
                <a:tc>
                  <a:txBody>
                    <a:bodyPr wrap="square"/>
                    <a:lstStyle/>
                    <a:p>
                      <a:r>
                        <a:rPr sz="800" b="1">
                          <a:solidFill>
                            <a:srgbClr val="5B6270"/>
                          </a:solidFill>
                          <a:latin typeface="Calibri"/>
                        </a:rPr>
                        <a:t>Qué hace falta</a:t>
                      </a:r>
                    </a:p>
                  </a:txBody>
                  <a:tcPr marL="45720" marR="45720" marT="18288" marB="18288">
                    <a:solidFill>
                      <a:srgbClr val="FFFFFF"/>
                    </a:solidFill>
                  </a:tcPr>
                </a:tc>
              </a:tr>
              <a:tr h="223520">
                <a:tc>
                  <a:txBody>
                    <a:bodyPr wrap="square"/>
                    <a:lstStyle/>
                    <a:p>
                      <a:r>
                        <a:rPr sz="900" b="1">
                          <a:solidFill>
                            <a:srgbClr val="1A1D24"/>
                          </a:solidFill>
                          <a:latin typeface="Calibri"/>
                        </a:rPr>
                        <a:t>Cuánto vende Braze de verdad (lift)</a:t>
                      </a:r>
                    </a:p>
                  </a:txBody>
                  <a:tcPr marL="45720" marR="45720" marT="18288" marB="18288">
                    <a:solidFill>
                      <a:srgbClr val="FFFFFF"/>
                    </a:solidFill>
                  </a:tcPr>
                </a:tc>
                <a:tc>
                  <a:txBody>
                    <a:bodyPr wrap="square"/>
                    <a:lstStyle/>
                    <a:p>
                      <a:r>
                        <a:rPr sz="900" b="0">
                          <a:solidFill>
                            <a:srgbClr val="1A1D24"/>
                          </a:solidFill>
                          <a:latin typeface="Calibri"/>
                        </a:rPr>
                        <a:t>No medible hoy</a:t>
                      </a:r>
                    </a:p>
                  </a:txBody>
                  <a:tcPr marL="45720" marR="45720" marT="18288" marB="18288">
                    <a:solidFill>
                      <a:srgbClr val="FFFFFF"/>
                    </a:solidFill>
                  </a:tcPr>
                </a:tc>
                <a:tc>
                  <a:txBody>
                    <a:bodyPr wrap="square"/>
                    <a:lstStyle/>
                    <a:p>
                      <a:r>
                        <a:rPr sz="900" b="0">
                          <a:solidFill>
                            <a:srgbClr val="1A1D24"/>
                          </a:solidFill>
                          <a:latin typeface="Calibri"/>
                        </a:rPr>
                        <a:t>Grupos de control desde el día uno; se lee a las 4 semanas</a:t>
                      </a:r>
                    </a:p>
                  </a:txBody>
                  <a:tcPr marL="45720" marR="45720" marT="18288" marB="18288">
                    <a:solidFill>
                      <a:srgbClr val="FFFFFF"/>
                    </a:solidFill>
                  </a:tcPr>
                </a:tc>
              </a:tr>
              <a:tr h="223520">
                <a:tc>
                  <a:txBody>
                    <a:bodyPr wrap="square"/>
                    <a:lstStyle/>
                    <a:p>
                      <a:r>
                        <a:rPr sz="900" b="1">
                          <a:solidFill>
                            <a:srgbClr val="1A1D24"/>
                          </a:solidFill>
                          <a:latin typeface="Calibri"/>
                        </a:rPr>
                        <a:t>Hora del día que funciona</a:t>
                      </a:r>
                    </a:p>
                  </a:txBody>
                  <a:tcPr marL="45720" marR="45720" marT="18288" marB="18288">
                    <a:solidFill>
                      <a:srgbClr val="F6F7F9"/>
                    </a:solidFill>
                  </a:tcPr>
                </a:tc>
                <a:tc>
                  <a:txBody>
                    <a:bodyPr wrap="square"/>
                    <a:lstStyle/>
                    <a:p>
                      <a:r>
                        <a:rPr sz="900" b="0">
                          <a:solidFill>
                            <a:srgbClr val="1A1D24"/>
                          </a:solidFill>
                          <a:latin typeface="Calibri"/>
                        </a:rPr>
                        <a:t>No medible</a:t>
                      </a:r>
                    </a:p>
                  </a:txBody>
                  <a:tcPr marL="45720" marR="45720" marT="18288" marB="18288">
                    <a:solidFill>
                      <a:srgbClr val="F6F7F9"/>
                    </a:solidFill>
                  </a:tcPr>
                </a:tc>
                <a:tc>
                  <a:txBody>
                    <a:bodyPr wrap="square"/>
                    <a:lstStyle/>
                    <a:p>
                      <a:r>
                        <a:rPr sz="900" b="0">
                          <a:solidFill>
                            <a:srgbClr val="1A1D24"/>
                          </a:solidFill>
                          <a:latin typeface="Calibri"/>
                        </a:rPr>
                        <a:t>Agregar hora del envío desde Currents; mientras, prueba A/B</a:t>
                      </a:r>
                    </a:p>
                  </a:txBody>
                  <a:tcPr marL="45720" marR="45720" marT="18288" marB="18288">
                    <a:solidFill>
                      <a:srgbClr val="F6F7F9"/>
                    </a:solidFill>
                  </a:tcPr>
                </a:tc>
              </a:tr>
              <a:tr h="223520">
                <a:tc>
                  <a:txBody>
                    <a:bodyPr wrap="square"/>
                    <a:lstStyle/>
                    <a:p>
                      <a:r>
                        <a:rPr sz="900" b="1">
                          <a:solidFill>
                            <a:srgbClr val="1A1D24"/>
                          </a:solidFill>
                          <a:latin typeface="Calibri"/>
                        </a:rPr>
                        <a:t>iOS contra Android</a:t>
                      </a:r>
                    </a:p>
                  </a:txBody>
                  <a:tcPr marL="45720" marR="45720" marT="18288" marB="18288">
                    <a:solidFill>
                      <a:srgbClr val="FFFFFF"/>
                    </a:solidFill>
                  </a:tcPr>
                </a:tc>
                <a:tc>
                  <a:txBody>
                    <a:bodyPr wrap="square"/>
                    <a:lstStyle/>
                    <a:p>
                      <a:r>
                        <a:rPr sz="900" b="0">
                          <a:solidFill>
                            <a:srgbClr val="1A1D24"/>
                          </a:solidFill>
                          <a:latin typeface="Calibri"/>
                        </a:rPr>
                        <a:t>Sí se puede</a:t>
                      </a:r>
                    </a:p>
                  </a:txBody>
                  <a:tcPr marL="45720" marR="45720" marT="18288" marB="18288">
                    <a:solidFill>
                      <a:srgbClr val="FFFFFF"/>
                    </a:solidFill>
                  </a:tcPr>
                </a:tc>
                <a:tc>
                  <a:txBody>
                    <a:bodyPr wrap="square"/>
                    <a:lstStyle/>
                    <a:p>
                      <a:r>
                        <a:rPr sz="900" b="0">
                          <a:solidFill>
                            <a:srgbClr val="1A1D24"/>
                          </a:solidFill>
                          <a:latin typeface="Calibri"/>
                        </a:rPr>
                        <a:t>Correr la query E18c sobre braze.int_communications_joined</a:t>
                      </a:r>
                    </a:p>
                  </a:txBody>
                  <a:tcPr marL="45720" marR="45720" marT="18288" marB="18288">
                    <a:solidFill>
                      <a:srgbClr val="FFFFFF"/>
                    </a:solidFill>
                  </a:tcPr>
                </a:tc>
              </a:tr>
              <a:tr h="223520">
                <a:tc>
                  <a:txBody>
                    <a:bodyPr wrap="square"/>
                    <a:lstStyle/>
                    <a:p>
                      <a:r>
                        <a:rPr sz="900" b="1">
                          <a:solidFill>
                            <a:srgbClr val="1A1D24"/>
                          </a:solidFill>
                          <a:latin typeface="Calibri"/>
                        </a:rPr>
                        <a:t>Rebotes y quejas de spam</a:t>
                      </a:r>
                    </a:p>
                  </a:txBody>
                  <a:tcPr marL="45720" marR="45720" marT="18288" marB="18288">
                    <a:solidFill>
                      <a:srgbClr val="F6F7F9"/>
                    </a:solidFill>
                  </a:tcPr>
                </a:tc>
                <a:tc>
                  <a:txBody>
                    <a:bodyPr wrap="square"/>
                    <a:lstStyle/>
                    <a:p>
                      <a:r>
                        <a:rPr sz="900" b="0">
                          <a:solidFill>
                            <a:srgbClr val="1A1D24"/>
                          </a:solidFill>
                          <a:latin typeface="Calibri"/>
                        </a:rPr>
                        <a:t>No están en Databricks</a:t>
                      </a:r>
                    </a:p>
                  </a:txBody>
                  <a:tcPr marL="45720" marR="45720" marT="18288" marB="18288">
                    <a:solidFill>
                      <a:srgbClr val="F6F7F9"/>
                    </a:solidFill>
                  </a:tcPr>
                </a:tc>
                <a:tc>
                  <a:txBody>
                    <a:bodyPr wrap="square"/>
                    <a:lstStyle/>
                    <a:p>
                      <a:r>
                        <a:rPr sz="900" b="0">
                          <a:solidFill>
                            <a:srgbClr val="1A1D24"/>
                          </a:solidFill>
                          <a:latin typeface="Calibri"/>
                        </a:rPr>
                        <a:t>Eventos de Currents</a:t>
                      </a:r>
                    </a:p>
                  </a:txBody>
                  <a:tcPr marL="45720" marR="45720" marT="18288" marB="18288">
                    <a:solidFill>
                      <a:srgbClr val="F6F7F9"/>
                    </a:solidFill>
                  </a:tcPr>
                </a:tc>
              </a:tr>
              <a:tr h="223520">
                <a:tc>
                  <a:txBody>
                    <a:bodyPr wrap="square"/>
                    <a:lstStyle/>
                    <a:p>
                      <a:r>
                        <a:rPr sz="900" b="1">
                          <a:solidFill>
                            <a:srgbClr val="1A1D24"/>
                          </a:solidFill>
                          <a:latin typeface="Calibri"/>
                        </a:rPr>
                        <a:t>Tags</a:t>
                      </a:r>
                    </a:p>
                  </a:txBody>
                  <a:tcPr marL="45720" marR="45720" marT="18288" marB="18288">
                    <a:solidFill>
                      <a:srgbClr val="FFFFFF"/>
                    </a:solidFill>
                  </a:tcPr>
                </a:tc>
                <a:tc>
                  <a:txBody>
                    <a:bodyPr wrap="square"/>
                    <a:lstStyle/>
                    <a:p>
                      <a:r>
                        <a:rPr sz="900" b="0">
                          <a:solidFill>
                            <a:srgbClr val="1A1D24"/>
                          </a:solidFill>
                          <a:latin typeface="Calibri"/>
                        </a:rPr>
                        <a:t>No están en Databricks</a:t>
                      </a:r>
                    </a:p>
                  </a:txBody>
                  <a:tcPr marL="45720" marR="45720" marT="18288" marB="18288">
                    <a:solidFill>
                      <a:srgbClr val="FFFFFF"/>
                    </a:solidFill>
                  </a:tcPr>
                </a:tc>
                <a:tc>
                  <a:txBody>
                    <a:bodyPr wrap="square"/>
                    <a:lstStyle/>
                    <a:p>
                      <a:r>
                        <a:rPr sz="900" b="0">
                          <a:solidFill>
                            <a:srgbClr val="1A1D24"/>
                          </a:solidFill>
                          <a:latin typeface="Calibri"/>
                        </a:rPr>
                        <a:t>Exportar la lista de campañas con tags desde Braze</a:t>
                      </a:r>
                    </a:p>
                  </a:txBody>
                  <a:tcPr marL="45720" marR="45720" marT="18288" marB="18288">
                    <a:solidFill>
                      <a:srgbClr val="FFFFFF"/>
                    </a:solidFill>
                  </a:tcPr>
                </a:tc>
              </a:tr>
              <a:tr h="223520">
                <a:tc>
                  <a:txBody>
                    <a:bodyPr wrap="square"/>
                    <a:lstStyle/>
                    <a:p>
                      <a:r>
                        <a:rPr sz="900" b="1">
                          <a:solidFill>
                            <a:srgbClr val="1A1D24"/>
                          </a:solidFill>
                          <a:latin typeface="Calibri"/>
                        </a:rPr>
                        <a:t>Banderas de contactabilidad del golden dataset</a:t>
                      </a:r>
                    </a:p>
                  </a:txBody>
                  <a:tcPr marL="45720" marR="45720" marT="18288" marB="18288">
                    <a:solidFill>
                      <a:srgbClr val="F6F7F9"/>
                    </a:solidFill>
                  </a:tcPr>
                </a:tc>
                <a:tc>
                  <a:txBody>
                    <a:bodyPr wrap="square"/>
                    <a:lstStyle/>
                    <a:p>
                      <a:r>
                        <a:rPr sz="900" b="0">
                          <a:solidFill>
                            <a:srgbClr val="1A1D24"/>
                          </a:solidFill>
                          <a:latin typeface="Calibri"/>
                        </a:rPr>
                        <a:t>No coinciden con el comportamiento</a:t>
                      </a:r>
                    </a:p>
                  </a:txBody>
                  <a:tcPr marL="45720" marR="45720" marT="18288" marB="18288">
                    <a:solidFill>
                      <a:srgbClr val="F6F7F9"/>
                    </a:solidFill>
                  </a:tcPr>
                </a:tc>
                <a:tc>
                  <a:txBody>
                    <a:bodyPr wrap="square"/>
                    <a:lstStyle/>
                    <a:p>
                      <a:r>
                        <a:rPr sz="900" b="0">
                          <a:solidFill>
                            <a:srgbClr val="1A1D24"/>
                          </a:solidFill>
                          <a:latin typeface="Calibri"/>
                        </a:rPr>
                        <a:t>Datos define fecha y fuente</a:t>
                      </a:r>
                    </a:p>
                  </a:txBody>
                  <a:tcPr marL="45720" marR="45720" marT="18288" marB="18288">
                    <a:solidFill>
                      <a:srgbClr val="F6F7F9"/>
                    </a:solidFill>
                  </a:tcPr>
                </a:tc>
              </a:tr>
              <a:tr h="223520">
                <a:tc>
                  <a:txBody>
                    <a:bodyPr wrap="square"/>
                    <a:lstStyle/>
                    <a:p>
                      <a:r>
                        <a:rPr sz="900" b="1">
                          <a:solidFill>
                            <a:srgbClr val="1A1D24"/>
                          </a:solidFill>
                          <a:latin typeface="Calibri"/>
                        </a:rPr>
                        <a:t>Costo fijo de Braze</a:t>
                      </a:r>
                    </a:p>
                  </a:txBody>
                  <a:tcPr marL="45720" marR="45720" marT="18288" marB="18288">
                    <a:solidFill>
                      <a:srgbClr val="FFFFFF"/>
                    </a:solidFill>
                  </a:tcPr>
                </a:tc>
                <a:tc>
                  <a:txBody>
                    <a:bodyPr wrap="square"/>
                    <a:lstStyle/>
                    <a:p>
                      <a:r>
                        <a:rPr sz="900" b="0">
                          <a:solidFill>
                            <a:srgbClr val="1A1D24"/>
                          </a:solidFill>
                          <a:latin typeface="Calibri"/>
                        </a:rPr>
                        <a:t>Pendiente</a:t>
                      </a:r>
                    </a:p>
                  </a:txBody>
                  <a:tcPr marL="45720" marR="45720" marT="18288" marB="18288">
                    <a:solidFill>
                      <a:srgbClr val="FFFFFF"/>
                    </a:solidFill>
                  </a:tcPr>
                </a:tc>
                <a:tc>
                  <a:txBody>
                    <a:bodyPr wrap="square"/>
                    <a:lstStyle/>
                    <a:p>
                      <a:r>
                        <a:rPr sz="900" b="0">
                          <a:solidFill>
                            <a:srgbClr val="1A1D24"/>
                          </a:solidFill>
                          <a:latin typeface="Calibri"/>
                        </a:rPr>
                        <a:t>Significado de 7,020 USD al mes y 32,474 créditos</a:t>
                      </a:r>
                    </a:p>
                  </a:txBody>
                  <a:tcPr marL="45720" marR="45720" marT="18288" marB="18288">
                    <a:solidFill>
                      <a:srgbClr val="FFFFFF"/>
                    </a:solidFill>
                  </a:tcPr>
                </a:tc>
              </a:tr>
              <a:tr h="223520">
                <a:tc>
                  <a:txBody>
                    <a:bodyPr wrap="square"/>
                    <a:lstStyle/>
                    <a:p>
                      <a:r>
                        <a:rPr sz="900" b="1">
                          <a:solidFill>
                            <a:srgbClr val="1A1D24"/>
                          </a:solidFill>
                          <a:latin typeface="Calibri"/>
                        </a:rPr>
                        <a:t>Región</a:t>
                      </a:r>
                    </a:p>
                  </a:txBody>
                  <a:tcPr marL="45720" marR="45720" marT="18288" marB="18288">
                    <a:solidFill>
                      <a:srgbClr val="F6F7F9"/>
                    </a:solidFill>
                  </a:tcPr>
                </a:tc>
                <a:tc>
                  <a:txBody>
                    <a:bodyPr wrap="square"/>
                    <a:lstStyle/>
                    <a:p>
                      <a:r>
                        <a:rPr sz="900" b="0">
                          <a:solidFill>
                            <a:srgbClr val="1A1D24"/>
                          </a:solidFill>
                          <a:latin typeface="Calibri"/>
                        </a:rPr>
                        <a:t>No está en ninguna tabla</a:t>
                      </a:r>
                    </a:p>
                  </a:txBody>
                  <a:tcPr marL="45720" marR="45720" marT="18288" marB="18288">
                    <a:solidFill>
                      <a:srgbClr val="F6F7F9"/>
                    </a:solidFill>
                  </a:tcPr>
                </a:tc>
                <a:tc>
                  <a:txBody>
                    <a:bodyPr wrap="square"/>
                    <a:lstStyle/>
                    <a:p>
                      <a:r>
                        <a:rPr sz="900" b="0">
                          <a:solidFill>
                            <a:srgbClr val="1A1D24"/>
                          </a:solidFill>
                          <a:latin typeface="Calibri"/>
                        </a:rPr>
                        <a:t>Atributo de usuario</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8 preguntas abiertas; 6 se resuelven con datos que ya existen en Braze y no están en Databricks; 1 depende de Finanzas (costo fijo).</a:t>
            </a:r>
          </a:p>
          <a:p>
            <a:pPr>
              <a:spcAft>
                <a:spcPts val="350"/>
              </a:spcAft>
            </a:pPr>
            <a:r>
              <a:rPr sz="950" b="1">
                <a:solidFill>
                  <a:srgbClr val="1F4FD8"/>
                </a:solidFill>
                <a:latin typeface="Calibri"/>
              </a:rPr>
              <a:t>2.  </a:t>
            </a:r>
            <a:r>
              <a:rPr sz="950" b="0">
                <a:solidFill>
                  <a:srgbClr val="5B6270"/>
                </a:solidFill>
                <a:latin typeface="Calibri"/>
              </a:rPr>
              <a:t>Lo que falta no es análisis sino datos: grupo de control, hora de envío, dispositivo, rebotes, canal preferido.</a:t>
            </a:r>
          </a:p>
          <a:p>
            <a:pPr>
              <a:spcAft>
                <a:spcPts val="350"/>
              </a:spcAft>
            </a:pPr>
            <a:r>
              <a:rPr sz="950" b="1">
                <a:solidFill>
                  <a:srgbClr val="1F4FD8"/>
                </a:solidFill>
                <a:latin typeface="Calibri"/>
              </a:rPr>
              <a:t>3.  </a:t>
            </a:r>
            <a:r>
              <a:rPr sz="950" b="0">
                <a:solidFill>
                  <a:srgbClr val="5B6270"/>
                </a:solidFill>
                <a:latin typeface="Calibri"/>
              </a:rPr>
              <a:t>Sin costo fijo no se puede decir el costo total por mensaje ni el ahorro en MAU.</a:t>
            </a:r>
          </a:p>
          <a:p>
            <a:pPr>
              <a:spcAft>
                <a:spcPts val="350"/>
              </a:spcAft>
            </a:pPr>
            <a:r>
              <a:rPr sz="950" b="1">
                <a:solidFill>
                  <a:srgbClr val="1F4FD8"/>
                </a:solidFill>
                <a:latin typeface="Calibri"/>
              </a:rPr>
              <a:t>4.  </a:t>
            </a:r>
            <a:r>
              <a:rPr sz="950" b="0">
                <a:solidFill>
                  <a:srgbClr val="5B6270"/>
                </a:solidFill>
                <a:latin typeface="Calibri"/>
              </a:rPr>
              <a:t>Sin control no se puede decir cuánto vende Braze.</a:t>
            </a:r>
          </a:p>
          <a:p>
            <a:pPr>
              <a:spcAft>
                <a:spcPts val="350"/>
              </a:spcAft>
            </a:pPr>
            <a:r>
              <a:rPr sz="950" b="1">
                <a:solidFill>
                  <a:srgbClr val="B5342B"/>
                </a:solidFill>
                <a:latin typeface="Calibri"/>
              </a:rPr>
              <a:t>5.  </a:t>
            </a:r>
            <a:r>
              <a:rPr sz="700" b="1">
                <a:solidFill>
                  <a:srgbClr val="B5342B"/>
                </a:solidFill>
                <a:latin typeface="Calibri"/>
              </a:rPr>
              <a:t>CAUSA RAÍZ · SIN MEDICIÓN  </a:t>
            </a:r>
            <a:r>
              <a:rPr sz="950" b="1">
                <a:solidFill>
                  <a:srgbClr val="1A1D24"/>
                </a:solidFill>
                <a:latin typeface="Calibri"/>
              </a:rPr>
              <a:t>Faltan porque nadie pidió a Datos las extracciones de hora, dispositivo y rebotes.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Con hora y dispositivo se cierra Intelligent Timing contra control.</a:t>
            </a:r>
          </a:p>
          <a:p>
            <a:r>
              <a:rPr sz="700" b="1">
                <a:solidFill>
                  <a:srgbClr val="1F4FD8"/>
                </a:solidFill>
                <a:latin typeface="Calibri"/>
              </a:rPr>
              <a:t>O  </a:t>
            </a:r>
            <a:r>
              <a:rPr sz="750">
                <a:solidFill>
                  <a:srgbClr val="5B6270"/>
                </a:solidFill>
                <a:latin typeface="Calibri"/>
              </a:rPr>
              <a:t>Son 3 extracciones de Databricks de un día de trabajo.</a:t>
            </a:r>
          </a:p>
          <a:p>
            <a:r>
              <a:rPr sz="700" b="1">
                <a:solidFill>
                  <a:srgbClr val="1F4FD8"/>
                </a:solidFill>
                <a:latin typeface="Calibri"/>
              </a:rPr>
              <a:t>G  </a:t>
            </a:r>
            <a:r>
              <a:rPr sz="750">
                <a:solidFill>
                  <a:srgbClr val="5B6270"/>
                </a:solidFill>
                <a:latin typeface="Calibri"/>
              </a:rPr>
              <a:t>Finanzas entrega el contrato de Braze en la semana 1.</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Datos agrega hora, dispositivo y rebotes a las extracciones E4 y E7; Finanzas comparte el costo fijo de Braze. Semana 4: control activo. Semana 8: 6 de 8 preguntas respondidas en el Sheets. Métrica: preguntas abiertas, hoy 8, meta 2.</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Con hora, dispositivo y rebotes en Databricks y control en Braze, en 60 días se responden 6 de las 8 preguntas.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Tres datos y el costo fijo de Braze cierran lo que falta: se piden a Datos y Finanzas en las semanas 1 y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E. EL PLAN</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Ocho tareas con dueño esta semana: 48 campañas a apagar en la semana 1 y 7 exclusiones en la semana 2; si se aprueban hoy, el ahorro empieza en 7 días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Plan de acción</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59</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tareas con dueño esta semana</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48</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campañas a apagar en la semana 1</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exclusiones a cargar en la semana 2</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9" cy="2011680"/>
        </p:xfrm>
        <a:graphic>
          <a:graphicData uri="http://schemas.openxmlformats.org/drawingml/2006/table">
            <a:tbl>
              <a:tblPr firstRow="1" bandRow="1">
                <a:tableStyleId>{5C22544A-7EE6-4342-B048-85BDC9FD1C3A}</a:tableStyleId>
              </a:tblPr>
              <a:tblGrid>
                <a:gridCol w="4169664"/>
                <a:gridCol w="2015337"/>
                <a:gridCol w="764438"/>
              </a:tblGrid>
              <a:tr h="223520">
                <a:tc>
                  <a:txBody>
                    <a:bodyPr wrap="square"/>
                    <a:lstStyle/>
                    <a:p>
                      <a:r>
                        <a:rPr sz="800" b="1">
                          <a:solidFill>
                            <a:srgbClr val="5B6270"/>
                          </a:solidFill>
                          <a:latin typeface="Calibri"/>
                        </a:rPr>
                        <a:t>Qué</a:t>
                      </a:r>
                    </a:p>
                  </a:txBody>
                  <a:tcPr marL="45720" marR="45720" marT="18288" marB="18288">
                    <a:solidFill>
                      <a:srgbClr val="FFFFFF"/>
                    </a:solidFill>
                  </a:tcPr>
                </a:tc>
                <a:tc>
                  <a:txBody>
                    <a:bodyPr wrap="square"/>
                    <a:lstStyle/>
                    <a:p>
                      <a:r>
                        <a:rPr sz="800" b="1">
                          <a:solidFill>
                            <a:srgbClr val="5B6270"/>
                          </a:solidFill>
                          <a:latin typeface="Calibri"/>
                        </a:rPr>
                        <a:t>Quién</a:t>
                      </a:r>
                    </a:p>
                  </a:txBody>
                  <a:tcPr marL="45720" marR="45720" marT="18288" marB="18288">
                    <a:solidFill>
                      <a:srgbClr val="FFFFFF"/>
                    </a:solidFill>
                  </a:tcPr>
                </a:tc>
                <a:tc>
                  <a:txBody>
                    <a:bodyPr wrap="square"/>
                    <a:lstStyle/>
                    <a:p>
                      <a:r>
                        <a:rPr sz="800" b="1">
                          <a:solidFill>
                            <a:srgbClr val="5B6270"/>
                          </a:solidFill>
                          <a:latin typeface="Calibri"/>
                        </a:rPr>
                        <a:t>Cuándo</a:t>
                      </a:r>
                    </a:p>
                  </a:txBody>
                  <a:tcPr marL="45720" marR="45720" marT="18288" marB="18288">
                    <a:solidFill>
                      <a:srgbClr val="FFFFFF"/>
                    </a:solidFill>
                  </a:tcPr>
                </a:tc>
              </a:tr>
              <a:tr h="223520">
                <a:tc>
                  <a:txBody>
                    <a:bodyPr wrap="square"/>
                    <a:lstStyle/>
                    <a:p>
                      <a:r>
                        <a:rPr sz="900" b="1">
                          <a:solidFill>
                            <a:srgbClr val="1A1D24"/>
                          </a:solidFill>
                          <a:latin typeface="Calibri"/>
                        </a:rPr>
                        <a:t>Aprobar el plan de acción por campaña (582) y el playbook</a:t>
                      </a:r>
                    </a:p>
                  </a:txBody>
                  <a:tcPr marL="45720" marR="45720" marT="18288" marB="18288">
                    <a:solidFill>
                      <a:srgbClr val="FFFFFF"/>
                    </a:solidFill>
                  </a:tcPr>
                </a:tc>
                <a:tc>
                  <a:txBody>
                    <a:bodyPr wrap="square"/>
                    <a:lstStyle/>
                    <a:p>
                      <a:r>
                        <a:rPr sz="900" b="0">
                          <a:solidFill>
                            <a:srgbClr val="1A1D24"/>
                          </a:solidFill>
                          <a:latin typeface="Calibri"/>
                        </a:rPr>
                        <a:t>Dirección y líderes de equipo</a:t>
                      </a:r>
                    </a:p>
                  </a:txBody>
                  <a:tcPr marL="45720" marR="45720" marT="18288" marB="18288">
                    <a:solidFill>
                      <a:srgbClr val="FFFFFF"/>
                    </a:solidFill>
                  </a:tcPr>
                </a:tc>
                <a:tc>
                  <a:txBody>
                    <a:bodyPr wrap="square"/>
                    <a:lstStyle/>
                    <a:p>
                      <a:r>
                        <a:rPr sz="900" b="0">
                          <a:solidFill>
                            <a:srgbClr val="1A1D24"/>
                          </a:solidFill>
                          <a:latin typeface="Calibri"/>
                        </a:rPr>
                        <a:t>Esta semana</a:t>
                      </a:r>
                    </a:p>
                  </a:txBody>
                  <a:tcPr marL="45720" marR="45720" marT="18288" marB="18288">
                    <a:solidFill>
                      <a:srgbClr val="FFFFFF"/>
                    </a:solidFill>
                  </a:tcPr>
                </a:tc>
              </a:tr>
              <a:tr h="223520">
                <a:tc>
                  <a:txBody>
                    <a:bodyPr wrap="square"/>
                    <a:lstStyle/>
                    <a:p>
                      <a:r>
                        <a:rPr sz="900" b="1">
                          <a:solidFill>
                            <a:srgbClr val="1A1D24"/>
                          </a:solidFill>
                          <a:latin typeface="Calibri"/>
                        </a:rPr>
                        <a:t>Apagar las 48 campañas con señal y pausar las 171 pruebas</a:t>
                      </a:r>
                    </a:p>
                  </a:txBody>
                  <a:tcPr marL="45720" marR="45720" marT="18288" marB="18288">
                    <a:solidFill>
                      <a:srgbClr val="F6F7F9"/>
                    </a:solidFill>
                  </a:tcPr>
                </a:tc>
                <a:tc>
                  <a:txBody>
                    <a:bodyPr wrap="square"/>
                    <a:lstStyle/>
                    <a:p>
                      <a:r>
                        <a:rPr sz="900" b="0">
                          <a:solidFill>
                            <a:srgbClr val="1A1D24"/>
                          </a:solidFill>
                          <a:latin typeface="Calibri"/>
                        </a:rPr>
                        <a:t>Cada equipo con MarTech</a:t>
                      </a:r>
                    </a:p>
                  </a:txBody>
                  <a:tcPr marL="45720" marR="45720" marT="18288" marB="18288">
                    <a:solidFill>
                      <a:srgbClr val="F6F7F9"/>
                    </a:solidFill>
                  </a:tcPr>
                </a:tc>
                <a:tc>
                  <a:txBody>
                    <a:bodyPr wrap="square"/>
                    <a:lstStyle/>
                    <a:p>
                      <a:r>
                        <a:rPr sz="900" b="0">
                          <a:solidFill>
                            <a:srgbClr val="1A1D24"/>
                          </a:solidFill>
                          <a:latin typeface="Calibri"/>
                        </a:rPr>
                        <a:t>Semana 1</a:t>
                      </a:r>
                    </a:p>
                  </a:txBody>
                  <a:tcPr marL="45720" marR="45720" marT="18288" marB="18288">
                    <a:solidFill>
                      <a:srgbClr val="F6F7F9"/>
                    </a:solidFill>
                  </a:tcPr>
                </a:tc>
              </a:tr>
              <a:tr h="223520">
                <a:tc>
                  <a:txBody>
                    <a:bodyPr wrap="square"/>
                    <a:lstStyle/>
                    <a:p>
                      <a:r>
                        <a:rPr sz="900" b="1">
                          <a:solidFill>
                            <a:srgbClr val="1A1D24"/>
                          </a:solidFill>
                          <a:latin typeface="Calibri"/>
                        </a:rPr>
                        <a:t>Cargar las 7 exclusiones y el frequency cap en Braze</a:t>
                      </a:r>
                    </a:p>
                  </a:txBody>
                  <a:tcPr marL="45720" marR="45720" marT="18288" marB="18288">
                    <a:solidFill>
                      <a:srgbClr val="FFFFFF"/>
                    </a:solidFill>
                  </a:tcPr>
                </a:tc>
                <a:tc>
                  <a:txBody>
                    <a:bodyPr wrap="square"/>
                    <a:lstStyle/>
                    <a:p>
                      <a:r>
                        <a:rPr sz="900" b="0">
                          <a:solidFill>
                            <a:srgbClr val="1A1D24"/>
                          </a:solidFill>
                          <a:latin typeface="Calibri"/>
                        </a:rPr>
                        <a:t>MarTech con Legal y Riesgo</a:t>
                      </a:r>
                    </a:p>
                  </a:txBody>
                  <a:tcPr marL="45720" marR="45720" marT="18288" marB="18288">
                    <a:solidFill>
                      <a:srgbClr val="FFFFFF"/>
                    </a:solidFill>
                  </a:tcPr>
                </a:tc>
                <a:tc>
                  <a:txBody>
                    <a:bodyPr wrap="square"/>
                    <a:lstStyle/>
                    <a:p>
                      <a:r>
                        <a:rPr sz="900" b="0">
                          <a:solidFill>
                            <a:srgbClr val="1A1D24"/>
                          </a:solidFill>
                          <a:latin typeface="Calibri"/>
                        </a:rPr>
                        <a:t>Semana 2</a:t>
                      </a:r>
                    </a:p>
                  </a:txBody>
                  <a:tcPr marL="45720" marR="45720" marT="18288" marB="18288">
                    <a:solidFill>
                      <a:srgbClr val="FFFFFF"/>
                    </a:solidFill>
                  </a:tcPr>
                </a:tc>
              </a:tr>
              <a:tr h="223520">
                <a:tc>
                  <a:txBody>
                    <a:bodyPr wrap="square"/>
                    <a:lstStyle/>
                    <a:p>
                      <a:r>
                        <a:rPr sz="900" b="1">
                          <a:solidFill>
                            <a:srgbClr val="1A1D24"/>
                          </a:solidFill>
                          <a:latin typeface="Calibri"/>
                        </a:rPr>
                        <a:t>Nombrar dueños: MarTech, CRM y uno por familia de segmentos</a:t>
                      </a:r>
                    </a:p>
                  </a:txBody>
                  <a:tcPr marL="45720" marR="45720" marT="18288" marB="18288">
                    <a:solidFill>
                      <a:srgbClr val="F6F7F9"/>
                    </a:solidFill>
                  </a:tcPr>
                </a:tc>
                <a:tc>
                  <a:txBody>
                    <a:bodyPr wrap="square"/>
                    <a:lstStyle/>
                    <a:p>
                      <a:r>
                        <a:rPr sz="900" b="0">
                          <a:solidFill>
                            <a:srgbClr val="1A1D24"/>
                          </a:solidFill>
                          <a:latin typeface="Calibri"/>
                        </a:rPr>
                        <a:t>Dirección</a:t>
                      </a:r>
                    </a:p>
                  </a:txBody>
                  <a:tcPr marL="45720" marR="45720" marT="18288" marB="18288">
                    <a:solidFill>
                      <a:srgbClr val="F6F7F9"/>
                    </a:solidFill>
                  </a:tcPr>
                </a:tc>
                <a:tc>
                  <a:txBody>
                    <a:bodyPr wrap="square"/>
                    <a:lstStyle/>
                    <a:p>
                      <a:r>
                        <a:rPr sz="900" b="0">
                          <a:solidFill>
                            <a:srgbClr val="1A1D24"/>
                          </a:solidFill>
                          <a:latin typeface="Calibri"/>
                        </a:rPr>
                        <a:t>Semana 1</a:t>
                      </a:r>
                    </a:p>
                  </a:txBody>
                  <a:tcPr marL="45720" marR="45720" marT="18288" marB="18288">
                    <a:solidFill>
                      <a:srgbClr val="F6F7F9"/>
                    </a:solidFill>
                  </a:tcPr>
                </a:tc>
              </a:tr>
              <a:tr h="223520">
                <a:tc>
                  <a:txBody>
                    <a:bodyPr wrap="square"/>
                    <a:lstStyle/>
                    <a:p>
                      <a:r>
                        <a:rPr sz="900" b="1">
                          <a:solidFill>
                            <a:srgbClr val="1A1D24"/>
                          </a:solidFill>
                          <a:latin typeface="Calibri"/>
                        </a:rPr>
                        <a:t>Confirmar el costo fijo de Braze y la base de cobro de WhatsApp</a:t>
                      </a:r>
                    </a:p>
                  </a:txBody>
                  <a:tcPr marL="45720" marR="45720" marT="18288" marB="18288">
                    <a:solidFill>
                      <a:srgbClr val="FFFFFF"/>
                    </a:solidFill>
                  </a:tcPr>
                </a:tc>
                <a:tc>
                  <a:txBody>
                    <a:bodyPr wrap="square"/>
                    <a:lstStyle/>
                    <a:p>
                      <a:r>
                        <a:rPr sz="900" b="0">
                          <a:solidFill>
                            <a:srgbClr val="1A1D24"/>
                          </a:solidFill>
                          <a:latin typeface="Calibri"/>
                        </a:rPr>
                        <a:t>Finanzas y MarTech</a:t>
                      </a:r>
                    </a:p>
                  </a:txBody>
                  <a:tcPr marL="45720" marR="45720" marT="18288" marB="18288">
                    <a:solidFill>
                      <a:srgbClr val="FFFFFF"/>
                    </a:solidFill>
                  </a:tcPr>
                </a:tc>
                <a:tc>
                  <a:txBody>
                    <a:bodyPr wrap="square"/>
                    <a:lstStyle/>
                    <a:p>
                      <a:r>
                        <a:rPr sz="900" b="0">
                          <a:solidFill>
                            <a:srgbClr val="1A1D24"/>
                          </a:solidFill>
                          <a:latin typeface="Calibri"/>
                        </a:rPr>
                        <a:t>Semana 1</a:t>
                      </a:r>
                    </a:p>
                  </a:txBody>
                  <a:tcPr marL="45720" marR="45720" marT="18288" marB="18288">
                    <a:solidFill>
                      <a:srgbClr val="FFFFFF"/>
                    </a:solidFill>
                  </a:tcPr>
                </a:tc>
              </a:tr>
              <a:tr h="223520">
                <a:tc>
                  <a:txBody>
                    <a:bodyPr wrap="square"/>
                    <a:lstStyle/>
                    <a:p>
                      <a:r>
                        <a:rPr sz="900" b="1">
                          <a:solidFill>
                            <a:srgbClr val="1A1D24"/>
                          </a:solidFill>
                          <a:latin typeface="Calibri"/>
                        </a:rPr>
                        <a:t>Pedir a Datos hora, dispositivo y rebotes en Databricks</a:t>
                      </a:r>
                    </a:p>
                  </a:txBody>
                  <a:tcPr marL="45720" marR="45720" marT="18288" marB="18288">
                    <a:solidFill>
                      <a:srgbClr val="F6F7F9"/>
                    </a:solidFill>
                  </a:tcPr>
                </a:tc>
                <a:tc>
                  <a:txBody>
                    <a:bodyPr wrap="square"/>
                    <a:lstStyle/>
                    <a:p>
                      <a:r>
                        <a:rPr sz="900" b="0">
                          <a:solidFill>
                            <a:srgbClr val="1A1D24"/>
                          </a:solidFill>
                          <a:latin typeface="Calibri"/>
                        </a:rPr>
                        <a:t>CRM</a:t>
                      </a:r>
                    </a:p>
                  </a:txBody>
                  <a:tcPr marL="45720" marR="45720" marT="18288" marB="18288">
                    <a:solidFill>
                      <a:srgbClr val="F6F7F9"/>
                    </a:solidFill>
                  </a:tcPr>
                </a:tc>
                <a:tc>
                  <a:txBody>
                    <a:bodyPr wrap="square"/>
                    <a:lstStyle/>
                    <a:p>
                      <a:r>
                        <a:rPr sz="900" b="0">
                          <a:solidFill>
                            <a:srgbClr val="1A1D24"/>
                          </a:solidFill>
                          <a:latin typeface="Calibri"/>
                        </a:rPr>
                        <a:t>Semana 2</a:t>
                      </a:r>
                    </a:p>
                  </a:txBody>
                  <a:tcPr marL="45720" marR="45720" marT="18288" marB="18288">
                    <a:solidFill>
                      <a:srgbClr val="F6F7F9"/>
                    </a:solidFill>
                  </a:tcPr>
                </a:tc>
              </a:tr>
              <a:tr h="223520">
                <a:tc>
                  <a:txBody>
                    <a:bodyPr wrap="square"/>
                    <a:lstStyle/>
                    <a:p>
                      <a:r>
                        <a:rPr sz="900" b="1">
                          <a:solidFill>
                            <a:srgbClr val="1A1D24"/>
                          </a:solidFill>
                          <a:latin typeface="Calibri"/>
                        </a:rPr>
                        <a:t>Primer comité quincenal con el calendario de noviembre</a:t>
                      </a:r>
                    </a:p>
                  </a:txBody>
                  <a:tcPr marL="45720" marR="45720" marT="18288" marB="18288">
                    <a:solidFill>
                      <a:srgbClr val="FFFFFF"/>
                    </a:solidFill>
                  </a:tcPr>
                </a:tc>
                <a:tc>
                  <a:txBody>
                    <a:bodyPr wrap="square"/>
                    <a:lstStyle/>
                    <a:p>
                      <a:r>
                        <a:rPr sz="900" b="0">
                          <a:solidFill>
                            <a:srgbClr val="1A1D24"/>
                          </a:solidFill>
                          <a:latin typeface="Calibri"/>
                        </a:rPr>
                        <a:t>CRM</a:t>
                      </a:r>
                    </a:p>
                  </a:txBody>
                  <a:tcPr marL="45720" marR="45720" marT="18288" marB="18288">
                    <a:solidFill>
                      <a:srgbClr val="FFFFFF"/>
                    </a:solidFill>
                  </a:tcPr>
                </a:tc>
                <a:tc>
                  <a:txBody>
                    <a:bodyPr wrap="square"/>
                    <a:lstStyle/>
                    <a:p>
                      <a:r>
                        <a:rPr sz="900" b="0">
                          <a:solidFill>
                            <a:srgbClr val="1A1D24"/>
                          </a:solidFill>
                          <a:latin typeface="Calibri"/>
                        </a:rPr>
                        <a:t>Semana 3</a:t>
                      </a:r>
                    </a:p>
                  </a:txBody>
                  <a:tcPr marL="45720" marR="45720" marT="18288" marB="18288">
                    <a:solidFill>
                      <a:srgbClr val="FFFFFF"/>
                    </a:solidFill>
                  </a:tcPr>
                </a:tc>
              </a:tr>
              <a:tr h="223520">
                <a:tc>
                  <a:txBody>
                    <a:bodyPr wrap="square"/>
                    <a:lstStyle/>
                    <a:p>
                      <a:r>
                        <a:rPr sz="900" b="1">
                          <a:solidFill>
                            <a:srgbClr val="1A1D24"/>
                          </a:solidFill>
                          <a:latin typeface="Calibri"/>
                        </a:rPr>
                        <a:t>Primer corte mensual del Sheets con el plan ejecutado</a:t>
                      </a:r>
                    </a:p>
                  </a:txBody>
                  <a:tcPr marL="45720" marR="45720" marT="18288" marB="18288">
                    <a:solidFill>
                      <a:srgbClr val="F6F7F9"/>
                    </a:solidFill>
                  </a:tcPr>
                </a:tc>
                <a:tc>
                  <a:txBody>
                    <a:bodyPr wrap="square"/>
                    <a:lstStyle/>
                    <a:p>
                      <a:r>
                        <a:rPr sz="900" b="0">
                          <a:solidFill>
                            <a:srgbClr val="1A1D24"/>
                          </a:solidFill>
                          <a:latin typeface="Calibri"/>
                        </a:rPr>
                        <a:t>Datos y CRM</a:t>
                      </a:r>
                    </a:p>
                  </a:txBody>
                  <a:tcPr marL="45720" marR="45720" marT="18288" marB="18288">
                    <a:solidFill>
                      <a:srgbClr val="F6F7F9"/>
                    </a:solidFill>
                  </a:tcPr>
                </a:tc>
                <a:tc>
                  <a:txBody>
                    <a:bodyPr wrap="square"/>
                    <a:lstStyle/>
                    <a:p>
                      <a:r>
                        <a:rPr sz="900" b="0">
                          <a:solidFill>
                            <a:srgbClr val="1A1D24"/>
                          </a:solidFill>
                          <a:latin typeface="Calibri"/>
                        </a:rPr>
                        <a:t>Mes 2</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8 tareas con dueño: apagar 48 (Product Growth, Marketing), 7 exclusiones (MarTech), pausar 171 pruebas (MarTech), control 10 % (MarTech), calendario (CRM), dueños (Dirección), datos (Datos), costo fijo (Finanzas).</a:t>
            </a:r>
          </a:p>
          <a:p>
            <a:pPr>
              <a:spcAft>
                <a:spcPts val="350"/>
              </a:spcAft>
            </a:pPr>
            <a:r>
              <a:rPr sz="900" b="1">
                <a:solidFill>
                  <a:srgbClr val="1F4FD8"/>
                </a:solidFill>
                <a:latin typeface="Calibri"/>
              </a:rPr>
              <a:t>2.  </a:t>
            </a:r>
            <a:r>
              <a:rPr sz="900" b="0">
                <a:solidFill>
                  <a:srgbClr val="5B6270"/>
                </a:solidFill>
                <a:latin typeface="Calibri"/>
              </a:rPr>
              <a:t>Atacan las causas con más peso: masivos sin segmento, WhatsApp a quien no lee, exclusiones, pruebas a usuarios reales.</a:t>
            </a:r>
          </a:p>
          <a:p>
            <a:pPr>
              <a:spcAft>
                <a:spcPts val="350"/>
              </a:spcAft>
            </a:pPr>
            <a:r>
              <a:rPr sz="900" b="1">
                <a:solidFill>
                  <a:srgbClr val="1F4FD8"/>
                </a:solidFill>
                <a:latin typeface="Calibri"/>
              </a:rPr>
              <a:t>3.  </a:t>
            </a:r>
            <a:r>
              <a:rPr sz="900" b="0">
                <a:solidFill>
                  <a:srgbClr val="5B6270"/>
                </a:solidFill>
                <a:latin typeface="Calibri"/>
              </a:rPr>
              <a:t>Ninguna requiere desarrollo: son decisiones y configuración.</a:t>
            </a:r>
          </a:p>
          <a:p>
            <a:pPr>
              <a:spcAft>
                <a:spcPts val="350"/>
              </a:spcAft>
            </a:pPr>
            <a:r>
              <a:rPr sz="900" b="1">
                <a:solidFill>
                  <a:srgbClr val="1F4FD8"/>
                </a:solidFill>
                <a:latin typeface="Calibri"/>
              </a:rPr>
              <a:t>4.  </a:t>
            </a:r>
            <a:r>
              <a:rPr sz="900" b="0">
                <a:solidFill>
                  <a:srgbClr val="5B6270"/>
                </a:solidFill>
                <a:latin typeface="Calibri"/>
              </a:rPr>
              <a:t>El ahorro de la semana 1 (apagar) no depende de las demás.</a:t>
            </a:r>
          </a:p>
          <a:p>
            <a:pPr>
              <a:spcAft>
                <a:spcPts val="350"/>
              </a:spcAft>
            </a:pPr>
            <a:r>
              <a:rPr sz="900" b="1">
                <a:solidFill>
                  <a:srgbClr val="B5342B"/>
                </a:solidFill>
                <a:latin typeface="Calibri"/>
              </a:rPr>
              <a:t>5.  </a:t>
            </a:r>
            <a:r>
              <a:rPr sz="700" b="1">
                <a:solidFill>
                  <a:srgbClr val="B5342B"/>
                </a:solidFill>
                <a:latin typeface="Calibri"/>
              </a:rPr>
              <a:t>CAUSA RAÍZ · OPERACIÓN  </a:t>
            </a:r>
            <a:r>
              <a:rPr sz="900" b="1">
                <a:solidFill>
                  <a:srgbClr val="1A1D24"/>
                </a:solidFill>
                <a:latin typeface="Calibri"/>
              </a:rPr>
              <a:t>Hoy y no después: cada semana de espera cuesta cerca de 400 mil MXN y 12 mil bajas.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La semana 1 ya rinde cerca de 1.0 M MXN al mes.</a:t>
            </a:r>
          </a:p>
          <a:p>
            <a:r>
              <a:rPr sz="700" b="1">
                <a:solidFill>
                  <a:srgbClr val="1F4FD8"/>
                </a:solidFill>
                <a:latin typeface="Calibri"/>
              </a:rPr>
              <a:t>O  </a:t>
            </a:r>
            <a:r>
              <a:rPr sz="750">
                <a:solidFill>
                  <a:srgbClr val="5B6270"/>
                </a:solidFill>
                <a:latin typeface="Calibri"/>
              </a:rPr>
              <a:t>Ocho tareas con dueño y fecha se ejecutan sin proyecto.</a:t>
            </a:r>
          </a:p>
          <a:p>
            <a:r>
              <a:rPr sz="700" b="1">
                <a:solidFill>
                  <a:srgbClr val="1F4FD8"/>
                </a:solidFill>
                <a:latin typeface="Calibri"/>
              </a:rPr>
              <a:t>G  </a:t>
            </a:r>
            <a:r>
              <a:rPr sz="750">
                <a:solidFill>
                  <a:srgbClr val="5B6270"/>
                </a:solidFill>
                <a:latin typeface="Calibri"/>
              </a:rPr>
              <a:t>Requiere que Dirección apruebe hoy y nombre dueños.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Hoy: Dirección aprueba y nombra dueños. Lunes: Product Growth y Marketing apagan; MarTech carga exclusiones y control; CRM publica el calendario. Viernes: primer tablero semanal. Métrica: tareas cumplidas al viernes, meta 8 de 8.</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Si las 8 tareas se cumplen, el ahorro empieza en la semana 1 y el primer lift se lee en el mes 2.</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Ocho acciones con dueño y fecha: si se aprueban hoy, el ahorro empieza en la semana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1280160"/>
          </a:xfrm>
          <a:prstGeom prst="rect">
            <a:avLst/>
          </a:prstGeom>
          <a:noFill/>
        </p:spPr>
        <p:txBody>
          <a:bodyPr wrap="square" lIns="18288" rIns="18288" tIns="18288" bIns="18288" anchor="t">
            <a:spAutoFit/>
          </a:bodyPr>
          <a:lstStyle/>
          <a:p>
            <a:pPr algn="l"/>
            <a:r>
              <a:rPr sz="7200" b="1">
                <a:solidFill>
                  <a:srgbClr val="FFFFFF"/>
                </a:solidFill>
                <a:latin typeface="Calibri"/>
              </a:rPr>
              <a:t>Anexo</a:t>
            </a:r>
          </a:p>
        </p:txBody>
      </p:sp>
      <p:sp>
        <p:nvSpPr>
          <p:cNvPr id="4" name="TextBox 3"/>
          <p:cNvSpPr txBox="1"/>
          <p:nvPr/>
        </p:nvSpPr>
        <p:spPr>
          <a:xfrm>
            <a:off x="822960" y="2926080"/>
            <a:ext cx="9144000" cy="1097280"/>
          </a:xfrm>
          <a:prstGeom prst="rect">
            <a:avLst/>
          </a:prstGeom>
          <a:noFill/>
        </p:spPr>
        <p:txBody>
          <a:bodyPr wrap="square" lIns="18288" rIns="18288" tIns="18288" bIns="18288" anchor="t">
            <a:spAutoFit/>
          </a:bodyPr>
          <a:lstStyle/>
          <a:p>
            <a:pPr algn="l"/>
            <a:r>
              <a:rPr sz="3200" b="1">
                <a:solidFill>
                  <a:srgbClr val="FFFFFF"/>
                </a:solidFill>
                <a:latin typeface="Calibri"/>
              </a:rPr>
              <a:t>Método, estándares y datos de apoyo</a:t>
            </a:r>
          </a:p>
        </p:txBody>
      </p:sp>
      <p:sp>
        <p:nvSpPr>
          <p:cNvPr id="5" name="TextBox 4"/>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FFFFFF"/>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ANEXO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Método: 18 extracciones agregadas de Databricks, un modelo en Sheets con fórmulas vivas y 471 verificaciones; se reproduce y se audita sin acceso a Braze</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Léeme, Parámetros, Verificación</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61</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18</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extracciones agregadas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471</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verificaciones en el Sheets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datos personales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9" cy="2011680"/>
        </p:xfrm>
        <a:graphic>
          <a:graphicData uri="http://schemas.openxmlformats.org/drawingml/2006/table">
            <a:tbl>
              <a:tblPr firstRow="1" bandRow="1">
                <a:tableStyleId>{5C22544A-7EE6-4342-B048-85BDC9FD1C3A}</a:tableStyleId>
              </a:tblPr>
              <a:tblGrid>
                <a:gridCol w="1093893"/>
                <a:gridCol w="3860800"/>
                <a:gridCol w="1994746"/>
              </a:tblGrid>
              <a:tr h="223520">
                <a:tc>
                  <a:txBody>
                    <a:bodyPr wrap="square"/>
                    <a:lstStyle/>
                    <a:p>
                      <a:r>
                        <a:rPr sz="800" b="1">
                          <a:solidFill>
                            <a:srgbClr val="5B6270"/>
                          </a:solidFill>
                          <a:latin typeface="Calibri"/>
                        </a:rPr>
                        <a:t>Extracción</a:t>
                      </a:r>
                    </a:p>
                  </a:txBody>
                  <a:tcPr marL="45720" marR="45720" marT="18288" marB="18288">
                    <a:solidFill>
                      <a:srgbClr val="FFFFFF"/>
                    </a:solidFill>
                  </a:tcPr>
                </a:tc>
                <a:tc>
                  <a:txBody>
                    <a:bodyPr wrap="square"/>
                    <a:lstStyle/>
                    <a:p>
                      <a:r>
                        <a:rPr sz="800" b="1">
                          <a:solidFill>
                            <a:srgbClr val="5B6270"/>
                          </a:solidFill>
                          <a:latin typeface="Calibri"/>
                        </a:rPr>
                        <a:t>Qué trae</a:t>
                      </a:r>
                    </a:p>
                  </a:txBody>
                  <a:tcPr marL="45720" marR="45720" marT="18288" marB="18288">
                    <a:solidFill>
                      <a:srgbClr val="FFFFFF"/>
                    </a:solidFill>
                  </a:tcPr>
                </a:tc>
                <a:tc>
                  <a:txBody>
                    <a:bodyPr wrap="square"/>
                    <a:lstStyle/>
                    <a:p>
                      <a:r>
                        <a:rPr sz="800" b="1">
                          <a:solidFill>
                            <a:srgbClr val="5B6270"/>
                          </a:solidFill>
                          <a:latin typeface="Calibri"/>
                        </a:rPr>
                        <a:t>Lente</a:t>
                      </a:r>
                    </a:p>
                  </a:txBody>
                  <a:tcPr marL="45720" marR="45720" marT="18288" marB="18288">
                    <a:solidFill>
                      <a:srgbClr val="FFFFFF"/>
                    </a:solidFill>
                  </a:tcPr>
                </a:tc>
              </a:tr>
              <a:tr h="223520">
                <a:tc>
                  <a:txBody>
                    <a:bodyPr wrap="square"/>
                    <a:lstStyle/>
                    <a:p>
                      <a:r>
                        <a:rPr sz="900" b="1">
                          <a:solidFill>
                            <a:srgbClr val="1A1D24"/>
                          </a:solidFill>
                          <a:latin typeface="Calibri"/>
                        </a:rPr>
                        <a:t>E1, E2</a:t>
                      </a:r>
                    </a:p>
                  </a:txBody>
                  <a:tcPr marL="45720" marR="45720" marT="18288" marB="18288">
                    <a:solidFill>
                      <a:srgbClr val="FFFFFF"/>
                    </a:solidFill>
                  </a:tcPr>
                </a:tc>
                <a:tc>
                  <a:txBody>
                    <a:bodyPr wrap="square"/>
                    <a:lstStyle/>
                    <a:p>
                      <a:r>
                        <a:rPr sz="900" b="0">
                          <a:solidFill>
                            <a:srgbClr val="1A1D24"/>
                          </a:solidFill>
                          <a:latin typeface="Calibri"/>
                        </a:rPr>
                        <a:t>Comunicación por mes y canal; catálogo</a:t>
                      </a:r>
                    </a:p>
                  </a:txBody>
                  <a:tcPr marL="45720" marR="45720" marT="18288" marB="18288">
                    <a:solidFill>
                      <a:srgbClr val="FFFFFF"/>
                    </a:solidFill>
                  </a:tcPr>
                </a:tc>
                <a:tc>
                  <a:txBody>
                    <a:bodyPr wrap="square"/>
                    <a:lstStyle/>
                    <a:p>
                      <a:r>
                        <a:rPr sz="900" b="0">
                          <a:solidFill>
                            <a:srgbClr val="1A1D24"/>
                          </a:solidFill>
                          <a:latin typeface="Calibri"/>
                        </a:rPr>
                        <a:t>Campañas, Catálogo, Plan_accion</a:t>
                      </a:r>
                    </a:p>
                  </a:txBody>
                  <a:tcPr marL="45720" marR="45720" marT="18288" marB="18288">
                    <a:solidFill>
                      <a:srgbClr val="FFFFFF"/>
                    </a:solidFill>
                  </a:tcPr>
                </a:tc>
              </a:tr>
              <a:tr h="223520">
                <a:tc>
                  <a:txBody>
                    <a:bodyPr wrap="square"/>
                    <a:lstStyle/>
                    <a:p>
                      <a:r>
                        <a:rPr sz="900" b="1">
                          <a:solidFill>
                            <a:srgbClr val="1A1D24"/>
                          </a:solidFill>
                          <a:latin typeface="Calibri"/>
                        </a:rPr>
                        <a:t>E3, E4a, E4b</a:t>
                      </a:r>
                    </a:p>
                  </a:txBody>
                  <a:tcPr marL="45720" marR="45720" marT="18288" marB="18288">
                    <a:solidFill>
                      <a:srgbClr val="F6F7F9"/>
                    </a:solidFill>
                  </a:tcPr>
                </a:tc>
                <a:tc>
                  <a:txBody>
                    <a:bodyPr wrap="square"/>
                    <a:lstStyle/>
                    <a:p>
                      <a:r>
                        <a:rPr sz="900" b="0">
                          <a:solidFill>
                            <a:srgbClr val="1A1D24"/>
                          </a:solidFill>
                          <a:latin typeface="Calibri"/>
                        </a:rPr>
                        <a:t>Distribución por usuario; serie semanal y mensual; concentración</a:t>
                      </a:r>
                    </a:p>
                  </a:txBody>
                  <a:tcPr marL="45720" marR="45720" marT="18288" marB="18288">
                    <a:solidFill>
                      <a:srgbClr val="F6F7F9"/>
                    </a:solidFill>
                  </a:tcPr>
                </a:tc>
                <a:tc>
                  <a:txBody>
                    <a:bodyPr wrap="square"/>
                    <a:lstStyle/>
                    <a:p>
                      <a:r>
                        <a:rPr sz="900" b="0">
                          <a:solidFill>
                            <a:srgbClr val="1A1D24"/>
                          </a:solidFill>
                          <a:latin typeface="Calibri"/>
                        </a:rPr>
                        <a:t>Presión, canales</a:t>
                      </a:r>
                    </a:p>
                  </a:txBody>
                  <a:tcPr marL="45720" marR="45720" marT="18288" marB="18288">
                    <a:solidFill>
                      <a:srgbClr val="F6F7F9"/>
                    </a:solidFill>
                  </a:tcPr>
                </a:tc>
              </a:tr>
              <a:tr h="223520">
                <a:tc>
                  <a:txBody>
                    <a:bodyPr wrap="square"/>
                    <a:lstStyle/>
                    <a:p>
                      <a:r>
                        <a:rPr sz="900" b="1">
                          <a:solidFill>
                            <a:srgbClr val="1A1D24"/>
                          </a:solidFill>
                          <a:latin typeface="Calibri"/>
                        </a:rPr>
                        <a:t>E5, E5b, E8</a:t>
                      </a:r>
                    </a:p>
                  </a:txBody>
                  <a:tcPr marL="45720" marR="45720" marT="18288" marB="18288">
                    <a:solidFill>
                      <a:srgbClr val="FFFFFF"/>
                    </a:solidFill>
                  </a:tcPr>
                </a:tc>
                <a:tc>
                  <a:txBody>
                    <a:bodyPr wrap="square"/>
                    <a:lstStyle/>
                    <a:p>
                      <a:r>
                        <a:rPr sz="900" b="0">
                          <a:solidFill>
                            <a:srgbClr val="1A1D24"/>
                          </a:solidFill>
                          <a:latin typeface="Calibri"/>
                        </a:rPr>
                        <a:t>Cohorte de baja; qué llega después; días hasta la baja</a:t>
                      </a:r>
                    </a:p>
                  </a:txBody>
                  <a:tcPr marL="45720" marR="45720" marT="18288" marB="18288">
                    <a:solidFill>
                      <a:srgbClr val="FFFFFF"/>
                    </a:solidFill>
                  </a:tcPr>
                </a:tc>
                <a:tc>
                  <a:txBody>
                    <a:bodyPr wrap="square"/>
                    <a:lstStyle/>
                    <a:p>
                      <a:r>
                        <a:rPr sz="900" b="0">
                          <a:solidFill>
                            <a:srgbClr val="1A1D24"/>
                          </a:solidFill>
                          <a:latin typeface="Calibri"/>
                        </a:rPr>
                        <a:t>Bajas</a:t>
                      </a:r>
                    </a:p>
                  </a:txBody>
                  <a:tcPr marL="45720" marR="45720" marT="18288" marB="18288">
                    <a:solidFill>
                      <a:srgbClr val="FFFFFF"/>
                    </a:solidFill>
                  </a:tcPr>
                </a:tc>
              </a:tr>
              <a:tr h="223520">
                <a:tc>
                  <a:txBody>
                    <a:bodyPr wrap="square"/>
                    <a:lstStyle/>
                    <a:p>
                      <a:r>
                        <a:rPr sz="900" b="1">
                          <a:solidFill>
                            <a:srgbClr val="1A1D24"/>
                          </a:solidFill>
                          <a:latin typeface="Calibri"/>
                        </a:rPr>
                        <a:t>E6a, E6b</a:t>
                      </a:r>
                    </a:p>
                  </a:txBody>
                  <a:tcPr marL="45720" marR="45720" marT="18288" marB="18288">
                    <a:solidFill>
                      <a:srgbClr val="F6F7F9"/>
                    </a:solidFill>
                  </a:tcPr>
                </a:tc>
                <a:tc>
                  <a:txBody>
                    <a:bodyPr wrap="square"/>
                    <a:lstStyle/>
                    <a:p>
                      <a:r>
                        <a:rPr sz="900" b="0">
                          <a:solidFill>
                            <a:srgbClr val="1A1D24"/>
                          </a:solidFill>
                          <a:latin typeface="Calibri"/>
                        </a:rPr>
                        <a:t>Solape por usuario-día; pares de familias</a:t>
                      </a:r>
                    </a:p>
                  </a:txBody>
                  <a:tcPr marL="45720" marR="45720" marT="18288" marB="18288">
                    <a:solidFill>
                      <a:srgbClr val="F6F7F9"/>
                    </a:solidFill>
                  </a:tcPr>
                </a:tc>
                <a:tc>
                  <a:txBody>
                    <a:bodyPr wrap="square"/>
                    <a:lstStyle/>
                    <a:p>
                      <a:r>
                        <a:rPr sz="900" b="0">
                          <a:solidFill>
                            <a:srgbClr val="1A1D24"/>
                          </a:solidFill>
                          <a:latin typeface="Calibri"/>
                        </a:rPr>
                        <a:t>Solapamiento</a:t>
                      </a:r>
                    </a:p>
                  </a:txBody>
                  <a:tcPr marL="45720" marR="45720" marT="18288" marB="18288">
                    <a:solidFill>
                      <a:srgbClr val="F6F7F9"/>
                    </a:solidFill>
                  </a:tcPr>
                </a:tc>
              </a:tr>
              <a:tr h="223520">
                <a:tc>
                  <a:txBody>
                    <a:bodyPr wrap="square"/>
                    <a:lstStyle/>
                    <a:p>
                      <a:r>
                        <a:rPr sz="900" b="1">
                          <a:solidFill>
                            <a:srgbClr val="1A1D24"/>
                          </a:solidFill>
                          <a:latin typeface="Calibri"/>
                        </a:rPr>
                        <a:t>E7a, E7b, E7c, E9</a:t>
                      </a:r>
                    </a:p>
                  </a:txBody>
                  <a:tcPr marL="45720" marR="45720" marT="18288" marB="18288">
                    <a:solidFill>
                      <a:srgbClr val="FFFFFF"/>
                    </a:solidFill>
                  </a:tcPr>
                </a:tc>
                <a:tc>
                  <a:txBody>
                    <a:bodyPr wrap="square"/>
                    <a:lstStyle/>
                    <a:p>
                      <a:r>
                        <a:rPr sz="900" b="0">
                          <a:solidFill>
                            <a:srgbClr val="1A1D24"/>
                          </a:solidFill>
                          <a:latin typeface="Calibri"/>
                        </a:rPr>
                        <a:t>Etapa del golden dataset; canal al que responde; abren contra no abren</a:t>
                      </a:r>
                    </a:p>
                  </a:txBody>
                  <a:tcPr marL="45720" marR="45720" marT="18288" marB="18288">
                    <a:solidFill>
                      <a:srgbClr val="FFFFFF"/>
                    </a:solidFill>
                  </a:tcPr>
                </a:tc>
                <a:tc>
                  <a:txBody>
                    <a:bodyPr wrap="square"/>
                    <a:lstStyle/>
                    <a:p>
                      <a:r>
                        <a:rPr sz="900" b="0">
                          <a:solidFill>
                            <a:srgbClr val="1A1D24"/>
                          </a:solidFill>
                          <a:latin typeface="Calibri"/>
                        </a:rPr>
                        <a:t>Segmentación</a:t>
                      </a:r>
                    </a:p>
                  </a:txBody>
                  <a:tcPr marL="45720" marR="45720" marT="18288" marB="18288">
                    <a:solidFill>
                      <a:srgbClr val="FFFFFF"/>
                    </a:solidFill>
                  </a:tcPr>
                </a:tc>
              </a:tr>
              <a:tr h="223520">
                <a:tc>
                  <a:txBody>
                    <a:bodyPr wrap="square"/>
                    <a:lstStyle/>
                    <a:p>
                      <a:r>
                        <a:rPr sz="900" b="1">
                          <a:solidFill>
                            <a:srgbClr val="1A1D24"/>
                          </a:solidFill>
                          <a:latin typeface="Calibri"/>
                        </a:rPr>
                        <a:t>E10, E11, E12</a:t>
                      </a:r>
                    </a:p>
                  </a:txBody>
                  <a:tcPr marL="45720" marR="45720" marT="18288" marB="18288">
                    <a:solidFill>
                      <a:srgbClr val="F6F7F9"/>
                    </a:solidFill>
                  </a:tcPr>
                </a:tc>
                <a:tc>
                  <a:txBody>
                    <a:bodyPr wrap="square"/>
                    <a:lstStyle/>
                    <a:p>
                      <a:r>
                        <a:rPr sz="900" b="0">
                          <a:solidFill>
                            <a:srgbClr val="1A1D24"/>
                          </a:solidFill>
                          <a:latin typeface="Calibri"/>
                        </a:rPr>
                        <a:t>Día de la semana; segmentos reales; antigüedad</a:t>
                      </a:r>
                    </a:p>
                  </a:txBody>
                  <a:tcPr marL="45720" marR="45720" marT="18288" marB="18288">
                    <a:solidFill>
                      <a:srgbClr val="F6F7F9"/>
                    </a:solidFill>
                  </a:tcPr>
                </a:tc>
                <a:tc>
                  <a:txBody>
                    <a:bodyPr wrap="square"/>
                    <a:lstStyle/>
                    <a:p>
                      <a:r>
                        <a:rPr sz="900" b="0">
                          <a:solidFill>
                            <a:srgbClr val="1A1D24"/>
                          </a:solidFill>
                          <a:latin typeface="Calibri"/>
                        </a:rPr>
                        <a:t>N, P, O</a:t>
                      </a:r>
                    </a:p>
                  </a:txBody>
                  <a:tcPr marL="45720" marR="45720" marT="18288" marB="18288">
                    <a:solidFill>
                      <a:srgbClr val="F6F7F9"/>
                    </a:solidFill>
                  </a:tcPr>
                </a:tc>
              </a:tr>
              <a:tr h="223520">
                <a:tc>
                  <a:txBody>
                    <a:bodyPr wrap="square"/>
                    <a:lstStyle/>
                    <a:p>
                      <a:r>
                        <a:rPr sz="900" b="1">
                          <a:solidFill>
                            <a:srgbClr val="1A1D24"/>
                          </a:solidFill>
                          <a:latin typeface="Calibri"/>
                        </a:rPr>
                        <a:t>E13, E14, E15</a:t>
                      </a:r>
                    </a:p>
                  </a:txBody>
                  <a:tcPr marL="45720" marR="45720" marT="18288" marB="18288">
                    <a:solidFill>
                      <a:srgbClr val="FFFFFF"/>
                    </a:solidFill>
                  </a:tcPr>
                </a:tc>
                <a:tc>
                  <a:txBody>
                    <a:bodyPr wrap="square"/>
                    <a:lstStyle/>
                    <a:p>
                      <a:r>
                        <a:rPr sz="900" b="0">
                          <a:solidFill>
                            <a:srgbClr val="1A1D24"/>
                          </a:solidFill>
                          <a:latin typeface="Calibri"/>
                        </a:rPr>
                        <a:t>Grupos de control; experimentos; pasos de Canvas</a:t>
                      </a:r>
                    </a:p>
                  </a:txBody>
                  <a:tcPr marL="45720" marR="45720" marT="18288" marB="18288">
                    <a:solidFill>
                      <a:srgbClr val="FFFFFF"/>
                    </a:solidFill>
                  </a:tcPr>
                </a:tc>
                <a:tc>
                  <a:txBody>
                    <a:bodyPr wrap="square"/>
                    <a:lstStyle/>
                    <a:p>
                      <a:r>
                        <a:rPr sz="900" b="0">
                          <a:solidFill>
                            <a:srgbClr val="1A1D24"/>
                          </a:solidFill>
                          <a:latin typeface="Calibri"/>
                        </a:rPr>
                        <a:t>Q, R, S</a:t>
                      </a:r>
                    </a:p>
                  </a:txBody>
                  <a:tcPr marL="45720" marR="45720" marT="18288" marB="18288">
                    <a:solidFill>
                      <a:srgbClr val="FFFFFF"/>
                    </a:solidFill>
                  </a:tcPr>
                </a:tc>
              </a:tr>
              <a:tr h="223520">
                <a:tc>
                  <a:txBody>
                    <a:bodyPr wrap="square"/>
                    <a:lstStyle/>
                    <a:p>
                      <a:r>
                        <a:rPr sz="900" b="1">
                          <a:solidFill>
                            <a:srgbClr val="1A1D24"/>
                          </a:solidFill>
                          <a:latin typeface="Calibri"/>
                        </a:rPr>
                        <a:t>E16, E17, E18b</a:t>
                      </a:r>
                    </a:p>
                  </a:txBody>
                  <a:tcPr marL="45720" marR="45720" marT="18288" marB="18288">
                    <a:solidFill>
                      <a:srgbClr val="F6F7F9"/>
                    </a:solidFill>
                  </a:tcPr>
                </a:tc>
                <a:tc>
                  <a:txBody>
                    <a:bodyPr wrap="square"/>
                    <a:lstStyle/>
                    <a:p>
                      <a:r>
                        <a:rPr sz="900" b="0">
                          <a:solidFill>
                            <a:srgbClr val="1A1D24"/>
                          </a:solidFill>
                          <a:latin typeface="Calibri"/>
                        </a:rPr>
                        <a:t>Sin respuesta; canal contactable; llave de dispositivo</a:t>
                      </a:r>
                    </a:p>
                  </a:txBody>
                  <a:tcPr marL="45720" marR="45720" marT="18288" marB="18288">
                    <a:solidFill>
                      <a:srgbClr val="F6F7F9"/>
                    </a:solidFill>
                  </a:tcPr>
                </a:tc>
                <a:tc>
                  <a:txBody>
                    <a:bodyPr wrap="square"/>
                    <a:lstStyle/>
                    <a:p>
                      <a:r>
                        <a:rPr sz="900" b="0">
                          <a:solidFill>
                            <a:srgbClr val="1A1D24"/>
                          </a:solidFill>
                          <a:latin typeface="Calibri"/>
                        </a:rPr>
                        <a:t>T, U</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18 extracciones agregadas, 0 datos personales; respuesta definida por canal (clic email, apertura push, lectura WhatsApp, clic in-app).</a:t>
            </a:r>
          </a:p>
          <a:p>
            <a:pPr>
              <a:spcAft>
                <a:spcPts val="350"/>
              </a:spcAft>
            </a:pPr>
            <a:r>
              <a:rPr sz="900" b="1">
                <a:solidFill>
                  <a:srgbClr val="1F4FD8"/>
                </a:solidFill>
                <a:latin typeface="Calibri"/>
              </a:rPr>
              <a:t>2.  </a:t>
            </a:r>
            <a:r>
              <a:rPr sz="900" b="0">
                <a:solidFill>
                  <a:srgbClr val="5B6270"/>
                </a:solidFill>
                <a:latin typeface="Calibri"/>
              </a:rPr>
              <a:t>Familia: la pieza con todas sus versiones; campaña: familia por canal. Equipo, audiencia y gancho se leen del nombre; 17 % cae en 'otros'.</a:t>
            </a:r>
          </a:p>
          <a:p>
            <a:pPr>
              <a:spcAft>
                <a:spcPts val="350"/>
              </a:spcAft>
            </a:pPr>
            <a:r>
              <a:rPr sz="900" b="1">
                <a:solidFill>
                  <a:srgbClr val="1F4FD8"/>
                </a:solidFill>
                <a:latin typeface="Calibri"/>
              </a:rPr>
              <a:t>3.  </a:t>
            </a:r>
            <a:r>
              <a:rPr sz="900" b="0">
                <a:solidFill>
                  <a:srgbClr val="5B6270"/>
                </a:solidFill>
                <a:latin typeface="Calibri"/>
              </a:rPr>
              <a:t>Costos: email 0.05 MXN por enviado, WhatsApp 1.00 por entregado (parámetros editables).</a:t>
            </a:r>
          </a:p>
          <a:p>
            <a:pPr>
              <a:spcAft>
                <a:spcPts val="350"/>
              </a:spcAft>
            </a:pPr>
            <a:r>
              <a:rPr sz="900" b="1">
                <a:solidFill>
                  <a:srgbClr val="1F4FD8"/>
                </a:solidFill>
                <a:latin typeface="Calibri"/>
              </a:rPr>
              <a:t>4.  </a:t>
            </a:r>
            <a:r>
              <a:rPr sz="900" b="0">
                <a:solidFill>
                  <a:srgbClr val="5B6270"/>
                </a:solidFill>
                <a:latin typeface="Calibri"/>
              </a:rPr>
              <a:t>471 verificaciones cruzan totales entre extracciones; si algo no cuadra, se ve.</a:t>
            </a:r>
          </a:p>
          <a:p>
            <a:pPr>
              <a:spcAft>
                <a:spcPts val="350"/>
              </a:spcAft>
            </a:pPr>
            <a:r>
              <a:rPr sz="900" b="1">
                <a:solidFill>
                  <a:srgbClr val="B5342B"/>
                </a:solidFill>
                <a:latin typeface="Calibri"/>
              </a:rPr>
              <a:t>5.  </a:t>
            </a:r>
            <a:r>
              <a:rPr sz="700" b="1">
                <a:solidFill>
                  <a:srgbClr val="B5342B"/>
                </a:solidFill>
                <a:latin typeface="Calibri"/>
              </a:rPr>
              <a:t>CAUSA RAÍZ · MÉTODO  </a:t>
            </a:r>
            <a:r>
              <a:rPr sz="900" b="1">
                <a:solidFill>
                  <a:srgbClr val="1A1D24"/>
                </a:solidFill>
                <a:latin typeface="Calibri"/>
              </a:rPr>
              <a:t>Límite: sin acceso a Braze no se ven tags ni grupos de control; esos datos se piden en la lámina 58.</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Datos agregados de toda la base bastan para atribuir por pieza, equipo y mes.</a:t>
            </a:r>
          </a:p>
          <a:p>
            <a:r>
              <a:rPr sz="700" b="1">
                <a:solidFill>
                  <a:srgbClr val="1F4FD8"/>
                </a:solidFill>
                <a:latin typeface="Calibri"/>
              </a:rPr>
              <a:t>O  </a:t>
            </a:r>
            <a:r>
              <a:rPr sz="750">
                <a:solidFill>
                  <a:srgbClr val="5B6270"/>
                </a:solidFill>
                <a:latin typeface="Calibri"/>
              </a:rPr>
              <a:t>El modelo se actualiza cada mes con las mismas 18 consultas.</a:t>
            </a:r>
          </a:p>
          <a:p>
            <a:r>
              <a:rPr sz="700" b="1">
                <a:solidFill>
                  <a:srgbClr val="1F4FD8"/>
                </a:solidFill>
                <a:latin typeface="Calibri"/>
              </a:rPr>
              <a:t>G  </a:t>
            </a:r>
            <a:r>
              <a:rPr sz="750">
                <a:solidFill>
                  <a:srgbClr val="5B6270"/>
                </a:solidFill>
                <a:latin typeface="Calibri"/>
              </a:rPr>
              <a:t>Datos es dueño de las extracciones; CRM del Sheets.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Cada mes: Datos corre las 18 consultas (día 1), CRM actualiza el Sheets (día 2) y el deck se regenera (día 3). Cambiar un parámetro recalcula el plan. Métrica: verificaciones en verde, meta 471 de 471.</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Cualquier cambio de parámetro (costo, mínimo, ventana) recalcula el plan y las láminas en minutos.</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Todo es reproducible: cambiar un parámetro (por ejemplo el costo de WhatsApp) recalcula el plan completo. Es el tablero mensual, no un estudio.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ANEXO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Los 24 estándares son el piso de la industria, no una meta de Kueski: 19 están debajo y las 12 reglas pueden pasar 10 a verde en 90 días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Estándares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62</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24</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indicadores con definición y fórmula</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19</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debajo del estándar</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5</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cumplen</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5" cy="2011672"/>
        </p:xfrm>
        <a:graphic>
          <a:graphicData uri="http://schemas.openxmlformats.org/drawingml/2006/table">
            <a:tbl>
              <a:tblPr firstRow="1" bandRow="1">
                <a:tableStyleId>{5C22544A-7EE6-4342-B048-85BDC9FD1C3A}</a:tableStyleId>
              </a:tblPr>
              <a:tblGrid>
                <a:gridCol w="1454533"/>
                <a:gridCol w="323229"/>
                <a:gridCol w="484844"/>
                <a:gridCol w="808074"/>
                <a:gridCol w="1670020"/>
                <a:gridCol w="861946"/>
                <a:gridCol w="1023560"/>
                <a:gridCol w="323229"/>
              </a:tblGrid>
              <a:tr h="154744">
                <a:tc>
                  <a:txBody>
                    <a:bodyPr wrap="square"/>
                    <a:lstStyle/>
                    <a:p>
                      <a:r>
                        <a:rPr sz="650" b="1">
                          <a:solidFill>
                            <a:srgbClr val="5B6270"/>
                          </a:solidFill>
                          <a:latin typeface="Calibri"/>
                        </a:rPr>
                        <a:t>Indicador</a:t>
                      </a:r>
                    </a:p>
                  </a:txBody>
                  <a:tcPr marL="45720" marR="45720" marT="18288" marB="18288">
                    <a:solidFill>
                      <a:srgbClr val="FFFFFF"/>
                    </a:solidFill>
                  </a:tcPr>
                </a:tc>
                <a:tc>
                  <a:txBody>
                    <a:bodyPr wrap="square"/>
                    <a:lstStyle/>
                    <a:p>
                      <a:r>
                        <a:rPr sz="650" b="1">
                          <a:solidFill>
                            <a:srgbClr val="5B6270"/>
                          </a:solidFill>
                          <a:latin typeface="Calibri"/>
                        </a:rPr>
                        <a:t>Hoy</a:t>
                      </a:r>
                    </a:p>
                  </a:txBody>
                  <a:tcPr marL="45720" marR="45720" marT="18288" marB="18288">
                    <a:solidFill>
                      <a:srgbClr val="FFFFFF"/>
                    </a:solidFill>
                  </a:tcPr>
                </a:tc>
                <a:tc>
                  <a:txBody>
                    <a:bodyPr wrap="square"/>
                    <a:lstStyle/>
                    <a:p>
                      <a:r>
                        <a:rPr sz="650" b="1">
                          <a:solidFill>
                            <a:srgbClr val="5B6270"/>
                          </a:solidFill>
                          <a:latin typeface="Calibri"/>
                        </a:rPr>
                        <a:t>Estándar</a:t>
                      </a:r>
                    </a:p>
                  </a:txBody>
                  <a:tcPr marL="45720" marR="45720" marT="18288" marB="18288">
                    <a:solidFill>
                      <a:srgbClr val="FFFFFF"/>
                    </a:solidFill>
                  </a:tcPr>
                </a:tc>
                <a:tc>
                  <a:txBody>
                    <a:bodyPr wrap="square"/>
                    <a:lstStyle/>
                    <a:p>
                      <a:r>
                        <a:rPr sz="650" b="1">
                          <a:solidFill>
                            <a:srgbClr val="5B6270"/>
                          </a:solidFill>
                          <a:latin typeface="Calibri"/>
                        </a:rPr>
                        <a:t>Estado</a:t>
                      </a:r>
                    </a:p>
                  </a:txBody>
                  <a:tcPr marL="45720" marR="45720" marT="18288" marB="18288">
                    <a:solidFill>
                      <a:srgbClr val="FFFFFF"/>
                    </a:solidFill>
                  </a:tcPr>
                </a:tc>
                <a:tc>
                  <a:txBody>
                    <a:bodyPr wrap="square"/>
                    <a:lstStyle/>
                    <a:p>
                      <a:r>
                        <a:rPr sz="650" b="1">
                          <a:solidFill>
                            <a:srgbClr val="5B6270"/>
                          </a:solidFill>
                          <a:latin typeface="Calibri"/>
                        </a:rPr>
                        <a:t>Indicador</a:t>
                      </a:r>
                    </a:p>
                  </a:txBody>
                  <a:tcPr marL="45720" marR="45720" marT="18288" marB="18288">
                    <a:solidFill>
                      <a:srgbClr val="FFFFFF"/>
                    </a:solidFill>
                  </a:tcPr>
                </a:tc>
                <a:tc>
                  <a:txBody>
                    <a:bodyPr wrap="square"/>
                    <a:lstStyle/>
                    <a:p>
                      <a:r>
                        <a:rPr sz="650" b="1">
                          <a:solidFill>
                            <a:srgbClr val="5B6270"/>
                          </a:solidFill>
                          <a:latin typeface="Calibri"/>
                        </a:rPr>
                        <a:t>Hoy</a:t>
                      </a:r>
                    </a:p>
                  </a:txBody>
                  <a:tcPr marL="45720" marR="45720" marT="18288" marB="18288">
                    <a:solidFill>
                      <a:srgbClr val="FFFFFF"/>
                    </a:solidFill>
                  </a:tcPr>
                </a:tc>
                <a:tc>
                  <a:txBody>
                    <a:bodyPr wrap="square"/>
                    <a:lstStyle/>
                    <a:p>
                      <a:r>
                        <a:rPr sz="650" b="1">
                          <a:solidFill>
                            <a:srgbClr val="5B6270"/>
                          </a:solidFill>
                          <a:latin typeface="Calibri"/>
                        </a:rPr>
                        <a:t>Estándar</a:t>
                      </a:r>
                    </a:p>
                  </a:txBody>
                  <a:tcPr marL="45720" marR="45720" marT="18288" marB="18288">
                    <a:solidFill>
                      <a:srgbClr val="FFFFFF"/>
                    </a:solidFill>
                  </a:tcPr>
                </a:tc>
                <a:tc>
                  <a:txBody>
                    <a:bodyPr wrap="square"/>
                    <a:lstStyle/>
                    <a:p>
                      <a:r>
                        <a:rPr sz="650" b="1">
                          <a:solidFill>
                            <a:srgbClr val="5B6270"/>
                          </a:solidFill>
                          <a:latin typeface="Calibri"/>
                        </a:rPr>
                        <a:t>Estado</a:t>
                      </a:r>
                    </a:p>
                  </a:txBody>
                  <a:tcPr marL="45720" marR="45720" marT="18288" marB="18288">
                    <a:solidFill>
                      <a:srgbClr val="FFFFFF"/>
                    </a:solidFill>
                  </a:tcPr>
                </a:tc>
              </a:tr>
              <a:tr h="154744">
                <a:tc>
                  <a:txBody>
                    <a:bodyPr wrap="square"/>
                    <a:lstStyle/>
                    <a:p>
                      <a:r>
                        <a:rPr sz="750" b="1">
                          <a:solidFill>
                            <a:srgbClr val="1A1D24"/>
                          </a:solidFill>
                          <a:latin typeface="Calibri"/>
                        </a:rPr>
                        <a:t>Entrega de email</a:t>
                      </a:r>
                    </a:p>
                  </a:txBody>
                  <a:tcPr marL="45720" marR="45720" marT="18288" marB="18288">
                    <a:solidFill>
                      <a:srgbClr val="FFFFFF"/>
                    </a:solidFill>
                  </a:tcPr>
                </a:tc>
                <a:tc>
                  <a:txBody>
                    <a:bodyPr wrap="square"/>
                    <a:lstStyle/>
                    <a:p>
                      <a:r>
                        <a:rPr sz="750" b="0">
                          <a:solidFill>
                            <a:srgbClr val="1A1D24"/>
                          </a:solidFill>
                          <a:latin typeface="Calibri"/>
                        </a:rPr>
                        <a:t>95.1 %</a:t>
                      </a:r>
                    </a:p>
                  </a:txBody>
                  <a:tcPr marL="45720" marR="45720" marT="18288" marB="18288">
                    <a:solidFill>
                      <a:srgbClr val="FFFFFF"/>
                    </a:solidFill>
                  </a:tcPr>
                </a:tc>
                <a:tc>
                  <a:txBody>
                    <a:bodyPr wrap="square"/>
                    <a:lstStyle/>
                    <a:p>
                      <a:r>
                        <a:rPr sz="750" b="0">
                          <a:solidFill>
                            <a:srgbClr val="1A1D24"/>
                          </a:solidFill>
                          <a:latin typeface="Calibri"/>
                        </a:rPr>
                        <a:t>95 %</a:t>
                      </a:r>
                    </a:p>
                  </a:txBody>
                  <a:tcPr marL="45720" marR="45720" marT="18288" marB="18288">
                    <a:solidFill>
                      <a:srgbClr val="FFFFFF"/>
                    </a:solidFill>
                  </a:tcPr>
                </a:tc>
                <a:tc>
                  <a:txBody>
                    <a:bodyPr wrap="square"/>
                    <a:lstStyle/>
                    <a:p>
                      <a:r>
                        <a:rPr sz="750" b="1">
                          <a:solidFill>
                            <a:srgbClr val="2C7A4B"/>
                          </a:solidFill>
                          <a:latin typeface="Calibri"/>
                        </a:rPr>
                        <a:t>Cumple</a:t>
                      </a:r>
                    </a:p>
                  </a:txBody>
                  <a:tcPr marL="45720" marR="45720" marT="18288" marB="18288">
                    <a:solidFill>
                      <a:srgbClr val="FFFFFF"/>
                    </a:solidFill>
                  </a:tcPr>
                </a:tc>
                <a:tc>
                  <a:txBody>
                    <a:bodyPr wrap="square"/>
                    <a:lstStyle/>
                    <a:p>
                      <a:r>
                        <a:rPr sz="750" b="0">
                          <a:solidFill>
                            <a:srgbClr val="1A1D24"/>
                          </a:solidFill>
                          <a:latin typeface="Calibri"/>
                        </a:rPr>
                        <a:t>Mensajes a canal mudo</a:t>
                      </a:r>
                    </a:p>
                  </a:txBody>
                  <a:tcPr marL="45720" marR="45720" marT="18288" marB="18288">
                    <a:solidFill>
                      <a:srgbClr val="FFFFFF"/>
                    </a:solidFill>
                  </a:tcPr>
                </a:tc>
                <a:tc>
                  <a:txBody>
                    <a:bodyPr wrap="square"/>
                    <a:lstStyle/>
                    <a:p>
                      <a:r>
                        <a:rPr sz="750" b="0">
                          <a:solidFill>
                            <a:srgbClr val="1A1D24"/>
                          </a:solidFill>
                          <a:latin typeface="Calibri"/>
                        </a:rPr>
                        <a:t>59 %</a:t>
                      </a:r>
                    </a:p>
                  </a:txBody>
                  <a:tcPr marL="45720" marR="45720" marT="18288" marB="18288">
                    <a:solidFill>
                      <a:srgbClr val="FFFFFF"/>
                    </a:solidFill>
                  </a:tcPr>
                </a:tc>
                <a:tc>
                  <a:txBody>
                    <a:bodyPr wrap="square"/>
                    <a:lstStyle/>
                    <a:p>
                      <a:r>
                        <a:rPr sz="750" b="0">
                          <a:solidFill>
                            <a:srgbClr val="1A1D24"/>
                          </a:solidFill>
                          <a:latin typeface="Calibri"/>
                        </a:rPr>
                        <a:t>20 %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Apertura de email</a:t>
                      </a:r>
                    </a:p>
                  </a:txBody>
                  <a:tcPr marL="45720" marR="45720" marT="18288" marB="18288">
                    <a:solidFill>
                      <a:srgbClr val="F6F7F9"/>
                    </a:solidFill>
                  </a:tcPr>
                </a:tc>
                <a:tc>
                  <a:txBody>
                    <a:bodyPr wrap="square"/>
                    <a:lstStyle/>
                    <a:p>
                      <a:r>
                        <a:rPr sz="750" b="0">
                          <a:solidFill>
                            <a:srgbClr val="1A1D24"/>
                          </a:solidFill>
                          <a:latin typeface="Calibri"/>
                        </a:rPr>
                        <a:t>23.6 %</a:t>
                      </a:r>
                    </a:p>
                  </a:txBody>
                  <a:tcPr marL="45720" marR="45720" marT="18288" marB="18288">
                    <a:solidFill>
                      <a:srgbClr val="F6F7F9"/>
                    </a:solidFill>
                  </a:tcPr>
                </a:tc>
                <a:tc>
                  <a:txBody>
                    <a:bodyPr wrap="square"/>
                    <a:lstStyle/>
                    <a:p>
                      <a:r>
                        <a:rPr sz="750" b="0">
                          <a:solidFill>
                            <a:srgbClr val="1A1D24"/>
                          </a:solidFill>
                          <a:latin typeface="Calibri"/>
                        </a:rPr>
                        <a:t>15 a 25 %</a:t>
                      </a:r>
                    </a:p>
                  </a:txBody>
                  <a:tcPr marL="45720" marR="45720" marT="18288" marB="18288">
                    <a:solidFill>
                      <a:srgbClr val="F6F7F9"/>
                    </a:solidFill>
                  </a:tcPr>
                </a:tc>
                <a:tc>
                  <a:txBody>
                    <a:bodyPr wrap="square"/>
                    <a:lstStyle/>
                    <a:p>
                      <a:r>
                        <a:rPr sz="750" b="1">
                          <a:solidFill>
                            <a:srgbClr val="2C7A4B"/>
                          </a:solidFill>
                          <a:latin typeface="Calibri"/>
                        </a:rPr>
                        <a:t>Cumple</a:t>
                      </a:r>
                    </a:p>
                  </a:txBody>
                  <a:tcPr marL="45720" marR="45720" marT="18288" marB="18288">
                    <a:solidFill>
                      <a:srgbClr val="F6F7F9"/>
                    </a:solidFill>
                  </a:tcPr>
                </a:tc>
                <a:tc>
                  <a:txBody>
                    <a:bodyPr wrap="square"/>
                    <a:lstStyle/>
                    <a:p>
                      <a:r>
                        <a:rPr sz="750" b="0">
                          <a:solidFill>
                            <a:srgbClr val="1A1D24"/>
                          </a:solidFill>
                          <a:latin typeface="Calibri"/>
                        </a:rPr>
                        <a:t>Usuarios sin respuesta</a:t>
                      </a:r>
                    </a:p>
                  </a:txBody>
                  <a:tcPr marL="45720" marR="45720" marT="18288" marB="18288">
                    <a:solidFill>
                      <a:srgbClr val="F6F7F9"/>
                    </a:solidFill>
                  </a:tcPr>
                </a:tc>
                <a:tc>
                  <a:txBody>
                    <a:bodyPr wrap="square"/>
                    <a:lstStyle/>
                    <a:p>
                      <a:r>
                        <a:rPr sz="750" b="0">
                          <a:solidFill>
                            <a:srgbClr val="1A1D24"/>
                          </a:solidFill>
                          <a:latin typeface="Calibri"/>
                        </a:rPr>
                        <a:t>73 %</a:t>
                      </a:r>
                    </a:p>
                  </a:txBody>
                  <a:tcPr marL="45720" marR="45720" marT="18288" marB="18288">
                    <a:solidFill>
                      <a:srgbClr val="F6F7F9"/>
                    </a:solidFill>
                  </a:tcPr>
                </a:tc>
                <a:tc>
                  <a:txBody>
                    <a:bodyPr wrap="square"/>
                    <a:lstStyle/>
                    <a:p>
                      <a:r>
                        <a:rPr sz="750" b="0">
                          <a:solidFill>
                            <a:srgbClr val="1A1D24"/>
                          </a:solidFill>
                          <a:latin typeface="Calibri"/>
                        </a:rPr>
                        <a:t>50 %</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Clic de email</a:t>
                      </a:r>
                    </a:p>
                  </a:txBody>
                  <a:tcPr marL="45720" marR="45720" marT="18288" marB="18288">
                    <a:solidFill>
                      <a:srgbClr val="FFFFFF"/>
                    </a:solidFill>
                  </a:tcPr>
                </a:tc>
                <a:tc>
                  <a:txBody>
                    <a:bodyPr wrap="square"/>
                    <a:lstStyle/>
                    <a:p>
                      <a:r>
                        <a:rPr sz="750" b="0">
                          <a:solidFill>
                            <a:srgbClr val="1A1D24"/>
                          </a:solidFill>
                          <a:latin typeface="Calibri"/>
                        </a:rPr>
                        <a:t>0.92 %</a:t>
                      </a:r>
                    </a:p>
                  </a:txBody>
                  <a:tcPr marL="45720" marR="45720" marT="18288" marB="18288">
                    <a:solidFill>
                      <a:srgbClr val="FFFFFF"/>
                    </a:solidFill>
                  </a:tcPr>
                </a:tc>
                <a:tc>
                  <a:txBody>
                    <a:bodyPr wrap="square"/>
                    <a:lstStyle/>
                    <a:p>
                      <a:r>
                        <a:rPr sz="750" b="0">
                          <a:solidFill>
                            <a:srgbClr val="1A1D24"/>
                          </a:solidFill>
                          <a:latin typeface="Calibri"/>
                        </a:rPr>
                        <a:t>1.5 %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c>
                  <a:txBody>
                    <a:bodyPr wrap="square"/>
                    <a:lstStyle/>
                    <a:p>
                      <a:r>
                        <a:rPr sz="750" b="0">
                          <a:solidFill>
                            <a:srgbClr val="1A1D24"/>
                          </a:solidFill>
                          <a:latin typeface="Calibri"/>
                        </a:rPr>
                        <a:t>Promo a etapas bloqueadas</a:t>
                      </a:r>
                    </a:p>
                  </a:txBody>
                  <a:tcPr marL="45720" marR="45720" marT="18288" marB="18288">
                    <a:solidFill>
                      <a:srgbClr val="FFFFFF"/>
                    </a:solidFill>
                  </a:tcPr>
                </a:tc>
                <a:tc>
                  <a:txBody>
                    <a:bodyPr wrap="square"/>
                    <a:lstStyle/>
                    <a:p>
                      <a:r>
                        <a:rPr sz="750" b="0">
                          <a:solidFill>
                            <a:srgbClr val="1A1D24"/>
                          </a:solidFill>
                          <a:latin typeface="Calibri"/>
                        </a:rPr>
                        <a:t>43.8 M</a:t>
                      </a:r>
                    </a:p>
                  </a:txBody>
                  <a:tcPr marL="45720" marR="45720" marT="18288" marB="18288">
                    <a:solidFill>
                      <a:srgbClr val="FFFFFF"/>
                    </a:solidFill>
                  </a:tcPr>
                </a:tc>
                <a:tc>
                  <a:txBody>
                    <a:bodyPr wrap="square"/>
                    <a:lstStyle/>
                    <a:p>
                      <a:r>
                        <a:rPr sz="750" b="0">
                          <a:solidFill>
                            <a:srgbClr val="1A1D24"/>
                          </a:solidFill>
                          <a:latin typeface="Calibri"/>
                        </a:rPr>
                        <a:t>0</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Bajas por mil</a:t>
                      </a:r>
                    </a:p>
                  </a:txBody>
                  <a:tcPr marL="45720" marR="45720" marT="18288" marB="18288">
                    <a:solidFill>
                      <a:srgbClr val="F6F7F9"/>
                    </a:solidFill>
                  </a:tcPr>
                </a:tc>
                <a:tc>
                  <a:txBody>
                    <a:bodyPr wrap="square"/>
                    <a:lstStyle/>
                    <a:p>
                      <a:r>
                        <a:rPr sz="750" b="0">
                          <a:solidFill>
                            <a:srgbClr val="1A1D24"/>
                          </a:solidFill>
                          <a:latin typeface="Calibri"/>
                        </a:rPr>
                        <a:t>3.13</a:t>
                      </a:r>
                    </a:p>
                  </a:txBody>
                  <a:tcPr marL="45720" marR="45720" marT="18288" marB="18288">
                    <a:solidFill>
                      <a:srgbClr val="F6F7F9"/>
                    </a:solidFill>
                  </a:tcPr>
                </a:tc>
                <a:tc>
                  <a:txBody>
                    <a:bodyPr wrap="square"/>
                    <a:lstStyle/>
                    <a:p>
                      <a:r>
                        <a:rPr sz="750" b="0">
                          <a:solidFill>
                            <a:srgbClr val="1A1D24"/>
                          </a:solidFill>
                          <a:latin typeface="Calibri"/>
                        </a:rPr>
                        <a:t>2.5</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c>
                  <a:txBody>
                    <a:bodyPr wrap="square"/>
                    <a:lstStyle/>
                    <a:p>
                      <a:r>
                        <a:rPr sz="750" b="0">
                          <a:solidFill>
                            <a:srgbClr val="1A1D24"/>
                          </a:solidFill>
                          <a:latin typeface="Calibri"/>
                        </a:rPr>
                        <a:t>Promo a dados de baja</a:t>
                      </a:r>
                    </a:p>
                  </a:txBody>
                  <a:tcPr marL="45720" marR="45720" marT="18288" marB="18288">
                    <a:solidFill>
                      <a:srgbClr val="F6F7F9"/>
                    </a:solidFill>
                  </a:tcPr>
                </a:tc>
                <a:tc>
                  <a:txBody>
                    <a:bodyPr wrap="square"/>
                    <a:lstStyle/>
                    <a:p>
                      <a:r>
                        <a:rPr sz="750" b="0">
                          <a:solidFill>
                            <a:srgbClr val="1A1D24"/>
                          </a:solidFill>
                          <a:latin typeface="Calibri"/>
                        </a:rPr>
                        <a:t>79,994</a:t>
                      </a:r>
                    </a:p>
                  </a:txBody>
                  <a:tcPr marL="45720" marR="45720" marT="18288" marB="18288">
                    <a:solidFill>
                      <a:srgbClr val="F6F7F9"/>
                    </a:solidFill>
                  </a:tcPr>
                </a:tc>
                <a:tc>
                  <a:txBody>
                    <a:bodyPr wrap="square"/>
                    <a:lstStyle/>
                    <a:p>
                      <a:r>
                        <a:rPr sz="750" b="0">
                          <a:solidFill>
                            <a:srgbClr val="1A1D24"/>
                          </a:solidFill>
                          <a:latin typeface="Calibri"/>
                        </a:rPr>
                        <a:t>0</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Apertura de push</a:t>
                      </a:r>
                    </a:p>
                  </a:txBody>
                  <a:tcPr marL="45720" marR="45720" marT="18288" marB="18288">
                    <a:solidFill>
                      <a:srgbClr val="FFFFFF"/>
                    </a:solidFill>
                  </a:tcPr>
                </a:tc>
                <a:tc>
                  <a:txBody>
                    <a:bodyPr wrap="square"/>
                    <a:lstStyle/>
                    <a:p>
                      <a:r>
                        <a:rPr sz="750" b="0">
                          <a:solidFill>
                            <a:srgbClr val="1A1D24"/>
                          </a:solidFill>
                          <a:latin typeface="Calibri"/>
                        </a:rPr>
                        <a:t>1.53 %</a:t>
                      </a:r>
                    </a:p>
                  </a:txBody>
                  <a:tcPr marL="45720" marR="45720" marT="18288" marB="18288">
                    <a:solidFill>
                      <a:srgbClr val="FFFFFF"/>
                    </a:solidFill>
                  </a:tcPr>
                </a:tc>
                <a:tc>
                  <a:txBody>
                    <a:bodyPr wrap="square"/>
                    <a:lstStyle/>
                    <a:p>
                      <a:r>
                        <a:rPr sz="750" b="0">
                          <a:solidFill>
                            <a:srgbClr val="1A1D24"/>
                          </a:solidFill>
                          <a:latin typeface="Calibri"/>
                        </a:rPr>
                        <a:t>3 %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c>
                  <a:txBody>
                    <a:bodyPr wrap="square"/>
                    <a:lstStyle/>
                    <a:p>
                      <a:r>
                        <a:rPr sz="750" b="0">
                          <a:solidFill>
                            <a:srgbClr val="1A1D24"/>
                          </a:solidFill>
                          <a:latin typeface="Calibri"/>
                        </a:rPr>
                        <a:t>Dados de baja que reciben email</a:t>
                      </a:r>
                    </a:p>
                  </a:txBody>
                  <a:tcPr marL="45720" marR="45720" marT="18288" marB="18288">
                    <a:solidFill>
                      <a:srgbClr val="FFFFFF"/>
                    </a:solidFill>
                  </a:tcPr>
                </a:tc>
                <a:tc>
                  <a:txBody>
                    <a:bodyPr wrap="square"/>
                    <a:lstStyle/>
                    <a:p>
                      <a:r>
                        <a:rPr sz="750" b="0">
                          <a:solidFill>
                            <a:srgbClr val="1A1D24"/>
                          </a:solidFill>
                          <a:latin typeface="Calibri"/>
                        </a:rPr>
                        <a:t>16 %</a:t>
                      </a:r>
                    </a:p>
                  </a:txBody>
                  <a:tcPr marL="45720" marR="45720" marT="18288" marB="18288">
                    <a:solidFill>
                      <a:srgbClr val="FFFFFF"/>
                    </a:solidFill>
                  </a:tcPr>
                </a:tc>
                <a:tc>
                  <a:txBody>
                    <a:bodyPr wrap="square"/>
                    <a:lstStyle/>
                    <a:p>
                      <a:r>
                        <a:rPr sz="750" b="0">
                          <a:solidFill>
                            <a:srgbClr val="1A1D24"/>
                          </a:solidFill>
                          <a:latin typeface="Calibri"/>
                        </a:rPr>
                        <a:t>10 %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Entrega de WhatsApp</a:t>
                      </a:r>
                    </a:p>
                  </a:txBody>
                  <a:tcPr marL="45720" marR="45720" marT="18288" marB="18288">
                    <a:solidFill>
                      <a:srgbClr val="F6F7F9"/>
                    </a:solidFill>
                  </a:tcPr>
                </a:tc>
                <a:tc>
                  <a:txBody>
                    <a:bodyPr wrap="square"/>
                    <a:lstStyle/>
                    <a:p>
                      <a:r>
                        <a:rPr sz="750" b="0">
                          <a:solidFill>
                            <a:srgbClr val="1A1D24"/>
                          </a:solidFill>
                          <a:latin typeface="Calibri"/>
                        </a:rPr>
                        <a:t>74 %</a:t>
                      </a:r>
                    </a:p>
                  </a:txBody>
                  <a:tcPr marL="45720" marR="45720" marT="18288" marB="18288">
                    <a:solidFill>
                      <a:srgbClr val="F6F7F9"/>
                    </a:solidFill>
                  </a:tcPr>
                </a:tc>
                <a:tc>
                  <a:txBody>
                    <a:bodyPr wrap="square"/>
                    <a:lstStyle/>
                    <a:p>
                      <a:r>
                        <a:rPr sz="750" b="0">
                          <a:solidFill>
                            <a:srgbClr val="1A1D24"/>
                          </a:solidFill>
                          <a:latin typeface="Calibri"/>
                        </a:rPr>
                        <a:t>90 %</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c>
                  <a:txBody>
                    <a:bodyPr wrap="square"/>
                    <a:lstStyle/>
                    <a:p>
                      <a:r>
                        <a:rPr sz="750" b="0">
                          <a:solidFill>
                            <a:srgbClr val="1A1D24"/>
                          </a:solidFill>
                          <a:latin typeface="Calibri"/>
                        </a:rPr>
                        <a:t>Email activo a 1 M o más</a:t>
                      </a:r>
                    </a:p>
                  </a:txBody>
                  <a:tcPr marL="45720" marR="45720" marT="18288" marB="18288">
                    <a:solidFill>
                      <a:srgbClr val="F6F7F9"/>
                    </a:solidFill>
                  </a:tcPr>
                </a:tc>
                <a:tc>
                  <a:txBody>
                    <a:bodyPr wrap="square"/>
                    <a:lstStyle/>
                    <a:p>
                      <a:r>
                        <a:rPr sz="750" b="0">
                          <a:solidFill>
                            <a:srgbClr val="1A1D24"/>
                          </a:solidFill>
                          <a:latin typeface="Calibri"/>
                        </a:rPr>
                        <a:t>0</a:t>
                      </a:r>
                    </a:p>
                  </a:txBody>
                  <a:tcPr marL="45720" marR="45720" marT="18288" marB="18288">
                    <a:solidFill>
                      <a:srgbClr val="F6F7F9"/>
                    </a:solidFill>
                  </a:tcPr>
                </a:tc>
                <a:tc>
                  <a:txBody>
                    <a:bodyPr wrap="square"/>
                    <a:lstStyle/>
                    <a:p>
                      <a:r>
                        <a:rPr sz="750" b="0">
                          <a:solidFill>
                            <a:srgbClr val="1A1D24"/>
                          </a:solidFill>
                          <a:latin typeface="Calibri"/>
                        </a:rPr>
                        <a:t>0</a:t>
                      </a:r>
                    </a:p>
                  </a:txBody>
                  <a:tcPr marL="45720" marR="45720" marT="18288" marB="18288">
                    <a:solidFill>
                      <a:srgbClr val="F6F7F9"/>
                    </a:solidFill>
                  </a:tcPr>
                </a:tc>
                <a:tc>
                  <a:txBody>
                    <a:bodyPr wrap="square"/>
                    <a:lstStyle/>
                    <a:p>
                      <a:r>
                        <a:rPr sz="750" b="1">
                          <a:solidFill>
                            <a:srgbClr val="2C7A4B"/>
                          </a:solidFill>
                          <a:latin typeface="Calibri"/>
                        </a:rPr>
                        <a:t>Cumple</a:t>
                      </a:r>
                    </a:p>
                  </a:txBody>
                  <a:tcPr marL="45720" marR="45720" marT="18288" marB="18288">
                    <a:solidFill>
                      <a:srgbClr val="F6F7F9"/>
                    </a:solidFill>
                  </a:tcPr>
                </a:tc>
              </a:tr>
              <a:tr h="154744">
                <a:tc>
                  <a:txBody>
                    <a:bodyPr wrap="square"/>
                    <a:lstStyle/>
                    <a:p>
                      <a:r>
                        <a:rPr sz="750" b="1">
                          <a:solidFill>
                            <a:srgbClr val="1A1D24"/>
                          </a:solidFill>
                          <a:latin typeface="Calibri"/>
                        </a:rPr>
                        <a:t>Lectura de WhatsApp</a:t>
                      </a:r>
                    </a:p>
                  </a:txBody>
                  <a:tcPr marL="45720" marR="45720" marT="18288" marB="18288">
                    <a:solidFill>
                      <a:srgbClr val="FFFFFF"/>
                    </a:solidFill>
                  </a:tcPr>
                </a:tc>
                <a:tc>
                  <a:txBody>
                    <a:bodyPr wrap="square"/>
                    <a:lstStyle/>
                    <a:p>
                      <a:r>
                        <a:rPr sz="750" b="0">
                          <a:solidFill>
                            <a:srgbClr val="1A1D24"/>
                          </a:solidFill>
                          <a:latin typeface="Calibri"/>
                        </a:rPr>
                        <a:t>69 %</a:t>
                      </a:r>
                    </a:p>
                  </a:txBody>
                  <a:tcPr marL="45720" marR="45720" marT="18288" marB="18288">
                    <a:solidFill>
                      <a:srgbClr val="FFFFFF"/>
                    </a:solidFill>
                  </a:tcPr>
                </a:tc>
                <a:tc>
                  <a:txBody>
                    <a:bodyPr wrap="square"/>
                    <a:lstStyle/>
                    <a:p>
                      <a:r>
                        <a:rPr sz="750" b="0">
                          <a:solidFill>
                            <a:srgbClr val="1A1D24"/>
                          </a:solidFill>
                          <a:latin typeface="Calibri"/>
                        </a:rPr>
                        <a:t>70 %</a:t>
                      </a:r>
                    </a:p>
                  </a:txBody>
                  <a:tcPr marL="45720" marR="45720" marT="18288" marB="18288">
                    <a:solidFill>
                      <a:srgbClr val="FFFFFF"/>
                    </a:solidFill>
                  </a:tcPr>
                </a:tc>
                <a:tc>
                  <a:txBody>
                    <a:bodyPr wrap="square"/>
                    <a:lstStyle/>
                    <a:p>
                      <a:r>
                        <a:rPr sz="750" b="1">
                          <a:solidFill>
                            <a:srgbClr val="B8860B"/>
                          </a:solidFill>
                          <a:latin typeface="Calibri"/>
                        </a:rPr>
                        <a:t>Debajo por poco</a:t>
                      </a:r>
                    </a:p>
                  </a:txBody>
                  <a:tcPr marL="45720" marR="45720" marT="18288" marB="18288">
                    <a:solidFill>
                      <a:srgbClr val="FFFFFF"/>
                    </a:solidFill>
                  </a:tcPr>
                </a:tc>
                <a:tc>
                  <a:txBody>
                    <a:bodyPr wrap="square"/>
                    <a:lstStyle/>
                    <a:p>
                      <a:r>
                        <a:rPr sz="750" b="0">
                          <a:solidFill>
                            <a:srgbClr val="1A1D24"/>
                          </a:solidFill>
                          <a:latin typeface="Calibri"/>
                        </a:rPr>
                        <a:t>Activas debajo del mínimo</a:t>
                      </a:r>
                    </a:p>
                  </a:txBody>
                  <a:tcPr marL="45720" marR="45720" marT="18288" marB="18288">
                    <a:solidFill>
                      <a:srgbClr val="FFFFFF"/>
                    </a:solidFill>
                  </a:tcPr>
                </a:tc>
                <a:tc>
                  <a:txBody>
                    <a:bodyPr wrap="square"/>
                    <a:lstStyle/>
                    <a:p>
                      <a:r>
                        <a:rPr sz="750" b="0">
                          <a:solidFill>
                            <a:srgbClr val="1A1D24"/>
                          </a:solidFill>
                          <a:latin typeface="Calibri"/>
                        </a:rPr>
                        <a:t>85</a:t>
                      </a:r>
                    </a:p>
                  </a:txBody>
                  <a:tcPr marL="45720" marR="45720" marT="18288" marB="18288">
                    <a:solidFill>
                      <a:srgbClr val="FFFFFF"/>
                    </a:solidFill>
                  </a:tcPr>
                </a:tc>
                <a:tc>
                  <a:txBody>
                    <a:bodyPr wrap="square"/>
                    <a:lstStyle/>
                    <a:p>
                      <a:r>
                        <a:rPr sz="750" b="0">
                          <a:solidFill>
                            <a:srgbClr val="1A1D24"/>
                          </a:solidFill>
                          <a:latin typeface="Calibri"/>
                        </a:rPr>
                        <a:t>0</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Clic de in-app</a:t>
                      </a:r>
                    </a:p>
                  </a:txBody>
                  <a:tcPr marL="45720" marR="45720" marT="18288" marB="18288">
                    <a:solidFill>
                      <a:srgbClr val="F6F7F9"/>
                    </a:solidFill>
                  </a:tcPr>
                </a:tc>
                <a:tc>
                  <a:txBody>
                    <a:bodyPr wrap="square"/>
                    <a:lstStyle/>
                    <a:p>
                      <a:r>
                        <a:rPr sz="750" b="0">
                          <a:solidFill>
                            <a:srgbClr val="1A1D24"/>
                          </a:solidFill>
                          <a:latin typeface="Calibri"/>
                        </a:rPr>
                        <a:t>38 %</a:t>
                      </a:r>
                    </a:p>
                  </a:txBody>
                  <a:tcPr marL="45720" marR="45720" marT="18288" marB="18288">
                    <a:solidFill>
                      <a:srgbClr val="F6F7F9"/>
                    </a:solidFill>
                  </a:tcPr>
                </a:tc>
                <a:tc>
                  <a:txBody>
                    <a:bodyPr wrap="square"/>
                    <a:lstStyle/>
                    <a:p>
                      <a:r>
                        <a:rPr sz="750" b="0">
                          <a:solidFill>
                            <a:srgbClr val="1A1D24"/>
                          </a:solidFill>
                          <a:latin typeface="Calibri"/>
                        </a:rPr>
                        <a:t>5 a 20 %</a:t>
                      </a:r>
                    </a:p>
                  </a:txBody>
                  <a:tcPr marL="45720" marR="45720" marT="18288" marB="18288">
                    <a:solidFill>
                      <a:srgbClr val="F6F7F9"/>
                    </a:solidFill>
                  </a:tcPr>
                </a:tc>
                <a:tc>
                  <a:txBody>
                    <a:bodyPr wrap="square"/>
                    <a:lstStyle/>
                    <a:p>
                      <a:r>
                        <a:rPr sz="750" b="1">
                          <a:solidFill>
                            <a:srgbClr val="2C7A4B"/>
                          </a:solidFill>
                          <a:latin typeface="Calibri"/>
                        </a:rPr>
                        <a:t>Cumple</a:t>
                      </a:r>
                    </a:p>
                  </a:txBody>
                  <a:tcPr marL="45720" marR="45720" marT="18288" marB="18288">
                    <a:solidFill>
                      <a:srgbClr val="F6F7F9"/>
                    </a:solidFill>
                  </a:tcPr>
                </a:tc>
                <a:tc>
                  <a:txBody>
                    <a:bodyPr wrap="square"/>
                    <a:lstStyle/>
                    <a:p>
                      <a:r>
                        <a:rPr sz="750" b="0">
                          <a:solidFill>
                            <a:srgbClr val="1A1D24"/>
                          </a:solidFill>
                          <a:latin typeface="Calibri"/>
                        </a:rPr>
                        <a:t>Canvas con control</a:t>
                      </a:r>
                    </a:p>
                  </a:txBody>
                  <a:tcPr marL="45720" marR="45720" marT="18288" marB="18288">
                    <a:solidFill>
                      <a:srgbClr val="F6F7F9"/>
                    </a:solidFill>
                  </a:tcPr>
                </a:tc>
                <a:tc>
                  <a:txBody>
                    <a:bodyPr wrap="square"/>
                    <a:lstStyle/>
                    <a:p>
                      <a:r>
                        <a:rPr sz="750" b="0">
                          <a:solidFill>
                            <a:srgbClr val="1A1D24"/>
                          </a:solidFill>
                          <a:latin typeface="Calibri"/>
                        </a:rPr>
                        <a:t>0 de 3,228</a:t>
                      </a:r>
                    </a:p>
                  </a:txBody>
                  <a:tcPr marL="45720" marR="45720" marT="18288" marB="18288">
                    <a:solidFill>
                      <a:srgbClr val="F6F7F9"/>
                    </a:solidFill>
                  </a:tcPr>
                </a:tc>
                <a:tc>
                  <a:txBody>
                    <a:bodyPr wrap="square"/>
                    <a:lstStyle/>
                    <a:p>
                      <a:r>
                        <a:rPr sz="750" b="0">
                          <a:solidFill>
                            <a:srgbClr val="1A1D24"/>
                          </a:solidFill>
                          <a:latin typeface="Calibri"/>
                        </a:rPr>
                        <a:t>Todos</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Toques por pieza al mes</a:t>
                      </a:r>
                    </a:p>
                  </a:txBody>
                  <a:tcPr marL="45720" marR="45720" marT="18288" marB="18288">
                    <a:solidFill>
                      <a:srgbClr val="FFFFFF"/>
                    </a:solidFill>
                  </a:tcPr>
                </a:tc>
                <a:tc>
                  <a:txBody>
                    <a:bodyPr wrap="square"/>
                    <a:lstStyle/>
                    <a:p>
                      <a:r>
                        <a:rPr sz="750" b="0">
                          <a:solidFill>
                            <a:srgbClr val="1A1D24"/>
                          </a:solidFill>
                          <a:latin typeface="Calibri"/>
                        </a:rPr>
                        <a:t>1.71</a:t>
                      </a:r>
                    </a:p>
                  </a:txBody>
                  <a:tcPr marL="45720" marR="45720" marT="18288" marB="18288">
                    <a:solidFill>
                      <a:srgbClr val="FFFFFF"/>
                    </a:solidFill>
                  </a:tcPr>
                </a:tc>
                <a:tc>
                  <a:txBody>
                    <a:bodyPr wrap="square"/>
                    <a:lstStyle/>
                    <a:p>
                      <a:r>
                        <a:rPr sz="750" b="0">
                          <a:solidFill>
                            <a:srgbClr val="1A1D24"/>
                          </a:solidFill>
                          <a:latin typeface="Calibri"/>
                        </a:rPr>
                        <a:t>2</a:t>
                      </a:r>
                    </a:p>
                  </a:txBody>
                  <a:tcPr marL="45720" marR="45720" marT="18288" marB="18288">
                    <a:solidFill>
                      <a:srgbClr val="FFFFFF"/>
                    </a:solidFill>
                  </a:tcPr>
                </a:tc>
                <a:tc>
                  <a:txBody>
                    <a:bodyPr wrap="square"/>
                    <a:lstStyle/>
                    <a:p>
                      <a:r>
                        <a:rPr sz="750" b="1">
                          <a:solidFill>
                            <a:srgbClr val="2C7A4B"/>
                          </a:solidFill>
                          <a:latin typeface="Calibri"/>
                        </a:rPr>
                        <a:t>Cumple</a:t>
                      </a:r>
                    </a:p>
                  </a:txBody>
                  <a:tcPr marL="45720" marR="45720" marT="18288" marB="18288">
                    <a:solidFill>
                      <a:srgbClr val="FFFFFF"/>
                    </a:solidFill>
                  </a:tcPr>
                </a:tc>
                <a:tc>
                  <a:txBody>
                    <a:bodyPr wrap="square"/>
                    <a:lstStyle/>
                    <a:p>
                      <a:r>
                        <a:rPr sz="750" b="0">
                          <a:solidFill>
                            <a:srgbClr val="1A1D24"/>
                          </a:solidFill>
                          <a:latin typeface="Calibri"/>
                        </a:rPr>
                        <a:t>Envíos con ticket</a:t>
                      </a:r>
                    </a:p>
                  </a:txBody>
                  <a:tcPr marL="45720" marR="45720" marT="18288" marB="18288">
                    <a:solidFill>
                      <a:srgbClr val="FFFFFF"/>
                    </a:solidFill>
                  </a:tcPr>
                </a:tc>
                <a:tc>
                  <a:txBody>
                    <a:bodyPr wrap="square"/>
                    <a:lstStyle/>
                    <a:p>
                      <a:r>
                        <a:rPr sz="750" b="0">
                          <a:solidFill>
                            <a:srgbClr val="1A1D24"/>
                          </a:solidFill>
                          <a:latin typeface="Calibri"/>
                        </a:rPr>
                        <a:t>87 %</a:t>
                      </a:r>
                    </a:p>
                  </a:txBody>
                  <a:tcPr marL="45720" marR="45720" marT="18288" marB="18288">
                    <a:solidFill>
                      <a:srgbClr val="FFFFFF"/>
                    </a:solidFill>
                  </a:tcPr>
                </a:tc>
                <a:tc>
                  <a:txBody>
                    <a:bodyPr wrap="square"/>
                    <a:lstStyle/>
                    <a:p>
                      <a:r>
                        <a:rPr sz="750" b="0">
                          <a:solidFill>
                            <a:srgbClr val="1A1D24"/>
                          </a:solidFill>
                          <a:latin typeface="Calibri"/>
                        </a:rPr>
                        <a:t>100 %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Mensajes por usuario al mes</a:t>
                      </a:r>
                    </a:p>
                  </a:txBody>
                  <a:tcPr marL="45720" marR="45720" marT="18288" marB="18288">
                    <a:solidFill>
                      <a:srgbClr val="F6F7F9"/>
                    </a:solidFill>
                  </a:tcPr>
                </a:tc>
                <a:tc>
                  <a:txBody>
                    <a:bodyPr wrap="square"/>
                    <a:lstStyle/>
                    <a:p>
                      <a:r>
                        <a:rPr sz="750" b="0">
                          <a:solidFill>
                            <a:srgbClr val="1A1D24"/>
                          </a:solidFill>
                          <a:latin typeface="Calibri"/>
                        </a:rPr>
                        <a:t>10.4</a:t>
                      </a:r>
                    </a:p>
                  </a:txBody>
                  <a:tcPr marL="45720" marR="45720" marT="18288" marB="18288">
                    <a:solidFill>
                      <a:srgbClr val="F6F7F9"/>
                    </a:solidFill>
                  </a:tcPr>
                </a:tc>
                <a:tc>
                  <a:txBody>
                    <a:bodyPr wrap="square"/>
                    <a:lstStyle/>
                    <a:p>
                      <a:r>
                        <a:rPr sz="750" b="0">
                          <a:solidFill>
                            <a:srgbClr val="1A1D24"/>
                          </a:solidFill>
                          <a:latin typeface="Calibri"/>
                        </a:rPr>
                        <a:t>20</a:t>
                      </a:r>
                    </a:p>
                  </a:txBody>
                  <a:tcPr marL="45720" marR="45720" marT="18288" marB="18288">
                    <a:solidFill>
                      <a:srgbClr val="F6F7F9"/>
                    </a:solidFill>
                  </a:tcPr>
                </a:tc>
                <a:tc>
                  <a:txBody>
                    <a:bodyPr wrap="square"/>
                    <a:lstStyle/>
                    <a:p>
                      <a:r>
                        <a:rPr sz="750" b="1">
                          <a:solidFill>
                            <a:srgbClr val="2C7A4B"/>
                          </a:solidFill>
                          <a:latin typeface="Calibri"/>
                        </a:rPr>
                        <a:t>Cumple</a:t>
                      </a:r>
                    </a:p>
                  </a:txBody>
                  <a:tcPr marL="45720" marR="45720" marT="18288" marB="18288">
                    <a:solidFill>
                      <a:srgbClr val="F6F7F9"/>
                    </a:solidFill>
                  </a:tcPr>
                </a:tc>
                <a:tc>
                  <a:txBody>
                    <a:bodyPr wrap="square"/>
                    <a:lstStyle/>
                    <a:p>
                      <a:r>
                        <a:rPr sz="750" b="0">
                          <a:solidFill>
                            <a:srgbClr val="1A1D24"/>
                          </a:solidFill>
                          <a:latin typeface="Calibri"/>
                        </a:rPr>
                        <a:t>Pruebas A/B en 9 meses</a:t>
                      </a:r>
                    </a:p>
                  </a:txBody>
                  <a:tcPr marL="45720" marR="45720" marT="18288" marB="18288">
                    <a:solidFill>
                      <a:srgbClr val="F6F7F9"/>
                    </a:solidFill>
                  </a:tcPr>
                </a:tc>
                <a:tc>
                  <a:txBody>
                    <a:bodyPr wrap="square"/>
                    <a:lstStyle/>
                    <a:p>
                      <a:r>
                        <a:rPr sz="750" b="0">
                          <a:solidFill>
                            <a:srgbClr val="1A1D24"/>
                          </a:solidFill>
                          <a:latin typeface="Calibri"/>
                        </a:rPr>
                        <a:t>0</a:t>
                      </a:r>
                    </a:p>
                  </a:txBody>
                  <a:tcPr marL="45720" marR="45720" marT="18288" marB="18288">
                    <a:solidFill>
                      <a:srgbClr val="F6F7F9"/>
                    </a:solidFill>
                  </a:tcPr>
                </a:tc>
                <a:tc>
                  <a:txBody>
                    <a:bodyPr wrap="square"/>
                    <a:lstStyle/>
                    <a:p>
                      <a:r>
                        <a:rPr sz="750" b="0">
                          <a:solidFill>
                            <a:srgbClr val="1A1D24"/>
                          </a:solidFill>
                          <a:latin typeface="Calibri"/>
                        </a:rPr>
                        <a:t>1 por equipo al mes</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r h="154744">
                <a:tc>
                  <a:txBody>
                    <a:bodyPr wrap="square"/>
                    <a:lstStyle/>
                    <a:p>
                      <a:r>
                        <a:rPr sz="750" b="1">
                          <a:solidFill>
                            <a:srgbClr val="1A1D24"/>
                          </a:solidFill>
                          <a:latin typeface="Calibri"/>
                        </a:rPr>
                        <a:t>Usuarios con 41+ al mes</a:t>
                      </a:r>
                    </a:p>
                  </a:txBody>
                  <a:tcPr marL="45720" marR="45720" marT="18288" marB="18288">
                    <a:solidFill>
                      <a:srgbClr val="FFFFFF"/>
                    </a:solidFill>
                  </a:tcPr>
                </a:tc>
                <a:tc>
                  <a:txBody>
                    <a:bodyPr wrap="square"/>
                    <a:lstStyle/>
                    <a:p>
                      <a:r>
                        <a:rPr sz="750" b="0">
                          <a:solidFill>
                            <a:srgbClr val="1A1D24"/>
                          </a:solidFill>
                          <a:latin typeface="Calibri"/>
                        </a:rPr>
                        <a:t>5.3 %</a:t>
                      </a:r>
                    </a:p>
                  </a:txBody>
                  <a:tcPr marL="45720" marR="45720" marT="18288" marB="18288">
                    <a:solidFill>
                      <a:srgbClr val="FFFFFF"/>
                    </a:solidFill>
                  </a:tcPr>
                </a:tc>
                <a:tc>
                  <a:txBody>
                    <a:bodyPr wrap="square"/>
                    <a:lstStyle/>
                    <a:p>
                      <a:r>
                        <a:rPr sz="750" b="0">
                          <a:solidFill>
                            <a:srgbClr val="1A1D24"/>
                          </a:solidFill>
                          <a:latin typeface="Calibri"/>
                        </a:rPr>
                        <a:t>5 %</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c>
                  <a:txBody>
                    <a:bodyPr wrap="square"/>
                    <a:lstStyle/>
                    <a:p>
                      <a:r>
                        <a:rPr sz="750" b="0">
                          <a:solidFill>
                            <a:srgbClr val="1A1D24"/>
                          </a:solidFill>
                          <a:latin typeface="Calibri"/>
                        </a:rPr>
                        <a:t>Canvas con más de 8 pasos</a:t>
                      </a:r>
                    </a:p>
                  </a:txBody>
                  <a:tcPr marL="45720" marR="45720" marT="18288" marB="18288">
                    <a:solidFill>
                      <a:srgbClr val="FFFFFF"/>
                    </a:solidFill>
                  </a:tcPr>
                </a:tc>
                <a:tc>
                  <a:txBody>
                    <a:bodyPr wrap="square"/>
                    <a:lstStyle/>
                    <a:p>
                      <a:r>
                        <a:rPr sz="750" b="0">
                          <a:solidFill>
                            <a:srgbClr val="1A1D24"/>
                          </a:solidFill>
                          <a:latin typeface="Calibri"/>
                        </a:rPr>
                        <a:t>45 con más de 20</a:t>
                      </a:r>
                    </a:p>
                  </a:txBody>
                  <a:tcPr marL="45720" marR="45720" marT="18288" marB="18288">
                    <a:solidFill>
                      <a:srgbClr val="FFFFFF"/>
                    </a:solidFill>
                  </a:tcPr>
                </a:tc>
                <a:tc>
                  <a:txBody>
                    <a:bodyPr wrap="square"/>
                    <a:lstStyle/>
                    <a:p>
                      <a:r>
                        <a:rPr sz="750" b="0">
                          <a:solidFill>
                            <a:srgbClr val="1A1D24"/>
                          </a:solidFill>
                          <a:latin typeface="Calibri"/>
                        </a:rPr>
                        <a:t>0</a:t>
                      </a:r>
                    </a:p>
                  </a:txBody>
                  <a:tcPr marL="45720" marR="45720" marT="18288" marB="18288">
                    <a:solidFill>
                      <a:srgbClr val="FFFFFF"/>
                    </a:solidFill>
                  </a:tcPr>
                </a:tc>
                <a:tc>
                  <a:txBody>
                    <a:bodyPr wrap="square"/>
                    <a:lstStyle/>
                    <a:p>
                      <a:r>
                        <a:rPr sz="750" b="1">
                          <a:solidFill>
                            <a:srgbClr val="B5342B"/>
                          </a:solidFill>
                          <a:latin typeface="Calibri"/>
                        </a:rPr>
                        <a:t>Debajo</a:t>
                      </a:r>
                    </a:p>
                  </a:txBody>
                  <a:tcPr marL="45720" marR="45720" marT="18288" marB="18288">
                    <a:solidFill>
                      <a:srgbClr val="FFFFFF"/>
                    </a:solidFill>
                  </a:tcPr>
                </a:tc>
              </a:tr>
              <a:tr h="154744">
                <a:tc>
                  <a:txBody>
                    <a:bodyPr wrap="square"/>
                    <a:lstStyle/>
                    <a:p>
                      <a:r>
                        <a:rPr sz="750" b="1">
                          <a:solidFill>
                            <a:srgbClr val="1A1D24"/>
                          </a:solidFill>
                          <a:latin typeface="Calibri"/>
                        </a:rPr>
                        <a:t>Usuario-días con 3+ piezas</a:t>
                      </a:r>
                    </a:p>
                  </a:txBody>
                  <a:tcPr marL="45720" marR="45720" marT="18288" marB="18288">
                    <a:solidFill>
                      <a:srgbClr val="F6F7F9"/>
                    </a:solidFill>
                  </a:tcPr>
                </a:tc>
                <a:tc>
                  <a:txBody>
                    <a:bodyPr wrap="square"/>
                    <a:lstStyle/>
                    <a:p>
                      <a:r>
                        <a:rPr sz="750" b="0">
                          <a:solidFill>
                            <a:srgbClr val="1A1D24"/>
                          </a:solidFill>
                          <a:latin typeface="Calibri"/>
                        </a:rPr>
                        <a:t>9.0 %</a:t>
                      </a:r>
                    </a:p>
                  </a:txBody>
                  <a:tcPr marL="45720" marR="45720" marT="18288" marB="18288">
                    <a:solidFill>
                      <a:srgbClr val="F6F7F9"/>
                    </a:solidFill>
                  </a:tcPr>
                </a:tc>
                <a:tc>
                  <a:txBody>
                    <a:bodyPr wrap="square"/>
                    <a:lstStyle/>
                    <a:p>
                      <a:r>
                        <a:rPr sz="750" b="0">
                          <a:solidFill>
                            <a:srgbClr val="1A1D24"/>
                          </a:solidFill>
                          <a:latin typeface="Calibri"/>
                        </a:rPr>
                        <a:t>10 %</a:t>
                      </a:r>
                    </a:p>
                  </a:txBody>
                  <a:tcPr marL="45720" marR="45720" marT="18288" marB="18288">
                    <a:solidFill>
                      <a:srgbClr val="F6F7F9"/>
                    </a:solidFill>
                  </a:tcPr>
                </a:tc>
                <a:tc>
                  <a:txBody>
                    <a:bodyPr wrap="square"/>
                    <a:lstStyle/>
                    <a:p>
                      <a:r>
                        <a:rPr sz="750" b="1">
                          <a:solidFill>
                            <a:srgbClr val="2C7A4B"/>
                          </a:solidFill>
                          <a:latin typeface="Calibri"/>
                        </a:rPr>
                        <a:t>Cumple</a:t>
                      </a:r>
                    </a:p>
                  </a:txBody>
                  <a:tcPr marL="45720" marR="45720" marT="18288" marB="18288">
                    <a:solidFill>
                      <a:srgbClr val="F6F7F9"/>
                    </a:solidFill>
                  </a:tcPr>
                </a:tc>
                <a:tc>
                  <a:txBody>
                    <a:bodyPr wrap="square"/>
                    <a:lstStyle/>
                    <a:p>
                      <a:r>
                        <a:rPr sz="750" b="0">
                          <a:solidFill>
                            <a:srgbClr val="1A1D24"/>
                          </a:solidFill>
                          <a:latin typeface="Calibri"/>
                        </a:rPr>
                        <a:t>Pasos con menos de 1 %</a:t>
                      </a:r>
                    </a:p>
                  </a:txBody>
                  <a:tcPr marL="45720" marR="45720" marT="18288" marB="18288">
                    <a:solidFill>
                      <a:srgbClr val="F6F7F9"/>
                    </a:solidFill>
                  </a:tcPr>
                </a:tc>
                <a:tc>
                  <a:txBody>
                    <a:bodyPr wrap="square"/>
                    <a:lstStyle/>
                    <a:p>
                      <a:r>
                        <a:rPr sz="750" b="0">
                          <a:solidFill>
                            <a:srgbClr val="1A1D24"/>
                          </a:solidFill>
                          <a:latin typeface="Calibri"/>
                        </a:rPr>
                        <a:t>477</a:t>
                      </a:r>
                    </a:p>
                  </a:txBody>
                  <a:tcPr marL="45720" marR="45720" marT="18288" marB="18288">
                    <a:solidFill>
                      <a:srgbClr val="F6F7F9"/>
                    </a:solidFill>
                  </a:tcPr>
                </a:tc>
                <a:tc>
                  <a:txBody>
                    <a:bodyPr wrap="square"/>
                    <a:lstStyle/>
                    <a:p>
                      <a:r>
                        <a:rPr sz="750" b="0">
                          <a:solidFill>
                            <a:srgbClr val="1A1D24"/>
                          </a:solidFill>
                          <a:latin typeface="Calibri"/>
                        </a:rPr>
                        <a:t>0</a:t>
                      </a:r>
                    </a:p>
                  </a:txBody>
                  <a:tcPr marL="45720" marR="45720" marT="18288" marB="18288">
                    <a:solidFill>
                      <a:srgbClr val="F6F7F9"/>
                    </a:solidFill>
                  </a:tcPr>
                </a:tc>
                <a:tc>
                  <a:txBody>
                    <a:bodyPr wrap="square"/>
                    <a:lstStyle/>
                    <a:p>
                      <a:r>
                        <a:rPr sz="750" b="1">
                          <a:solidFill>
                            <a:srgbClr val="B5342B"/>
                          </a:solidFill>
                          <a:latin typeface="Calibri"/>
                        </a:rPr>
                        <a:t>Debajo</a:t>
                      </a:r>
                    </a:p>
                  </a:txBody>
                  <a:tcPr marL="45720" marR="45720" marT="18288" marB="18288">
                    <a:solidFill>
                      <a:srgbClr val="F6F7F9"/>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24 indicadores con definición, fórmula y estándar; 19 debajo, 5 cumplen.</a:t>
            </a:r>
          </a:p>
          <a:p>
            <a:pPr>
              <a:spcAft>
                <a:spcPts val="350"/>
              </a:spcAft>
            </a:pPr>
            <a:r>
              <a:rPr sz="950" b="1">
                <a:solidFill>
                  <a:srgbClr val="1F4FD8"/>
                </a:solidFill>
                <a:latin typeface="Calibri"/>
              </a:rPr>
              <a:t>2.  </a:t>
            </a:r>
            <a:r>
              <a:rPr sz="950" b="0">
                <a:solidFill>
                  <a:srgbClr val="5B6270"/>
                </a:solidFill>
                <a:latin typeface="Calibri"/>
              </a:rPr>
              <a:t>El estándar es el piso del rango de la industria o una propuesta interna; es editable y cambiarlo cambia el semáforo, no las conclusiones.</a:t>
            </a:r>
          </a:p>
          <a:p>
            <a:pPr>
              <a:spcAft>
                <a:spcPts val="350"/>
              </a:spcAft>
            </a:pPr>
            <a:r>
              <a:rPr sz="950" b="1">
                <a:solidFill>
                  <a:srgbClr val="1F4FD8"/>
                </a:solidFill>
                <a:latin typeface="Calibri"/>
              </a:rPr>
              <a:t>3.  </a:t>
            </a:r>
            <a:r>
              <a:rPr sz="950" b="0">
                <a:solidFill>
                  <a:srgbClr val="5B6270"/>
                </a:solidFill>
                <a:latin typeface="Calibri"/>
              </a:rPr>
              <a:t>Cada indicador en rojo tiene una lámina que atribuye la causa: masivos sin segmento, frecuencia, canal mudo, falta de control.</a:t>
            </a:r>
          </a:p>
          <a:p>
            <a:pPr>
              <a:spcAft>
                <a:spcPts val="350"/>
              </a:spcAft>
            </a:pPr>
            <a:r>
              <a:rPr sz="950" b="1">
                <a:solidFill>
                  <a:srgbClr val="1F4FD8"/>
                </a:solidFill>
                <a:latin typeface="Calibri"/>
              </a:rPr>
              <a:t>4.  </a:t>
            </a:r>
            <a:r>
              <a:rPr sz="950" b="0">
                <a:solidFill>
                  <a:srgbClr val="5B6270"/>
                </a:solidFill>
                <a:latin typeface="Calibri"/>
              </a:rPr>
              <a:t>Los 5 que cumplen no dependen de la audiencia.</a:t>
            </a:r>
          </a:p>
          <a:p>
            <a:pPr>
              <a:spcAft>
                <a:spcPts val="350"/>
              </a:spcAft>
            </a:pPr>
            <a:r>
              <a:rPr sz="950" b="1">
                <a:solidFill>
                  <a:srgbClr val="B5342B"/>
                </a:solidFill>
                <a:latin typeface="Calibri"/>
              </a:rPr>
              <a:t>5.  </a:t>
            </a:r>
            <a:r>
              <a:rPr sz="700" b="1">
                <a:solidFill>
                  <a:srgbClr val="B5342B"/>
                </a:solidFill>
                <a:latin typeface="Calibri"/>
              </a:rPr>
              <a:t>CAUSA RAÍZ · MÉTODO  </a:t>
            </a:r>
            <a:r>
              <a:rPr sz="950" b="1">
                <a:solidFill>
                  <a:srgbClr val="1A1D24"/>
                </a:solidFill>
                <a:latin typeface="Calibri"/>
              </a:rPr>
              <a:t>No se usaban porque no había estándar acordado ni tablero que lo mostrara.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10 de los 19 pueden pasar a verde con las 12 reglas.</a:t>
            </a:r>
          </a:p>
          <a:p>
            <a:r>
              <a:rPr sz="700" b="1">
                <a:solidFill>
                  <a:srgbClr val="1F4FD8"/>
                </a:solidFill>
                <a:latin typeface="Calibri"/>
              </a:rPr>
              <a:t>O  </a:t>
            </a:r>
            <a:r>
              <a:rPr sz="750">
                <a:solidFill>
                  <a:srgbClr val="5B6270"/>
                </a:solidFill>
                <a:latin typeface="Calibri"/>
              </a:rPr>
              <a:t>El tablero por estándar se publica cada semana.</a:t>
            </a:r>
          </a:p>
          <a:p>
            <a:r>
              <a:rPr sz="700" b="1">
                <a:solidFill>
                  <a:srgbClr val="1F4FD8"/>
                </a:solidFill>
                <a:latin typeface="Calibri"/>
              </a:rPr>
              <a:t>G  </a:t>
            </a:r>
            <a:r>
              <a:rPr sz="750">
                <a:solidFill>
                  <a:srgbClr val="5B6270"/>
                </a:solidFill>
                <a:latin typeface="Calibri"/>
              </a:rPr>
              <a:t>Dirección aprueba los 24 como oficiales.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aprobar los 24 (pestaña Estándares). Semana 2: tablero semanal con semáforo por equipo. Mensual: dos meses en rojo abren ticket al dueño. Métrica: indicadores en verde, hoy 5, meta 15 a 90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Con las 12 reglas, en 90 días 10 de los 19 en rojo pueden pasar a verde.</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Los estándares son editables: cambiarlos cambia el semáforo de toda la auditoría, no las conclusiones.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ANEXO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Junio es el mes que no se debe repetir (109 M envíos, 0.67 % de clic, 9.7 M MXN) y septiembre el que sí (65 M, 2.12 % de apertura de push, 5 M MXN)</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B_Canales B1 (E4a)</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63</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109 M</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envíos en junio, el doble de enero</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0.67 %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email en junio, el peor del año</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2.12 %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apertura de push en septiembre, la mejor</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5" cy="2011680"/>
        </p:xfrm>
        <a:graphic>
          <a:graphicData uri="http://schemas.openxmlformats.org/drawingml/2006/table">
            <a:tbl>
              <a:tblPr firstRow="1" bandRow="1">
                <a:tableStyleId>{5C22544A-7EE6-4342-B048-85BDC9FD1C3A}</a:tableStyleId>
              </a:tblPr>
              <a:tblGrid>
                <a:gridCol w="196682"/>
                <a:gridCol w="458925"/>
                <a:gridCol w="655607"/>
                <a:gridCol w="852289"/>
                <a:gridCol w="1114532"/>
                <a:gridCol w="655607"/>
                <a:gridCol w="655607"/>
                <a:gridCol w="721168"/>
                <a:gridCol w="1048972"/>
                <a:gridCol w="590046"/>
              </a:tblGrid>
              <a:tr h="201168">
                <a:tc>
                  <a:txBody>
                    <a:bodyPr wrap="square"/>
                    <a:lstStyle/>
                    <a:p>
                      <a:r>
                        <a:rPr sz="700" b="1">
                          <a:solidFill>
                            <a:srgbClr val="5B6270"/>
                          </a:solidFill>
                          <a:latin typeface="Calibri"/>
                        </a:rPr>
                        <a:t>Mes</a:t>
                      </a:r>
                    </a:p>
                  </a:txBody>
                  <a:tcPr marL="45720" marR="45720" marT="18288" marB="18288">
                    <a:solidFill>
                      <a:srgbClr val="FFFFFF"/>
                    </a:solidFill>
                  </a:tcPr>
                </a:tc>
                <a:tc>
                  <a:txBody>
                    <a:bodyPr wrap="square"/>
                    <a:lstStyle/>
                    <a:p>
                      <a:r>
                        <a:rPr sz="700" b="1">
                          <a:solidFill>
                            <a:srgbClr val="5B6270"/>
                          </a:solidFill>
                          <a:latin typeface="Calibri"/>
                        </a:rPr>
                        <a:t>Envíos</a:t>
                      </a:r>
                    </a:p>
                  </a:txBody>
                  <a:tcPr marL="45720" marR="45720" marT="18288" marB="18288">
                    <a:solidFill>
                      <a:srgbClr val="FFFFFF"/>
                    </a:solidFill>
                  </a:tcPr>
                </a:tc>
                <a:tc>
                  <a:txBody>
                    <a:bodyPr wrap="square"/>
                    <a:lstStyle/>
                    <a:p>
                      <a:r>
                        <a:rPr sz="700" b="1">
                          <a:solidFill>
                            <a:srgbClr val="5B6270"/>
                          </a:solidFill>
                          <a:latin typeface="Calibri"/>
                        </a:rPr>
                        <a:t>Clic email</a:t>
                      </a:r>
                    </a:p>
                  </a:txBody>
                  <a:tcPr marL="45720" marR="45720" marT="18288" marB="18288">
                    <a:solidFill>
                      <a:srgbClr val="FFFFFF"/>
                    </a:solidFill>
                  </a:tcPr>
                </a:tc>
                <a:tc>
                  <a:txBody>
                    <a:bodyPr wrap="square"/>
                    <a:lstStyle/>
                    <a:p>
                      <a:r>
                        <a:rPr sz="700" b="1">
                          <a:solidFill>
                            <a:srgbClr val="5B6270"/>
                          </a:solidFill>
                          <a:latin typeface="Calibri"/>
                        </a:rPr>
                        <a:t>Apertura push</a:t>
                      </a:r>
                    </a:p>
                  </a:txBody>
                  <a:tcPr marL="45720" marR="45720" marT="18288" marB="18288">
                    <a:solidFill>
                      <a:srgbClr val="FFFFFF"/>
                    </a:solidFill>
                  </a:tcPr>
                </a:tc>
                <a:tc>
                  <a:txBody>
                    <a:bodyPr wrap="square"/>
                    <a:lstStyle/>
                    <a:p>
                      <a:r>
                        <a:rPr sz="700" b="1">
                          <a:solidFill>
                            <a:srgbClr val="5B6270"/>
                          </a:solidFill>
                          <a:latin typeface="Calibri"/>
                        </a:rPr>
                        <a:t>WhatsApp enviados</a:t>
                      </a:r>
                    </a:p>
                  </a:txBody>
                  <a:tcPr marL="45720" marR="45720" marT="18288" marB="18288">
                    <a:solidFill>
                      <a:srgbClr val="FFFFFF"/>
                    </a:solidFill>
                  </a:tcPr>
                </a:tc>
                <a:tc>
                  <a:txBody>
                    <a:bodyPr wrap="square"/>
                    <a:lstStyle/>
                    <a:p>
                      <a:r>
                        <a:rPr sz="700" b="1">
                          <a:solidFill>
                            <a:srgbClr val="5B6270"/>
                          </a:solidFill>
                          <a:latin typeface="Calibri"/>
                        </a:rPr>
                        <a:t>Entrega WA</a:t>
                      </a:r>
                    </a:p>
                  </a:txBody>
                  <a:tcPr marL="45720" marR="45720" marT="18288" marB="18288">
                    <a:solidFill>
                      <a:srgbClr val="FFFFFF"/>
                    </a:solidFill>
                  </a:tcPr>
                </a:tc>
                <a:tc>
                  <a:txBody>
                    <a:bodyPr wrap="square"/>
                    <a:lstStyle/>
                    <a:p>
                      <a:r>
                        <a:rPr sz="700" b="1">
                          <a:solidFill>
                            <a:srgbClr val="5B6270"/>
                          </a:solidFill>
                          <a:latin typeface="Calibri"/>
                        </a:rPr>
                        <a:t>Lectura WA</a:t>
                      </a:r>
                    </a:p>
                  </a:txBody>
                  <a:tcPr marL="45720" marR="45720" marT="18288" marB="18288">
                    <a:solidFill>
                      <a:srgbClr val="FFFFFF"/>
                    </a:solidFill>
                  </a:tcPr>
                </a:tc>
                <a:tc>
                  <a:txBody>
                    <a:bodyPr wrap="square"/>
                    <a:lstStyle/>
                    <a:p>
                      <a:r>
                        <a:rPr sz="700" b="1">
                          <a:solidFill>
                            <a:srgbClr val="5B6270"/>
                          </a:solidFill>
                          <a:latin typeface="Calibri"/>
                        </a:rPr>
                        <a:t>Clic in-app</a:t>
                      </a:r>
                    </a:p>
                  </a:txBody>
                  <a:tcPr marL="45720" marR="45720" marT="18288" marB="18288">
                    <a:solidFill>
                      <a:srgbClr val="FFFFFF"/>
                    </a:solidFill>
                  </a:tcPr>
                </a:tc>
                <a:tc>
                  <a:txBody>
                    <a:bodyPr wrap="square"/>
                    <a:lstStyle/>
                    <a:p>
                      <a:r>
                        <a:rPr sz="700" b="1">
                          <a:solidFill>
                            <a:srgbClr val="5B6270"/>
                          </a:solidFill>
                          <a:latin typeface="Calibri"/>
                        </a:rPr>
                        <a:t>Bajas (usuarios)</a:t>
                      </a:r>
                    </a:p>
                  </a:txBody>
                  <a:tcPr marL="45720" marR="45720" marT="18288" marB="18288">
                    <a:solidFill>
                      <a:srgbClr val="FFFFFF"/>
                    </a:solidFill>
                  </a:tcPr>
                </a:tc>
                <a:tc>
                  <a:txBody>
                    <a:bodyPr wrap="square"/>
                    <a:lstStyle/>
                    <a:p>
                      <a:r>
                        <a:rPr sz="700" b="1">
                          <a:solidFill>
                            <a:srgbClr val="5B6270"/>
                          </a:solidFill>
                          <a:latin typeface="Calibri"/>
                        </a:rPr>
                        <a:t>Costo MXN</a:t>
                      </a:r>
                    </a:p>
                  </a:txBody>
                  <a:tcPr marL="45720" marR="45720" marT="18288" marB="18288">
                    <a:solidFill>
                      <a:srgbClr val="FFFFFF"/>
                    </a:solidFill>
                  </a:tcPr>
                </a:tc>
              </a:tr>
              <a:tr h="201168">
                <a:tc>
                  <a:txBody>
                    <a:bodyPr wrap="square"/>
                    <a:lstStyle/>
                    <a:p>
                      <a:r>
                        <a:rPr sz="800" b="1">
                          <a:solidFill>
                            <a:srgbClr val="1A1D24"/>
                          </a:solidFill>
                          <a:latin typeface="Calibri"/>
                        </a:rPr>
                        <a:t>Ene</a:t>
                      </a:r>
                    </a:p>
                  </a:txBody>
                  <a:tcPr marL="45720" marR="45720" marT="18288" marB="18288">
                    <a:solidFill>
                      <a:srgbClr val="FFFFFF"/>
                    </a:solidFill>
                  </a:tcPr>
                </a:tc>
                <a:tc>
                  <a:txBody>
                    <a:bodyPr wrap="square"/>
                    <a:lstStyle/>
                    <a:p>
                      <a:r>
                        <a:rPr sz="800" b="0">
                          <a:solidFill>
                            <a:srgbClr val="1A1D24"/>
                          </a:solidFill>
                          <a:latin typeface="Calibri"/>
                        </a:rPr>
                        <a:t>58.7 M</a:t>
                      </a:r>
                    </a:p>
                  </a:txBody>
                  <a:tcPr marL="45720" marR="45720" marT="18288" marB="18288">
                    <a:solidFill>
                      <a:srgbClr val="FFFFFF"/>
                    </a:solidFill>
                  </a:tcPr>
                </a:tc>
                <a:tc>
                  <a:txBody>
                    <a:bodyPr wrap="square"/>
                    <a:lstStyle/>
                    <a:p>
                      <a:r>
                        <a:rPr sz="800" b="0">
                          <a:solidFill>
                            <a:srgbClr val="1A1D24"/>
                          </a:solidFill>
                          <a:latin typeface="Calibri"/>
                        </a:rPr>
                        <a:t>1.20 %</a:t>
                      </a:r>
                    </a:p>
                  </a:txBody>
                  <a:tcPr marL="45720" marR="45720" marT="18288" marB="18288">
                    <a:solidFill>
                      <a:srgbClr val="FFFFFF"/>
                    </a:solidFill>
                  </a:tcPr>
                </a:tc>
                <a:tc>
                  <a:txBody>
                    <a:bodyPr wrap="square"/>
                    <a:lstStyle/>
                    <a:p>
                      <a:r>
                        <a:rPr sz="800" b="0">
                          <a:solidFill>
                            <a:srgbClr val="1A1D24"/>
                          </a:solidFill>
                          <a:latin typeface="Calibri"/>
                        </a:rPr>
                        <a:t>1.83 %</a:t>
                      </a:r>
                    </a:p>
                  </a:txBody>
                  <a:tcPr marL="45720" marR="45720" marT="18288" marB="18288">
                    <a:solidFill>
                      <a:srgbClr val="FFFFFF"/>
                    </a:solidFill>
                  </a:tcPr>
                </a:tc>
                <a:tc>
                  <a:txBody>
                    <a:bodyPr wrap="square"/>
                    <a:lstStyle/>
                    <a:p>
                      <a:r>
                        <a:rPr sz="800" b="0">
                          <a:solidFill>
                            <a:srgbClr val="1A1D24"/>
                          </a:solidFill>
                          <a:latin typeface="Calibri"/>
                        </a:rPr>
                        <a:t>5.6 M</a:t>
                      </a:r>
                    </a:p>
                  </a:txBody>
                  <a:tcPr marL="45720" marR="45720" marT="18288" marB="18288">
                    <a:solidFill>
                      <a:srgbClr val="FFFFFF"/>
                    </a:solidFill>
                  </a:tcPr>
                </a:tc>
                <a:tc>
                  <a:txBody>
                    <a:bodyPr wrap="square"/>
                    <a:lstStyle/>
                    <a:p>
                      <a:r>
                        <a:rPr sz="800" b="0">
                          <a:solidFill>
                            <a:srgbClr val="1A1D24"/>
                          </a:solidFill>
                          <a:latin typeface="Calibri"/>
                        </a:rPr>
                        <a:t>80 %</a:t>
                      </a:r>
                    </a:p>
                  </a:txBody>
                  <a:tcPr marL="45720" marR="45720" marT="18288" marB="18288">
                    <a:solidFill>
                      <a:srgbClr val="FFFFFF"/>
                    </a:solidFill>
                  </a:tcPr>
                </a:tc>
                <a:tc>
                  <a:txBody>
                    <a:bodyPr wrap="square"/>
                    <a:lstStyle/>
                    <a:p>
                      <a:r>
                        <a:rPr sz="800" b="0">
                          <a:solidFill>
                            <a:srgbClr val="1A1D24"/>
                          </a:solidFill>
                          <a:latin typeface="Calibri"/>
                        </a:rPr>
                        <a:t>75 %</a:t>
                      </a:r>
                    </a:p>
                  </a:txBody>
                  <a:tcPr marL="45720" marR="45720" marT="18288" marB="18288">
                    <a:solidFill>
                      <a:srgbClr val="FFFFFF"/>
                    </a:solidFill>
                  </a:tcPr>
                </a:tc>
                <a:tc>
                  <a:txBody>
                    <a:bodyPr wrap="square"/>
                    <a:lstStyle/>
                    <a:p>
                      <a:r>
                        <a:rPr sz="800" b="0">
                          <a:solidFill>
                            <a:srgbClr val="1A1D24"/>
                          </a:solidFill>
                          <a:latin typeface="Calibri"/>
                        </a:rPr>
                        <a:t>48 %</a:t>
                      </a:r>
                    </a:p>
                  </a:txBody>
                  <a:tcPr marL="45720" marR="45720" marT="18288" marB="18288">
                    <a:solidFill>
                      <a:srgbClr val="FFFFFF"/>
                    </a:solidFill>
                  </a:tcPr>
                </a:tc>
                <a:tc>
                  <a:txBody>
                    <a:bodyPr wrap="square"/>
                    <a:lstStyle/>
                    <a:p>
                      <a:r>
                        <a:rPr sz="800" b="0">
                          <a:solidFill>
                            <a:srgbClr val="1A1D24"/>
                          </a:solidFill>
                          <a:latin typeface="Calibri"/>
                        </a:rPr>
                        <a:t>69,226</a:t>
                      </a:r>
                    </a:p>
                  </a:txBody>
                  <a:tcPr marL="45720" marR="45720" marT="18288" marB="18288">
                    <a:solidFill>
                      <a:srgbClr val="FFFFFF"/>
                    </a:solidFill>
                  </a:tcPr>
                </a:tc>
                <a:tc>
                  <a:txBody>
                    <a:bodyPr wrap="square"/>
                    <a:lstStyle/>
                    <a:p>
                      <a:r>
                        <a:rPr sz="800" b="0">
                          <a:solidFill>
                            <a:srgbClr val="1A1D24"/>
                          </a:solidFill>
                          <a:latin typeface="Calibri"/>
                        </a:rPr>
                        <a:t>7.4 M</a:t>
                      </a:r>
                    </a:p>
                  </a:txBody>
                  <a:tcPr marL="45720" marR="45720" marT="18288" marB="18288">
                    <a:solidFill>
                      <a:srgbClr val="FFFFFF"/>
                    </a:solidFill>
                  </a:tcPr>
                </a:tc>
              </a:tr>
              <a:tr h="201168">
                <a:tc>
                  <a:txBody>
                    <a:bodyPr wrap="square"/>
                    <a:lstStyle/>
                    <a:p>
                      <a:r>
                        <a:rPr sz="800" b="1">
                          <a:solidFill>
                            <a:srgbClr val="1A1D24"/>
                          </a:solidFill>
                          <a:latin typeface="Calibri"/>
                        </a:rPr>
                        <a:t>Feb</a:t>
                      </a:r>
                    </a:p>
                  </a:txBody>
                  <a:tcPr marL="45720" marR="45720" marT="18288" marB="18288">
                    <a:solidFill>
                      <a:srgbClr val="F6F7F9"/>
                    </a:solidFill>
                  </a:tcPr>
                </a:tc>
                <a:tc>
                  <a:txBody>
                    <a:bodyPr wrap="square"/>
                    <a:lstStyle/>
                    <a:p>
                      <a:r>
                        <a:rPr sz="800" b="0">
                          <a:solidFill>
                            <a:srgbClr val="1A1D24"/>
                          </a:solidFill>
                          <a:latin typeface="Calibri"/>
                        </a:rPr>
                        <a:t>67.5 M</a:t>
                      </a:r>
                    </a:p>
                  </a:txBody>
                  <a:tcPr marL="45720" marR="45720" marT="18288" marB="18288">
                    <a:solidFill>
                      <a:srgbClr val="F6F7F9"/>
                    </a:solidFill>
                  </a:tcPr>
                </a:tc>
                <a:tc>
                  <a:txBody>
                    <a:bodyPr wrap="square"/>
                    <a:lstStyle/>
                    <a:p>
                      <a:r>
                        <a:rPr sz="800" b="0">
                          <a:solidFill>
                            <a:srgbClr val="1A1D24"/>
                          </a:solidFill>
                          <a:latin typeface="Calibri"/>
                        </a:rPr>
                        <a:t>0.88 %</a:t>
                      </a:r>
                    </a:p>
                  </a:txBody>
                  <a:tcPr marL="45720" marR="45720" marT="18288" marB="18288">
                    <a:solidFill>
                      <a:srgbClr val="F6F7F9"/>
                    </a:solidFill>
                  </a:tcPr>
                </a:tc>
                <a:tc>
                  <a:txBody>
                    <a:bodyPr wrap="square"/>
                    <a:lstStyle/>
                    <a:p>
                      <a:r>
                        <a:rPr sz="800" b="0">
                          <a:solidFill>
                            <a:srgbClr val="1A1D24"/>
                          </a:solidFill>
                          <a:latin typeface="Calibri"/>
                        </a:rPr>
                        <a:t>1.43 %</a:t>
                      </a:r>
                    </a:p>
                  </a:txBody>
                  <a:tcPr marL="45720" marR="45720" marT="18288" marB="18288">
                    <a:solidFill>
                      <a:srgbClr val="F6F7F9"/>
                    </a:solidFill>
                  </a:tcPr>
                </a:tc>
                <a:tc>
                  <a:txBody>
                    <a:bodyPr wrap="square"/>
                    <a:lstStyle/>
                    <a:p>
                      <a:r>
                        <a:rPr sz="800" b="0">
                          <a:solidFill>
                            <a:srgbClr val="1A1D24"/>
                          </a:solidFill>
                          <a:latin typeface="Calibri"/>
                        </a:rPr>
                        <a:t>7.8 M</a:t>
                      </a:r>
                    </a:p>
                  </a:txBody>
                  <a:tcPr marL="45720" marR="45720" marT="18288" marB="18288">
                    <a:solidFill>
                      <a:srgbClr val="F6F7F9"/>
                    </a:solidFill>
                  </a:tcPr>
                </a:tc>
                <a:tc>
                  <a:txBody>
                    <a:bodyPr wrap="square"/>
                    <a:lstStyle/>
                    <a:p>
                      <a:r>
                        <a:rPr sz="800" b="0">
                          <a:solidFill>
                            <a:srgbClr val="1A1D24"/>
                          </a:solidFill>
                          <a:latin typeface="Calibri"/>
                        </a:rPr>
                        <a:t>77 %</a:t>
                      </a:r>
                    </a:p>
                  </a:txBody>
                  <a:tcPr marL="45720" marR="45720" marT="18288" marB="18288">
                    <a:solidFill>
                      <a:srgbClr val="F6F7F9"/>
                    </a:solidFill>
                  </a:tcPr>
                </a:tc>
                <a:tc>
                  <a:txBody>
                    <a:bodyPr wrap="square"/>
                    <a:lstStyle/>
                    <a:p>
                      <a:r>
                        <a:rPr sz="800" b="0">
                          <a:solidFill>
                            <a:srgbClr val="1A1D24"/>
                          </a:solidFill>
                          <a:latin typeface="Calibri"/>
                        </a:rPr>
                        <a:t>73 %</a:t>
                      </a:r>
                    </a:p>
                  </a:txBody>
                  <a:tcPr marL="45720" marR="45720" marT="18288" marB="18288">
                    <a:solidFill>
                      <a:srgbClr val="F6F7F9"/>
                    </a:solidFill>
                  </a:tcPr>
                </a:tc>
                <a:tc>
                  <a:txBody>
                    <a:bodyPr wrap="square"/>
                    <a:lstStyle/>
                    <a:p>
                      <a:r>
                        <a:rPr sz="800" b="0">
                          <a:solidFill>
                            <a:srgbClr val="1A1D24"/>
                          </a:solidFill>
                          <a:latin typeface="Calibri"/>
                        </a:rPr>
                        <a:t>19 %</a:t>
                      </a:r>
                    </a:p>
                  </a:txBody>
                  <a:tcPr marL="45720" marR="45720" marT="18288" marB="18288">
                    <a:solidFill>
                      <a:srgbClr val="F6F7F9"/>
                    </a:solidFill>
                  </a:tcPr>
                </a:tc>
                <a:tc>
                  <a:txBody>
                    <a:bodyPr wrap="square"/>
                    <a:lstStyle/>
                    <a:p>
                      <a:r>
                        <a:rPr sz="800" b="0">
                          <a:solidFill>
                            <a:srgbClr val="1A1D24"/>
                          </a:solidFill>
                          <a:latin typeface="Calibri"/>
                        </a:rPr>
                        <a:t>57,965</a:t>
                      </a:r>
                    </a:p>
                  </a:txBody>
                  <a:tcPr marL="45720" marR="45720" marT="18288" marB="18288">
                    <a:solidFill>
                      <a:srgbClr val="F6F7F9"/>
                    </a:solidFill>
                  </a:tcPr>
                </a:tc>
                <a:tc>
                  <a:txBody>
                    <a:bodyPr wrap="square"/>
                    <a:lstStyle/>
                    <a:p>
                      <a:r>
                        <a:rPr sz="800" b="0">
                          <a:solidFill>
                            <a:srgbClr val="1A1D24"/>
                          </a:solidFill>
                          <a:latin typeface="Calibri"/>
                        </a:rPr>
                        <a:t>9.5 M</a:t>
                      </a:r>
                    </a:p>
                  </a:txBody>
                  <a:tcPr marL="45720" marR="45720" marT="18288" marB="18288">
                    <a:solidFill>
                      <a:srgbClr val="F6F7F9"/>
                    </a:solidFill>
                  </a:tcPr>
                </a:tc>
              </a:tr>
              <a:tr h="201168">
                <a:tc>
                  <a:txBody>
                    <a:bodyPr wrap="square"/>
                    <a:lstStyle/>
                    <a:p>
                      <a:r>
                        <a:rPr sz="800" b="1">
                          <a:solidFill>
                            <a:srgbClr val="1A1D24"/>
                          </a:solidFill>
                          <a:latin typeface="Calibri"/>
                        </a:rPr>
                        <a:t>Mar</a:t>
                      </a:r>
                    </a:p>
                  </a:txBody>
                  <a:tcPr marL="45720" marR="45720" marT="18288" marB="18288">
                    <a:solidFill>
                      <a:srgbClr val="FFFFFF"/>
                    </a:solidFill>
                  </a:tcPr>
                </a:tc>
                <a:tc>
                  <a:txBody>
                    <a:bodyPr wrap="square"/>
                    <a:lstStyle/>
                    <a:p>
                      <a:r>
                        <a:rPr sz="800" b="0">
                          <a:solidFill>
                            <a:srgbClr val="1A1D24"/>
                          </a:solidFill>
                          <a:latin typeface="Calibri"/>
                        </a:rPr>
                        <a:t>67.8 M</a:t>
                      </a:r>
                    </a:p>
                  </a:txBody>
                  <a:tcPr marL="45720" marR="45720" marT="18288" marB="18288">
                    <a:solidFill>
                      <a:srgbClr val="FFFFFF"/>
                    </a:solidFill>
                  </a:tcPr>
                </a:tc>
                <a:tc>
                  <a:txBody>
                    <a:bodyPr wrap="square"/>
                    <a:lstStyle/>
                    <a:p>
                      <a:r>
                        <a:rPr sz="800" b="0">
                          <a:solidFill>
                            <a:srgbClr val="1A1D24"/>
                          </a:solidFill>
                          <a:latin typeface="Calibri"/>
                        </a:rPr>
                        <a:t>1.03 %</a:t>
                      </a:r>
                    </a:p>
                  </a:txBody>
                  <a:tcPr marL="45720" marR="45720" marT="18288" marB="18288">
                    <a:solidFill>
                      <a:srgbClr val="FFFFFF"/>
                    </a:solidFill>
                  </a:tcPr>
                </a:tc>
                <a:tc>
                  <a:txBody>
                    <a:bodyPr wrap="square"/>
                    <a:lstStyle/>
                    <a:p>
                      <a:r>
                        <a:rPr sz="800" b="0">
                          <a:solidFill>
                            <a:srgbClr val="1A1D24"/>
                          </a:solidFill>
                          <a:latin typeface="Calibri"/>
                        </a:rPr>
                        <a:t>1.81 %</a:t>
                      </a:r>
                    </a:p>
                  </a:txBody>
                  <a:tcPr marL="45720" marR="45720" marT="18288" marB="18288">
                    <a:solidFill>
                      <a:srgbClr val="FFFFFF"/>
                    </a:solidFill>
                  </a:tcPr>
                </a:tc>
                <a:tc>
                  <a:txBody>
                    <a:bodyPr wrap="square"/>
                    <a:lstStyle/>
                    <a:p>
                      <a:r>
                        <a:rPr sz="800" b="0">
                          <a:solidFill>
                            <a:srgbClr val="1A1D24"/>
                          </a:solidFill>
                          <a:latin typeface="Calibri"/>
                        </a:rPr>
                        <a:t>10.4 M</a:t>
                      </a:r>
                    </a:p>
                  </a:txBody>
                  <a:tcPr marL="45720" marR="45720" marT="18288" marB="18288">
                    <a:solidFill>
                      <a:srgbClr val="FFFFFF"/>
                    </a:solidFill>
                  </a:tcPr>
                </a:tc>
                <a:tc>
                  <a:txBody>
                    <a:bodyPr wrap="square"/>
                    <a:lstStyle/>
                    <a:p>
                      <a:r>
                        <a:rPr sz="800" b="0">
                          <a:solidFill>
                            <a:srgbClr val="1A1D24"/>
                          </a:solidFill>
                          <a:latin typeface="Calibri"/>
                        </a:rPr>
                        <a:t>74 %</a:t>
                      </a:r>
                    </a:p>
                  </a:txBody>
                  <a:tcPr marL="45720" marR="45720" marT="18288" marB="18288">
                    <a:solidFill>
                      <a:srgbClr val="FFFFFF"/>
                    </a:solidFill>
                  </a:tcPr>
                </a:tc>
                <a:tc>
                  <a:txBody>
                    <a:bodyPr wrap="square"/>
                    <a:lstStyle/>
                    <a:p>
                      <a:r>
                        <a:rPr sz="800" b="0">
                          <a:solidFill>
                            <a:srgbClr val="1A1D24"/>
                          </a:solidFill>
                          <a:latin typeface="Calibri"/>
                        </a:rPr>
                        <a:t>72 %</a:t>
                      </a:r>
                    </a:p>
                  </a:txBody>
                  <a:tcPr marL="45720" marR="45720" marT="18288" marB="18288">
                    <a:solidFill>
                      <a:srgbClr val="FFFFFF"/>
                    </a:solidFill>
                  </a:tcPr>
                </a:tc>
                <a:tc>
                  <a:txBody>
                    <a:bodyPr wrap="square"/>
                    <a:lstStyle/>
                    <a:p>
                      <a:r>
                        <a:rPr sz="800" b="0">
                          <a:solidFill>
                            <a:srgbClr val="1A1D24"/>
                          </a:solidFill>
                          <a:latin typeface="Calibri"/>
                        </a:rPr>
                        <a:t>24 %</a:t>
                      </a:r>
                    </a:p>
                  </a:txBody>
                  <a:tcPr marL="45720" marR="45720" marT="18288" marB="18288">
                    <a:solidFill>
                      <a:srgbClr val="FFFFFF"/>
                    </a:solidFill>
                  </a:tcPr>
                </a:tc>
                <a:tc>
                  <a:txBody>
                    <a:bodyPr wrap="square"/>
                    <a:lstStyle/>
                    <a:p>
                      <a:r>
                        <a:rPr sz="800" b="0">
                          <a:solidFill>
                            <a:srgbClr val="1A1D24"/>
                          </a:solidFill>
                          <a:latin typeface="Calibri"/>
                        </a:rPr>
                        <a:t>50,413</a:t>
                      </a:r>
                    </a:p>
                  </a:txBody>
                  <a:tcPr marL="45720" marR="45720" marT="18288" marB="18288">
                    <a:solidFill>
                      <a:srgbClr val="FFFFFF"/>
                    </a:solidFill>
                  </a:tcPr>
                </a:tc>
                <a:tc>
                  <a:txBody>
                    <a:bodyPr wrap="square"/>
                    <a:lstStyle/>
                    <a:p>
                      <a:r>
                        <a:rPr sz="800" b="0">
                          <a:solidFill>
                            <a:srgbClr val="1A1D24"/>
                          </a:solidFill>
                          <a:latin typeface="Calibri"/>
                        </a:rPr>
                        <a:t>12.2 M</a:t>
                      </a:r>
                    </a:p>
                  </a:txBody>
                  <a:tcPr marL="45720" marR="45720" marT="18288" marB="18288">
                    <a:solidFill>
                      <a:srgbClr val="FFFFFF"/>
                    </a:solidFill>
                  </a:tcPr>
                </a:tc>
              </a:tr>
              <a:tr h="201168">
                <a:tc>
                  <a:txBody>
                    <a:bodyPr wrap="square"/>
                    <a:lstStyle/>
                    <a:p>
                      <a:r>
                        <a:rPr sz="800" b="1">
                          <a:solidFill>
                            <a:srgbClr val="1A1D24"/>
                          </a:solidFill>
                          <a:latin typeface="Calibri"/>
                        </a:rPr>
                        <a:t>Abr</a:t>
                      </a:r>
                    </a:p>
                  </a:txBody>
                  <a:tcPr marL="45720" marR="45720" marT="18288" marB="18288">
                    <a:solidFill>
                      <a:srgbClr val="F6F7F9"/>
                    </a:solidFill>
                  </a:tcPr>
                </a:tc>
                <a:tc>
                  <a:txBody>
                    <a:bodyPr wrap="square"/>
                    <a:lstStyle/>
                    <a:p>
                      <a:r>
                        <a:rPr sz="800" b="0">
                          <a:solidFill>
                            <a:srgbClr val="1A1D24"/>
                          </a:solidFill>
                          <a:latin typeface="Calibri"/>
                        </a:rPr>
                        <a:t>64.3 M</a:t>
                      </a:r>
                    </a:p>
                  </a:txBody>
                  <a:tcPr marL="45720" marR="45720" marT="18288" marB="18288">
                    <a:solidFill>
                      <a:srgbClr val="F6F7F9"/>
                    </a:solidFill>
                  </a:tcPr>
                </a:tc>
                <a:tc>
                  <a:txBody>
                    <a:bodyPr wrap="square"/>
                    <a:lstStyle/>
                    <a:p>
                      <a:r>
                        <a:rPr sz="800" b="0">
                          <a:solidFill>
                            <a:srgbClr val="1A1D24"/>
                          </a:solidFill>
                          <a:latin typeface="Calibri"/>
                        </a:rPr>
                        <a:t>0.98 %</a:t>
                      </a:r>
                    </a:p>
                  </a:txBody>
                  <a:tcPr marL="45720" marR="45720" marT="18288" marB="18288">
                    <a:solidFill>
                      <a:srgbClr val="F6F7F9"/>
                    </a:solidFill>
                  </a:tcPr>
                </a:tc>
                <a:tc>
                  <a:txBody>
                    <a:bodyPr wrap="square"/>
                    <a:lstStyle/>
                    <a:p>
                      <a:r>
                        <a:rPr sz="800" b="0">
                          <a:solidFill>
                            <a:srgbClr val="1A1D24"/>
                          </a:solidFill>
                          <a:latin typeface="Calibri"/>
                        </a:rPr>
                        <a:t>1.53 %</a:t>
                      </a:r>
                    </a:p>
                  </a:txBody>
                  <a:tcPr marL="45720" marR="45720" marT="18288" marB="18288">
                    <a:solidFill>
                      <a:srgbClr val="F6F7F9"/>
                    </a:solidFill>
                  </a:tcPr>
                </a:tc>
                <a:tc>
                  <a:txBody>
                    <a:bodyPr wrap="square"/>
                    <a:lstStyle/>
                    <a:p>
                      <a:r>
                        <a:rPr sz="800" b="0">
                          <a:solidFill>
                            <a:srgbClr val="1A1D24"/>
                          </a:solidFill>
                          <a:latin typeface="Calibri"/>
                        </a:rPr>
                        <a:t>5.9 M</a:t>
                      </a:r>
                    </a:p>
                  </a:txBody>
                  <a:tcPr marL="45720" marR="45720" marT="18288" marB="18288">
                    <a:solidFill>
                      <a:srgbClr val="F6F7F9"/>
                    </a:solidFill>
                  </a:tcPr>
                </a:tc>
                <a:tc>
                  <a:txBody>
                    <a:bodyPr wrap="square"/>
                    <a:lstStyle/>
                    <a:p>
                      <a:r>
                        <a:rPr sz="800" b="0">
                          <a:solidFill>
                            <a:srgbClr val="1A1D24"/>
                          </a:solidFill>
                          <a:latin typeface="Calibri"/>
                        </a:rPr>
                        <a:t>69 %</a:t>
                      </a:r>
                    </a:p>
                  </a:txBody>
                  <a:tcPr marL="45720" marR="45720" marT="18288" marB="18288">
                    <a:solidFill>
                      <a:srgbClr val="F6F7F9"/>
                    </a:solidFill>
                  </a:tcPr>
                </a:tc>
                <a:tc>
                  <a:txBody>
                    <a:bodyPr wrap="square"/>
                    <a:lstStyle/>
                    <a:p>
                      <a:r>
                        <a:rPr sz="800" b="0">
                          <a:solidFill>
                            <a:srgbClr val="1A1D24"/>
                          </a:solidFill>
                          <a:latin typeface="Calibri"/>
                        </a:rPr>
                        <a:t>66 %</a:t>
                      </a:r>
                    </a:p>
                  </a:txBody>
                  <a:tcPr marL="45720" marR="45720" marT="18288" marB="18288">
                    <a:solidFill>
                      <a:srgbClr val="F6F7F9"/>
                    </a:solidFill>
                  </a:tcPr>
                </a:tc>
                <a:tc>
                  <a:txBody>
                    <a:bodyPr wrap="square"/>
                    <a:lstStyle/>
                    <a:p>
                      <a:r>
                        <a:rPr sz="800" b="0">
                          <a:solidFill>
                            <a:srgbClr val="1A1D24"/>
                          </a:solidFill>
                          <a:latin typeface="Calibri"/>
                        </a:rPr>
                        <a:t>36 %</a:t>
                      </a:r>
                    </a:p>
                  </a:txBody>
                  <a:tcPr marL="45720" marR="45720" marT="18288" marB="18288">
                    <a:solidFill>
                      <a:srgbClr val="F6F7F9"/>
                    </a:solidFill>
                  </a:tcPr>
                </a:tc>
                <a:tc>
                  <a:txBody>
                    <a:bodyPr wrap="square"/>
                    <a:lstStyle/>
                    <a:p>
                      <a:r>
                        <a:rPr sz="800" b="0">
                          <a:solidFill>
                            <a:srgbClr val="1A1D24"/>
                          </a:solidFill>
                          <a:latin typeface="Calibri"/>
                        </a:rPr>
                        <a:t>38,422</a:t>
                      </a:r>
                    </a:p>
                  </a:txBody>
                  <a:tcPr marL="45720" marR="45720" marT="18288" marB="18288">
                    <a:solidFill>
                      <a:srgbClr val="F6F7F9"/>
                    </a:solidFill>
                  </a:tcPr>
                </a:tc>
                <a:tc>
                  <a:txBody>
                    <a:bodyPr wrap="square"/>
                    <a:lstStyle/>
                    <a:p>
                      <a:r>
                        <a:rPr sz="800" b="0">
                          <a:solidFill>
                            <a:srgbClr val="1A1D24"/>
                          </a:solidFill>
                          <a:latin typeface="Calibri"/>
                        </a:rPr>
                        <a:t>7.6 M</a:t>
                      </a:r>
                    </a:p>
                  </a:txBody>
                  <a:tcPr marL="45720" marR="45720" marT="18288" marB="18288">
                    <a:solidFill>
                      <a:srgbClr val="F6F7F9"/>
                    </a:solidFill>
                  </a:tcPr>
                </a:tc>
              </a:tr>
              <a:tr h="201168">
                <a:tc>
                  <a:txBody>
                    <a:bodyPr wrap="square"/>
                    <a:lstStyle/>
                    <a:p>
                      <a:r>
                        <a:rPr sz="800" b="1">
                          <a:solidFill>
                            <a:srgbClr val="1A1D24"/>
                          </a:solidFill>
                          <a:latin typeface="Calibri"/>
                        </a:rPr>
                        <a:t>May</a:t>
                      </a:r>
                    </a:p>
                  </a:txBody>
                  <a:tcPr marL="45720" marR="45720" marT="18288" marB="18288">
                    <a:solidFill>
                      <a:srgbClr val="FFFFFF"/>
                    </a:solidFill>
                  </a:tcPr>
                </a:tc>
                <a:tc>
                  <a:txBody>
                    <a:bodyPr wrap="square"/>
                    <a:lstStyle/>
                    <a:p>
                      <a:r>
                        <a:rPr sz="800" b="0">
                          <a:solidFill>
                            <a:srgbClr val="1A1D24"/>
                          </a:solidFill>
                          <a:latin typeface="Calibri"/>
                        </a:rPr>
                        <a:t>85.0 M</a:t>
                      </a:r>
                    </a:p>
                  </a:txBody>
                  <a:tcPr marL="45720" marR="45720" marT="18288" marB="18288">
                    <a:solidFill>
                      <a:srgbClr val="FFFFFF"/>
                    </a:solidFill>
                  </a:tcPr>
                </a:tc>
                <a:tc>
                  <a:txBody>
                    <a:bodyPr wrap="square"/>
                    <a:lstStyle/>
                    <a:p>
                      <a:r>
                        <a:rPr sz="800" b="0">
                          <a:solidFill>
                            <a:srgbClr val="1A1D24"/>
                          </a:solidFill>
                          <a:latin typeface="Calibri"/>
                        </a:rPr>
                        <a:t>0.86 %</a:t>
                      </a:r>
                    </a:p>
                  </a:txBody>
                  <a:tcPr marL="45720" marR="45720" marT="18288" marB="18288">
                    <a:solidFill>
                      <a:srgbClr val="FFFFFF"/>
                    </a:solidFill>
                  </a:tcPr>
                </a:tc>
                <a:tc>
                  <a:txBody>
                    <a:bodyPr wrap="square"/>
                    <a:lstStyle/>
                    <a:p>
                      <a:r>
                        <a:rPr sz="800" b="0">
                          <a:solidFill>
                            <a:srgbClr val="1A1D24"/>
                          </a:solidFill>
                          <a:latin typeface="Calibri"/>
                        </a:rPr>
                        <a:t>1.28 %</a:t>
                      </a:r>
                    </a:p>
                  </a:txBody>
                  <a:tcPr marL="45720" marR="45720" marT="18288" marB="18288">
                    <a:solidFill>
                      <a:srgbClr val="FFFFFF"/>
                    </a:solidFill>
                  </a:tcPr>
                </a:tc>
                <a:tc>
                  <a:txBody>
                    <a:bodyPr wrap="square"/>
                    <a:lstStyle/>
                    <a:p>
                      <a:r>
                        <a:rPr sz="800" b="0">
                          <a:solidFill>
                            <a:srgbClr val="1A1D24"/>
                          </a:solidFill>
                          <a:latin typeface="Calibri"/>
                        </a:rPr>
                        <a:t>6.1 M</a:t>
                      </a:r>
                    </a:p>
                  </a:txBody>
                  <a:tcPr marL="45720" marR="45720" marT="18288" marB="18288">
                    <a:solidFill>
                      <a:srgbClr val="FFFFFF"/>
                    </a:solidFill>
                  </a:tcPr>
                </a:tc>
                <a:tc>
                  <a:txBody>
                    <a:bodyPr wrap="square"/>
                    <a:lstStyle/>
                    <a:p>
                      <a:r>
                        <a:rPr sz="800" b="0">
                          <a:solidFill>
                            <a:srgbClr val="1A1D24"/>
                          </a:solidFill>
                          <a:latin typeface="Calibri"/>
                        </a:rPr>
                        <a:t>67 %</a:t>
                      </a:r>
                    </a:p>
                  </a:txBody>
                  <a:tcPr marL="45720" marR="45720" marT="18288" marB="18288">
                    <a:solidFill>
                      <a:srgbClr val="FFFFFF"/>
                    </a:solidFill>
                  </a:tcPr>
                </a:tc>
                <a:tc>
                  <a:txBody>
                    <a:bodyPr wrap="square"/>
                    <a:lstStyle/>
                    <a:p>
                      <a:r>
                        <a:rPr sz="800" b="0">
                          <a:solidFill>
                            <a:srgbClr val="1A1D24"/>
                          </a:solidFill>
                          <a:latin typeface="Calibri"/>
                        </a:rPr>
                        <a:t>67 %</a:t>
                      </a:r>
                    </a:p>
                  </a:txBody>
                  <a:tcPr marL="45720" marR="45720" marT="18288" marB="18288">
                    <a:solidFill>
                      <a:srgbClr val="FFFFFF"/>
                    </a:solidFill>
                  </a:tcPr>
                </a:tc>
                <a:tc>
                  <a:txBody>
                    <a:bodyPr wrap="square"/>
                    <a:lstStyle/>
                    <a:p>
                      <a:r>
                        <a:rPr sz="800" b="0">
                          <a:solidFill>
                            <a:srgbClr val="1A1D24"/>
                          </a:solidFill>
                          <a:latin typeface="Calibri"/>
                        </a:rPr>
                        <a:t>47 %</a:t>
                      </a:r>
                    </a:p>
                  </a:txBody>
                  <a:tcPr marL="45720" marR="45720" marT="18288" marB="18288">
                    <a:solidFill>
                      <a:srgbClr val="FFFFFF"/>
                    </a:solidFill>
                  </a:tcPr>
                </a:tc>
                <a:tc>
                  <a:txBody>
                    <a:bodyPr wrap="square"/>
                    <a:lstStyle/>
                    <a:p>
                      <a:r>
                        <a:rPr sz="800" b="0">
                          <a:solidFill>
                            <a:srgbClr val="1A1D24"/>
                          </a:solidFill>
                          <a:latin typeface="Calibri"/>
                        </a:rPr>
                        <a:t>38,034</a:t>
                      </a:r>
                    </a:p>
                  </a:txBody>
                  <a:tcPr marL="45720" marR="45720" marT="18288" marB="18288">
                    <a:solidFill>
                      <a:srgbClr val="FFFFFF"/>
                    </a:solidFill>
                  </a:tcPr>
                </a:tc>
                <a:tc>
                  <a:txBody>
                    <a:bodyPr wrap="square"/>
                    <a:lstStyle/>
                    <a:p>
                      <a:r>
                        <a:rPr sz="800" b="0">
                          <a:solidFill>
                            <a:srgbClr val="1A1D24"/>
                          </a:solidFill>
                          <a:latin typeface="Calibri"/>
                        </a:rPr>
                        <a:t>8.1 M</a:t>
                      </a:r>
                    </a:p>
                  </a:txBody>
                  <a:tcPr marL="45720" marR="45720" marT="18288" marB="18288">
                    <a:solidFill>
                      <a:srgbClr val="FFFFFF"/>
                    </a:solidFill>
                  </a:tcPr>
                </a:tc>
              </a:tr>
              <a:tr h="201168">
                <a:tc>
                  <a:txBody>
                    <a:bodyPr wrap="square"/>
                    <a:lstStyle/>
                    <a:p>
                      <a:r>
                        <a:rPr sz="800" b="1">
                          <a:solidFill>
                            <a:srgbClr val="1A1D24"/>
                          </a:solidFill>
                          <a:latin typeface="Calibri"/>
                        </a:rPr>
                        <a:t>Jun</a:t>
                      </a:r>
                    </a:p>
                  </a:txBody>
                  <a:tcPr marL="45720" marR="45720" marT="18288" marB="18288">
                    <a:solidFill>
                      <a:srgbClr val="E4EAFB"/>
                    </a:solidFill>
                  </a:tcPr>
                </a:tc>
                <a:tc>
                  <a:txBody>
                    <a:bodyPr wrap="square"/>
                    <a:lstStyle/>
                    <a:p>
                      <a:r>
                        <a:rPr sz="800" b="0">
                          <a:solidFill>
                            <a:srgbClr val="1A1D24"/>
                          </a:solidFill>
                          <a:latin typeface="Calibri"/>
                        </a:rPr>
                        <a:t>109.0 M</a:t>
                      </a:r>
                    </a:p>
                  </a:txBody>
                  <a:tcPr marL="45720" marR="45720" marT="18288" marB="18288">
                    <a:solidFill>
                      <a:srgbClr val="E4EAFB"/>
                    </a:solidFill>
                  </a:tcPr>
                </a:tc>
                <a:tc>
                  <a:txBody>
                    <a:bodyPr wrap="square"/>
                    <a:lstStyle/>
                    <a:p>
                      <a:r>
                        <a:rPr sz="800" b="0">
                          <a:solidFill>
                            <a:srgbClr val="1A1D24"/>
                          </a:solidFill>
                          <a:latin typeface="Calibri"/>
                        </a:rPr>
                        <a:t>0.67 %</a:t>
                      </a:r>
                    </a:p>
                  </a:txBody>
                  <a:tcPr marL="45720" marR="45720" marT="18288" marB="18288">
                    <a:solidFill>
                      <a:srgbClr val="E4EAFB"/>
                    </a:solidFill>
                  </a:tcPr>
                </a:tc>
                <a:tc>
                  <a:txBody>
                    <a:bodyPr wrap="square"/>
                    <a:lstStyle/>
                    <a:p>
                      <a:r>
                        <a:rPr sz="800" b="0">
                          <a:solidFill>
                            <a:srgbClr val="1A1D24"/>
                          </a:solidFill>
                          <a:latin typeface="Calibri"/>
                        </a:rPr>
                        <a:t>1.05 %</a:t>
                      </a:r>
                    </a:p>
                  </a:txBody>
                  <a:tcPr marL="45720" marR="45720" marT="18288" marB="18288">
                    <a:solidFill>
                      <a:srgbClr val="E4EAFB"/>
                    </a:solidFill>
                  </a:tcPr>
                </a:tc>
                <a:tc>
                  <a:txBody>
                    <a:bodyPr wrap="square"/>
                    <a:lstStyle/>
                    <a:p>
                      <a:r>
                        <a:rPr sz="800" b="0">
                          <a:solidFill>
                            <a:srgbClr val="1A1D24"/>
                          </a:solidFill>
                          <a:latin typeface="Calibri"/>
                        </a:rPr>
                        <a:t>7.1 M</a:t>
                      </a:r>
                    </a:p>
                  </a:txBody>
                  <a:tcPr marL="45720" marR="45720" marT="18288" marB="18288">
                    <a:solidFill>
                      <a:srgbClr val="E4EAFB"/>
                    </a:solidFill>
                  </a:tcPr>
                </a:tc>
                <a:tc>
                  <a:txBody>
                    <a:bodyPr wrap="square"/>
                    <a:lstStyle/>
                    <a:p>
                      <a:r>
                        <a:rPr sz="800" b="0">
                          <a:solidFill>
                            <a:srgbClr val="1A1D24"/>
                          </a:solidFill>
                          <a:latin typeface="Calibri"/>
                        </a:rPr>
                        <a:t>74 %</a:t>
                      </a:r>
                    </a:p>
                  </a:txBody>
                  <a:tcPr marL="45720" marR="45720" marT="18288" marB="18288">
                    <a:solidFill>
                      <a:srgbClr val="E4EAFB"/>
                    </a:solidFill>
                  </a:tcPr>
                </a:tc>
                <a:tc>
                  <a:txBody>
                    <a:bodyPr wrap="square"/>
                    <a:lstStyle/>
                    <a:p>
                      <a:r>
                        <a:rPr sz="800" b="0">
                          <a:solidFill>
                            <a:srgbClr val="1A1D24"/>
                          </a:solidFill>
                          <a:latin typeface="Calibri"/>
                        </a:rPr>
                        <a:t>67 %</a:t>
                      </a:r>
                    </a:p>
                  </a:txBody>
                  <a:tcPr marL="45720" marR="45720" marT="18288" marB="18288">
                    <a:solidFill>
                      <a:srgbClr val="E4EAFB"/>
                    </a:solidFill>
                  </a:tcPr>
                </a:tc>
                <a:tc>
                  <a:txBody>
                    <a:bodyPr wrap="square"/>
                    <a:lstStyle/>
                    <a:p>
                      <a:r>
                        <a:rPr sz="800" b="0">
                          <a:solidFill>
                            <a:srgbClr val="1A1D24"/>
                          </a:solidFill>
                          <a:latin typeface="Calibri"/>
                        </a:rPr>
                        <a:t>45 %</a:t>
                      </a:r>
                    </a:p>
                  </a:txBody>
                  <a:tcPr marL="45720" marR="45720" marT="18288" marB="18288">
                    <a:solidFill>
                      <a:srgbClr val="E4EAFB"/>
                    </a:solidFill>
                  </a:tcPr>
                </a:tc>
                <a:tc>
                  <a:txBody>
                    <a:bodyPr wrap="square"/>
                    <a:lstStyle/>
                    <a:p>
                      <a:r>
                        <a:rPr sz="800" b="0">
                          <a:solidFill>
                            <a:srgbClr val="1A1D24"/>
                          </a:solidFill>
                          <a:latin typeface="Calibri"/>
                        </a:rPr>
                        <a:t>63,425</a:t>
                      </a:r>
                    </a:p>
                  </a:txBody>
                  <a:tcPr marL="45720" marR="45720" marT="18288" marB="18288">
                    <a:solidFill>
                      <a:srgbClr val="E4EAFB"/>
                    </a:solidFill>
                  </a:tcPr>
                </a:tc>
                <a:tc>
                  <a:txBody>
                    <a:bodyPr wrap="square"/>
                    <a:lstStyle/>
                    <a:p>
                      <a:r>
                        <a:rPr sz="800" b="0">
                          <a:solidFill>
                            <a:srgbClr val="1A1D24"/>
                          </a:solidFill>
                          <a:latin typeface="Calibri"/>
                        </a:rPr>
                        <a:t>9.7 M</a:t>
                      </a:r>
                    </a:p>
                  </a:txBody>
                  <a:tcPr marL="45720" marR="45720" marT="18288" marB="18288">
                    <a:solidFill>
                      <a:srgbClr val="E4EAFB"/>
                    </a:solidFill>
                  </a:tcPr>
                </a:tc>
              </a:tr>
              <a:tr h="201168">
                <a:tc>
                  <a:txBody>
                    <a:bodyPr wrap="square"/>
                    <a:lstStyle/>
                    <a:p>
                      <a:r>
                        <a:rPr sz="800" b="1">
                          <a:solidFill>
                            <a:srgbClr val="1A1D24"/>
                          </a:solidFill>
                          <a:latin typeface="Calibri"/>
                        </a:rPr>
                        <a:t>Jul</a:t>
                      </a:r>
                    </a:p>
                  </a:txBody>
                  <a:tcPr marL="45720" marR="45720" marT="18288" marB="18288">
                    <a:solidFill>
                      <a:srgbClr val="FFFFFF"/>
                    </a:solidFill>
                  </a:tcPr>
                </a:tc>
                <a:tc>
                  <a:txBody>
                    <a:bodyPr wrap="square"/>
                    <a:lstStyle/>
                    <a:p>
                      <a:r>
                        <a:rPr sz="800" b="0">
                          <a:solidFill>
                            <a:srgbClr val="1A1D24"/>
                          </a:solidFill>
                          <a:latin typeface="Calibri"/>
                        </a:rPr>
                        <a:t>71.7 M</a:t>
                      </a:r>
                    </a:p>
                  </a:txBody>
                  <a:tcPr marL="45720" marR="45720" marT="18288" marB="18288">
                    <a:solidFill>
                      <a:srgbClr val="FFFFFF"/>
                    </a:solidFill>
                  </a:tcPr>
                </a:tc>
                <a:tc>
                  <a:txBody>
                    <a:bodyPr wrap="square"/>
                    <a:lstStyle/>
                    <a:p>
                      <a:r>
                        <a:rPr sz="800" b="0">
                          <a:solidFill>
                            <a:srgbClr val="1A1D24"/>
                          </a:solidFill>
                          <a:latin typeface="Calibri"/>
                        </a:rPr>
                        <a:t>1.00 %</a:t>
                      </a:r>
                    </a:p>
                  </a:txBody>
                  <a:tcPr marL="45720" marR="45720" marT="18288" marB="18288">
                    <a:solidFill>
                      <a:srgbClr val="FFFFFF"/>
                    </a:solidFill>
                  </a:tcPr>
                </a:tc>
                <a:tc>
                  <a:txBody>
                    <a:bodyPr wrap="square"/>
                    <a:lstStyle/>
                    <a:p>
                      <a:r>
                        <a:rPr sz="800" b="0">
                          <a:solidFill>
                            <a:srgbClr val="1A1D24"/>
                          </a:solidFill>
                          <a:latin typeface="Calibri"/>
                        </a:rPr>
                        <a:t>1.77 %</a:t>
                      </a:r>
                    </a:p>
                  </a:txBody>
                  <a:tcPr marL="45720" marR="45720" marT="18288" marB="18288">
                    <a:solidFill>
                      <a:srgbClr val="FFFFFF"/>
                    </a:solidFill>
                  </a:tcPr>
                </a:tc>
                <a:tc>
                  <a:txBody>
                    <a:bodyPr wrap="square"/>
                    <a:lstStyle/>
                    <a:p>
                      <a:r>
                        <a:rPr sz="800" b="0">
                          <a:solidFill>
                            <a:srgbClr val="1A1D24"/>
                          </a:solidFill>
                          <a:latin typeface="Calibri"/>
                        </a:rPr>
                        <a:t>4.8 M</a:t>
                      </a:r>
                    </a:p>
                  </a:txBody>
                  <a:tcPr marL="45720" marR="45720" marT="18288" marB="18288">
                    <a:solidFill>
                      <a:srgbClr val="FFFFFF"/>
                    </a:solidFill>
                  </a:tcPr>
                </a:tc>
                <a:tc>
                  <a:txBody>
                    <a:bodyPr wrap="square"/>
                    <a:lstStyle/>
                    <a:p>
                      <a:r>
                        <a:rPr sz="800" b="0">
                          <a:solidFill>
                            <a:srgbClr val="1A1D24"/>
                          </a:solidFill>
                          <a:latin typeface="Calibri"/>
                        </a:rPr>
                        <a:t>73 %</a:t>
                      </a:r>
                    </a:p>
                  </a:txBody>
                  <a:tcPr marL="45720" marR="45720" marT="18288" marB="18288">
                    <a:solidFill>
                      <a:srgbClr val="FFFFFF"/>
                    </a:solidFill>
                  </a:tcPr>
                </a:tc>
                <a:tc>
                  <a:txBody>
                    <a:bodyPr wrap="square"/>
                    <a:lstStyle/>
                    <a:p>
                      <a:r>
                        <a:rPr sz="800" b="0">
                          <a:solidFill>
                            <a:srgbClr val="1A1D24"/>
                          </a:solidFill>
                          <a:latin typeface="Calibri"/>
                        </a:rPr>
                        <a:t>62 %</a:t>
                      </a:r>
                    </a:p>
                  </a:txBody>
                  <a:tcPr marL="45720" marR="45720" marT="18288" marB="18288">
                    <a:solidFill>
                      <a:srgbClr val="FFFFFF"/>
                    </a:solidFill>
                  </a:tcPr>
                </a:tc>
                <a:tc>
                  <a:txBody>
                    <a:bodyPr wrap="square"/>
                    <a:lstStyle/>
                    <a:p>
                      <a:r>
                        <a:rPr sz="800" b="0">
                          <a:solidFill>
                            <a:srgbClr val="1A1D24"/>
                          </a:solidFill>
                          <a:latin typeface="Calibri"/>
                        </a:rPr>
                        <a:t>37 %</a:t>
                      </a:r>
                    </a:p>
                  </a:txBody>
                  <a:tcPr marL="45720" marR="45720" marT="18288" marB="18288">
                    <a:solidFill>
                      <a:srgbClr val="FFFFFF"/>
                    </a:solidFill>
                  </a:tcPr>
                </a:tc>
                <a:tc>
                  <a:txBody>
                    <a:bodyPr wrap="square"/>
                    <a:lstStyle/>
                    <a:p>
                      <a:r>
                        <a:rPr sz="800" b="0">
                          <a:solidFill>
                            <a:srgbClr val="1A1D24"/>
                          </a:solidFill>
                          <a:latin typeface="Calibri"/>
                        </a:rPr>
                        <a:t>52,912</a:t>
                      </a:r>
                    </a:p>
                  </a:txBody>
                  <a:tcPr marL="45720" marR="45720" marT="18288" marB="18288">
                    <a:solidFill>
                      <a:srgbClr val="FFFFFF"/>
                    </a:solidFill>
                  </a:tcPr>
                </a:tc>
                <a:tc>
                  <a:txBody>
                    <a:bodyPr wrap="square"/>
                    <a:lstStyle/>
                    <a:p>
                      <a:r>
                        <a:rPr sz="800" b="0">
                          <a:solidFill>
                            <a:srgbClr val="1A1D24"/>
                          </a:solidFill>
                          <a:latin typeface="Calibri"/>
                        </a:rPr>
                        <a:t>6.4 M</a:t>
                      </a:r>
                    </a:p>
                  </a:txBody>
                  <a:tcPr marL="45720" marR="45720" marT="18288" marB="18288">
                    <a:solidFill>
                      <a:srgbClr val="FFFFFF"/>
                    </a:solidFill>
                  </a:tcPr>
                </a:tc>
              </a:tr>
              <a:tr h="201168">
                <a:tc>
                  <a:txBody>
                    <a:bodyPr wrap="square"/>
                    <a:lstStyle/>
                    <a:p>
                      <a:r>
                        <a:rPr sz="800" b="1">
                          <a:solidFill>
                            <a:srgbClr val="1A1D24"/>
                          </a:solidFill>
                          <a:latin typeface="Calibri"/>
                        </a:rPr>
                        <a:t>Ago</a:t>
                      </a:r>
                    </a:p>
                  </a:txBody>
                  <a:tcPr marL="45720" marR="45720" marT="18288" marB="18288">
                    <a:solidFill>
                      <a:srgbClr val="F6F7F9"/>
                    </a:solidFill>
                  </a:tcPr>
                </a:tc>
                <a:tc>
                  <a:txBody>
                    <a:bodyPr wrap="square"/>
                    <a:lstStyle/>
                    <a:p>
                      <a:r>
                        <a:rPr sz="800" b="0">
                          <a:solidFill>
                            <a:srgbClr val="1A1D24"/>
                          </a:solidFill>
                          <a:latin typeface="Calibri"/>
                        </a:rPr>
                        <a:t>78.0 M</a:t>
                      </a:r>
                    </a:p>
                  </a:txBody>
                  <a:tcPr marL="45720" marR="45720" marT="18288" marB="18288">
                    <a:solidFill>
                      <a:srgbClr val="F6F7F9"/>
                    </a:solidFill>
                  </a:tcPr>
                </a:tc>
                <a:tc>
                  <a:txBody>
                    <a:bodyPr wrap="square"/>
                    <a:lstStyle/>
                    <a:p>
                      <a:r>
                        <a:rPr sz="800" b="0">
                          <a:solidFill>
                            <a:srgbClr val="1A1D24"/>
                          </a:solidFill>
                          <a:latin typeface="Calibri"/>
                        </a:rPr>
                        <a:t>0.95 %</a:t>
                      </a:r>
                    </a:p>
                  </a:txBody>
                  <a:tcPr marL="45720" marR="45720" marT="18288" marB="18288">
                    <a:solidFill>
                      <a:srgbClr val="F6F7F9"/>
                    </a:solidFill>
                  </a:tcPr>
                </a:tc>
                <a:tc>
                  <a:txBody>
                    <a:bodyPr wrap="square"/>
                    <a:lstStyle/>
                    <a:p>
                      <a:r>
                        <a:rPr sz="800" b="0">
                          <a:solidFill>
                            <a:srgbClr val="1A1D24"/>
                          </a:solidFill>
                          <a:latin typeface="Calibri"/>
                        </a:rPr>
                        <a:t>1.57 %</a:t>
                      </a:r>
                    </a:p>
                  </a:txBody>
                  <a:tcPr marL="45720" marR="45720" marT="18288" marB="18288">
                    <a:solidFill>
                      <a:srgbClr val="F6F7F9"/>
                    </a:solidFill>
                  </a:tcPr>
                </a:tc>
                <a:tc>
                  <a:txBody>
                    <a:bodyPr wrap="square"/>
                    <a:lstStyle/>
                    <a:p>
                      <a:r>
                        <a:rPr sz="800" b="0">
                          <a:solidFill>
                            <a:srgbClr val="1A1D24"/>
                          </a:solidFill>
                          <a:latin typeface="Calibri"/>
                        </a:rPr>
                        <a:t>4.4 M</a:t>
                      </a:r>
                    </a:p>
                  </a:txBody>
                  <a:tcPr marL="45720" marR="45720" marT="18288" marB="18288">
                    <a:solidFill>
                      <a:srgbClr val="F6F7F9"/>
                    </a:solidFill>
                  </a:tcPr>
                </a:tc>
                <a:tc>
                  <a:txBody>
                    <a:bodyPr wrap="square"/>
                    <a:lstStyle/>
                    <a:p>
                      <a:r>
                        <a:rPr sz="800" b="0">
                          <a:solidFill>
                            <a:srgbClr val="1A1D24"/>
                          </a:solidFill>
                          <a:latin typeface="Calibri"/>
                        </a:rPr>
                        <a:t>78 %</a:t>
                      </a:r>
                    </a:p>
                  </a:txBody>
                  <a:tcPr marL="45720" marR="45720" marT="18288" marB="18288">
                    <a:solidFill>
                      <a:srgbClr val="F6F7F9"/>
                    </a:solidFill>
                  </a:tcPr>
                </a:tc>
                <a:tc>
                  <a:txBody>
                    <a:bodyPr wrap="square"/>
                    <a:lstStyle/>
                    <a:p>
                      <a:r>
                        <a:rPr sz="800" b="0">
                          <a:solidFill>
                            <a:srgbClr val="1A1D24"/>
                          </a:solidFill>
                          <a:latin typeface="Calibri"/>
                        </a:rPr>
                        <a:t>64 %</a:t>
                      </a:r>
                    </a:p>
                  </a:txBody>
                  <a:tcPr marL="45720" marR="45720" marT="18288" marB="18288">
                    <a:solidFill>
                      <a:srgbClr val="F6F7F9"/>
                    </a:solidFill>
                  </a:tcPr>
                </a:tc>
                <a:tc>
                  <a:txBody>
                    <a:bodyPr wrap="square"/>
                    <a:lstStyle/>
                    <a:p>
                      <a:r>
                        <a:rPr sz="800" b="0">
                          <a:solidFill>
                            <a:srgbClr val="1A1D24"/>
                          </a:solidFill>
                          <a:latin typeface="Calibri"/>
                        </a:rPr>
                        <a:t>42 %</a:t>
                      </a:r>
                    </a:p>
                  </a:txBody>
                  <a:tcPr marL="45720" marR="45720" marT="18288" marB="18288">
                    <a:solidFill>
                      <a:srgbClr val="F6F7F9"/>
                    </a:solidFill>
                  </a:tcPr>
                </a:tc>
                <a:tc>
                  <a:txBody>
                    <a:bodyPr wrap="square"/>
                    <a:lstStyle/>
                    <a:p>
                      <a:r>
                        <a:rPr sz="800" b="0">
                          <a:solidFill>
                            <a:srgbClr val="1A1D24"/>
                          </a:solidFill>
                          <a:latin typeface="Calibri"/>
                        </a:rPr>
                        <a:t>50,340</a:t>
                      </a:r>
                    </a:p>
                  </a:txBody>
                  <a:tcPr marL="45720" marR="45720" marT="18288" marB="18288">
                    <a:solidFill>
                      <a:srgbClr val="F6F7F9"/>
                    </a:solidFill>
                  </a:tcPr>
                </a:tc>
                <a:tc>
                  <a:txBody>
                    <a:bodyPr wrap="square"/>
                    <a:lstStyle/>
                    <a:p>
                      <a:r>
                        <a:rPr sz="800" b="0">
                          <a:solidFill>
                            <a:srgbClr val="1A1D24"/>
                          </a:solidFill>
                          <a:latin typeface="Calibri"/>
                        </a:rPr>
                        <a:t>6.1 M</a:t>
                      </a:r>
                    </a:p>
                  </a:txBody>
                  <a:tcPr marL="45720" marR="45720" marT="18288" marB="18288">
                    <a:solidFill>
                      <a:srgbClr val="F6F7F9"/>
                    </a:solidFill>
                  </a:tcPr>
                </a:tc>
              </a:tr>
              <a:tr h="201168">
                <a:tc>
                  <a:txBody>
                    <a:bodyPr wrap="square"/>
                    <a:lstStyle/>
                    <a:p>
                      <a:r>
                        <a:rPr sz="800" b="1">
                          <a:solidFill>
                            <a:srgbClr val="1A1D24"/>
                          </a:solidFill>
                          <a:latin typeface="Calibri"/>
                        </a:rPr>
                        <a:t>Sep</a:t>
                      </a:r>
                    </a:p>
                  </a:txBody>
                  <a:tcPr marL="45720" marR="45720" marT="18288" marB="18288">
                    <a:solidFill>
                      <a:srgbClr val="FFFFFF"/>
                    </a:solidFill>
                  </a:tcPr>
                </a:tc>
                <a:tc>
                  <a:txBody>
                    <a:bodyPr wrap="square"/>
                    <a:lstStyle/>
                    <a:p>
                      <a:r>
                        <a:rPr sz="800" b="0">
                          <a:solidFill>
                            <a:srgbClr val="1A1D24"/>
                          </a:solidFill>
                          <a:latin typeface="Calibri"/>
                        </a:rPr>
                        <a:t>65.6 M</a:t>
                      </a:r>
                    </a:p>
                  </a:txBody>
                  <a:tcPr marL="45720" marR="45720" marT="18288" marB="18288">
                    <a:solidFill>
                      <a:srgbClr val="FFFFFF"/>
                    </a:solidFill>
                  </a:tcPr>
                </a:tc>
                <a:tc>
                  <a:txBody>
                    <a:bodyPr wrap="square"/>
                    <a:lstStyle/>
                    <a:p>
                      <a:r>
                        <a:rPr sz="800" b="0">
                          <a:solidFill>
                            <a:srgbClr val="1A1D24"/>
                          </a:solidFill>
                          <a:latin typeface="Calibri"/>
                        </a:rPr>
                        <a:t>0.92 %</a:t>
                      </a:r>
                    </a:p>
                  </a:txBody>
                  <a:tcPr marL="45720" marR="45720" marT="18288" marB="18288">
                    <a:solidFill>
                      <a:srgbClr val="FFFFFF"/>
                    </a:solidFill>
                  </a:tcPr>
                </a:tc>
                <a:tc>
                  <a:txBody>
                    <a:bodyPr wrap="square"/>
                    <a:lstStyle/>
                    <a:p>
                      <a:r>
                        <a:rPr sz="800" b="0">
                          <a:solidFill>
                            <a:srgbClr val="1A1D24"/>
                          </a:solidFill>
                          <a:latin typeface="Calibri"/>
                        </a:rPr>
                        <a:t>2.12 %</a:t>
                      </a:r>
                    </a:p>
                  </a:txBody>
                  <a:tcPr marL="45720" marR="45720" marT="18288" marB="18288">
                    <a:solidFill>
                      <a:srgbClr val="FFFFFF"/>
                    </a:solidFill>
                  </a:tcPr>
                </a:tc>
                <a:tc>
                  <a:txBody>
                    <a:bodyPr wrap="square"/>
                    <a:lstStyle/>
                    <a:p>
                      <a:r>
                        <a:rPr sz="800" b="0">
                          <a:solidFill>
                            <a:srgbClr val="1A1D24"/>
                          </a:solidFill>
                          <a:latin typeface="Calibri"/>
                        </a:rPr>
                        <a:t>3.2 M</a:t>
                      </a:r>
                    </a:p>
                  </a:txBody>
                  <a:tcPr marL="45720" marR="45720" marT="18288" marB="18288">
                    <a:solidFill>
                      <a:srgbClr val="FFFFFF"/>
                    </a:solidFill>
                  </a:tcPr>
                </a:tc>
                <a:tc>
                  <a:txBody>
                    <a:bodyPr wrap="square"/>
                    <a:lstStyle/>
                    <a:p>
                      <a:r>
                        <a:rPr sz="800" b="0">
                          <a:solidFill>
                            <a:srgbClr val="1A1D24"/>
                          </a:solidFill>
                          <a:latin typeface="Calibri"/>
                        </a:rPr>
                        <a:t>77 %</a:t>
                      </a:r>
                    </a:p>
                  </a:txBody>
                  <a:tcPr marL="45720" marR="45720" marT="18288" marB="18288">
                    <a:solidFill>
                      <a:srgbClr val="FFFFFF"/>
                    </a:solidFill>
                  </a:tcPr>
                </a:tc>
                <a:tc>
                  <a:txBody>
                    <a:bodyPr wrap="square"/>
                    <a:lstStyle/>
                    <a:p>
                      <a:r>
                        <a:rPr sz="800" b="0">
                          <a:solidFill>
                            <a:srgbClr val="1A1D24"/>
                          </a:solidFill>
                          <a:latin typeface="Calibri"/>
                        </a:rPr>
                        <a:t>64 %</a:t>
                      </a:r>
                    </a:p>
                  </a:txBody>
                  <a:tcPr marL="45720" marR="45720" marT="18288" marB="18288">
                    <a:solidFill>
                      <a:srgbClr val="FFFFFF"/>
                    </a:solidFill>
                  </a:tcPr>
                </a:tc>
                <a:tc>
                  <a:txBody>
                    <a:bodyPr wrap="square"/>
                    <a:lstStyle/>
                    <a:p>
                      <a:r>
                        <a:rPr sz="800" b="0">
                          <a:solidFill>
                            <a:srgbClr val="1A1D24"/>
                          </a:solidFill>
                          <a:latin typeface="Calibri"/>
                        </a:rPr>
                        <a:t>42 %</a:t>
                      </a:r>
                    </a:p>
                  </a:txBody>
                  <a:tcPr marL="45720" marR="45720" marT="18288" marB="18288">
                    <a:solidFill>
                      <a:srgbClr val="FFFFFF"/>
                    </a:solidFill>
                  </a:tcPr>
                </a:tc>
                <a:tc>
                  <a:txBody>
                    <a:bodyPr wrap="square"/>
                    <a:lstStyle/>
                    <a:p>
                      <a:r>
                        <a:rPr sz="800" b="0">
                          <a:solidFill>
                            <a:srgbClr val="1A1D24"/>
                          </a:solidFill>
                          <a:latin typeface="Calibri"/>
                        </a:rPr>
                        <a:t>36,639</a:t>
                      </a:r>
                    </a:p>
                  </a:txBody>
                  <a:tcPr marL="45720" marR="45720" marT="18288" marB="18288">
                    <a:solidFill>
                      <a:srgbClr val="FFFFFF"/>
                    </a:solidFill>
                  </a:tcPr>
                </a:tc>
                <a:tc>
                  <a:txBody>
                    <a:bodyPr wrap="square"/>
                    <a:lstStyle/>
                    <a:p>
                      <a:r>
                        <a:rPr sz="800" b="0">
                          <a:solidFill>
                            <a:srgbClr val="1A1D24"/>
                          </a:solidFill>
                          <a:latin typeface="Calibri"/>
                        </a:rPr>
                        <a:t>5.0 M</a:t>
                      </a:r>
                    </a:p>
                  </a:txBody>
                  <a:tcPr marL="45720" marR="45720" marT="18288" marB="18288">
                    <a:solidFill>
                      <a:srgbClr val="FFFFFF"/>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Junio: 109 M envíos, el doble de enero; clic 0.67 %, apertura de push 1.05 %, 9.7 M MXN y el pico de bajas (63 mil).</a:t>
            </a:r>
          </a:p>
          <a:p>
            <a:pPr>
              <a:spcAft>
                <a:spcPts val="350"/>
              </a:spcAft>
            </a:pPr>
            <a:r>
              <a:rPr sz="950" b="1">
                <a:solidFill>
                  <a:srgbClr val="1F4FD8"/>
                </a:solidFill>
                <a:latin typeface="Calibri"/>
              </a:rPr>
              <a:t>2.  </a:t>
            </a:r>
            <a:r>
              <a:rPr sz="950" b="0">
                <a:solidFill>
                  <a:srgbClr val="5B6270"/>
                </a:solidFill>
                <a:latin typeface="Calibri"/>
              </a:rPr>
              <a:t>Septiembre: 65 M, apertura de push 2.12 % (la mejor), 5 M MXN.</a:t>
            </a:r>
          </a:p>
          <a:p>
            <a:pPr>
              <a:spcAft>
                <a:spcPts val="350"/>
              </a:spcAft>
            </a:pPr>
            <a:r>
              <a:rPr sz="950" b="1">
                <a:solidFill>
                  <a:srgbClr val="1F4FD8"/>
                </a:solidFill>
                <a:latin typeface="Calibri"/>
              </a:rPr>
              <a:t>3.  </a:t>
            </a:r>
            <a:r>
              <a:rPr sz="950" b="0">
                <a:solidFill>
                  <a:srgbClr val="5B6270"/>
                </a:solidFill>
                <a:latin typeface="Calibri"/>
              </a:rPr>
              <a:t>Junio concentra las piezas nuevas de push (139), BillPay Intro por email y los choques del mismo día.</a:t>
            </a:r>
          </a:p>
          <a:p>
            <a:pPr>
              <a:spcAft>
                <a:spcPts val="350"/>
              </a:spcAft>
            </a:pPr>
            <a:r>
              <a:rPr sz="950" b="1">
                <a:solidFill>
                  <a:srgbClr val="1F4FD8"/>
                </a:solidFill>
                <a:latin typeface="Calibri"/>
              </a:rPr>
              <a:t>4.  </a:t>
            </a:r>
            <a:r>
              <a:rPr sz="950" b="0">
                <a:solidFill>
                  <a:srgbClr val="5B6270"/>
                </a:solidFill>
                <a:latin typeface="Calibri"/>
              </a:rPr>
              <a:t>Septiembre tiene menos volumen y la misma base: la respuesta volvió sola.</a:t>
            </a:r>
          </a:p>
          <a:p>
            <a:pPr>
              <a:spcAft>
                <a:spcPts val="350"/>
              </a:spcAft>
            </a:pPr>
            <a:r>
              <a:rPr sz="950" b="1">
                <a:solidFill>
                  <a:srgbClr val="B5342B"/>
                </a:solidFill>
                <a:latin typeface="Calibri"/>
              </a:rPr>
              <a:t>5.  </a:t>
            </a:r>
            <a:r>
              <a:rPr sz="700" b="1">
                <a:solidFill>
                  <a:srgbClr val="B5342B"/>
                </a:solidFill>
                <a:latin typeface="Calibri"/>
              </a:rPr>
              <a:t>CAUSA RAÍZ · SATURACIÓN  </a:t>
            </a:r>
            <a:r>
              <a:rPr sz="950" b="1">
                <a:solidFill>
                  <a:srgbClr val="1A1D24"/>
                </a:solidFill>
                <a:latin typeface="Calibri"/>
              </a:rPr>
              <a:t>El volumen de junio lo decidieron tres equipos sin verse; el de septiembre fue la ausencia de lanzamientos.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Con el volumen de septiembre y la segmentación del plan, la respuesta sube más.</a:t>
            </a:r>
          </a:p>
          <a:p>
            <a:r>
              <a:rPr sz="700" b="1">
                <a:solidFill>
                  <a:srgbClr val="1F4FD8"/>
                </a:solidFill>
                <a:latin typeface="Calibri"/>
              </a:rPr>
              <a:t>O  </a:t>
            </a:r>
            <a:r>
              <a:rPr sz="750">
                <a:solidFill>
                  <a:srgbClr val="5B6270"/>
                </a:solidFill>
                <a:latin typeface="Calibri"/>
              </a:rPr>
              <a:t>Los lanzamientos deben repartirse en el calendario.</a:t>
            </a:r>
          </a:p>
          <a:p>
            <a:r>
              <a:rPr sz="700" b="1">
                <a:solidFill>
                  <a:srgbClr val="1F4FD8"/>
                </a:solidFill>
                <a:latin typeface="Calibri"/>
              </a:rPr>
              <a:t>G  </a:t>
            </a:r>
            <a:r>
              <a:rPr sz="750">
                <a:solidFill>
                  <a:srgbClr val="5B6270"/>
                </a:solidFill>
                <a:latin typeface="Calibri"/>
              </a:rPr>
              <a:t>El comité aprueba el calendario de lanzamientos del trimestre.</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3: calendario de lanzamientos del trimestre con un masivo por semana en toda la empresa; CRM compara cada mes contra septiembre en el tablero. Métrica: volumen mensual, meta 65 M; apertura de push, meta 2 %.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Repetir septiembre y no junio: 65 M al mes con 2.1 % de apertura de push y 5 M MXN de costo, contra 109 M, 1.05 % y 9.7 M MXN.</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Junio es el mes de referencia de lo que no se debe repetir; septiembre, de lo que sí.</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ANEXO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El día de la semana no explica la respuesta: el lunes responde 0.65 % porque salen las masivas de Product Growth y Marketing; el domingo 1.91 % con piezas chicas</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N_DiaSemana (E10)</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64</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18.6 %</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envíos salen el lunes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0.65 %</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 email del lunes</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1.91 %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clic del domingo, con piezas chicas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5" cy="2011680"/>
        </p:xfrm>
        <a:graphic>
          <a:graphicData uri="http://schemas.openxmlformats.org/drawingml/2006/table">
            <a:tbl>
              <a:tblPr firstRow="1" bandRow="1">
                <a:tableStyleId>{5C22544A-7EE6-4342-B048-85BDC9FD1C3A}</a:tableStyleId>
              </a:tblPr>
              <a:tblGrid>
                <a:gridCol w="631767"/>
                <a:gridCol w="491374"/>
                <a:gridCol w="772160"/>
                <a:gridCol w="701963"/>
                <a:gridCol w="912552"/>
                <a:gridCol w="912552"/>
                <a:gridCol w="701963"/>
                <a:gridCol w="701963"/>
                <a:gridCol w="1123141"/>
              </a:tblGrid>
              <a:tr h="251460">
                <a:tc>
                  <a:txBody>
                    <a:bodyPr wrap="square"/>
                    <a:lstStyle/>
                    <a:p>
                      <a:r>
                        <a:rPr sz="700" b="1">
                          <a:solidFill>
                            <a:srgbClr val="5B6270"/>
                          </a:solidFill>
                          <a:latin typeface="Calibri"/>
                        </a:rPr>
                        <a:t>Día</a:t>
                      </a:r>
                    </a:p>
                  </a:txBody>
                  <a:tcPr marL="45720" marR="45720" marT="18288" marB="18288">
                    <a:solidFill>
                      <a:srgbClr val="FFFFFF"/>
                    </a:solidFill>
                  </a:tcPr>
                </a:tc>
                <a:tc>
                  <a:txBody>
                    <a:bodyPr wrap="square"/>
                    <a:lstStyle/>
                    <a:p>
                      <a:r>
                        <a:rPr sz="700" b="1">
                          <a:solidFill>
                            <a:srgbClr val="5B6270"/>
                          </a:solidFill>
                          <a:latin typeface="Calibri"/>
                        </a:rPr>
                        <a:t>Envíos</a:t>
                      </a:r>
                    </a:p>
                  </a:txBody>
                  <a:tcPr marL="45720" marR="45720" marT="18288" marB="18288">
                    <a:solidFill>
                      <a:srgbClr val="FFFFFF"/>
                    </a:solidFill>
                  </a:tcPr>
                </a:tc>
                <a:tc>
                  <a:txBody>
                    <a:bodyPr wrap="square"/>
                    <a:lstStyle/>
                    <a:p>
                      <a:r>
                        <a:rPr sz="700" b="1">
                          <a:solidFill>
                            <a:srgbClr val="5B6270"/>
                          </a:solidFill>
                          <a:latin typeface="Calibri"/>
                        </a:rPr>
                        <a:t>% del total</a:t>
                      </a:r>
                    </a:p>
                  </a:txBody>
                  <a:tcPr marL="45720" marR="45720" marT="18288" marB="18288">
                    <a:solidFill>
                      <a:srgbClr val="FFFFFF"/>
                    </a:solidFill>
                  </a:tcPr>
                </a:tc>
                <a:tc>
                  <a:txBody>
                    <a:bodyPr wrap="square"/>
                    <a:lstStyle/>
                    <a:p>
                      <a:r>
                        <a:rPr sz="700" b="1">
                          <a:solidFill>
                            <a:srgbClr val="5B6270"/>
                          </a:solidFill>
                          <a:latin typeface="Calibri"/>
                        </a:rPr>
                        <a:t>Clic email</a:t>
                      </a:r>
                    </a:p>
                  </a:txBody>
                  <a:tcPr marL="45720" marR="45720" marT="18288" marB="18288">
                    <a:solidFill>
                      <a:srgbClr val="FFFFFF"/>
                    </a:solidFill>
                  </a:tcPr>
                </a:tc>
                <a:tc>
                  <a:txBody>
                    <a:bodyPr wrap="square"/>
                    <a:lstStyle/>
                    <a:p>
                      <a:r>
                        <a:rPr sz="700" b="1">
                          <a:solidFill>
                            <a:srgbClr val="5B6270"/>
                          </a:solidFill>
                          <a:latin typeface="Calibri"/>
                        </a:rPr>
                        <a:t>Bajas por mil</a:t>
                      </a:r>
                    </a:p>
                  </a:txBody>
                  <a:tcPr marL="45720" marR="45720" marT="18288" marB="18288">
                    <a:solidFill>
                      <a:srgbClr val="FFFFFF"/>
                    </a:solidFill>
                  </a:tcPr>
                </a:tc>
                <a:tc>
                  <a:txBody>
                    <a:bodyPr wrap="square"/>
                    <a:lstStyle/>
                    <a:p>
                      <a:r>
                        <a:rPr sz="700" b="1">
                          <a:solidFill>
                            <a:srgbClr val="5B6270"/>
                          </a:solidFill>
                          <a:latin typeface="Calibri"/>
                        </a:rPr>
                        <a:t>Apertura push</a:t>
                      </a:r>
                    </a:p>
                  </a:txBody>
                  <a:tcPr marL="45720" marR="45720" marT="18288" marB="18288">
                    <a:solidFill>
                      <a:srgbClr val="FFFFFF"/>
                    </a:solidFill>
                  </a:tcPr>
                </a:tc>
                <a:tc>
                  <a:txBody>
                    <a:bodyPr wrap="square"/>
                    <a:lstStyle/>
                    <a:p>
                      <a:r>
                        <a:rPr sz="700" b="1">
                          <a:solidFill>
                            <a:srgbClr val="5B6270"/>
                          </a:solidFill>
                          <a:latin typeface="Calibri"/>
                        </a:rPr>
                        <a:t>Entrega WA</a:t>
                      </a:r>
                    </a:p>
                  </a:txBody>
                  <a:tcPr marL="45720" marR="45720" marT="18288" marB="18288">
                    <a:solidFill>
                      <a:srgbClr val="FFFFFF"/>
                    </a:solidFill>
                  </a:tcPr>
                </a:tc>
                <a:tc>
                  <a:txBody>
                    <a:bodyPr wrap="square"/>
                    <a:lstStyle/>
                    <a:p>
                      <a:r>
                        <a:rPr sz="700" b="1">
                          <a:solidFill>
                            <a:srgbClr val="5B6270"/>
                          </a:solidFill>
                          <a:latin typeface="Calibri"/>
                        </a:rPr>
                        <a:t>Lectura WA</a:t>
                      </a:r>
                    </a:p>
                  </a:txBody>
                  <a:tcPr marL="45720" marR="45720" marT="18288" marB="18288">
                    <a:solidFill>
                      <a:srgbClr val="FFFFFF"/>
                    </a:solidFill>
                  </a:tcPr>
                </a:tc>
                <a:tc>
                  <a:txBody>
                    <a:bodyPr wrap="square"/>
                    <a:lstStyle/>
                    <a:p>
                      <a:r>
                        <a:rPr sz="700" b="1">
                          <a:solidFill>
                            <a:srgbClr val="5B6270"/>
                          </a:solidFill>
                          <a:latin typeface="Calibri"/>
                        </a:rPr>
                        <a:t>Conv. WA por mil</a:t>
                      </a:r>
                    </a:p>
                  </a:txBody>
                  <a:tcPr marL="45720" marR="45720" marT="18288" marB="18288">
                    <a:solidFill>
                      <a:srgbClr val="FFFFFF"/>
                    </a:solidFill>
                  </a:tcPr>
                </a:tc>
              </a:tr>
              <a:tr h="251460">
                <a:tc>
                  <a:txBody>
                    <a:bodyPr wrap="square"/>
                    <a:lstStyle/>
                    <a:p>
                      <a:r>
                        <a:rPr sz="800" b="1">
                          <a:solidFill>
                            <a:srgbClr val="1A1D24"/>
                          </a:solidFill>
                          <a:latin typeface="Calibri"/>
                        </a:rPr>
                        <a:t>Domingo</a:t>
                      </a:r>
                    </a:p>
                  </a:txBody>
                  <a:tcPr marL="45720" marR="45720" marT="18288" marB="18288">
                    <a:solidFill>
                      <a:srgbClr val="FFFFFF"/>
                    </a:solidFill>
                  </a:tcPr>
                </a:tc>
                <a:tc>
                  <a:txBody>
                    <a:bodyPr wrap="square"/>
                    <a:lstStyle/>
                    <a:p>
                      <a:r>
                        <a:rPr sz="800" b="0">
                          <a:solidFill>
                            <a:srgbClr val="1A1D24"/>
                          </a:solidFill>
                          <a:latin typeface="Calibri"/>
                        </a:rPr>
                        <a:t>51.2 M</a:t>
                      </a:r>
                    </a:p>
                  </a:txBody>
                  <a:tcPr marL="45720" marR="45720" marT="18288" marB="18288">
                    <a:solidFill>
                      <a:srgbClr val="FFFFFF"/>
                    </a:solidFill>
                  </a:tcPr>
                </a:tc>
                <a:tc>
                  <a:txBody>
                    <a:bodyPr wrap="square"/>
                    <a:lstStyle/>
                    <a:p>
                      <a:r>
                        <a:rPr sz="800" b="0">
                          <a:solidFill>
                            <a:srgbClr val="1A1D24"/>
                          </a:solidFill>
                          <a:latin typeface="Calibri"/>
                        </a:rPr>
                        <a:t>7.7 %</a:t>
                      </a:r>
                    </a:p>
                  </a:txBody>
                  <a:tcPr marL="45720" marR="45720" marT="18288" marB="18288">
                    <a:solidFill>
                      <a:srgbClr val="FFFFFF"/>
                    </a:solidFill>
                  </a:tcPr>
                </a:tc>
                <a:tc>
                  <a:txBody>
                    <a:bodyPr wrap="square"/>
                    <a:lstStyle/>
                    <a:p>
                      <a:r>
                        <a:rPr sz="800" b="0">
                          <a:solidFill>
                            <a:srgbClr val="1A1D24"/>
                          </a:solidFill>
                          <a:latin typeface="Calibri"/>
                        </a:rPr>
                        <a:t>1.91 %</a:t>
                      </a:r>
                    </a:p>
                  </a:txBody>
                  <a:tcPr marL="45720" marR="45720" marT="18288" marB="18288">
                    <a:solidFill>
                      <a:srgbClr val="FFFFFF"/>
                    </a:solidFill>
                  </a:tcPr>
                </a:tc>
                <a:tc>
                  <a:txBody>
                    <a:bodyPr wrap="square"/>
                    <a:lstStyle/>
                    <a:p>
                      <a:r>
                        <a:rPr sz="800" b="0">
                          <a:solidFill>
                            <a:srgbClr val="1A1D24"/>
                          </a:solidFill>
                          <a:latin typeface="Calibri"/>
                        </a:rPr>
                        <a:t>7.7</a:t>
                      </a:r>
                    </a:p>
                  </a:txBody>
                  <a:tcPr marL="45720" marR="45720" marT="18288" marB="18288">
                    <a:solidFill>
                      <a:srgbClr val="FFFFFF"/>
                    </a:solidFill>
                  </a:tcPr>
                </a:tc>
                <a:tc>
                  <a:txBody>
                    <a:bodyPr wrap="square"/>
                    <a:lstStyle/>
                    <a:p>
                      <a:r>
                        <a:rPr sz="800" b="0">
                          <a:solidFill>
                            <a:srgbClr val="1A1D24"/>
                          </a:solidFill>
                          <a:latin typeface="Calibri"/>
                        </a:rPr>
                        <a:t>1.26 %</a:t>
                      </a:r>
                    </a:p>
                  </a:txBody>
                  <a:tcPr marL="45720" marR="45720" marT="18288" marB="18288">
                    <a:solidFill>
                      <a:srgbClr val="FFFFFF"/>
                    </a:solidFill>
                  </a:tcPr>
                </a:tc>
                <a:tc>
                  <a:txBody>
                    <a:bodyPr wrap="square"/>
                    <a:lstStyle/>
                    <a:p>
                      <a:r>
                        <a:rPr sz="800" b="0">
                          <a:solidFill>
                            <a:srgbClr val="1A1D24"/>
                          </a:solidFill>
                          <a:latin typeface="Calibri"/>
                        </a:rPr>
                        <a:t>87 %</a:t>
                      </a:r>
                    </a:p>
                  </a:txBody>
                  <a:tcPr marL="45720" marR="45720" marT="18288" marB="18288">
                    <a:solidFill>
                      <a:srgbClr val="FFFFFF"/>
                    </a:solidFill>
                  </a:tcPr>
                </a:tc>
                <a:tc>
                  <a:txBody>
                    <a:bodyPr wrap="square"/>
                    <a:lstStyle/>
                    <a:p>
                      <a:r>
                        <a:rPr sz="800" b="0">
                          <a:solidFill>
                            <a:srgbClr val="1A1D24"/>
                          </a:solidFill>
                          <a:latin typeface="Calibri"/>
                        </a:rPr>
                        <a:t>89 %</a:t>
                      </a:r>
                    </a:p>
                  </a:txBody>
                  <a:tcPr marL="45720" marR="45720" marT="18288" marB="18288">
                    <a:solidFill>
                      <a:srgbClr val="FFFFFF"/>
                    </a:solidFill>
                  </a:tcPr>
                </a:tc>
                <a:tc>
                  <a:txBody>
                    <a:bodyPr wrap="square"/>
                    <a:lstStyle/>
                    <a:p>
                      <a:r>
                        <a:rPr sz="800" b="0">
                          <a:solidFill>
                            <a:srgbClr val="1A1D24"/>
                          </a:solidFill>
                          <a:latin typeface="Calibri"/>
                        </a:rPr>
                        <a:t>56</a:t>
                      </a:r>
                    </a:p>
                  </a:txBody>
                  <a:tcPr marL="45720" marR="45720" marT="18288" marB="18288">
                    <a:solidFill>
                      <a:srgbClr val="FFFFFF"/>
                    </a:solidFill>
                  </a:tcPr>
                </a:tc>
              </a:tr>
              <a:tr h="251460">
                <a:tc>
                  <a:txBody>
                    <a:bodyPr wrap="square"/>
                    <a:lstStyle/>
                    <a:p>
                      <a:r>
                        <a:rPr sz="800" b="1">
                          <a:solidFill>
                            <a:srgbClr val="1A1D24"/>
                          </a:solidFill>
                          <a:latin typeface="Calibri"/>
                        </a:rPr>
                        <a:t>Lunes</a:t>
                      </a:r>
                    </a:p>
                  </a:txBody>
                  <a:tcPr marL="45720" marR="45720" marT="18288" marB="18288">
                    <a:solidFill>
                      <a:srgbClr val="E4EAFB"/>
                    </a:solidFill>
                  </a:tcPr>
                </a:tc>
                <a:tc>
                  <a:txBody>
                    <a:bodyPr wrap="square"/>
                    <a:lstStyle/>
                    <a:p>
                      <a:r>
                        <a:rPr sz="800" b="0">
                          <a:solidFill>
                            <a:srgbClr val="1A1D24"/>
                          </a:solidFill>
                          <a:latin typeface="Calibri"/>
                        </a:rPr>
                        <a:t>124.0 M</a:t>
                      </a:r>
                    </a:p>
                  </a:txBody>
                  <a:tcPr marL="45720" marR="45720" marT="18288" marB="18288">
                    <a:solidFill>
                      <a:srgbClr val="E4EAFB"/>
                    </a:solidFill>
                  </a:tcPr>
                </a:tc>
                <a:tc>
                  <a:txBody>
                    <a:bodyPr wrap="square"/>
                    <a:lstStyle/>
                    <a:p>
                      <a:r>
                        <a:rPr sz="800" b="0">
                          <a:solidFill>
                            <a:srgbClr val="1A1D24"/>
                          </a:solidFill>
                          <a:latin typeface="Calibri"/>
                        </a:rPr>
                        <a:t>18.6 %</a:t>
                      </a:r>
                    </a:p>
                  </a:txBody>
                  <a:tcPr marL="45720" marR="45720" marT="18288" marB="18288">
                    <a:solidFill>
                      <a:srgbClr val="E4EAFB"/>
                    </a:solidFill>
                  </a:tcPr>
                </a:tc>
                <a:tc>
                  <a:txBody>
                    <a:bodyPr wrap="square"/>
                    <a:lstStyle/>
                    <a:p>
                      <a:r>
                        <a:rPr sz="800" b="0">
                          <a:solidFill>
                            <a:srgbClr val="1A1D24"/>
                          </a:solidFill>
                          <a:latin typeface="Calibri"/>
                        </a:rPr>
                        <a:t>0.65 %</a:t>
                      </a:r>
                    </a:p>
                  </a:txBody>
                  <a:tcPr marL="45720" marR="45720" marT="18288" marB="18288">
                    <a:solidFill>
                      <a:srgbClr val="E4EAFB"/>
                    </a:solidFill>
                  </a:tcPr>
                </a:tc>
                <a:tc>
                  <a:txBody>
                    <a:bodyPr wrap="square"/>
                    <a:lstStyle/>
                    <a:p>
                      <a:r>
                        <a:rPr sz="800" b="0">
                          <a:solidFill>
                            <a:srgbClr val="1A1D24"/>
                          </a:solidFill>
                          <a:latin typeface="Calibri"/>
                        </a:rPr>
                        <a:t>2.3</a:t>
                      </a:r>
                    </a:p>
                  </a:txBody>
                  <a:tcPr marL="45720" marR="45720" marT="18288" marB="18288">
                    <a:solidFill>
                      <a:srgbClr val="E4EAFB"/>
                    </a:solidFill>
                  </a:tcPr>
                </a:tc>
                <a:tc>
                  <a:txBody>
                    <a:bodyPr wrap="square"/>
                    <a:lstStyle/>
                    <a:p>
                      <a:r>
                        <a:rPr sz="800" b="0">
                          <a:solidFill>
                            <a:srgbClr val="1A1D24"/>
                          </a:solidFill>
                          <a:latin typeface="Calibri"/>
                        </a:rPr>
                        <a:t>1.63 %</a:t>
                      </a:r>
                    </a:p>
                  </a:txBody>
                  <a:tcPr marL="45720" marR="45720" marT="18288" marB="18288">
                    <a:solidFill>
                      <a:srgbClr val="E4EAFB"/>
                    </a:solidFill>
                  </a:tcPr>
                </a:tc>
                <a:tc>
                  <a:txBody>
                    <a:bodyPr wrap="square"/>
                    <a:lstStyle/>
                    <a:p>
                      <a:r>
                        <a:rPr sz="800" b="0">
                          <a:solidFill>
                            <a:srgbClr val="1A1D24"/>
                          </a:solidFill>
                          <a:latin typeface="Calibri"/>
                        </a:rPr>
                        <a:t>72 %</a:t>
                      </a:r>
                    </a:p>
                  </a:txBody>
                  <a:tcPr marL="45720" marR="45720" marT="18288" marB="18288">
                    <a:solidFill>
                      <a:srgbClr val="E4EAFB"/>
                    </a:solidFill>
                  </a:tcPr>
                </a:tc>
                <a:tc>
                  <a:txBody>
                    <a:bodyPr wrap="square"/>
                    <a:lstStyle/>
                    <a:p>
                      <a:r>
                        <a:rPr sz="800" b="0">
                          <a:solidFill>
                            <a:srgbClr val="1A1D24"/>
                          </a:solidFill>
                          <a:latin typeface="Calibri"/>
                        </a:rPr>
                        <a:t>66 %</a:t>
                      </a:r>
                    </a:p>
                  </a:txBody>
                  <a:tcPr marL="45720" marR="45720" marT="18288" marB="18288">
                    <a:solidFill>
                      <a:srgbClr val="E4EAFB"/>
                    </a:solidFill>
                  </a:tcPr>
                </a:tc>
                <a:tc>
                  <a:txBody>
                    <a:bodyPr wrap="square"/>
                    <a:lstStyle/>
                    <a:p>
                      <a:r>
                        <a:rPr sz="800" b="0">
                          <a:solidFill>
                            <a:srgbClr val="1A1D24"/>
                          </a:solidFill>
                          <a:latin typeface="Calibri"/>
                        </a:rPr>
                        <a:t>16</a:t>
                      </a:r>
                    </a:p>
                  </a:txBody>
                  <a:tcPr marL="45720" marR="45720" marT="18288" marB="18288">
                    <a:solidFill>
                      <a:srgbClr val="E4EAFB"/>
                    </a:solidFill>
                  </a:tcPr>
                </a:tc>
              </a:tr>
              <a:tr h="251460">
                <a:tc>
                  <a:txBody>
                    <a:bodyPr wrap="square"/>
                    <a:lstStyle/>
                    <a:p>
                      <a:r>
                        <a:rPr sz="800" b="1">
                          <a:solidFill>
                            <a:srgbClr val="1A1D24"/>
                          </a:solidFill>
                          <a:latin typeface="Calibri"/>
                        </a:rPr>
                        <a:t>Martes</a:t>
                      </a:r>
                    </a:p>
                  </a:txBody>
                  <a:tcPr marL="45720" marR="45720" marT="18288" marB="18288">
                    <a:solidFill>
                      <a:srgbClr val="FFFFFF"/>
                    </a:solidFill>
                  </a:tcPr>
                </a:tc>
                <a:tc>
                  <a:txBody>
                    <a:bodyPr wrap="square"/>
                    <a:lstStyle/>
                    <a:p>
                      <a:r>
                        <a:rPr sz="800" b="0">
                          <a:solidFill>
                            <a:srgbClr val="1A1D24"/>
                          </a:solidFill>
                          <a:latin typeface="Calibri"/>
                        </a:rPr>
                        <a:t>113.6 M</a:t>
                      </a:r>
                    </a:p>
                  </a:txBody>
                  <a:tcPr marL="45720" marR="45720" marT="18288" marB="18288">
                    <a:solidFill>
                      <a:srgbClr val="FFFFFF"/>
                    </a:solidFill>
                  </a:tcPr>
                </a:tc>
                <a:tc>
                  <a:txBody>
                    <a:bodyPr wrap="square"/>
                    <a:lstStyle/>
                    <a:p>
                      <a:r>
                        <a:rPr sz="800" b="0">
                          <a:solidFill>
                            <a:srgbClr val="1A1D24"/>
                          </a:solidFill>
                          <a:latin typeface="Calibri"/>
                        </a:rPr>
                        <a:t>17.0 %</a:t>
                      </a:r>
                    </a:p>
                  </a:txBody>
                  <a:tcPr marL="45720" marR="45720" marT="18288" marB="18288">
                    <a:solidFill>
                      <a:srgbClr val="FFFFFF"/>
                    </a:solidFill>
                  </a:tcPr>
                </a:tc>
                <a:tc>
                  <a:txBody>
                    <a:bodyPr wrap="square"/>
                    <a:lstStyle/>
                    <a:p>
                      <a:r>
                        <a:rPr sz="800" b="0">
                          <a:solidFill>
                            <a:srgbClr val="1A1D24"/>
                          </a:solidFill>
                          <a:latin typeface="Calibri"/>
                        </a:rPr>
                        <a:t>0.82 %</a:t>
                      </a:r>
                    </a:p>
                  </a:txBody>
                  <a:tcPr marL="45720" marR="45720" marT="18288" marB="18288">
                    <a:solidFill>
                      <a:srgbClr val="FFFFFF"/>
                    </a:solidFill>
                  </a:tcPr>
                </a:tc>
                <a:tc>
                  <a:txBody>
                    <a:bodyPr wrap="square"/>
                    <a:lstStyle/>
                    <a:p>
                      <a:r>
                        <a:rPr sz="800" b="0">
                          <a:solidFill>
                            <a:srgbClr val="1A1D24"/>
                          </a:solidFill>
                          <a:latin typeface="Calibri"/>
                        </a:rPr>
                        <a:t>3.2</a:t>
                      </a:r>
                    </a:p>
                  </a:txBody>
                  <a:tcPr marL="45720" marR="45720" marT="18288" marB="18288">
                    <a:solidFill>
                      <a:srgbClr val="FFFFFF"/>
                    </a:solidFill>
                  </a:tcPr>
                </a:tc>
                <a:tc>
                  <a:txBody>
                    <a:bodyPr wrap="square"/>
                    <a:lstStyle/>
                    <a:p>
                      <a:r>
                        <a:rPr sz="800" b="0">
                          <a:solidFill>
                            <a:srgbClr val="1A1D24"/>
                          </a:solidFill>
                          <a:latin typeface="Calibri"/>
                        </a:rPr>
                        <a:t>1.56 %</a:t>
                      </a:r>
                    </a:p>
                  </a:txBody>
                  <a:tcPr marL="45720" marR="45720" marT="18288" marB="18288">
                    <a:solidFill>
                      <a:srgbClr val="FFFFFF"/>
                    </a:solidFill>
                  </a:tcPr>
                </a:tc>
                <a:tc>
                  <a:txBody>
                    <a:bodyPr wrap="square"/>
                    <a:lstStyle/>
                    <a:p>
                      <a:r>
                        <a:rPr sz="800" b="0">
                          <a:solidFill>
                            <a:srgbClr val="1A1D24"/>
                          </a:solidFill>
                          <a:latin typeface="Calibri"/>
                        </a:rPr>
                        <a:t>75 %</a:t>
                      </a:r>
                    </a:p>
                  </a:txBody>
                  <a:tcPr marL="45720" marR="45720" marT="18288" marB="18288">
                    <a:solidFill>
                      <a:srgbClr val="FFFFFF"/>
                    </a:solidFill>
                  </a:tcPr>
                </a:tc>
                <a:tc>
                  <a:txBody>
                    <a:bodyPr wrap="square"/>
                    <a:lstStyle/>
                    <a:p>
                      <a:r>
                        <a:rPr sz="800" b="0">
                          <a:solidFill>
                            <a:srgbClr val="1A1D24"/>
                          </a:solidFill>
                          <a:latin typeface="Calibri"/>
                        </a:rPr>
                        <a:t>67 %</a:t>
                      </a:r>
                    </a:p>
                  </a:txBody>
                  <a:tcPr marL="45720" marR="45720" marT="18288" marB="18288">
                    <a:solidFill>
                      <a:srgbClr val="FFFFFF"/>
                    </a:solidFill>
                  </a:tcPr>
                </a:tc>
                <a:tc>
                  <a:txBody>
                    <a:bodyPr wrap="square"/>
                    <a:lstStyle/>
                    <a:p>
                      <a:r>
                        <a:rPr sz="800" b="0">
                          <a:solidFill>
                            <a:srgbClr val="1A1D24"/>
                          </a:solidFill>
                          <a:latin typeface="Calibri"/>
                        </a:rPr>
                        <a:t>20</a:t>
                      </a:r>
                    </a:p>
                  </a:txBody>
                  <a:tcPr marL="45720" marR="45720" marT="18288" marB="18288">
                    <a:solidFill>
                      <a:srgbClr val="FFFFFF"/>
                    </a:solidFill>
                  </a:tcPr>
                </a:tc>
              </a:tr>
              <a:tr h="251460">
                <a:tc>
                  <a:txBody>
                    <a:bodyPr wrap="square"/>
                    <a:lstStyle/>
                    <a:p>
                      <a:r>
                        <a:rPr sz="800" b="1">
                          <a:solidFill>
                            <a:srgbClr val="1A1D24"/>
                          </a:solidFill>
                          <a:latin typeface="Calibri"/>
                        </a:rPr>
                        <a:t>Miércoles</a:t>
                      </a:r>
                    </a:p>
                  </a:txBody>
                  <a:tcPr marL="45720" marR="45720" marT="18288" marB="18288">
                    <a:solidFill>
                      <a:srgbClr val="F6F7F9"/>
                    </a:solidFill>
                  </a:tcPr>
                </a:tc>
                <a:tc>
                  <a:txBody>
                    <a:bodyPr wrap="square"/>
                    <a:lstStyle/>
                    <a:p>
                      <a:r>
                        <a:rPr sz="800" b="0">
                          <a:solidFill>
                            <a:srgbClr val="1A1D24"/>
                          </a:solidFill>
                          <a:latin typeface="Calibri"/>
                        </a:rPr>
                        <a:t>92.2 M</a:t>
                      </a:r>
                    </a:p>
                  </a:txBody>
                  <a:tcPr marL="45720" marR="45720" marT="18288" marB="18288">
                    <a:solidFill>
                      <a:srgbClr val="F6F7F9"/>
                    </a:solidFill>
                  </a:tcPr>
                </a:tc>
                <a:tc>
                  <a:txBody>
                    <a:bodyPr wrap="square"/>
                    <a:lstStyle/>
                    <a:p>
                      <a:r>
                        <a:rPr sz="800" b="0">
                          <a:solidFill>
                            <a:srgbClr val="1A1D24"/>
                          </a:solidFill>
                          <a:latin typeface="Calibri"/>
                        </a:rPr>
                        <a:t>13.8 %</a:t>
                      </a:r>
                    </a:p>
                  </a:txBody>
                  <a:tcPr marL="45720" marR="45720" marT="18288" marB="18288">
                    <a:solidFill>
                      <a:srgbClr val="F6F7F9"/>
                    </a:solidFill>
                  </a:tcPr>
                </a:tc>
                <a:tc>
                  <a:txBody>
                    <a:bodyPr wrap="square"/>
                    <a:lstStyle/>
                    <a:p>
                      <a:r>
                        <a:rPr sz="800" b="0">
                          <a:solidFill>
                            <a:srgbClr val="1A1D24"/>
                          </a:solidFill>
                          <a:latin typeface="Calibri"/>
                        </a:rPr>
                        <a:t>1.01 %</a:t>
                      </a:r>
                    </a:p>
                  </a:txBody>
                  <a:tcPr marL="45720" marR="45720" marT="18288" marB="18288">
                    <a:solidFill>
                      <a:srgbClr val="F6F7F9"/>
                    </a:solidFill>
                  </a:tcPr>
                </a:tc>
                <a:tc>
                  <a:txBody>
                    <a:bodyPr wrap="square"/>
                    <a:lstStyle/>
                    <a:p>
                      <a:r>
                        <a:rPr sz="800" b="0">
                          <a:solidFill>
                            <a:srgbClr val="1A1D24"/>
                          </a:solidFill>
                          <a:latin typeface="Calibri"/>
                        </a:rPr>
                        <a:t>4.1</a:t>
                      </a:r>
                    </a:p>
                  </a:txBody>
                  <a:tcPr marL="45720" marR="45720" marT="18288" marB="18288">
                    <a:solidFill>
                      <a:srgbClr val="F6F7F9"/>
                    </a:solidFill>
                  </a:tcPr>
                </a:tc>
                <a:tc>
                  <a:txBody>
                    <a:bodyPr wrap="square"/>
                    <a:lstStyle/>
                    <a:p>
                      <a:r>
                        <a:rPr sz="800" b="0">
                          <a:solidFill>
                            <a:srgbClr val="1A1D24"/>
                          </a:solidFill>
                          <a:latin typeface="Calibri"/>
                        </a:rPr>
                        <a:t>1.63 %</a:t>
                      </a:r>
                    </a:p>
                  </a:txBody>
                  <a:tcPr marL="45720" marR="45720" marT="18288" marB="18288">
                    <a:solidFill>
                      <a:srgbClr val="F6F7F9"/>
                    </a:solidFill>
                  </a:tcPr>
                </a:tc>
                <a:tc>
                  <a:txBody>
                    <a:bodyPr wrap="square"/>
                    <a:lstStyle/>
                    <a:p>
                      <a:r>
                        <a:rPr sz="800" b="0">
                          <a:solidFill>
                            <a:srgbClr val="1A1D24"/>
                          </a:solidFill>
                          <a:latin typeface="Calibri"/>
                        </a:rPr>
                        <a:t>73 %</a:t>
                      </a:r>
                    </a:p>
                  </a:txBody>
                  <a:tcPr marL="45720" marR="45720" marT="18288" marB="18288">
                    <a:solidFill>
                      <a:srgbClr val="F6F7F9"/>
                    </a:solidFill>
                  </a:tcPr>
                </a:tc>
                <a:tc>
                  <a:txBody>
                    <a:bodyPr wrap="square"/>
                    <a:lstStyle/>
                    <a:p>
                      <a:r>
                        <a:rPr sz="800" b="0">
                          <a:solidFill>
                            <a:srgbClr val="1A1D24"/>
                          </a:solidFill>
                          <a:latin typeface="Calibri"/>
                        </a:rPr>
                        <a:t>70 %</a:t>
                      </a:r>
                    </a:p>
                  </a:txBody>
                  <a:tcPr marL="45720" marR="45720" marT="18288" marB="18288">
                    <a:solidFill>
                      <a:srgbClr val="F6F7F9"/>
                    </a:solidFill>
                  </a:tcPr>
                </a:tc>
                <a:tc>
                  <a:txBody>
                    <a:bodyPr wrap="square"/>
                    <a:lstStyle/>
                    <a:p>
                      <a:r>
                        <a:rPr sz="800" b="0">
                          <a:solidFill>
                            <a:srgbClr val="1A1D24"/>
                          </a:solidFill>
                          <a:latin typeface="Calibri"/>
                        </a:rPr>
                        <a:t>16</a:t>
                      </a:r>
                    </a:p>
                  </a:txBody>
                  <a:tcPr marL="45720" marR="45720" marT="18288" marB="18288">
                    <a:solidFill>
                      <a:srgbClr val="F6F7F9"/>
                    </a:solidFill>
                  </a:tcPr>
                </a:tc>
              </a:tr>
              <a:tr h="251460">
                <a:tc>
                  <a:txBody>
                    <a:bodyPr wrap="square"/>
                    <a:lstStyle/>
                    <a:p>
                      <a:r>
                        <a:rPr sz="800" b="1">
                          <a:solidFill>
                            <a:srgbClr val="1A1D24"/>
                          </a:solidFill>
                          <a:latin typeface="Calibri"/>
                        </a:rPr>
                        <a:t>Jueves</a:t>
                      </a:r>
                    </a:p>
                  </a:txBody>
                  <a:tcPr marL="45720" marR="45720" marT="18288" marB="18288">
                    <a:solidFill>
                      <a:srgbClr val="FFFFFF"/>
                    </a:solidFill>
                  </a:tcPr>
                </a:tc>
                <a:tc>
                  <a:txBody>
                    <a:bodyPr wrap="square"/>
                    <a:lstStyle/>
                    <a:p>
                      <a:r>
                        <a:rPr sz="800" b="0">
                          <a:solidFill>
                            <a:srgbClr val="1A1D24"/>
                          </a:solidFill>
                          <a:latin typeface="Calibri"/>
                        </a:rPr>
                        <a:t>110.0 M</a:t>
                      </a:r>
                    </a:p>
                  </a:txBody>
                  <a:tcPr marL="45720" marR="45720" marT="18288" marB="18288">
                    <a:solidFill>
                      <a:srgbClr val="FFFFFF"/>
                    </a:solidFill>
                  </a:tcPr>
                </a:tc>
                <a:tc>
                  <a:txBody>
                    <a:bodyPr wrap="square"/>
                    <a:lstStyle/>
                    <a:p>
                      <a:r>
                        <a:rPr sz="800" b="0">
                          <a:solidFill>
                            <a:srgbClr val="1A1D24"/>
                          </a:solidFill>
                          <a:latin typeface="Calibri"/>
                        </a:rPr>
                        <a:t>16.5 %</a:t>
                      </a:r>
                    </a:p>
                  </a:txBody>
                  <a:tcPr marL="45720" marR="45720" marT="18288" marB="18288">
                    <a:solidFill>
                      <a:srgbClr val="FFFFFF"/>
                    </a:solidFill>
                  </a:tcPr>
                </a:tc>
                <a:tc>
                  <a:txBody>
                    <a:bodyPr wrap="square"/>
                    <a:lstStyle/>
                    <a:p>
                      <a:r>
                        <a:rPr sz="800" b="0">
                          <a:solidFill>
                            <a:srgbClr val="1A1D24"/>
                          </a:solidFill>
                          <a:latin typeface="Calibri"/>
                        </a:rPr>
                        <a:t>0.95 %</a:t>
                      </a:r>
                    </a:p>
                  </a:txBody>
                  <a:tcPr marL="45720" marR="45720" marT="18288" marB="18288">
                    <a:solidFill>
                      <a:srgbClr val="FFFFFF"/>
                    </a:solidFill>
                  </a:tcPr>
                </a:tc>
                <a:tc>
                  <a:txBody>
                    <a:bodyPr wrap="square"/>
                    <a:lstStyle/>
                    <a:p>
                      <a:r>
                        <a:rPr sz="800" b="0">
                          <a:solidFill>
                            <a:srgbClr val="1A1D24"/>
                          </a:solidFill>
                          <a:latin typeface="Calibri"/>
                        </a:rPr>
                        <a:t>3.6</a:t>
                      </a:r>
                    </a:p>
                  </a:txBody>
                  <a:tcPr marL="45720" marR="45720" marT="18288" marB="18288">
                    <a:solidFill>
                      <a:srgbClr val="FFFFFF"/>
                    </a:solidFill>
                  </a:tcPr>
                </a:tc>
                <a:tc>
                  <a:txBody>
                    <a:bodyPr wrap="square"/>
                    <a:lstStyle/>
                    <a:p>
                      <a:r>
                        <a:rPr sz="800" b="0">
                          <a:solidFill>
                            <a:srgbClr val="1A1D24"/>
                          </a:solidFill>
                          <a:latin typeface="Calibri"/>
                        </a:rPr>
                        <a:t>1.53 %</a:t>
                      </a:r>
                    </a:p>
                  </a:txBody>
                  <a:tcPr marL="45720" marR="45720" marT="18288" marB="18288">
                    <a:solidFill>
                      <a:srgbClr val="FFFFFF"/>
                    </a:solidFill>
                  </a:tcPr>
                </a:tc>
                <a:tc>
                  <a:txBody>
                    <a:bodyPr wrap="square"/>
                    <a:lstStyle/>
                    <a:p>
                      <a:r>
                        <a:rPr sz="800" b="0">
                          <a:solidFill>
                            <a:srgbClr val="1A1D24"/>
                          </a:solidFill>
                          <a:latin typeface="Calibri"/>
                        </a:rPr>
                        <a:t>75 %</a:t>
                      </a:r>
                    </a:p>
                  </a:txBody>
                  <a:tcPr marL="45720" marR="45720" marT="18288" marB="18288">
                    <a:solidFill>
                      <a:srgbClr val="FFFFFF"/>
                    </a:solidFill>
                  </a:tcPr>
                </a:tc>
                <a:tc>
                  <a:txBody>
                    <a:bodyPr wrap="square"/>
                    <a:lstStyle/>
                    <a:p>
                      <a:r>
                        <a:rPr sz="800" b="0">
                          <a:solidFill>
                            <a:srgbClr val="1A1D24"/>
                          </a:solidFill>
                          <a:latin typeface="Calibri"/>
                        </a:rPr>
                        <a:t>66 %</a:t>
                      </a:r>
                    </a:p>
                  </a:txBody>
                  <a:tcPr marL="45720" marR="45720" marT="18288" marB="18288">
                    <a:solidFill>
                      <a:srgbClr val="FFFFFF"/>
                    </a:solidFill>
                  </a:tcPr>
                </a:tc>
                <a:tc>
                  <a:txBody>
                    <a:bodyPr wrap="square"/>
                    <a:lstStyle/>
                    <a:p>
                      <a:r>
                        <a:rPr sz="800" b="0">
                          <a:solidFill>
                            <a:srgbClr val="1A1D24"/>
                          </a:solidFill>
                          <a:latin typeface="Calibri"/>
                        </a:rPr>
                        <a:t>15</a:t>
                      </a:r>
                    </a:p>
                  </a:txBody>
                  <a:tcPr marL="45720" marR="45720" marT="18288" marB="18288">
                    <a:solidFill>
                      <a:srgbClr val="FFFFFF"/>
                    </a:solidFill>
                  </a:tcPr>
                </a:tc>
              </a:tr>
              <a:tr h="251460">
                <a:tc>
                  <a:txBody>
                    <a:bodyPr wrap="square"/>
                    <a:lstStyle/>
                    <a:p>
                      <a:r>
                        <a:rPr sz="800" b="1">
                          <a:solidFill>
                            <a:srgbClr val="1A1D24"/>
                          </a:solidFill>
                          <a:latin typeface="Calibri"/>
                        </a:rPr>
                        <a:t>Viernes</a:t>
                      </a:r>
                    </a:p>
                  </a:txBody>
                  <a:tcPr marL="45720" marR="45720" marT="18288" marB="18288">
                    <a:solidFill>
                      <a:srgbClr val="F6F7F9"/>
                    </a:solidFill>
                  </a:tcPr>
                </a:tc>
                <a:tc>
                  <a:txBody>
                    <a:bodyPr wrap="square"/>
                    <a:lstStyle/>
                    <a:p>
                      <a:r>
                        <a:rPr sz="800" b="0">
                          <a:solidFill>
                            <a:srgbClr val="1A1D24"/>
                          </a:solidFill>
                          <a:latin typeface="Calibri"/>
                        </a:rPr>
                        <a:t>111.7 M</a:t>
                      </a:r>
                    </a:p>
                  </a:txBody>
                  <a:tcPr marL="45720" marR="45720" marT="18288" marB="18288">
                    <a:solidFill>
                      <a:srgbClr val="F6F7F9"/>
                    </a:solidFill>
                  </a:tcPr>
                </a:tc>
                <a:tc>
                  <a:txBody>
                    <a:bodyPr wrap="square"/>
                    <a:lstStyle/>
                    <a:p>
                      <a:r>
                        <a:rPr sz="800" b="0">
                          <a:solidFill>
                            <a:srgbClr val="1A1D24"/>
                          </a:solidFill>
                          <a:latin typeface="Calibri"/>
                        </a:rPr>
                        <a:t>16.7 %</a:t>
                      </a:r>
                    </a:p>
                  </a:txBody>
                  <a:tcPr marL="45720" marR="45720" marT="18288" marB="18288">
                    <a:solidFill>
                      <a:srgbClr val="F6F7F9"/>
                    </a:solidFill>
                  </a:tcPr>
                </a:tc>
                <a:tc>
                  <a:txBody>
                    <a:bodyPr wrap="square"/>
                    <a:lstStyle/>
                    <a:p>
                      <a:r>
                        <a:rPr sz="800" b="0">
                          <a:solidFill>
                            <a:srgbClr val="1A1D24"/>
                          </a:solidFill>
                          <a:latin typeface="Calibri"/>
                        </a:rPr>
                        <a:t>0.82 %</a:t>
                      </a:r>
                    </a:p>
                  </a:txBody>
                  <a:tcPr marL="45720" marR="45720" marT="18288" marB="18288">
                    <a:solidFill>
                      <a:srgbClr val="F6F7F9"/>
                    </a:solidFill>
                  </a:tcPr>
                </a:tc>
                <a:tc>
                  <a:txBody>
                    <a:bodyPr wrap="square"/>
                    <a:lstStyle/>
                    <a:p>
                      <a:r>
                        <a:rPr sz="800" b="0">
                          <a:solidFill>
                            <a:srgbClr val="1A1D24"/>
                          </a:solidFill>
                          <a:latin typeface="Calibri"/>
                        </a:rPr>
                        <a:t>2.8</a:t>
                      </a:r>
                    </a:p>
                  </a:txBody>
                  <a:tcPr marL="45720" marR="45720" marT="18288" marB="18288">
                    <a:solidFill>
                      <a:srgbClr val="F6F7F9"/>
                    </a:solidFill>
                  </a:tcPr>
                </a:tc>
                <a:tc>
                  <a:txBody>
                    <a:bodyPr wrap="square"/>
                    <a:lstStyle/>
                    <a:p>
                      <a:r>
                        <a:rPr sz="800" b="0">
                          <a:solidFill>
                            <a:srgbClr val="1A1D24"/>
                          </a:solidFill>
                          <a:latin typeface="Calibri"/>
                        </a:rPr>
                        <a:t>1.64 %</a:t>
                      </a:r>
                    </a:p>
                  </a:txBody>
                  <a:tcPr marL="45720" marR="45720" marT="18288" marB="18288">
                    <a:solidFill>
                      <a:srgbClr val="F6F7F9"/>
                    </a:solidFill>
                  </a:tcPr>
                </a:tc>
                <a:tc>
                  <a:txBody>
                    <a:bodyPr wrap="square"/>
                    <a:lstStyle/>
                    <a:p>
                      <a:r>
                        <a:rPr sz="800" b="0">
                          <a:solidFill>
                            <a:srgbClr val="1A1D24"/>
                          </a:solidFill>
                          <a:latin typeface="Calibri"/>
                        </a:rPr>
                        <a:t>71 %</a:t>
                      </a:r>
                    </a:p>
                  </a:txBody>
                  <a:tcPr marL="45720" marR="45720" marT="18288" marB="18288">
                    <a:solidFill>
                      <a:srgbClr val="F6F7F9"/>
                    </a:solidFill>
                  </a:tcPr>
                </a:tc>
                <a:tc>
                  <a:txBody>
                    <a:bodyPr wrap="square"/>
                    <a:lstStyle/>
                    <a:p>
                      <a:r>
                        <a:rPr sz="800" b="0">
                          <a:solidFill>
                            <a:srgbClr val="1A1D24"/>
                          </a:solidFill>
                          <a:latin typeface="Calibri"/>
                        </a:rPr>
                        <a:t>70 %</a:t>
                      </a:r>
                    </a:p>
                  </a:txBody>
                  <a:tcPr marL="45720" marR="45720" marT="18288" marB="18288">
                    <a:solidFill>
                      <a:srgbClr val="F6F7F9"/>
                    </a:solidFill>
                  </a:tcPr>
                </a:tc>
                <a:tc>
                  <a:txBody>
                    <a:bodyPr wrap="square"/>
                    <a:lstStyle/>
                    <a:p>
                      <a:r>
                        <a:rPr sz="800" b="0">
                          <a:solidFill>
                            <a:srgbClr val="1A1D24"/>
                          </a:solidFill>
                          <a:latin typeface="Calibri"/>
                        </a:rPr>
                        <a:t>18</a:t>
                      </a:r>
                    </a:p>
                  </a:txBody>
                  <a:tcPr marL="45720" marR="45720" marT="18288" marB="18288">
                    <a:solidFill>
                      <a:srgbClr val="F6F7F9"/>
                    </a:solidFill>
                  </a:tcPr>
                </a:tc>
              </a:tr>
              <a:tr h="251460">
                <a:tc>
                  <a:txBody>
                    <a:bodyPr wrap="square"/>
                    <a:lstStyle/>
                    <a:p>
                      <a:r>
                        <a:rPr sz="800" b="1">
                          <a:solidFill>
                            <a:srgbClr val="1A1D24"/>
                          </a:solidFill>
                          <a:latin typeface="Calibri"/>
                        </a:rPr>
                        <a:t>Sábado</a:t>
                      </a:r>
                    </a:p>
                  </a:txBody>
                  <a:tcPr marL="45720" marR="45720" marT="18288" marB="18288">
                    <a:solidFill>
                      <a:srgbClr val="FFFFFF"/>
                    </a:solidFill>
                  </a:tcPr>
                </a:tc>
                <a:tc>
                  <a:txBody>
                    <a:bodyPr wrap="square"/>
                    <a:lstStyle/>
                    <a:p>
                      <a:r>
                        <a:rPr sz="800" b="0">
                          <a:solidFill>
                            <a:srgbClr val="1A1D24"/>
                          </a:solidFill>
                          <a:latin typeface="Calibri"/>
                        </a:rPr>
                        <a:t>64.7 M</a:t>
                      </a:r>
                    </a:p>
                  </a:txBody>
                  <a:tcPr marL="45720" marR="45720" marT="18288" marB="18288">
                    <a:solidFill>
                      <a:srgbClr val="FFFFFF"/>
                    </a:solidFill>
                  </a:tcPr>
                </a:tc>
                <a:tc>
                  <a:txBody>
                    <a:bodyPr wrap="square"/>
                    <a:lstStyle/>
                    <a:p>
                      <a:r>
                        <a:rPr sz="800" b="0">
                          <a:solidFill>
                            <a:srgbClr val="1A1D24"/>
                          </a:solidFill>
                          <a:latin typeface="Calibri"/>
                        </a:rPr>
                        <a:t>9.7 %</a:t>
                      </a:r>
                    </a:p>
                  </a:txBody>
                  <a:tcPr marL="45720" marR="45720" marT="18288" marB="18288">
                    <a:solidFill>
                      <a:srgbClr val="FFFFFF"/>
                    </a:solidFill>
                  </a:tcPr>
                </a:tc>
                <a:tc>
                  <a:txBody>
                    <a:bodyPr wrap="square"/>
                    <a:lstStyle/>
                    <a:p>
                      <a:r>
                        <a:rPr sz="800" b="0">
                          <a:solidFill>
                            <a:srgbClr val="1A1D24"/>
                          </a:solidFill>
                          <a:latin typeface="Calibri"/>
                        </a:rPr>
                        <a:t>1.58 %</a:t>
                      </a:r>
                    </a:p>
                  </a:txBody>
                  <a:tcPr marL="45720" marR="45720" marT="18288" marB="18288">
                    <a:solidFill>
                      <a:srgbClr val="FFFFFF"/>
                    </a:solidFill>
                  </a:tcPr>
                </a:tc>
                <a:tc>
                  <a:txBody>
                    <a:bodyPr wrap="square"/>
                    <a:lstStyle/>
                    <a:p>
                      <a:r>
                        <a:rPr sz="800" b="0">
                          <a:solidFill>
                            <a:srgbClr val="1A1D24"/>
                          </a:solidFill>
                          <a:latin typeface="Calibri"/>
                        </a:rPr>
                        <a:t>5.5</a:t>
                      </a:r>
                    </a:p>
                  </a:txBody>
                  <a:tcPr marL="45720" marR="45720" marT="18288" marB="18288">
                    <a:solidFill>
                      <a:srgbClr val="FFFFFF"/>
                    </a:solidFill>
                  </a:tcPr>
                </a:tc>
                <a:tc>
                  <a:txBody>
                    <a:bodyPr wrap="square"/>
                    <a:lstStyle/>
                    <a:p>
                      <a:r>
                        <a:rPr sz="800" b="0">
                          <a:solidFill>
                            <a:srgbClr val="1A1D24"/>
                          </a:solidFill>
                          <a:latin typeface="Calibri"/>
                        </a:rPr>
                        <a:t>1.44 %</a:t>
                      </a:r>
                    </a:p>
                  </a:txBody>
                  <a:tcPr marL="45720" marR="45720" marT="18288" marB="18288">
                    <a:solidFill>
                      <a:srgbClr val="FFFFFF"/>
                    </a:solidFill>
                  </a:tcPr>
                </a:tc>
                <a:tc>
                  <a:txBody>
                    <a:bodyPr wrap="square"/>
                    <a:lstStyle/>
                    <a:p>
                      <a:r>
                        <a:rPr sz="800" b="0">
                          <a:solidFill>
                            <a:srgbClr val="1A1D24"/>
                          </a:solidFill>
                          <a:latin typeface="Calibri"/>
                        </a:rPr>
                        <a:t>82 %</a:t>
                      </a:r>
                    </a:p>
                  </a:txBody>
                  <a:tcPr marL="45720" marR="45720" marT="18288" marB="18288">
                    <a:solidFill>
                      <a:srgbClr val="FFFFFF"/>
                    </a:solidFill>
                  </a:tcPr>
                </a:tc>
                <a:tc>
                  <a:txBody>
                    <a:bodyPr wrap="square"/>
                    <a:lstStyle/>
                    <a:p>
                      <a:r>
                        <a:rPr sz="800" b="0">
                          <a:solidFill>
                            <a:srgbClr val="1A1D24"/>
                          </a:solidFill>
                          <a:latin typeface="Calibri"/>
                        </a:rPr>
                        <a:t>82 %</a:t>
                      </a:r>
                    </a:p>
                  </a:txBody>
                  <a:tcPr marL="45720" marR="45720" marT="18288" marB="18288">
                    <a:solidFill>
                      <a:srgbClr val="FFFFFF"/>
                    </a:solidFill>
                  </a:tcPr>
                </a:tc>
                <a:tc>
                  <a:txBody>
                    <a:bodyPr wrap="square"/>
                    <a:lstStyle/>
                    <a:p>
                      <a:r>
                        <a:rPr sz="800" b="0">
                          <a:solidFill>
                            <a:srgbClr val="1A1D24"/>
                          </a:solidFill>
                          <a:latin typeface="Calibri"/>
                        </a:rPr>
                        <a:t>34</a:t>
                      </a:r>
                    </a:p>
                  </a:txBody>
                  <a:tcPr marL="45720" marR="45720" marT="18288" marB="18288">
                    <a:solidFill>
                      <a:srgbClr val="FFFFFF"/>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50" b="1">
                <a:solidFill>
                  <a:srgbClr val="1F4FD8"/>
                </a:solidFill>
                <a:latin typeface="Calibri"/>
              </a:rPr>
              <a:t>1.  </a:t>
            </a:r>
            <a:r>
              <a:rPr sz="950" b="0">
                <a:solidFill>
                  <a:srgbClr val="5B6270"/>
                </a:solidFill>
                <a:latin typeface="Calibri"/>
              </a:rPr>
              <a:t>Lunes: 18.6 % de los envíos y 0.65 % de clic; domingo 1.91 % con piezas chicas.</a:t>
            </a:r>
          </a:p>
          <a:p>
            <a:pPr>
              <a:spcAft>
                <a:spcPts val="350"/>
              </a:spcAft>
            </a:pPr>
            <a:r>
              <a:rPr sz="950" b="1">
                <a:solidFill>
                  <a:srgbClr val="1F4FD8"/>
                </a:solidFill>
                <a:latin typeface="Calibri"/>
              </a:rPr>
              <a:t>2.  </a:t>
            </a:r>
            <a:r>
              <a:rPr sz="950" b="0">
                <a:solidFill>
                  <a:srgbClr val="5B6270"/>
                </a:solidFill>
                <a:latin typeface="Calibri"/>
              </a:rPr>
              <a:t>Marketing 1.00 % lunes contra 1.66 % domingo; Product Growth 0.29 contra 1.53 %; Sales 0.15 a 0.38 % todos los días.</a:t>
            </a:r>
          </a:p>
          <a:p>
            <a:pPr>
              <a:spcAft>
                <a:spcPts val="350"/>
              </a:spcAft>
            </a:pPr>
            <a:r>
              <a:rPr sz="950" b="1">
                <a:solidFill>
                  <a:srgbClr val="1F4FD8"/>
                </a:solidFill>
                <a:latin typeface="Calibri"/>
              </a:rPr>
              <a:t>3.  </a:t>
            </a:r>
            <a:r>
              <a:rPr sz="950" b="0">
                <a:solidFill>
                  <a:srgbClr val="5B6270"/>
                </a:solidFill>
                <a:latin typeface="Calibri"/>
              </a:rPr>
              <a:t>El lunes salen las masivas; el fin de semana, las segmentadas.</a:t>
            </a:r>
          </a:p>
          <a:p>
            <a:pPr>
              <a:spcAft>
                <a:spcPts val="350"/>
              </a:spcAft>
            </a:pPr>
            <a:r>
              <a:rPr sz="950" b="1">
                <a:solidFill>
                  <a:srgbClr val="1F4FD8"/>
                </a:solidFill>
                <a:latin typeface="Calibri"/>
              </a:rPr>
              <a:t>4.  </a:t>
            </a:r>
            <a:r>
              <a:rPr sz="950" b="0">
                <a:solidFill>
                  <a:srgbClr val="5B6270"/>
                </a:solidFill>
                <a:latin typeface="Calibri"/>
              </a:rPr>
              <a:t>La misma pieza en dos días responde igual: compárese antes de concluir.</a:t>
            </a:r>
          </a:p>
          <a:p>
            <a:pPr>
              <a:spcAft>
                <a:spcPts val="350"/>
              </a:spcAft>
            </a:pPr>
            <a:r>
              <a:rPr sz="950" b="1">
                <a:solidFill>
                  <a:srgbClr val="B5342B"/>
                </a:solidFill>
                <a:latin typeface="Calibri"/>
              </a:rPr>
              <a:t>5.  </a:t>
            </a:r>
            <a:r>
              <a:rPr sz="700" b="1">
                <a:solidFill>
                  <a:srgbClr val="B5342B"/>
                </a:solidFill>
                <a:latin typeface="Calibri"/>
              </a:rPr>
              <a:t>CAUSA RAÍZ · AUDIENCIA SIN SEGMENTO  </a:t>
            </a:r>
            <a:r>
              <a:rPr sz="950" b="1">
                <a:solidFill>
                  <a:srgbClr val="1A1D24"/>
                </a:solidFill>
                <a:latin typeface="Calibri"/>
              </a:rPr>
              <a:t>La discusión de día esconde la de tamaño y audiencia.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El tamaño por pieza explica el clic; el día no.</a:t>
            </a:r>
          </a:p>
          <a:p>
            <a:r>
              <a:rPr sz="700" b="1">
                <a:solidFill>
                  <a:srgbClr val="1F4FD8"/>
                </a:solidFill>
                <a:latin typeface="Calibri"/>
              </a:rPr>
              <a:t>O  </a:t>
            </a:r>
            <a:r>
              <a:rPr sz="750">
                <a:solidFill>
                  <a:srgbClr val="5B6270"/>
                </a:solidFill>
                <a:latin typeface="Calibri"/>
              </a:rPr>
              <a:t>Mover calendario es la respuesta fácil.</a:t>
            </a:r>
          </a:p>
          <a:p>
            <a:r>
              <a:rPr sz="700" b="1">
                <a:solidFill>
                  <a:srgbClr val="1F4FD8"/>
                </a:solidFill>
                <a:latin typeface="Calibri"/>
              </a:rPr>
              <a:t>G  </a:t>
            </a:r>
            <a:r>
              <a:rPr sz="750">
                <a:solidFill>
                  <a:srgbClr val="5B6270"/>
                </a:solidFill>
                <a:latin typeface="Calibri"/>
              </a:rPr>
              <a:t>La regla es tamaño máximo por pieza, no día.</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Regla de tamaño por pieza, no de día (lámina 29). CRM agrega clic por día y tamaño al tablero. Métrica: clic del lunes, hoy 0.65 %, meta 1.0 %.</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Regla de tamaño por pieza, no de día: el lunes responde como el resto de la semana.</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El día importa menos que la pieza y la audiencia: compara la misma pieza en dos días antes de mover el calendario.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ANEXO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700" b="1">
                <a:solidFill>
                  <a:srgbClr val="1A1D24"/>
                </a:solidFill>
                <a:latin typeface="Calibri"/>
              </a:rPr>
              <a:t>Leads recibe lo más (201 M envíos) y responde poco; Active recibe 15 M y convierte más (756 mil contra 710 mil): los segmentos de Braze no tienen dueño, nomenclatura ni relación con la respuesta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P_Segmentos (E11)</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65</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481</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combinaciones de segmento para 30 audiencias reales</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85 M</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mensajes Not Tracked, 13 % del volumen</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15 M vs 201 M</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envíos a Active contra Leads; Active convierte más</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pic>
        <p:nvPicPr>
          <p:cNvPr id="15" name="Picture 14" descr="r65.png"/>
          <p:cNvPicPr>
            <a:picLocks noChangeAspect="1"/>
          </p:cNvPicPr>
          <p:nvPr/>
        </p:nvPicPr>
        <p:blipFill>
          <a:blip r:embed="rId2"/>
          <a:stretch>
            <a:fillRect/>
          </a:stretch>
        </p:blipFill>
        <p:spPr>
          <a:xfrm>
            <a:off x="548640" y="2560320"/>
            <a:ext cx="6186054" cy="2148840"/>
          </a:xfrm>
          <a:prstGeom prst="rect">
            <a:avLst/>
          </a:prstGeom>
        </p:spPr>
      </p:pic>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41 valores de segmento, 330 de subsegmento y 62 de grupo forman 481 combinaciones; 13 % del volumen (85 M) es Not Tracked.</a:t>
            </a:r>
          </a:p>
          <a:p>
            <a:pPr>
              <a:spcAft>
                <a:spcPts val="350"/>
              </a:spcAft>
            </a:pPr>
            <a:r>
              <a:rPr sz="900" b="1">
                <a:solidFill>
                  <a:srgbClr val="1F4FD8"/>
                </a:solidFill>
                <a:latin typeface="Calibri"/>
              </a:rPr>
              <a:t>2.  </a:t>
            </a:r>
            <a:r>
              <a:rPr sz="900" b="0">
                <a:solidFill>
                  <a:srgbClr val="5B6270"/>
                </a:solidFill>
                <a:latin typeface="Calibri"/>
              </a:rPr>
              <a:t>Leads: 201 M envíos, 8.5 % de respuesta (todos los canales) y 710 mil conversiones; Active: 15 M, 21 % y 756 mil: más conversiones con 13 veces menos envíos.</a:t>
            </a:r>
          </a:p>
          <a:p>
            <a:pPr>
              <a:spcAft>
                <a:spcPts val="350"/>
              </a:spcAft>
            </a:pPr>
            <a:r>
              <a:rPr sz="900" b="1">
                <a:solidFill>
                  <a:srgbClr val="1F4FD8"/>
                </a:solidFill>
                <a:latin typeface="Calibri"/>
              </a:rPr>
              <a:t>3.  </a:t>
            </a:r>
            <a:r>
              <a:rPr sz="900" b="0">
                <a:solidFill>
                  <a:srgbClr val="5B6270"/>
                </a:solidFill>
                <a:latin typeface="Calibri"/>
              </a:rPr>
              <a:t>Lo mismo escrito de varias formas: Comercio del día en 11 valores, Cuponera en 8, SoftInactive con error de dedo; el subsegmento se usa como nombre de la oferta.</a:t>
            </a:r>
          </a:p>
          <a:p>
            <a:pPr>
              <a:spcAft>
                <a:spcPts val="350"/>
              </a:spcAft>
            </a:pPr>
            <a:r>
              <a:rPr sz="900" b="1">
                <a:solidFill>
                  <a:srgbClr val="1F4FD8"/>
                </a:solidFill>
                <a:latin typeface="Calibri"/>
              </a:rPr>
              <a:t>4.  </a:t>
            </a:r>
            <a:r>
              <a:rPr sz="900" b="0">
                <a:solidFill>
                  <a:srgbClr val="5B6270"/>
                </a:solidFill>
                <a:latin typeface="Calibri"/>
              </a:rPr>
              <a:t>Sin segmentos maestros nadie sabe cuánto recibe cada audiencia real ni puede fijarle tope.</a:t>
            </a:r>
          </a:p>
          <a:p>
            <a:pPr>
              <a:spcAft>
                <a:spcPts val="350"/>
              </a:spcAft>
            </a:pPr>
            <a:r>
              <a:rPr sz="900" b="1">
                <a:solidFill>
                  <a:srgbClr val="B5342B"/>
                </a:solidFill>
                <a:latin typeface="Calibri"/>
              </a:rPr>
              <a:t>5.  </a:t>
            </a:r>
            <a:r>
              <a:rPr sz="700" b="1">
                <a:solidFill>
                  <a:srgbClr val="B5342B"/>
                </a:solidFill>
                <a:latin typeface="Calibri"/>
              </a:rPr>
              <a:t>CAUSA RAÍZ · OPERACIÓN  </a:t>
            </a:r>
            <a:r>
              <a:rPr sz="900" b="1">
                <a:solidFill>
                  <a:srgbClr val="1A1D24"/>
                </a:solidFill>
                <a:latin typeface="Calibri"/>
              </a:rPr>
              <a:t>Los segmentos no tienen dueño ni nomenclatura: cada equipo crea el suyo al armar la pieza.</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30 segmentos maestros cubren 100 % del volumen con respuesta auditable.</a:t>
            </a:r>
          </a:p>
          <a:p>
            <a:r>
              <a:rPr sz="700" b="1">
                <a:solidFill>
                  <a:srgbClr val="1F4FD8"/>
                </a:solidFill>
                <a:latin typeface="Calibri"/>
              </a:rPr>
              <a:t>O  </a:t>
            </a:r>
            <a:r>
              <a:rPr sz="750">
                <a:solidFill>
                  <a:srgbClr val="5B6270"/>
                </a:solidFill>
                <a:latin typeface="Calibri"/>
              </a:rPr>
              <a:t>Crear un segmento nuevo es más fácil que buscar el existente.</a:t>
            </a:r>
          </a:p>
          <a:p>
            <a:r>
              <a:rPr sz="700" b="1">
                <a:solidFill>
                  <a:srgbClr val="1F4FD8"/>
                </a:solidFill>
                <a:latin typeface="Calibri"/>
              </a:rPr>
              <a:t>G  </a:t>
            </a:r>
            <a:r>
              <a:rPr sz="750">
                <a:solidFill>
                  <a:srgbClr val="5B6270"/>
                </a:solidFill>
                <a:latin typeface="Calibri"/>
              </a:rPr>
              <a:t>Un dueño por familia de segmentos.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2: MarTech crea 30 segmentos SEG-Producto-Audiencia y 7 EXC- con dueño; Datos etiqueta Not Tracked (85 M). Semana 4: los Canvas apuntan a los maestros y los viejos se archivan. Métrica: % del volumen en segmentos maestros, hoy 0, meta 100 % en 60 días.</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Etiquetar Not Tracked (85 M) y 30 segmentos maestros: 100 % del volumen con segmento auditable.</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30 segmentos maestros con dueño sustituyen 481 combinaciones: así los segmentos se pueden auditar y se puede fijar cuánto recibe cada audiencia.</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228600"/>
            <a:ext cx="3566160" cy="274320"/>
          </a:xfrm>
          <a:prstGeom prst="rect">
            <a:avLst/>
          </a:prstGeom>
          <a:noFill/>
        </p:spPr>
        <p:txBody>
          <a:bodyPr wrap="square" lIns="18288" rIns="18288" tIns="18288" bIns="18288" anchor="t">
            <a:spAutoFit/>
          </a:bodyPr>
          <a:lstStyle/>
          <a:p>
            <a:pPr algn="r"/>
            <a:r>
              <a:rPr sz="900" b="0">
                <a:solidFill>
                  <a:srgbClr val="8A909B"/>
                </a:solidFill>
                <a:latin typeface="Calibri"/>
              </a:rPr>
              <a:t>ANEXO</a:t>
            </a:r>
          </a:p>
        </p:txBody>
      </p:sp>
      <p:sp>
        <p:nvSpPr>
          <p:cNvPr id="3" name="TextBox 2"/>
          <p:cNvSpPr txBox="1"/>
          <p:nvPr/>
        </p:nvSpPr>
        <p:spPr>
          <a:xfrm>
            <a:off x="548640" y="457200"/>
            <a:ext cx="11064240" cy="1005840"/>
          </a:xfrm>
          <a:prstGeom prst="rect">
            <a:avLst/>
          </a:prstGeom>
          <a:noFill/>
        </p:spPr>
        <p:txBody>
          <a:bodyPr wrap="square" lIns="18288" rIns="18288" tIns="18288" bIns="18288" anchor="t">
            <a:spAutoFit/>
          </a:bodyPr>
          <a:lstStyle/>
          <a:p>
            <a:pPr algn="l"/>
            <a:r>
              <a:rPr sz="1900" b="1">
                <a:solidFill>
                  <a:srgbClr val="1A1D24"/>
                </a:solidFill>
                <a:latin typeface="Calibri"/>
              </a:rPr>
              <a:t>Supuestos explícitos: cambiarlos cambia el resultado, no la conclusión; si WhatsApp se cobra por enviado, el ahorro en WhatsApp casi se duplica</a:t>
            </a:r>
          </a:p>
        </p:txBody>
      </p:sp>
      <p:sp>
        <p:nvSpPr>
          <p:cNvPr id="4" name="Rectangle 3"/>
          <p:cNvSpPr/>
          <p:nvPr/>
        </p:nvSpPr>
        <p:spPr>
          <a:xfrm>
            <a:off x="548640" y="1481328"/>
            <a:ext cx="731520" cy="45720"/>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48640" y="635508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00800"/>
            <a:ext cx="10241280" cy="320040"/>
          </a:xfrm>
          <a:prstGeom prst="rect">
            <a:avLst/>
          </a:prstGeom>
          <a:noFill/>
        </p:spPr>
        <p:txBody>
          <a:bodyPr wrap="square" lIns="18288" rIns="18288" tIns="18288" bIns="18288" anchor="t">
            <a:spAutoFit/>
          </a:bodyPr>
          <a:lstStyle/>
          <a:p>
            <a:pPr algn="l"/>
            <a:r>
              <a:rPr sz="850" b="0">
                <a:solidFill>
                  <a:srgbClr val="8A909B"/>
                </a:solidFill>
                <a:latin typeface="Calibri"/>
              </a:rPr>
              <a:t>Fuente: Sheets braze_auditoria_v4, Léeme y Parámetros</a:t>
            </a:r>
          </a:p>
        </p:txBody>
      </p:sp>
      <p:sp>
        <p:nvSpPr>
          <p:cNvPr id="7" name="TextBox 6"/>
          <p:cNvSpPr txBox="1"/>
          <p:nvPr/>
        </p:nvSpPr>
        <p:spPr>
          <a:xfrm>
            <a:off x="11247120" y="6400800"/>
            <a:ext cx="411480" cy="320040"/>
          </a:xfrm>
          <a:prstGeom prst="rect">
            <a:avLst/>
          </a:prstGeom>
          <a:noFill/>
        </p:spPr>
        <p:txBody>
          <a:bodyPr wrap="square" lIns="18288" rIns="18288" tIns="18288" bIns="18288" anchor="t">
            <a:spAutoFit/>
          </a:bodyPr>
          <a:lstStyle/>
          <a:p>
            <a:pPr algn="r"/>
            <a:r>
              <a:rPr sz="900" b="0">
                <a:solidFill>
                  <a:srgbClr val="8A909B"/>
                </a:solidFill>
                <a:latin typeface="Calibri"/>
              </a:rPr>
              <a:t>66</a:t>
            </a:r>
          </a:p>
        </p:txBody>
      </p:sp>
      <p:sp>
        <p:nvSpPr>
          <p:cNvPr id="8" name="TextBox 7"/>
          <p:cNvSpPr txBox="1"/>
          <p:nvPr/>
        </p:nvSpPr>
        <p:spPr>
          <a:xfrm>
            <a:off x="548640"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0.05 y 1.00</a:t>
            </a:r>
          </a:p>
        </p:txBody>
      </p:sp>
      <p:sp>
        <p:nvSpPr>
          <p:cNvPr id="9" name="TextBox 8"/>
          <p:cNvSpPr txBox="1"/>
          <p:nvPr/>
        </p:nvSpPr>
        <p:spPr>
          <a:xfrm>
            <a:off x="548640"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MXN por email enviado y por WhatsApp entregado</a:t>
            </a:r>
          </a:p>
        </p:txBody>
      </p:sp>
      <p:sp>
        <p:nvSpPr>
          <p:cNvPr id="10" name="TextBox 9"/>
          <p:cNvSpPr txBox="1"/>
          <p:nvPr/>
        </p:nvSpPr>
        <p:spPr>
          <a:xfrm>
            <a:off x="4245864"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7 días</a:t>
            </a:r>
          </a:p>
        </p:txBody>
      </p:sp>
      <p:sp>
        <p:nvSpPr>
          <p:cNvPr id="11" name="TextBox 10"/>
          <p:cNvSpPr txBox="1"/>
          <p:nvPr/>
        </p:nvSpPr>
        <p:spPr>
          <a:xfrm>
            <a:off x="4245864"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ventana de conversión, solo como referencia</a:t>
            </a:r>
          </a:p>
        </p:txBody>
      </p:sp>
      <p:sp>
        <p:nvSpPr>
          <p:cNvPr id="12" name="TextBox 11"/>
          <p:cNvSpPr txBox="1"/>
          <p:nvPr/>
        </p:nvSpPr>
        <p:spPr>
          <a:xfrm>
            <a:off x="7943088" y="1737360"/>
            <a:ext cx="3422904" cy="411480"/>
          </a:xfrm>
          <a:prstGeom prst="rect">
            <a:avLst/>
          </a:prstGeom>
          <a:noFill/>
        </p:spPr>
        <p:txBody>
          <a:bodyPr wrap="square" lIns="18288" rIns="18288" tIns="18288" bIns="18288" anchor="t">
            <a:spAutoFit/>
          </a:bodyPr>
          <a:lstStyle/>
          <a:p>
            <a:pPr algn="l"/>
            <a:r>
              <a:rPr sz="2200" b="1">
                <a:solidFill>
                  <a:srgbClr val="1F4FD8"/>
                </a:solidFill>
                <a:latin typeface="Calibri"/>
              </a:rPr>
              <a:t>37 %</a:t>
            </a:r>
          </a:p>
        </p:txBody>
      </p:sp>
      <p:sp>
        <p:nvSpPr>
          <p:cNvPr id="13" name="TextBox 12"/>
          <p:cNvSpPr txBox="1"/>
          <p:nvPr/>
        </p:nvSpPr>
        <p:spPr>
          <a:xfrm>
            <a:off x="7943088" y="2130552"/>
            <a:ext cx="3422904" cy="274320"/>
          </a:xfrm>
          <a:prstGeom prst="rect">
            <a:avLst/>
          </a:prstGeom>
          <a:noFill/>
        </p:spPr>
        <p:txBody>
          <a:bodyPr wrap="square" lIns="18288" rIns="18288" tIns="18288" bIns="18288" anchor="t">
            <a:spAutoFit/>
          </a:bodyPr>
          <a:lstStyle/>
          <a:p>
            <a:pPr algn="l"/>
            <a:r>
              <a:rPr sz="950" b="0">
                <a:solidFill>
                  <a:srgbClr val="5B6270"/>
                </a:solidFill>
                <a:latin typeface="Calibri"/>
              </a:rPr>
              <a:t>de los envíos cubre el golden dataset</a:t>
            </a:r>
          </a:p>
        </p:txBody>
      </p:sp>
      <p:cxnSp>
        <p:nvCxnSpPr>
          <p:cNvPr id="14" name="Connector 13"/>
          <p:cNvCxnSpPr/>
          <p:nvPr/>
        </p:nvCxnSpPr>
        <p:spPr>
          <a:xfrm>
            <a:off x="548640" y="2450592"/>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2560320"/>
          <a:ext cx="6949439" cy="2011680"/>
        </p:xfrm>
        <a:graphic>
          <a:graphicData uri="http://schemas.openxmlformats.org/drawingml/2006/table">
            <a:tbl>
              <a:tblPr firstRow="1" bandRow="1">
                <a:tableStyleId>{5C22544A-7EE6-4342-B048-85BDC9FD1C3A}</a:tableStyleId>
              </a:tblPr>
              <a:tblGrid>
                <a:gridCol w="2211185"/>
                <a:gridCol w="4738254"/>
              </a:tblGrid>
              <a:tr h="201168">
                <a:tc>
                  <a:txBody>
                    <a:bodyPr wrap="square"/>
                    <a:lstStyle/>
                    <a:p>
                      <a:r>
                        <a:rPr sz="700" b="1">
                          <a:solidFill>
                            <a:srgbClr val="5B6270"/>
                          </a:solidFill>
                          <a:latin typeface="Calibri"/>
                        </a:rPr>
                        <a:t>Supuesto</a:t>
                      </a:r>
                    </a:p>
                  </a:txBody>
                  <a:tcPr marL="45720" marR="45720" marT="18288" marB="18288">
                    <a:solidFill>
                      <a:srgbClr val="FFFFFF"/>
                    </a:solidFill>
                  </a:tcPr>
                </a:tc>
                <a:tc>
                  <a:txBody>
                    <a:bodyPr wrap="square"/>
                    <a:lstStyle/>
                    <a:p>
                      <a:r>
                        <a:rPr sz="700" b="1">
                          <a:solidFill>
                            <a:srgbClr val="5B6270"/>
                          </a:solidFill>
                          <a:latin typeface="Calibri"/>
                        </a:rPr>
                        <a:t>Detalle</a:t>
                      </a:r>
                    </a:p>
                  </a:txBody>
                  <a:tcPr marL="45720" marR="45720" marT="18288" marB="18288">
                    <a:solidFill>
                      <a:srgbClr val="FFFFFF"/>
                    </a:solidFill>
                  </a:tcPr>
                </a:tc>
              </a:tr>
              <a:tr h="201168">
                <a:tc>
                  <a:txBody>
                    <a:bodyPr wrap="square"/>
                    <a:lstStyle/>
                    <a:p>
                      <a:r>
                        <a:rPr sz="800" b="1">
                          <a:solidFill>
                            <a:srgbClr val="1A1D24"/>
                          </a:solidFill>
                          <a:latin typeface="Calibri"/>
                        </a:rPr>
                        <a:t>Periodo</a:t>
                      </a:r>
                    </a:p>
                  </a:txBody>
                  <a:tcPr marL="45720" marR="45720" marT="18288" marB="18288">
                    <a:solidFill>
                      <a:srgbClr val="FFFFFF"/>
                    </a:solidFill>
                  </a:tcPr>
                </a:tc>
                <a:tc>
                  <a:txBody>
                    <a:bodyPr wrap="square"/>
                    <a:lstStyle/>
                    <a:p>
                      <a:r>
                        <a:rPr sz="800" b="0">
                          <a:solidFill>
                            <a:srgbClr val="1A1D24"/>
                          </a:solidFill>
                          <a:latin typeface="Calibri"/>
                        </a:rPr>
                        <a:t>1 de enero a 30 de septiembre de 2026, 273 días</a:t>
                      </a:r>
                    </a:p>
                  </a:txBody>
                  <a:tcPr marL="45720" marR="45720" marT="18288" marB="18288">
                    <a:solidFill>
                      <a:srgbClr val="FFFFFF"/>
                    </a:solidFill>
                  </a:tcPr>
                </a:tc>
              </a:tr>
              <a:tr h="201168">
                <a:tc>
                  <a:txBody>
                    <a:bodyPr wrap="square"/>
                    <a:lstStyle/>
                    <a:p>
                      <a:r>
                        <a:rPr sz="800" b="1">
                          <a:solidFill>
                            <a:srgbClr val="1A1D24"/>
                          </a:solidFill>
                          <a:latin typeface="Calibri"/>
                        </a:rPr>
                        <a:t>Respuesta</a:t>
                      </a:r>
                    </a:p>
                  </a:txBody>
                  <a:tcPr marL="45720" marR="45720" marT="18288" marB="18288">
                    <a:solidFill>
                      <a:srgbClr val="F6F7F9"/>
                    </a:solidFill>
                  </a:tcPr>
                </a:tc>
                <a:tc>
                  <a:txBody>
                    <a:bodyPr wrap="square"/>
                    <a:lstStyle/>
                    <a:p>
                      <a:r>
                        <a:rPr sz="800" b="0">
                          <a:solidFill>
                            <a:srgbClr val="1A1D24"/>
                          </a:solidFill>
                          <a:latin typeface="Calibri"/>
                        </a:rPr>
                        <a:t>Clic en email, apertura en push, lectura en WhatsApp, clic en in-app. Abrir un email no cuenta</a:t>
                      </a:r>
                    </a:p>
                  </a:txBody>
                  <a:tcPr marL="45720" marR="45720" marT="18288" marB="18288">
                    <a:solidFill>
                      <a:srgbClr val="F6F7F9"/>
                    </a:solidFill>
                  </a:tcPr>
                </a:tc>
              </a:tr>
              <a:tr h="201168">
                <a:tc>
                  <a:txBody>
                    <a:bodyPr wrap="square"/>
                    <a:lstStyle/>
                    <a:p>
                      <a:r>
                        <a:rPr sz="800" b="1">
                          <a:solidFill>
                            <a:srgbClr val="1A1D24"/>
                          </a:solidFill>
                          <a:latin typeface="Calibri"/>
                        </a:rPr>
                        <a:t>Conversión</a:t>
                      </a:r>
                    </a:p>
                  </a:txBody>
                  <a:tcPr marL="45720" marR="45720" marT="18288" marB="18288">
                    <a:solidFill>
                      <a:srgbClr val="FFFFFF"/>
                    </a:solidFill>
                  </a:tcPr>
                </a:tc>
                <a:tc>
                  <a:txBody>
                    <a:bodyPr wrap="square"/>
                    <a:lstStyle/>
                    <a:p>
                      <a:r>
                        <a:rPr sz="800" b="0">
                          <a:solidFill>
                            <a:srgbClr val="1A1D24"/>
                          </a:solidFill>
                          <a:latin typeface="Calibri"/>
                        </a:rPr>
                        <a:t>A 7 días, como referencia, no como atribución</a:t>
                      </a:r>
                    </a:p>
                  </a:txBody>
                  <a:tcPr marL="45720" marR="45720" marT="18288" marB="18288">
                    <a:solidFill>
                      <a:srgbClr val="FFFFFF"/>
                    </a:solidFill>
                  </a:tcPr>
                </a:tc>
              </a:tr>
              <a:tr h="201168">
                <a:tc>
                  <a:txBody>
                    <a:bodyPr wrap="square"/>
                    <a:lstStyle/>
                    <a:p>
                      <a:r>
                        <a:rPr sz="800" b="1">
                          <a:solidFill>
                            <a:srgbClr val="1A1D24"/>
                          </a:solidFill>
                          <a:latin typeface="Calibri"/>
                        </a:rPr>
                        <a:t>Costos</a:t>
                      </a:r>
                    </a:p>
                  </a:txBody>
                  <a:tcPr marL="45720" marR="45720" marT="18288" marB="18288">
                    <a:solidFill>
                      <a:srgbClr val="F6F7F9"/>
                    </a:solidFill>
                  </a:tcPr>
                </a:tc>
                <a:tc>
                  <a:txBody>
                    <a:bodyPr wrap="square"/>
                    <a:lstStyle/>
                    <a:p>
                      <a:r>
                        <a:rPr sz="800" b="0">
                          <a:solidFill>
                            <a:srgbClr val="1A1D24"/>
                          </a:solidFill>
                          <a:latin typeface="Calibri"/>
                        </a:rPr>
                        <a:t>Email 0.05 MXN por enviado, WhatsApp 1.00 por entregado, push e in-app 0, sin costo fijo de Braze</a:t>
                      </a:r>
                    </a:p>
                  </a:txBody>
                  <a:tcPr marL="45720" marR="45720" marT="18288" marB="18288">
                    <a:solidFill>
                      <a:srgbClr val="F6F7F9"/>
                    </a:solidFill>
                  </a:tcPr>
                </a:tc>
              </a:tr>
              <a:tr h="201168">
                <a:tc>
                  <a:txBody>
                    <a:bodyPr wrap="square"/>
                    <a:lstStyle/>
                    <a:p>
                      <a:r>
                        <a:rPr sz="800" b="1">
                          <a:solidFill>
                            <a:srgbClr val="1A1D24"/>
                          </a:solidFill>
                          <a:latin typeface="Calibri"/>
                        </a:rPr>
                        <a:t>Audiencia, gancho y tipo</a:t>
                      </a:r>
                    </a:p>
                  </a:txBody>
                  <a:tcPr marL="45720" marR="45720" marT="18288" marB="18288">
                    <a:solidFill>
                      <a:srgbClr val="FFFFFF"/>
                    </a:solidFill>
                  </a:tcPr>
                </a:tc>
                <a:tc>
                  <a:txBody>
                    <a:bodyPr wrap="square"/>
                    <a:lstStyle/>
                    <a:p>
                      <a:r>
                        <a:rPr sz="800" b="0">
                          <a:solidFill>
                            <a:srgbClr val="1A1D24"/>
                          </a:solidFill>
                          <a:latin typeface="Calibri"/>
                        </a:rPr>
                        <a:t>Se leen del nombre de la pieza; 17 % cae en 'otros'</a:t>
                      </a:r>
                    </a:p>
                  </a:txBody>
                  <a:tcPr marL="45720" marR="45720" marT="18288" marB="18288">
                    <a:solidFill>
                      <a:srgbClr val="FFFFFF"/>
                    </a:solidFill>
                  </a:tcPr>
                </a:tc>
              </a:tr>
              <a:tr h="201168">
                <a:tc>
                  <a:txBody>
                    <a:bodyPr wrap="square"/>
                    <a:lstStyle/>
                    <a:p>
                      <a:r>
                        <a:rPr sz="800" b="1">
                          <a:solidFill>
                            <a:srgbClr val="1A1D24"/>
                          </a:solidFill>
                          <a:latin typeface="Calibri"/>
                        </a:rPr>
                        <a:t>Etapas</a:t>
                      </a:r>
                    </a:p>
                  </a:txBody>
                  <a:tcPr marL="45720" marR="45720" marT="18288" marB="18288">
                    <a:solidFill>
                      <a:srgbClr val="F6F7F9"/>
                    </a:solidFill>
                  </a:tcPr>
                </a:tc>
                <a:tc>
                  <a:txBody>
                    <a:bodyPr wrap="square"/>
                    <a:lstStyle/>
                    <a:p>
                      <a:r>
                        <a:rPr sz="800" b="0">
                          <a:solidFill>
                            <a:srgbClr val="1A1D24"/>
                          </a:solidFill>
                          <a:latin typeface="Calibri"/>
                        </a:rPr>
                        <a:t>Golden dataset cubre 37 % de los envíos; banderas a la fecha de la extracción</a:t>
                      </a:r>
                    </a:p>
                  </a:txBody>
                  <a:tcPr marL="45720" marR="45720" marT="18288" marB="18288">
                    <a:solidFill>
                      <a:srgbClr val="F6F7F9"/>
                    </a:solidFill>
                  </a:tcPr>
                </a:tc>
              </a:tr>
              <a:tr h="201168">
                <a:tc>
                  <a:txBody>
                    <a:bodyPr wrap="square"/>
                    <a:lstStyle/>
                    <a:p>
                      <a:r>
                        <a:rPr sz="800" b="1">
                          <a:solidFill>
                            <a:srgbClr val="1A1D24"/>
                          </a:solidFill>
                          <a:latin typeface="Calibri"/>
                        </a:rPr>
                        <a:t>Bajas</a:t>
                      </a:r>
                    </a:p>
                  </a:txBody>
                  <a:tcPr marL="45720" marR="45720" marT="18288" marB="18288">
                    <a:solidFill>
                      <a:srgbClr val="FFFFFF"/>
                    </a:solidFill>
                  </a:tcPr>
                </a:tc>
                <a:tc>
                  <a:txBody>
                    <a:bodyPr wrap="square"/>
                    <a:lstStyle/>
                    <a:p>
                      <a:r>
                        <a:rPr sz="800" b="0">
                          <a:solidFill>
                            <a:srgbClr val="1A1D24"/>
                          </a:solidFill>
                          <a:latin typeface="Calibri"/>
                        </a:rPr>
                        <a:t>Solo existen para email. 457 mil usuario-mes, 439 mil usuarios únicos</a:t>
                      </a:r>
                    </a:p>
                  </a:txBody>
                  <a:tcPr marL="45720" marR="45720" marT="18288" marB="18288">
                    <a:solidFill>
                      <a:srgbClr val="FFFFFF"/>
                    </a:solidFill>
                  </a:tcPr>
                </a:tc>
              </a:tr>
              <a:tr h="201168">
                <a:tc>
                  <a:txBody>
                    <a:bodyPr wrap="square"/>
                    <a:lstStyle/>
                    <a:p>
                      <a:r>
                        <a:rPr sz="800" b="1">
                          <a:solidFill>
                            <a:srgbClr val="1A1D24"/>
                          </a:solidFill>
                          <a:latin typeface="Calibri"/>
                        </a:rPr>
                        <a:t>Control, experimentos, pasos</a:t>
                      </a:r>
                    </a:p>
                  </a:txBody>
                  <a:tcPr marL="45720" marR="45720" marT="18288" marB="18288">
                    <a:solidFill>
                      <a:srgbClr val="F6F7F9"/>
                    </a:solidFill>
                  </a:tcPr>
                </a:tc>
                <a:tc>
                  <a:txBody>
                    <a:bodyPr wrap="square"/>
                    <a:lstStyle/>
                    <a:p>
                      <a:r>
                        <a:rPr sz="800" b="0">
                          <a:solidFill>
                            <a:srgbClr val="1A1D24"/>
                          </a:solidFill>
                          <a:latin typeface="Calibri"/>
                        </a:rPr>
                        <a:t>Solo Canvas (3,228); un usuario cuenta una vez por Canvas, grupo o paso</a:t>
                      </a:r>
                    </a:p>
                  </a:txBody>
                  <a:tcPr marL="45720" marR="45720" marT="18288" marB="18288">
                    <a:solidFill>
                      <a:srgbClr val="F6F7F9"/>
                    </a:solidFill>
                  </a:tcPr>
                </a:tc>
              </a:tr>
              <a:tr h="201168">
                <a:tc>
                  <a:txBody>
                    <a:bodyPr wrap="square"/>
                    <a:lstStyle/>
                    <a:p>
                      <a:r>
                        <a:rPr sz="800" b="1">
                          <a:solidFill>
                            <a:srgbClr val="1A1D24"/>
                          </a:solidFill>
                          <a:latin typeface="Calibri"/>
                        </a:rPr>
                        <a:t>Antigüedad</a:t>
                      </a:r>
                    </a:p>
                  </a:txBody>
                  <a:tcPr marL="45720" marR="45720" marT="18288" marB="18288">
                    <a:solidFill>
                      <a:srgbClr val="FFFFFF"/>
                    </a:solidFill>
                  </a:tcPr>
                </a:tc>
                <a:tc>
                  <a:txBody>
                    <a:bodyPr wrap="square"/>
                    <a:lstStyle/>
                    <a:p>
                      <a:r>
                        <a:rPr sz="800" b="0">
                          <a:solidFill>
                            <a:srgbClr val="1A1D24"/>
                          </a:solidFill>
                          <a:latin typeface="Calibri"/>
                        </a:rPr>
                        <a:t>days_on_book a la fecha de la extracción menos los días desde el envío; 1.1 % con alta posterior al envío</a:t>
                      </a:r>
                    </a:p>
                  </a:txBody>
                  <a:tcPr marL="45720" marR="45720" marT="18288" marB="18288">
                    <a:solidFill>
                      <a:srgbClr val="FFFFFF"/>
                    </a:solidFill>
                  </a:tcPr>
                </a:tc>
              </a:tr>
            </a:tbl>
          </a:graphicData>
        </a:graphic>
      </p:graphicFrame>
      <p:sp>
        <p:nvSpPr>
          <p:cNvPr id="16" name="TextBox 15"/>
          <p:cNvSpPr txBox="1"/>
          <p:nvPr/>
        </p:nvSpPr>
        <p:spPr>
          <a:xfrm>
            <a:off x="7726679" y="2560320"/>
            <a:ext cx="3931920" cy="2148840"/>
          </a:xfrm>
          <a:prstGeom prst="rect">
            <a:avLst/>
          </a:prstGeom>
          <a:noFill/>
        </p:spPr>
        <p:txBody>
          <a:bodyPr wrap="square" lIns="18288" rIns="18288">
            <a:spAutoFit/>
          </a:bodyPr>
          <a:lstStyle/>
          <a:p>
            <a:pPr>
              <a:spcAft>
                <a:spcPts val="300"/>
              </a:spcAft>
            </a:pPr>
            <a:r>
              <a:rPr sz="750" b="1">
                <a:solidFill>
                  <a:srgbClr val="8A909B"/>
                </a:solidFill>
                <a:latin typeface="Calibri"/>
              </a:rPr>
              <a:t>QUÉ PASÓ Y POR QUÉ</a:t>
            </a:r>
          </a:p>
          <a:p>
            <a:pPr>
              <a:spcAft>
                <a:spcPts val="350"/>
              </a:spcAft>
            </a:pPr>
            <a:r>
              <a:rPr sz="900" b="1">
                <a:solidFill>
                  <a:srgbClr val="1F4FD8"/>
                </a:solidFill>
                <a:latin typeface="Calibri"/>
              </a:rPr>
              <a:t>1.  </a:t>
            </a:r>
            <a:r>
              <a:rPr sz="900" b="0">
                <a:solidFill>
                  <a:srgbClr val="5B6270"/>
                </a:solidFill>
                <a:latin typeface="Calibri"/>
              </a:rPr>
              <a:t>0.05 y 1.00 MXN por email enviado y WhatsApp entregado; 7 días de ventana de conversión solo como referencia; el golden dataset cubre 37 % de los envíos.</a:t>
            </a:r>
          </a:p>
          <a:p>
            <a:pPr>
              <a:spcAft>
                <a:spcPts val="350"/>
              </a:spcAft>
            </a:pPr>
            <a:r>
              <a:rPr sz="900" b="1">
                <a:solidFill>
                  <a:srgbClr val="1F4FD8"/>
                </a:solidFill>
                <a:latin typeface="Calibri"/>
              </a:rPr>
              <a:t>2.  </a:t>
            </a:r>
            <a:r>
              <a:rPr sz="900" b="0">
                <a:solidFill>
                  <a:srgbClr val="5B6270"/>
                </a:solidFill>
                <a:latin typeface="Calibri"/>
              </a:rPr>
              <a:t>Costo fijo de Braze pendiente de Finanzas: el ahorro en MAU no está contado.</a:t>
            </a:r>
          </a:p>
          <a:p>
            <a:pPr>
              <a:spcAft>
                <a:spcPts val="350"/>
              </a:spcAft>
            </a:pPr>
            <a:r>
              <a:rPr sz="900" b="1">
                <a:solidFill>
                  <a:srgbClr val="1F4FD8"/>
                </a:solidFill>
                <a:latin typeface="Calibri"/>
              </a:rPr>
              <a:t>3.  </a:t>
            </a:r>
            <a:r>
              <a:rPr sz="900" b="0">
                <a:solidFill>
                  <a:srgbClr val="5B6270"/>
                </a:solidFill>
                <a:latin typeface="Calibri"/>
              </a:rPr>
              <a:t>Sheets braze_auditoria_v4: Léeme, Parámetros, Vista_equipo, Insights, Plan_accion, Estándares, Catálogo, Campañas, lentes B a U, E1 a E18b y Verificación (471 filas).</a:t>
            </a:r>
          </a:p>
          <a:p>
            <a:pPr>
              <a:spcAft>
                <a:spcPts val="350"/>
              </a:spcAft>
            </a:pPr>
            <a:r>
              <a:rPr sz="900" b="1">
                <a:solidFill>
                  <a:srgbClr val="1F4FD8"/>
                </a:solidFill>
                <a:latin typeface="Calibri"/>
              </a:rPr>
              <a:t>4.  </a:t>
            </a:r>
            <a:r>
              <a:rPr sz="900" b="0">
                <a:solidFill>
                  <a:srgbClr val="5B6270"/>
                </a:solidFill>
                <a:latin typeface="Calibri"/>
              </a:rPr>
              <a:t>Playbook (md, docx y versión web con resolvedor) y análisis de apoyo en el mismo repositorio.</a:t>
            </a:r>
          </a:p>
          <a:p>
            <a:pPr>
              <a:spcAft>
                <a:spcPts val="350"/>
              </a:spcAft>
            </a:pPr>
            <a:r>
              <a:rPr sz="900" b="1">
                <a:solidFill>
                  <a:srgbClr val="B5342B"/>
                </a:solidFill>
                <a:latin typeface="Calibri"/>
              </a:rPr>
              <a:t>5.  </a:t>
            </a:r>
            <a:r>
              <a:rPr sz="700" b="1">
                <a:solidFill>
                  <a:srgbClr val="B5342B"/>
                </a:solidFill>
                <a:latin typeface="Calibri"/>
              </a:rPr>
              <a:t>CAUSA RAÍZ · MÉTODO  </a:t>
            </a:r>
            <a:r>
              <a:rPr sz="900" b="1">
                <a:solidFill>
                  <a:srgbClr val="1A1D24"/>
                </a:solidFill>
                <a:latin typeface="Calibri"/>
              </a:rPr>
              <a:t>Todo se actualiza junto cada mes.</a:t>
            </a:r>
          </a:p>
        </p:txBody>
      </p:sp>
      <p:cxnSp>
        <p:nvCxnSpPr>
          <p:cNvPr id="17" name="Connector 16"/>
          <p:cNvCxnSpPr/>
          <p:nvPr/>
        </p:nvCxnSpPr>
        <p:spPr>
          <a:xfrm>
            <a:off x="548640" y="4846320"/>
            <a:ext cx="11091672" cy="0"/>
          </a:xfrm>
          <a:prstGeom prst="line">
            <a:avLst/>
          </a:prstGeom>
          <a:ln>
            <a:solidFill>
              <a:srgbClr val="E3E6E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873752"/>
            <a:ext cx="3456432" cy="694944"/>
          </a:xfrm>
          <a:prstGeom prst="rect">
            <a:avLst/>
          </a:prstGeom>
          <a:noFill/>
        </p:spPr>
        <p:txBody>
          <a:bodyPr wrap="square" lIns="18288" rIns="18288" tIns="9144" bIns="9144">
            <a:spAutoFit/>
          </a:bodyPr>
          <a:lstStyle/>
          <a:p>
            <a:r>
              <a:rPr sz="700" b="1">
                <a:solidFill>
                  <a:srgbClr val="1A1D24"/>
                </a:solidFill>
                <a:latin typeface="Calibri"/>
              </a:rPr>
              <a:t>HIPÓTESIS</a:t>
            </a:r>
          </a:p>
          <a:p>
            <a:r>
              <a:rPr sz="700" b="1">
                <a:solidFill>
                  <a:srgbClr val="1F4FD8"/>
                </a:solidFill>
                <a:latin typeface="Calibri"/>
              </a:rPr>
              <a:t>A  </a:t>
            </a:r>
            <a:r>
              <a:rPr sz="750">
                <a:solidFill>
                  <a:srgbClr val="5B6270"/>
                </a:solidFill>
                <a:latin typeface="Calibri"/>
              </a:rPr>
              <a:t>Los supuestos mueven el tamaño del ahorro, no su dirección.</a:t>
            </a:r>
          </a:p>
          <a:p>
            <a:r>
              <a:rPr sz="700" b="1">
                <a:solidFill>
                  <a:srgbClr val="1F4FD8"/>
                </a:solidFill>
                <a:latin typeface="Calibri"/>
              </a:rPr>
              <a:t>O  </a:t>
            </a:r>
            <a:r>
              <a:rPr sz="750">
                <a:solidFill>
                  <a:srgbClr val="5B6270"/>
                </a:solidFill>
                <a:latin typeface="Calibri"/>
              </a:rPr>
              <a:t>Parámetros en una sola pestaña: cambiarlos recalcula todo.</a:t>
            </a:r>
          </a:p>
          <a:p>
            <a:r>
              <a:rPr sz="700" b="1">
                <a:solidFill>
                  <a:srgbClr val="1F4FD8"/>
                </a:solidFill>
                <a:latin typeface="Calibri"/>
              </a:rPr>
              <a:t>G  </a:t>
            </a:r>
            <a:r>
              <a:rPr sz="750">
                <a:solidFill>
                  <a:srgbClr val="5B6270"/>
                </a:solidFill>
                <a:latin typeface="Calibri"/>
              </a:rPr>
              <a:t>CRM es dueño del Sheets; Finanzas de los costos.</a:t>
            </a:r>
          </a:p>
        </p:txBody>
      </p:sp>
      <p:sp>
        <p:nvSpPr>
          <p:cNvPr id="19" name="TextBox 18"/>
          <p:cNvSpPr txBox="1"/>
          <p:nvPr/>
        </p:nvSpPr>
        <p:spPr>
          <a:xfrm>
            <a:off x="4187952" y="4873752"/>
            <a:ext cx="3913632" cy="694944"/>
          </a:xfrm>
          <a:prstGeom prst="rect">
            <a:avLst/>
          </a:prstGeom>
          <a:noFill/>
        </p:spPr>
        <p:txBody>
          <a:bodyPr wrap="square" lIns="18288" rIns="18288" tIns="9144" bIns="9144">
            <a:spAutoFit/>
          </a:bodyPr>
          <a:lstStyle/>
          <a:p>
            <a:r>
              <a:rPr sz="700" b="1">
                <a:solidFill>
                  <a:srgbClr val="1A1D24"/>
                </a:solidFill>
                <a:latin typeface="Calibri"/>
              </a:rPr>
              <a:t>CÓMO LO RESOLVEMOS</a:t>
            </a:r>
          </a:p>
          <a:p>
            <a:r>
              <a:rPr sz="750">
                <a:solidFill>
                  <a:srgbClr val="5B6270"/>
                </a:solidFill>
                <a:latin typeface="Calibri"/>
              </a:rPr>
              <a:t>Semana 1: Finanzas confirma costos unitarios y fijo. Mensual: CRM actualiza Parámetros y regenera Sheets, playbook y deck. Métrica: supuestos pendientes, hoy 1 (costo fijo), meta 0.</a:t>
            </a:r>
          </a:p>
        </p:txBody>
      </p:sp>
      <p:sp>
        <p:nvSpPr>
          <p:cNvPr id="20" name="TextBox 19"/>
          <p:cNvSpPr txBox="1"/>
          <p:nvPr/>
        </p:nvSpPr>
        <p:spPr>
          <a:xfrm>
            <a:off x="8284464" y="4873752"/>
            <a:ext cx="3182112" cy="694944"/>
          </a:xfrm>
          <a:prstGeom prst="rect">
            <a:avLst/>
          </a:prstGeom>
          <a:noFill/>
        </p:spPr>
        <p:txBody>
          <a:bodyPr wrap="square" lIns="18288" rIns="18288" tIns="9144" bIns="9144">
            <a:spAutoFit/>
          </a:bodyPr>
          <a:lstStyle/>
          <a:p>
            <a:r>
              <a:rPr sz="700" b="1">
                <a:solidFill>
                  <a:srgbClr val="1A1D24"/>
                </a:solidFill>
                <a:latin typeface="Calibri"/>
              </a:rPr>
              <a:t>SI LO RESOLVEMOS</a:t>
            </a:r>
          </a:p>
          <a:p>
            <a:r>
              <a:rPr sz="750">
                <a:solidFill>
                  <a:srgbClr val="5B6270"/>
                </a:solidFill>
                <a:latin typeface="Calibri"/>
              </a:rPr>
              <a:t>Si WhatsApp se cobra por enviado y no por entregado, el ahorro del plan en WhatsApp sube cerca del doble.</a:t>
            </a:r>
          </a:p>
        </p:txBody>
      </p:sp>
      <p:sp>
        <p:nvSpPr>
          <p:cNvPr id="21" name="Rectangle 20"/>
          <p:cNvSpPr/>
          <p:nvPr/>
        </p:nvSpPr>
        <p:spPr>
          <a:xfrm>
            <a:off x="548640" y="5577840"/>
            <a:ext cx="11091672" cy="658368"/>
          </a:xfrm>
          <a:prstGeom prst="rect">
            <a:avLst/>
          </a:prstGeom>
          <a:solidFill>
            <a:srgbClr val="E4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577840"/>
            <a:ext cx="54864" cy="658368"/>
          </a:xfrm>
          <a:prstGeom prst="rect">
            <a:avLst/>
          </a:prstGeom>
          <a:solidFill>
            <a:srgbClr val="1F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77840"/>
            <a:ext cx="10789920" cy="658368"/>
          </a:xfrm>
          <a:prstGeom prst="rect">
            <a:avLst/>
          </a:prstGeom>
          <a:noFill/>
        </p:spPr>
        <p:txBody>
          <a:bodyPr wrap="square" anchor="ctr" lIns="45720" rIns="45720">
            <a:spAutoFit/>
          </a:bodyPr>
          <a:lstStyle/>
          <a:p>
            <a:r>
              <a:rPr sz="900" b="1">
                <a:solidFill>
                  <a:srgbClr val="1F4FD8"/>
                </a:solidFill>
                <a:latin typeface="Calibri"/>
              </a:rPr>
              <a:t>SO WHAT   </a:t>
            </a:r>
            <a:r>
              <a:rPr sz="1100">
                <a:solidFill>
                  <a:srgbClr val="1A1D24"/>
                </a:solidFill>
                <a:latin typeface="Calibri"/>
              </a:rPr>
              <a:t>Sheets, playbook y análisis se actualizan juntos cada mes y viven en el mismo repositorio.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