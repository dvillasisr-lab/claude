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de los envíos</c:v>
                </c:pt>
              </c:strCache>
            </c:strRef>
          </c:tx>
          <c:spPr>
            <a:solidFill>
              <a:srgbClr val="1F4FD8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Push</c:v>
                </c:pt>
                <c:pt idx="2">
                  <c:v>WhatsApp</c:v>
                </c:pt>
                <c:pt idx="3">
                  <c:v>In-app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50.0</c:v>
                </c:pt>
                <c:pt idx="1">
                  <c:v>37.6</c:v>
                </c:pt>
                <c:pt idx="2">
                  <c:v>8.3</c:v>
                </c:pt>
                <c:pt idx="3">
                  <c:v>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del costo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Push</c:v>
                </c:pt>
                <c:pt idx="2">
                  <c:v>WhatsApp</c:v>
                </c:pt>
                <c:pt idx="3">
                  <c:v>In-app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28.9</c:v>
                </c:pt>
                <c:pt idx="1">
                  <c:v>0</c:v>
                </c:pt>
                <c:pt idx="2">
                  <c:v>71.1</c:v>
                </c:pt>
                <c:pt idx="3">
                  <c:v>0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</c:scaling>
        <c:delete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Envíos (M)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Envíos (M)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dPt>
            <c:idx val="0"/>
            <c:spPr>
              <a:solidFill>
                <a:srgbClr val="A3AAB5"/>
              </a:solidFill>
            </c:spPr>
          </c:dPt>
          <c:dPt>
            <c:idx val="1"/>
            <c:spPr>
              <a:solidFill>
                <a:srgbClr val="A3AAB5"/>
              </a:solidFill>
            </c:spPr>
          </c:dPt>
          <c:dPt>
            <c:idx val="2"/>
            <c:spPr>
              <a:solidFill>
                <a:srgbClr val="A3AAB5"/>
              </a:solidFill>
            </c:spPr>
          </c:dPt>
          <c:dPt>
            <c:idx val="3"/>
            <c:spPr>
              <a:solidFill>
                <a:srgbClr val="A3AAB5"/>
              </a:solidFill>
            </c:spPr>
          </c:dPt>
          <c:dPt>
            <c:idx val="4"/>
            <c:spPr>
              <a:solidFill>
                <a:srgbClr val="A3AAB5"/>
              </a:solidFill>
            </c:spPr>
          </c:dPt>
          <c:dPt>
            <c:idx val="5"/>
            <c:spPr>
              <a:solidFill>
                <a:srgbClr val="1F4FD8"/>
              </a:solidFill>
            </c:spPr>
          </c:dPt>
          <c:dPt>
            <c:idx val="6"/>
            <c:spPr>
              <a:solidFill>
                <a:srgbClr val="A3AAB5"/>
              </a:solidFill>
            </c:spPr>
          </c:dPt>
          <c:dPt>
            <c:idx val="7"/>
            <c:spPr>
              <a:solidFill>
                <a:srgbClr val="A3AAB5"/>
              </a:solidFill>
            </c:spPr>
          </c:dPt>
          <c:dPt>
            <c:idx val="8"/>
            <c:spPr>
              <a:solidFill>
                <a:srgbClr val="A3AAB5"/>
              </a:solidFill>
            </c:spPr>
          </c:dPt>
          <c:cat>
            <c:strRef>
              <c:f>Sheet1!$A$2:$A$10</c:f>
              <c:strCache>
                <c:ptCount val="9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58.7</c:v>
                </c:pt>
                <c:pt idx="1">
                  <c:v>67.5</c:v>
                </c:pt>
                <c:pt idx="2">
                  <c:v>67.8</c:v>
                </c:pt>
                <c:pt idx="3">
                  <c:v>64.3</c:v>
                </c:pt>
                <c:pt idx="4">
                  <c:v>85.0</c:v>
                </c:pt>
                <c:pt idx="5">
                  <c:v>109.0</c:v>
                </c:pt>
                <c:pt idx="6">
                  <c:v>71.7</c:v>
                </c:pt>
                <c:pt idx="7">
                  <c:v>78.0</c:v>
                </c:pt>
                <c:pt idx="8">
                  <c:v>65.6</c:v>
                </c:pt>
              </c:numCache>
            </c:numRef>
          </c:val>
        </c:ser>
        <c:dLbls>
          <c:numFmt formatCode="0.0&quot; M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Clic de email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 de email (%)</c:v>
                </c:pt>
              </c:strCache>
            </c:strRef>
          </c:tx>
          <c:spPr>
            <a:ln w="28575">
              <a:solidFill>
                <a:srgbClr val="1F4FD8"/>
              </a:solidFill>
            </a:ln>
          </c:spPr>
          <c:marker>
            <c:symbol val="circle"/>
            <c:size val="7"/>
            <c:spPr>
              <a:solidFill>
                <a:srgbClr val="1F4FD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1.2</c:v>
                </c:pt>
                <c:pt idx="1">
                  <c:v>0.88</c:v>
                </c:pt>
                <c:pt idx="2">
                  <c:v>1.03</c:v>
                </c:pt>
                <c:pt idx="3">
                  <c:v>0.98</c:v>
                </c:pt>
                <c:pt idx="4">
                  <c:v>0.86</c:v>
                </c:pt>
                <c:pt idx="5">
                  <c:v>0.67</c:v>
                </c:pt>
                <c:pt idx="6">
                  <c:v>1.0</c:v>
                </c:pt>
                <c:pt idx="7">
                  <c:v>0.95</c:v>
                </c:pt>
                <c:pt idx="8">
                  <c:v>0.92</c:v>
                </c:pt>
              </c:numCache>
            </c:numRef>
          </c:val>
          <c:smooth val="0"/>
        </c:ser>
        <c:dLbls>
          <c:numFmt formatCode="0.00&quot; %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de usuarios</c:v>
                </c:pt>
              </c:strCache>
            </c:strRef>
          </c:tx>
          <c:spPr>
            <a:solidFill>
              <a:srgbClr val="1F4FD8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Ninguno</c:v>
                </c:pt>
                <c:pt idx="1">
                  <c:v>Solo WhatsApp</c:v>
                </c:pt>
                <c:pt idx="2">
                  <c:v>Solo in-app</c:v>
                </c:pt>
                <c:pt idx="3">
                  <c:v>Solo email</c:v>
                </c:pt>
                <c:pt idx="4">
                  <c:v>Varios canales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</c:v>
                </c:pt>
                <c:pt idx="1">
                  <c:v>8</c:v>
                </c:pt>
                <c:pt idx="2">
                  <c:v>6</c:v>
                </c:pt>
                <c:pt idx="3">
                  <c:v>2</c:v>
                </c:pt>
                <c:pt idx="4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de mensajes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Ninguno</c:v>
                </c:pt>
                <c:pt idx="1">
                  <c:v>Solo WhatsApp</c:v>
                </c:pt>
                <c:pt idx="2">
                  <c:v>Solo in-app</c:v>
                </c:pt>
                <c:pt idx="3">
                  <c:v>Solo email</c:v>
                </c:pt>
                <c:pt idx="4">
                  <c:v>Varios canales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</c:v>
                </c:pt>
                <c:pt idx="1">
                  <c:v>15</c:v>
                </c:pt>
                <c:pt idx="2">
                  <c:v>7</c:v>
                </c:pt>
                <c:pt idx="3">
                  <c:v>2</c:v>
                </c:pt>
                <c:pt idx="4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% del costo</c:v>
                </c:pt>
              </c:strCache>
            </c:strRef>
          </c:tx>
          <c:spPr>
            <a:solidFill>
              <a:srgbClr val="D5D9E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Ninguno</c:v>
                </c:pt>
                <c:pt idx="1">
                  <c:v>Solo WhatsApp</c:v>
                </c:pt>
                <c:pt idx="2">
                  <c:v>Solo in-app</c:v>
                </c:pt>
                <c:pt idx="3">
                  <c:v>Solo email</c:v>
                </c:pt>
                <c:pt idx="4">
                  <c:v>Varios canales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</c:v>
                </c:pt>
                <c:pt idx="1">
                  <c:v>34</c:v>
                </c:pt>
                <c:pt idx="2">
                  <c:v>4</c:v>
                </c:pt>
                <c:pt idx="3">
                  <c:v>1</c:v>
                </c:pt>
                <c:pt idx="4">
                  <c:v>47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</c:scaling>
        <c:delete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Envíos a quien nunca respondió (M)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Envíos a quien nunca respondió (M)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dPt>
            <c:idx val="0"/>
            <c:spPr>
              <a:solidFill>
                <a:srgbClr val="1F4FD8"/>
              </a:solidFill>
            </c:spPr>
          </c:dPt>
          <c:dPt>
            <c:idx val="1"/>
            <c:spPr>
              <a:solidFill>
                <a:srgbClr val="A3AAB5"/>
              </a:solidFill>
            </c:spPr>
          </c:dPt>
          <c:dPt>
            <c:idx val="2"/>
            <c:spPr>
              <a:solidFill>
                <a:srgbClr val="1F4FD8"/>
              </a:solidFill>
            </c:spPr>
          </c:dPt>
          <c:dPt>
            <c:idx val="3"/>
            <c:spPr>
              <a:solidFill>
                <a:srgbClr val="A3AAB5"/>
              </a:solidFill>
            </c:spPr>
          </c:dPt>
          <c:cat>
            <c:strRef>
              <c:f>Sheet1!$A$2:$A$5</c:f>
              <c:strCache>
                <c:ptCount val="4"/>
                <c:pt idx="0">
                  <c:v>Email  (18 % del canal, 3.1 M MXN, 191 mil bajas)</c:v>
                </c:pt>
                <c:pt idx="1">
                  <c:v>Push  (12 % del canal)</c:v>
                </c:pt>
                <c:pt idx="2">
                  <c:v>WhatsApp  (9 % del canal, 5.0 M MXN)</c:v>
                </c:pt>
                <c:pt idx="3">
                  <c:v>In-app  (0.7 % del canal)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61.4</c:v>
                </c:pt>
                <c:pt idx="1">
                  <c:v>31.0</c:v>
                </c:pt>
                <c:pt idx="2">
                  <c:v>5.0</c:v>
                </c:pt>
                <c:pt idx="3">
                  <c:v>0.1</c:v>
                </c:pt>
              </c:numCache>
            </c:numRef>
          </c:val>
        </c:ser>
        <c:dLbls>
          <c:numFmt formatCode="0.0&quot; M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Envíos promocionales a etapas bloqueadas (M)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Envíos promocionales a etapas bloqueadas (M)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dPt>
            <c:idx val="0"/>
            <c:spPr>
              <a:solidFill>
                <a:srgbClr val="1F4FD8"/>
              </a:solidFill>
            </c:spPr>
          </c:dPt>
          <c:dPt>
            <c:idx val="1"/>
            <c:spPr>
              <a:solidFill>
                <a:srgbClr val="1F4FD8"/>
              </a:solidFill>
            </c:spPr>
          </c:dPt>
          <c:dPt>
            <c:idx val="2"/>
            <c:spPr>
              <a:solidFill>
                <a:srgbClr val="1F4FD8"/>
              </a:solidFill>
            </c:spPr>
          </c:dPt>
          <c:dPt>
            <c:idx val="3"/>
            <c:spPr>
              <a:solidFill>
                <a:srgbClr val="A3AAB5"/>
              </a:solidFill>
            </c:spPr>
          </c:dPt>
          <c:dPt>
            <c:idx val="4"/>
            <c:spPr>
              <a:solidFill>
                <a:srgbClr val="A3AAB5"/>
              </a:solidFill>
            </c:spPr>
          </c:dPt>
          <c:cat>
            <c:strRef>
              <c:f>Sheet1!$A$2:$A$6</c:f>
              <c:strCache>
                <c:ptCount val="5"/>
                <c:pt idx="0">
                  <c:v>Marketing</c:v>
                </c:pt>
                <c:pt idx="1">
                  <c:v>Sales</c:v>
                </c:pt>
                <c:pt idx="2">
                  <c:v>Product Growth</c:v>
                </c:pt>
                <c:pt idx="3">
                  <c:v>Others</c:v>
                </c:pt>
                <c:pt idx="4">
                  <c:v>Collections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16.5</c:v>
                </c:pt>
                <c:pt idx="1">
                  <c:v>13.0</c:v>
                </c:pt>
                <c:pt idx="2">
                  <c:v>11.4</c:v>
                </c:pt>
                <c:pt idx="3">
                  <c:v>2.8</c:v>
                </c:pt>
                <c:pt idx="4">
                  <c:v>0</c:v>
                </c:pt>
              </c:numCache>
            </c:numRef>
          </c:val>
        </c:ser>
        <c:dLbls>
          <c:numFmt formatCode="0.0&quot; M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Entrega de WhatsApp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Entrega de WhatsApp (%)</c:v>
                </c:pt>
              </c:strCache>
            </c:strRef>
          </c:tx>
          <c:spPr>
            <a:ln w="28575">
              <a:solidFill>
                <a:srgbClr val="1F4FD8"/>
              </a:solidFill>
            </a:ln>
          </c:spPr>
          <c:marker>
            <c:symbol val="circle"/>
            <c:size val="7"/>
            <c:spPr>
              <a:solidFill>
                <a:srgbClr val="1F4FD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80</c:v>
                </c:pt>
                <c:pt idx="1">
                  <c:v>77</c:v>
                </c:pt>
                <c:pt idx="2">
                  <c:v>74</c:v>
                </c:pt>
                <c:pt idx="3">
                  <c:v>69</c:v>
                </c:pt>
                <c:pt idx="4">
                  <c:v>67</c:v>
                </c:pt>
                <c:pt idx="5">
                  <c:v>74</c:v>
                </c:pt>
                <c:pt idx="6">
                  <c:v>73</c:v>
                </c:pt>
                <c:pt idx="7">
                  <c:v>78</c:v>
                </c:pt>
                <c:pt idx="8">
                  <c:v>77</c:v>
                </c:pt>
              </c:numCache>
            </c:numRef>
          </c:val>
          <c:smooth val="0"/>
        </c:ser>
        <c:dLbls>
          <c:numFmt formatCode="0&quot; %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0.0"/>
          <c:min val="60.0"/>
        </c:scaling>
        <c:delete/>
        <c:axPos val="l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% de usuarios por banda de mensajes al mes (promedio de 9 meses)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de usuarios por banda de mensajes al mes (promedio de 9 meses)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dPt>
            <c:idx val="0"/>
            <c:spPr>
              <a:solidFill>
                <a:srgbClr val="A3AAB5"/>
              </a:solidFill>
            </c:spPr>
          </c:dPt>
          <c:dPt>
            <c:idx val="1"/>
            <c:spPr>
              <a:solidFill>
                <a:srgbClr val="A3AAB5"/>
              </a:solidFill>
            </c:spPr>
          </c:dPt>
          <c:dPt>
            <c:idx val="2"/>
            <c:spPr>
              <a:solidFill>
                <a:srgbClr val="A3AAB5"/>
              </a:solidFill>
            </c:spPr>
          </c:dPt>
          <c:dPt>
            <c:idx val="3"/>
            <c:spPr>
              <a:solidFill>
                <a:srgbClr val="A3AAB5"/>
              </a:solidFill>
            </c:spPr>
          </c:dPt>
          <c:dPt>
            <c:idx val="4"/>
            <c:spPr>
              <a:solidFill>
                <a:srgbClr val="1F4FD8"/>
              </a:solidFill>
            </c:spPr>
          </c:dPt>
          <c:dPt>
            <c:idx val="5"/>
            <c:spPr>
              <a:solidFill>
                <a:srgbClr val="1F4FD8"/>
              </a:solidFill>
            </c:spPr>
          </c:dPt>
          <c:dPt>
            <c:idx val="6"/>
            <c:spPr>
              <a:solidFill>
                <a:srgbClr val="1F4FD8"/>
              </a:solidFill>
            </c:spPr>
          </c:dPt>
          <c:cat>
            <c:strRef>
              <c:f>Sheet1!$A$2:$A$8</c:f>
              <c:strCache>
                <c:ptCount val="7"/>
                <c:pt idx="0">
                  <c:v>1 a 5 mensajes</c:v>
                </c:pt>
                <c:pt idx="1">
                  <c:v>6 a 10</c:v>
                </c:pt>
                <c:pt idx="2">
                  <c:v>11 a 20</c:v>
                </c:pt>
                <c:pt idx="3">
                  <c:v>21 a 40</c:v>
                </c:pt>
                <c:pt idx="4">
                  <c:v>41 a 80</c:v>
                </c:pt>
                <c:pt idx="5">
                  <c:v>81 a 160</c:v>
                </c:pt>
                <c:pt idx="6">
                  <c:v>161 o más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48.0</c:v>
                </c:pt>
                <c:pt idx="1">
                  <c:v>19.6</c:v>
                </c:pt>
                <c:pt idx="2">
                  <c:v>15.5</c:v>
                </c:pt>
                <c:pt idx="3">
                  <c:v>9.5</c:v>
                </c:pt>
                <c:pt idx="4">
                  <c:v>5.0</c:v>
                </c:pt>
                <c:pt idx="5">
                  <c:v>0.7</c:v>
                </c:pt>
                <c:pt idx="6">
                  <c:v>0.0</c:v>
                </c:pt>
              </c:numCache>
            </c:numRef>
          </c:val>
        </c:ser>
        <c:dLbls>
          <c:numFmt formatCode="0.0&quot; %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% de las bajas de usuarios nuevos según la pieza que llegó el día de la baja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de las bajas de usuarios nuevos según la pieza que llegó el día de la baja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dPt>
            <c:idx val="0"/>
            <c:spPr>
              <a:solidFill>
                <a:srgbClr val="1F4FD8"/>
              </a:solidFill>
            </c:spPr>
          </c:dPt>
          <c:dPt>
            <c:idx val="1"/>
            <c:spPr>
              <a:solidFill>
                <a:srgbClr val="1F4FD8"/>
              </a:solidFill>
            </c:spPr>
          </c:dPt>
          <c:dPt>
            <c:idx val="2"/>
            <c:spPr>
              <a:solidFill>
                <a:srgbClr val="A3AAB5"/>
              </a:solidFill>
            </c:spPr>
          </c:dPt>
          <c:dPt>
            <c:idx val="3"/>
            <c:spPr>
              <a:solidFill>
                <a:srgbClr val="A3AAB5"/>
              </a:solidFill>
            </c:spPr>
          </c:dPt>
          <c:cat>
            <c:strRef>
              <c:f>Sheet1!$A$2:$A$5</c:f>
              <c:strCache>
                <c:ptCount val="4"/>
                <c:pt idx="0">
                  <c:v>BillPay Intro (email masivo, junio)</c:v>
                </c:pt>
                <c:pt idx="1">
                  <c:v>Retargeting de registro (2 emails al día)</c:v>
                </c:pt>
                <c:pt idx="2">
                  <c:v>Rescates de Tasa 0</c:v>
                </c:pt>
                <c:pt idx="3">
                  <c:v>Resto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22</c:v>
                </c:pt>
                <c:pt idx="2">
                  <c:v>8.5</c:v>
                </c:pt>
                <c:pt idx="3">
                  <c:v>38.5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Usuarios que llegan (M)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Usuarios que llegan (M)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dPt>
            <c:idx val="0"/>
            <c:spPr>
              <a:solidFill>
                <a:srgbClr val="A3AAB5"/>
              </a:solidFill>
            </c:spPr>
          </c:dPt>
          <c:dPt>
            <c:idx val="1"/>
            <c:spPr>
              <a:solidFill>
                <a:srgbClr val="A3AAB5"/>
              </a:solidFill>
            </c:spPr>
          </c:dPt>
          <c:dPt>
            <c:idx val="2"/>
            <c:spPr>
              <a:solidFill>
                <a:srgbClr val="A3AAB5"/>
              </a:solidFill>
            </c:spPr>
          </c:dPt>
          <c:dPt>
            <c:idx val="3"/>
            <c:spPr>
              <a:solidFill>
                <a:srgbClr val="A3AAB5"/>
              </a:solidFill>
            </c:spPr>
          </c:dPt>
          <c:dPt>
            <c:idx val="4"/>
            <c:spPr>
              <a:solidFill>
                <a:srgbClr val="A3AAB5"/>
              </a:solidFill>
            </c:spPr>
          </c:dPt>
          <c:cat>
            <c:strRef>
              <c:f>Sheet1!$A$2:$A$6</c:f>
              <c:strCache>
                <c:ptCount val="5"/>
                <c:pt idx="0">
                  <c:v>Paso 1</c:v>
                </c:pt>
                <c:pt idx="1">
                  <c:v>Paso 2</c:v>
                </c:pt>
                <c:pt idx="2">
                  <c:v>Paso 3</c:v>
                </c:pt>
                <c:pt idx="3">
                  <c:v>Paso 4</c:v>
                </c:pt>
                <c:pt idx="4">
                  <c:v>Paso 5 o más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31.5</c:v>
                </c:pt>
                <c:pt idx="1">
                  <c:v>28.6</c:v>
                </c:pt>
                <c:pt idx="2">
                  <c:v>16.7</c:v>
                </c:pt>
                <c:pt idx="3">
                  <c:v>7.0</c:v>
                </c:pt>
                <c:pt idx="4">
                  <c:v>6.0</c:v>
                </c:pt>
              </c:numCache>
            </c:numRef>
          </c:val>
        </c:ser>
        <c:dLbls>
          <c:numFmt formatCode="0.0&quot; M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Apertura del paso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Apertura del paso (%)</c:v>
                </c:pt>
              </c:strCache>
            </c:strRef>
          </c:tx>
          <c:spPr>
            <a:ln w="28575">
              <a:solidFill>
                <a:srgbClr val="1F4FD8"/>
              </a:solidFill>
            </a:ln>
          </c:spPr>
          <c:marker>
            <c:symbol val="circle"/>
            <c:size val="7"/>
            <c:spPr>
              <a:solidFill>
                <a:srgbClr val="1F4FD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Paso 1</c:v>
                </c:pt>
                <c:pt idx="1">
                  <c:v>Paso 2</c:v>
                </c:pt>
                <c:pt idx="2">
                  <c:v>Paso 3</c:v>
                </c:pt>
                <c:pt idx="3">
                  <c:v>Paso 4</c:v>
                </c:pt>
                <c:pt idx="4">
                  <c:v>Paso 5 o más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15.7</c:v>
                </c:pt>
                <c:pt idx="1">
                  <c:v>16.0</c:v>
                </c:pt>
                <c:pt idx="2">
                  <c:v>25.8</c:v>
                </c:pt>
                <c:pt idx="3">
                  <c:v>16.4</c:v>
                </c:pt>
                <c:pt idx="4">
                  <c:v>15.7</c:v>
                </c:pt>
              </c:numCache>
            </c:numRef>
          </c:val>
          <c:smooth val="0"/>
        </c:ser>
        <c:dLbls>
          <c:numFmt formatCode="0.00&quot; %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Envíos (M)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Envíos (M)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dPt>
            <c:idx val="0"/>
            <c:spPr>
              <a:solidFill>
                <a:srgbClr val="A3AAB5"/>
              </a:solidFill>
            </c:spPr>
          </c:dPt>
          <c:dPt>
            <c:idx val="1"/>
            <c:spPr>
              <a:solidFill>
                <a:srgbClr val="1F4FD8"/>
              </a:solidFill>
            </c:spPr>
          </c:dPt>
          <c:dPt>
            <c:idx val="2"/>
            <c:spPr>
              <a:solidFill>
                <a:srgbClr val="A3AAB5"/>
              </a:solidFill>
            </c:spPr>
          </c:dPt>
          <c:dPt>
            <c:idx val="3"/>
            <c:spPr>
              <a:solidFill>
                <a:srgbClr val="A3AAB5"/>
              </a:solidFill>
            </c:spPr>
          </c:dPt>
          <c:dPt>
            <c:idx val="4"/>
            <c:spPr>
              <a:solidFill>
                <a:srgbClr val="A3AAB5"/>
              </a:solidFill>
            </c:spPr>
          </c:dPt>
          <c:dPt>
            <c:idx val="5"/>
            <c:spPr>
              <a:solidFill>
                <a:srgbClr val="A3AAB5"/>
              </a:solidFill>
            </c:spPr>
          </c:dPt>
          <c:dPt>
            <c:idx val="6"/>
            <c:spPr>
              <a:solidFill>
                <a:srgbClr val="A3AAB5"/>
              </a:solidFill>
            </c:spPr>
          </c:dPt>
          <c:cat>
            <c:strRef>
              <c:f>Sheet1!$A$2:$A$8</c:f>
              <c:strCache>
                <c:ptCount val="7"/>
                <c:pt idx="0">
                  <c:v>Dom</c:v>
                </c:pt>
                <c:pt idx="1">
                  <c:v>Lun</c:v>
                </c:pt>
                <c:pt idx="2">
                  <c:v>Mar</c:v>
                </c:pt>
                <c:pt idx="3">
                  <c:v>Mié</c:v>
                </c:pt>
                <c:pt idx="4">
                  <c:v>Jue</c:v>
                </c:pt>
                <c:pt idx="5">
                  <c:v>Vie</c:v>
                </c:pt>
                <c:pt idx="6">
                  <c:v>Sáb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51.2</c:v>
                </c:pt>
                <c:pt idx="1">
                  <c:v>124.0</c:v>
                </c:pt>
                <c:pt idx="2">
                  <c:v>113.6</c:v>
                </c:pt>
                <c:pt idx="3">
                  <c:v>92.2</c:v>
                </c:pt>
                <c:pt idx="4">
                  <c:v>110.0</c:v>
                </c:pt>
                <c:pt idx="5">
                  <c:v>111.7</c:v>
                </c:pt>
                <c:pt idx="6">
                  <c:v>64.7</c:v>
                </c:pt>
              </c:numCache>
            </c:numRef>
          </c:val>
        </c:ser>
        <c:dLbls>
          <c:numFmt formatCode="0.0&quot; M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Clic de email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 de email (%)</c:v>
                </c:pt>
              </c:strCache>
            </c:strRef>
          </c:tx>
          <c:spPr>
            <a:ln w="28575">
              <a:solidFill>
                <a:srgbClr val="1F4FD8"/>
              </a:solidFill>
            </a:ln>
          </c:spPr>
          <c:marker>
            <c:symbol val="circle"/>
            <c:size val="7"/>
            <c:spPr>
              <a:solidFill>
                <a:srgbClr val="1F4FD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Dom</c:v>
                </c:pt>
                <c:pt idx="1">
                  <c:v>Lun</c:v>
                </c:pt>
                <c:pt idx="2">
                  <c:v>Mar</c:v>
                </c:pt>
                <c:pt idx="3">
                  <c:v>Mié</c:v>
                </c:pt>
                <c:pt idx="4">
                  <c:v>Jue</c:v>
                </c:pt>
                <c:pt idx="5">
                  <c:v>Vie</c:v>
                </c:pt>
                <c:pt idx="6">
                  <c:v>Sáb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1.91</c:v>
                </c:pt>
                <c:pt idx="1">
                  <c:v>0.65</c:v>
                </c:pt>
                <c:pt idx="2">
                  <c:v>0.82</c:v>
                </c:pt>
                <c:pt idx="3">
                  <c:v>1.01</c:v>
                </c:pt>
                <c:pt idx="4">
                  <c:v>0.95</c:v>
                </c:pt>
                <c:pt idx="5">
                  <c:v>0.82</c:v>
                </c:pt>
                <c:pt idx="6">
                  <c:v>1.58</c:v>
                </c:pt>
              </c:numCache>
            </c:numRef>
          </c:val>
          <c:smooth val="0"/>
        </c:ser>
        <c:dLbls>
          <c:numFmt formatCode="0.00&quot; %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Clic de email por gancho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 de email por gancho (%)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dPt>
            <c:idx val="0"/>
            <c:spPr>
              <a:solidFill>
                <a:srgbClr val="1F4FD8"/>
              </a:solidFill>
            </c:spPr>
          </c:dPt>
          <c:dPt>
            <c:idx val="1"/>
            <c:spPr>
              <a:solidFill>
                <a:srgbClr val="A3AAB5"/>
              </a:solidFill>
            </c:spPr>
          </c:dPt>
          <c:dPt>
            <c:idx val="2"/>
            <c:spPr>
              <a:solidFill>
                <a:srgbClr val="A3AAB5"/>
              </a:solidFill>
            </c:spPr>
          </c:dPt>
          <c:dPt>
            <c:idx val="3"/>
            <c:spPr>
              <a:solidFill>
                <a:srgbClr val="A3AAB5"/>
              </a:solidFill>
            </c:spPr>
          </c:dPt>
          <c:dPt>
            <c:idx val="4"/>
            <c:spPr>
              <a:solidFill>
                <a:srgbClr val="A3AAB5"/>
              </a:solidFill>
            </c:spPr>
          </c:dPt>
          <c:dPt>
            <c:idx val="5"/>
            <c:spPr>
              <a:solidFill>
                <a:srgbClr val="A3AAB5"/>
              </a:solidFill>
            </c:spPr>
          </c:dPt>
          <c:cat>
            <c:strRef>
              <c:f>Sheet1!$A$2:$A$7</c:f>
              <c:strCache>
                <c:ptCount val="6"/>
                <c:pt idx="0">
                  <c:v>Retargeting o recordatorio  (23.6 M emails)</c:v>
                </c:pt>
                <c:pt idx="1">
                  <c:v>Tasa 0  (54.3 M emails)</c:v>
                </c:pt>
                <c:pt idx="2">
                  <c:v>Descuento, cupón, oferta  (35.0 M)</c:v>
                </c:pt>
                <c:pt idx="3">
                  <c:v>Cross sell  (2.7 M)</c:v>
                </c:pt>
                <c:pt idx="4">
                  <c:v>Referidos  (40.8 M)</c:v>
                </c:pt>
                <c:pt idx="5">
                  <c:v>Lanzamiento, novedades  (33.0 M)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3.09</c:v>
                </c:pt>
                <c:pt idx="1">
                  <c:v>0.53</c:v>
                </c:pt>
                <c:pt idx="2">
                  <c:v>0.41</c:v>
                </c:pt>
                <c:pt idx="3">
                  <c:v>0.34</c:v>
                </c:pt>
                <c:pt idx="4">
                  <c:v>0.22</c:v>
                </c:pt>
                <c:pt idx="5">
                  <c:v>0.22</c:v>
                </c:pt>
              </c:numCache>
            </c:numRef>
          </c:val>
        </c:ser>
        <c:dLbls>
          <c:numFmt formatCode="0.00&quot; %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Clic de email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 de email (%)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dPt>
            <c:idx val="0"/>
            <c:spPr>
              <a:solidFill>
                <a:srgbClr val="1F4FD8"/>
              </a:solidFill>
            </c:spPr>
          </c:dPt>
          <c:dPt>
            <c:idx val="1"/>
            <c:spPr>
              <a:solidFill>
                <a:srgbClr val="A3AAB5"/>
              </a:solidFill>
            </c:spPr>
          </c:dPt>
          <c:dPt>
            <c:idx val="2"/>
            <c:spPr>
              <a:solidFill>
                <a:srgbClr val="A3AAB5"/>
              </a:solidFill>
            </c:spPr>
          </c:dPt>
          <c:dPt>
            <c:idx val="3"/>
            <c:spPr>
              <a:solidFill>
                <a:srgbClr val="A3AAB5"/>
              </a:solidFill>
            </c:spPr>
          </c:dPt>
          <c:dPt>
            <c:idx val="4"/>
            <c:spPr>
              <a:solidFill>
                <a:srgbClr val="1F4FD8"/>
              </a:solidFill>
            </c:spPr>
          </c:dPt>
          <c:dPt>
            <c:idx val="5"/>
            <c:spPr>
              <a:solidFill>
                <a:srgbClr val="A3AAB5"/>
              </a:solidFill>
            </c:spPr>
          </c:dPt>
          <c:cat>
            <c:strRef>
              <c:f>Sheet1!$A$2:$A$7</c:f>
              <c:strCache>
                <c:ptCount val="6"/>
                <c:pt idx="0">
                  <c:v>10 a 100 mil usuarios</c:v>
                </c:pt>
                <c:pt idx="1">
                  <c:v>100 mil a 1 M</c:v>
                </c:pt>
                <c:pt idx="2">
                  <c:v>Más de 1 M</c:v>
                </c:pt>
                <c:pt idx="3">
                  <c:v>1 toque</c:v>
                </c:pt>
                <c:pt idx="4">
                  <c:v>2 toques</c:v>
                </c:pt>
                <c:pt idx="5">
                  <c:v>3 a 4 toques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</c:v>
                </c:pt>
                <c:pt idx="1">
                  <c:v>0.6</c:v>
                </c:pt>
                <c:pt idx="2">
                  <c:v>0.16</c:v>
                </c:pt>
                <c:pt idx="3">
                  <c:v>0.8</c:v>
                </c:pt>
                <c:pt idx="4">
                  <c:v>1.8</c:v>
                </c:pt>
                <c:pt idx="5">
                  <c:v>0.5</c:v>
                </c:pt>
              </c:numCache>
            </c:numRef>
          </c:val>
        </c:ser>
        <c:dLbls>
          <c:numFmt formatCode="0.00&quot; %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2"/>
        </c:scaling>
        <c:delete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MXN al mes (M)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Sheet1!$A$2:$A$6</c:f>
              <c:strCache>
                <c:ptCount val="5"/>
                <c:pt idx="0">
                  <c:v>Gasto al mes hoy</c:v>
                </c:pt>
                <c:pt idx="1">
                  <c:v>Apagar (48)</c:v>
                </c:pt>
                <c:pt idx="2">
                  <c:v>Limpiar base WhatsApp (56)</c:v>
                </c:pt>
                <c:pt idx="3">
                  <c:v>Rehacer o re-segmentar (162)</c:v>
                </c:pt>
                <c:pt idx="4">
                  <c:v>Gasto al mes después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3.66</c:v>
                </c:pt>
                <c:pt idx="2">
                  <c:v>3.42</c:v>
                </c:pt>
                <c:pt idx="3">
                  <c:v>3.2199999999999998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Totales</c:v>
                </c:pt>
              </c:strCache>
            </c:strRef>
          </c:tx>
          <c:spPr>
            <a:solidFill>
              <a:srgbClr val="5B6270"/>
            </a:solidFill>
          </c:spPr>
          <c:dPt>
            <c:idx val="4"/>
            <c:spPr>
              <a:solidFill>
                <a:srgbClr val="1F4FD8"/>
              </a:solidFill>
            </c:spPr>
          </c:dPt>
          <c:dLbls>
            <c:numFmt formatCode="0.00&quot; M&quot;;;" sourceLinked="0"/>
            <c:txPr>
              <a:bodyPr/>
              <a:lstStyle/>
              <a:p>
                <a:pPr>
                  <a:defRPr sz="900">
                    <a:solidFill>
                      <a:srgbClr val="1A1D24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Gasto al mes hoy</c:v>
                </c:pt>
                <c:pt idx="1">
                  <c:v>Apagar (48)</c:v>
                </c:pt>
                <c:pt idx="2">
                  <c:v>Limpiar base WhatsApp (56)</c:v>
                </c:pt>
                <c:pt idx="3">
                  <c:v>Rehacer o re-segmentar (162)</c:v>
                </c:pt>
                <c:pt idx="4">
                  <c:v>Gasto al mes después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4.82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Ahorro</c:v>
                </c:pt>
              </c:strCache>
            </c:strRef>
          </c:tx>
          <c:spPr>
            <a:solidFill>
              <a:srgbClr val="B5342B"/>
            </a:solidFill>
          </c:spPr>
          <c:dLbls>
            <c:numFmt formatCode="&quot;−&quot;0.00&quot; M&quot;;;" sourceLinked="0"/>
            <c:txPr>
              <a:bodyPr/>
              <a:lstStyle/>
              <a:p>
                <a:pPr>
                  <a:defRPr sz="900">
                    <a:solidFill>
                      <a:srgbClr val="1A1D24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Gasto al mes hoy</c:v>
                </c:pt>
                <c:pt idx="1">
                  <c:v>Apagar (48)</c:v>
                </c:pt>
                <c:pt idx="2">
                  <c:v>Limpiar base WhatsApp (56)</c:v>
                </c:pt>
                <c:pt idx="3">
                  <c:v>Rehacer o re-segmentar (162)</c:v>
                </c:pt>
                <c:pt idx="4">
                  <c:v>Gasto al mes después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1.16</c:v>
                </c:pt>
                <c:pt idx="2">
                  <c:v>0.24</c:v>
                </c:pt>
                <c:pt idx="3">
                  <c:v>0.2</c:v>
                </c:pt>
                <c:pt idx="4">
                  <c:v>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Ahorro al mes si se ejecuta el plan (M MXN)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Ahorro al mes si se ejecuta el plan (M MXN)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dPt>
            <c:idx val="0"/>
            <c:spPr>
              <a:solidFill>
                <a:srgbClr val="1F4FD8"/>
              </a:solidFill>
            </c:spPr>
          </c:dPt>
          <c:dPt>
            <c:idx val="1"/>
            <c:spPr>
              <a:solidFill>
                <a:srgbClr val="A3AAB5"/>
              </a:solidFill>
            </c:spPr>
          </c:dPt>
          <c:dPt>
            <c:idx val="2"/>
            <c:spPr>
              <a:solidFill>
                <a:srgbClr val="A3AAB5"/>
              </a:solidFill>
            </c:spPr>
          </c:dPt>
          <c:dPt>
            <c:idx val="3"/>
            <c:spPr>
              <a:solidFill>
                <a:srgbClr val="A3AAB5"/>
              </a:solidFill>
            </c:spPr>
          </c:dPt>
          <c:dPt>
            <c:idx val="4"/>
            <c:spPr>
              <a:solidFill>
                <a:srgbClr val="A3AAB5"/>
              </a:solidFill>
            </c:spPr>
          </c:dPt>
          <c:cat>
            <c:strRef>
              <c:f>Sheet1!$A$2:$A$6</c:f>
              <c:strCache>
                <c:ptCount val="5"/>
                <c:pt idx="0">
                  <c:v>Product Growth  (74 campañas con señal; Apagar 17 (B0211, B0223))</c:v>
                </c:pt>
                <c:pt idx="1">
                  <c:v>Marketing  (141 con señal; 51 a bajar frecuencia)</c:v>
                </c:pt>
                <c:pt idx="2">
                  <c:v>Sales  (91 con señal; 51 a rehacer)</c:v>
                </c:pt>
                <c:pt idx="3">
                  <c:v>Others  (19 con señal)</c:v>
                </c:pt>
                <c:pt idx="4">
                  <c:v>Collections  (Fuera del alcance (cobranza))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</c:v>
                </c:pt>
                <c:pt idx="1">
                  <c:v>0.16</c:v>
                </c:pt>
                <c:pt idx="2">
                  <c:v>0.1</c:v>
                </c:pt>
                <c:pt idx="3">
                  <c:v>0.04</c:v>
                </c:pt>
                <c:pt idx="4">
                  <c:v>0</c:v>
                </c:pt>
              </c:numCache>
            </c:numRef>
          </c:val>
        </c:ser>
        <c:dLbls>
          <c:numFmt formatCode="0.00&quot; M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A1D24"/>
                </a:solidFill>
                <a:latin typeface="Calibri"/>
              </a:rPr>
              <a:t>Envíos por segmento (M)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Envíos por segmento (M)</c:v>
                </c:pt>
              </c:strCache>
            </c:strRef>
          </c:tx>
          <c:spPr>
            <a:solidFill>
              <a:srgbClr val="A3AAB5"/>
            </a:solidFill>
          </c:spPr>
          <c:invertIfNegative val="0"/>
          <c:dPt>
            <c:idx val="0"/>
            <c:spPr>
              <a:solidFill>
                <a:srgbClr val="A3AAB5"/>
              </a:solidFill>
            </c:spPr>
          </c:dPt>
          <c:dPt>
            <c:idx val="1"/>
            <c:spPr>
              <a:solidFill>
                <a:srgbClr val="A3AAB5"/>
              </a:solidFill>
            </c:spPr>
          </c:dPt>
          <c:dPt>
            <c:idx val="2"/>
            <c:spPr>
              <a:solidFill>
                <a:srgbClr val="1F4FD8"/>
              </a:solidFill>
            </c:spPr>
          </c:dPt>
          <c:dPt>
            <c:idx val="3"/>
            <c:spPr>
              <a:solidFill>
                <a:srgbClr val="A3AAB5"/>
              </a:solidFill>
            </c:spPr>
          </c:dPt>
          <c:dPt>
            <c:idx val="4"/>
            <c:spPr>
              <a:solidFill>
                <a:srgbClr val="A3AAB5"/>
              </a:solidFill>
            </c:spPr>
          </c:dPt>
          <c:dPt>
            <c:idx val="5"/>
            <c:spPr>
              <a:solidFill>
                <a:srgbClr val="A3AAB5"/>
              </a:solidFill>
            </c:spPr>
          </c:dPt>
          <c:dPt>
            <c:idx val="6"/>
            <c:spPr>
              <a:solidFill>
                <a:srgbClr val="A3AAB5"/>
              </a:solidFill>
            </c:spPr>
          </c:dPt>
          <c:dPt>
            <c:idx val="7"/>
            <c:spPr>
              <a:solidFill>
                <a:srgbClr val="A3AAB5"/>
              </a:solidFill>
            </c:spPr>
          </c:dPt>
          <c:dPt>
            <c:idx val="8"/>
            <c:spPr>
              <a:solidFill>
                <a:srgbClr val="A3AAB5"/>
              </a:solidFill>
            </c:spPr>
          </c:dPt>
          <c:cat>
            <c:strRef>
              <c:f>Sheet1!$A$2:$A$10</c:f>
              <c:strCache>
                <c:ptCount val="9"/>
                <c:pt idx="0">
                  <c:v>Leads  (8.5 % respuesta, 3.5 conv por mil)</c:v>
                </c:pt>
                <c:pt idx="1">
                  <c:v>Recurrent  (7.0 %, 12.5 conv por mil)</c:v>
                </c:pt>
                <c:pt idx="2">
                  <c:v>Not Tracked  (no se mide)</c:v>
                </c:pt>
                <c:pt idx="3">
                  <c:v>New  (2.1 %)</c:v>
                </c:pt>
                <c:pt idx="4">
                  <c:v>Todos</c:v>
                </c:pt>
                <c:pt idx="5">
                  <c:v>BKT1  (1.5 %)</c:v>
                </c:pt>
                <c:pt idx="6">
                  <c:v>Active  (21 %, 50 conv por mil)</c:v>
                </c:pt>
                <c:pt idx="7">
                  <c:v>Precobranza  (45 conv por mil)</c:v>
                </c:pt>
                <c:pt idx="8">
                  <c:v>Anonimos  (0.8 %)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201</c:v>
                </c:pt>
                <c:pt idx="1">
                  <c:v>189</c:v>
                </c:pt>
                <c:pt idx="2">
                  <c:v>84.7</c:v>
                </c:pt>
                <c:pt idx="3">
                  <c:v>67</c:v>
                </c:pt>
                <c:pt idx="4">
                  <c:v>24.5</c:v>
                </c:pt>
                <c:pt idx="5">
                  <c:v>18</c:v>
                </c:pt>
                <c:pt idx="6">
                  <c:v>15</c:v>
                </c:pt>
                <c:pt idx="7">
                  <c:v>12</c:v>
                </c:pt>
                <c:pt idx="8">
                  <c:v>9.3</c:v>
                </c:pt>
              </c:numCache>
            </c:numRef>
          </c:val>
        </c:ser>
        <c:dLbls>
          <c:numFmt formatCode="0.0&quot; M&quot;" sourceLinked="0"/>
          <c:txPr>
            <a:bodyPr/>
            <a:lstStyle/>
            <a:p>
              <a:pPr>
                <a:defRPr sz="900">
                  <a:solidFill>
                    <a:srgbClr val="1A1D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00">
                <a:solidFill>
                  <a:srgbClr val="5B62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900">
                <a:solidFill>
                  <a:srgbClr val="5B62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4FD8"/>
                </a:solidFill>
                <a:latin typeface="Calibri"/>
              </a:rPr>
              <a:t>KUESKI · BRAZE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868680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000" b="1">
                <a:solidFill>
                  <a:srgbClr val="1A1D24"/>
                </a:solidFill>
                <a:latin typeface="Calibri"/>
              </a:rPr>
              <a:t>Braze en Kueski: mandar menos y a quien sí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8686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5B6270"/>
                </a:solidFill>
                <a:latin typeface="Calibri"/>
              </a:rPr>
              <a:t>Auditoría de comunicaciones, enero a septiembre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8686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8A909B"/>
                </a:solidFill>
                <a:latin typeface="Calibri"/>
              </a:rPr>
              <a:t>Business case y plan de acción. 15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Mandar menos y a quien sí ahorra 1.6 M MXN al mes y recupera la respuesta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 (Insights, Plan_accion, Estándares); análisis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413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F4FD8"/>
                </a:solidFill>
                <a:latin typeface="Calibri"/>
              </a:rPr>
              <a:t>QUÉ PASA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413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A1D24"/>
                </a:solidFill>
                <a:latin typeface="Calibri"/>
              </a:rPr>
              <a:t>•  Kueski mandó 667 M mensajes en 9 meses y gastó 57.7 M MXN. El volumen subió 86 % hasta junio y la respuesta cayó: 19 de 24 indicadores están debajo del estándar.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1D24"/>
                </a:solidFill>
                <a:latin typeface="Calibri"/>
              </a:rPr>
              <a:t>•  73 % de los usuarios no respondió a nada. 59 % de los mensajes van a un canal que el usuario nunca abrió (18.7 M MXN).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1D24"/>
                </a:solidFill>
                <a:latin typeface="Calibri"/>
              </a:rPr>
              <a:t>•  43.8 M mensajes promocionales llegaron a usuarios bloqueados, 80 mil emails a dados de baja y 1 de cada 4 WhatsApp no llega y se paga.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6720" y="1783080"/>
            <a:ext cx="3413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F4FD8"/>
                </a:solidFill>
                <a:latin typeface="Calibri"/>
              </a:rPr>
              <a:t>POR QUÉ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6720" y="2103120"/>
            <a:ext cx="3413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A1D24"/>
                </a:solidFill>
                <a:latin typeface="Calibri"/>
              </a:rPr>
              <a:t>•  Se manda por volumen, no por señal: 5 % de los usuarios recibe 41 o más mensajes al mes y los equipos chocan en los mismos usuarios el mismo día.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1D24"/>
                </a:solidFill>
                <a:latin typeface="Calibri"/>
              </a:rPr>
              <a:t>•  No hay grupo de control en ningún Canvas ni una prueba A/B de mensaje: nadie puede decir cuánto vende Braze.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1D24"/>
                </a:solidFill>
                <a:latin typeface="Calibri"/>
              </a:rPr>
              <a:t>•  749 piezas sin ticket y 731 formas de escribir la audiencia: no hay dueños ni reglas.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1783080"/>
            <a:ext cx="3413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F4FD8"/>
                </a:solidFill>
                <a:latin typeface="Calibri"/>
              </a:rPr>
              <a:t>QUÉ HACER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99" y="2103120"/>
            <a:ext cx="3413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A1D24"/>
                </a:solidFill>
                <a:latin typeface="Calibri"/>
              </a:rPr>
              <a:t>•  Ejecutar el plan por campaña: 582 campañas a tocar, 1.6 M MXN al mes de ahorro (33 % del gasto) y 27 M mensajes menos al mes (42 %).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1D24"/>
                </a:solidFill>
                <a:latin typeface="Calibri"/>
              </a:rPr>
              <a:t>•  Adoptar el playbook: 12 reglas, exclusiones, canal y frecuencia por usuario, control del 10 % en toda pieza.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A1D24"/>
                </a:solidFill>
                <a:latin typeface="Calibri"/>
              </a:rPr>
              <a:t>•  Configurar Braze una vez (topes, control nativo, horas de silencio, re-elegibilidad) y nombrar un dueño por cosa. 90 días.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Decisión que se pide hoy: aprobar el plan por campaña y el playbook, y nombrar un dueño de Braze. El ahorro empieza en la semana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Revisamos 9 meses de envíos: 667 M mensajes, 3,439 comunicaciones y 18 extracciones de Databricks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pestañas Léeme y Parámetros; Databricks braze.*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98120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92807"/>
            <a:ext cx="198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667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96312"/>
            <a:ext cx="1981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mensajes enviados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198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email, push, WhatsApp, in-app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4160" y="1783080"/>
            <a:ext cx="198120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4160" y="1892807"/>
            <a:ext cx="198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57.7 M MXN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4160" y="2496312"/>
            <a:ext cx="1981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costo 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4160" y="2807208"/>
            <a:ext cx="198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email 0.05, WhatsApp 1.00 por entregado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9680" y="1783080"/>
            <a:ext cx="198120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9680" y="1892807"/>
            <a:ext cx="198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3,439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9680" y="2496312"/>
            <a:ext cx="1981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comunicaciones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9680" y="2807208"/>
            <a:ext cx="198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1,822 familias, 1,913 campañas por canal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34739"/>
            <a:ext cx="198120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44468"/>
            <a:ext cx="198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19.5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47972"/>
            <a:ext cx="1981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usuarios alcanzados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58868"/>
            <a:ext cx="198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20.1 M con email en el periodo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04160" y="3634739"/>
            <a:ext cx="198120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04160" y="3744468"/>
            <a:ext cx="198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4160" y="4347972"/>
            <a:ext cx="1981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equipos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4160" y="4658868"/>
            <a:ext cx="198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Marketing, Product Growth, Sales, Collections, Others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59680" y="3634739"/>
            <a:ext cx="198120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9680" y="3744468"/>
            <a:ext cx="198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9680" y="4347972"/>
            <a:ext cx="1981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extracciones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9680" y="4658868"/>
            <a:ext cx="198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E1 a E18b, agregadas, sin datos personales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Respuesta: clic en email, apertura en push, lectura en WhatsApp, clic en in-app. Abrir un email no cuenta.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Conversión a 7 días solo como referencia: no hay grupo de control.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Costo variable sin el costo fijo de Braze (pendiente).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Todo el modelo está en el Sheets con fórmulas vivas y 471 verificaciones.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Las cifras salen de datos agregados de toda la base, no de muestras: lo que se decida aquí se ejecuta y se mide campaña por campaña.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WhatsApp es 8 % del volumen y 71 % del costo; email es la mitad de los mensajes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B_Canales B2 (E4a)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333 M emails, 251 M push, 55 M WhatsApp, 27 M in-app.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WhatsApp: 41 M MXN. Email: 16.7 M MXN. Push e in-app no tienen costo variable.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Respuesta: in-app 38 %, WhatsApp 69 % de lectura, push 1.5 %, email 0.93 % de clic.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El dinero está en WhatsApp; el volumen y las bajas, en email.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El dinero está en WhatsApp y las bajas en email: la limpieza empieza por WhatsApp y la frecuencia se baja primero en email.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El volumen subió 86 % de enero a junio y el clic de email cayó de 1.20 % a 0.67 %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B_Canales B1 (E4a)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18059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3680459"/>
          <a:ext cx="6766560" cy="18059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Junio: 109 M envíos (el doble de enero), clic 0.67 %, push 1.05 %, 63 mil bajas. Fue el email de BillPay a 16 M usuarios encima de Hot Sale.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Septiembre tuvo el mejor push del año (2.1 %) con el menor volumen desde marzo.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Más volumen no trajo más respuesta. Menos push, más apertura.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Subir volumen no sube resultados, los baja. Ningún envío a más de 1 M de usuarios sin prueba al 10 % y un segmento con criterio.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19 de 24 indicadores están debajo del estándar; email, push y WhatsApp no llegan al piso de la industria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Estándares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766559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552"/>
                <a:gridCol w="1057275"/>
                <a:gridCol w="845820"/>
                <a:gridCol w="1585912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Hoy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Estándar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Clic de 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0.92 %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Bajas de email por mil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3.13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Apertura de push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1.53 %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Entrega de WhatsApp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74 %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90 %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Lectura de WhatsApp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69 %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8860B"/>
                          </a:solidFill>
                          <a:latin typeface="Calibri"/>
                        </a:rPr>
                        <a:t>Debajo por poco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Mensajes a canal mudo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59 %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20 %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Usuarios que nunca respondieron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73 %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Promocional a etapas bloqueadas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43.8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Canvas con grupo de control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 de 3,228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Todos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Envíos con ticket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Entrega de 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95.1 %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95 %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C7A4B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Clic de in-app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38 %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 a 20 %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C7A4B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Los 24 indicadores con definición, fórmula y estándar están en la pestaña Estándares del Sheets y en el anexo.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El estándar es el piso del rango de la industria o una propuesta interna; es editable.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Cumplen 5: entrega de email, apertura de email, clic de in-app, toques por pieza y usuario-días con 3 o más piezas.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No es un problema de una campaña ni de un equipo: es la forma de operar Braze. Se corrige con reglas y configuración, no pieza por pieza.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91440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Mandamos a quien no responde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9144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La mitad del esfuerzo va a usuarios que no pueden o no quieren responder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A. A QUIEN NO RESPONDE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73 % de los usuarios no respondió a nada en 9 meses; el 11 % que responde a varios canales recibe la mitad de los mensajes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J_Canal (E7b)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14.2 M usuarios sin una sola respuesta. Reciben 11 mensajes cada uno y convierten 0.08 %.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Quien solo responde a WhatsApp es 8 % de los usuarios y 34 % del costo: recibe 58 M emails y 21 M push que nunca abre.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Quien responde a varios canales convierte 30 a 75 % porque es cliente activo. Sirve para segmentar, no para decir que el mensaje vendió.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Dejar de mandar a los 14.2 M que nunca respondieron no cuesta ventas (convierten 0.08 %). Es la primera exclusión que se carga en Braze.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A. A QUIEN NO RESPONDE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59 % de los mensajes van a un canal que el usuario nunca abrió: 394 M mensajes y 18.7 M MXN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J_Canal R22 y H22 (E7b)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92807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59 %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9631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de los mensajes a canal mudo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394 M en 9 meses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783080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892807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18.7 M MXN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9631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costo de esos mensajes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0720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32 % del costo variable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34739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444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149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4797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emails a quien responde a otro canal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588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pero nunca hizo clic en un email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634739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37444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3.2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34797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WhatsApp entregados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6588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a quien nunca leyó un WhatsApp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Canal mudo: canal al que ese usuario nunca respondió aunque sí respondió a otro.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Regla del playbook: se manda por el canal al que el usuario responde; el push es el canal de señal.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Hace falta el atributo canal_preferido_90d en Braze para filtrarlo en cada pieza.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Mandar por el canal que el usuario sí abre ahorra 18.7 M MXN en 9 meses sin perder respuesta. Requiere un atributo en Braze: canal_preferido_90d.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A. A QUIEN NO RESPONDE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97.5 M mensajes fueron a quien nunca respondió: 8.1 M MXN, 17 % de las bajas y cero conversiones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T_SinRespuesta (E16)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Cada mes 1.1 M de usuarios reciben email sin haber respondido jamás. En junio fueron 11.9 M por BillPay.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Unos 900 mil MXN al mes. Nadie convirtió sin haber respondido antes.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Regla: sin respuesta en 90 días, fuera de lo promocional (exclusión EXC-SinRespuesta90d). Se paga sola.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Exclusión EXC-SinRespuesta90d en todo lo promocional: ahorra unos 900 mil MXN al mes y 17 % de las bajas sin perder una sola conversión.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A. A QUIEN NO RESPONDE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43.8 M mensajes promocionales llegaron a usuarios bloqueados y 80 mil emails a gente que ya se dio de baja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H_Etapas (E7a), E_DespuesBaja (E5b). Golden dataset cubre 37 % de los envíos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Bloqueados: tarjeta KPay congelada (43.4 M), REUS o ARCO (249 mil), lista negra (146 mil).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Contando todo tipo de mensaje: 57.4 M a tarjeta congelada (4.4 M usuarios, 5.1 M MXN) y 1.48 M a lista negra, REUS o ARCO.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80 mil emails promocionales a dados de baja (Marketing 59 mil): el filtro de suscripción estaba solo a la entrada del Canvas.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Regla: 7 exclusiones como filtro negativo en todo lo promocional. Legal decide sobre REUS y ARCO.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Son mensajes que no debían salir y un riesgo legal. Las 7 exclusiones se cargan en Braze esta semana; Legal decide sobre REUS y ARCO.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A. A QUIEN NO RESPONDE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1 de cada 4 WhatsApp no llega: 14.2 M mensajes en 9 meses que se mandan a números que no reciben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B_Canales B4 (E4a), J_Canal (E7b)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486400"/>
            <a:ext cx="6766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270"/>
                </a:solidFill>
                <a:latin typeface="Calibri"/>
              </a:rPr>
              <a:t>Línea de referencia: Estándar 90 %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55.2 M enviados, 41.0 M entregados (74 %). Meta cobra por entregado; si cobrara por enviado serían 14.2 M MXN tirados.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Entre quienes nunca responden la entrega es 34 %; entre quienes leen WhatsApp, 83 %. El número que no recibe es la primera señal de limpieza.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Abril y mayo tocaron piso (69 % y 67 %) y se siguió mandando. Se recuperó cuando bajó el volumen.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Regla: WhatsApp solo a quien ya dio señal. Exclusión EXC-WA_SinEntrega3 en toda pieza.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Exclusión EXC-WA_SinEntrega3 en toda pieza de WhatsApp: deja de pagar por números que no reciben y protege la calidad del número ante Meta.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91440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Mandamos demasiado y sin coordinación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9144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La presión por usuario, el choque entre equipos y los Canvas de 100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B. DEMASIADO Y SIN COORDINACIÓN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5 % de los usuarios recibe 41 o más mensajes al mes y concentra 30 % del volumen; con 321 o más mensajes la baja se multiplica por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B_Canales B3 (E4b), G_Practicas (E3)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Un usuario recibe 10.4 mensajes al mes en promedio; la cola recibe 41 o más.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339 mil usuarios recibieron 321 o más mensajes en 9 meses: 16.5 bajas por 100 usuarios contra 1.3 en la banda de 1 a 5.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Toques de la misma pieza: 1.71 al mes en promedio; Collections 3.86.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Regla: 5 promocionales por semana, 2 piezas al día, 1 push al día, 1 WhatsApp al mes. Frequency cap global en Braze.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Frequency cap global en Braze (5 promocionales por semana, 1 push al día): recorta la cola de 41 o más y saca a los usuarios de la banda donde la baja se multiplica por 13.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B. DEMASIADO Y SIN COORDINACIÓN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9 % de los usuario-días reciben 3 o más campañas distintas y son 24 % de los mensajes; 62 % del choque es entre equipos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F_Solape (E6a, E6b)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92807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9.0 %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9631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usuario-días con 3 o más familias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24 % de todos los mensajes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783080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892807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62 %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9631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del solape es entre equipos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0720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Marketing y Lending sobre los mismos inactivos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34739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444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0.43 vs 0.36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4797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bajas por mil usuario-días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588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con 3 o más familias contra 1 sola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634739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37444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1.5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34797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usuarios con dos push el mismo día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6588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de Marketing y 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Lending y Marketing mandan Tasa 0 al mismo usuario el mismo día con ofertas distintas.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Un Canvas de QA con 1.87 M envíos reales está entre los pares que más chocan.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Regla: calendario único con fecha, equipo, pieza, audiencia y canal. Nada promocional se activa sin estar ahí. Comité quincenal de 30 minutos.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Calendario único y comité quincenal: nada promocional sale sin estar en el calendario. Así dos equipos dejan de mandar Tasa 0 al mismo usuario el mismo día.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B. DEMASIADO Y SIN COORDINACIÓN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Un usuario nuevo se da de baja a los 27 días con 5 emails; un solo envío masivo explica 31 % de esas bajas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L_Baja (E8), O_Antiguedad (E12)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16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158 mil usuarios nuevos se dieron de baja en el periodo. 33 % con el primer email; 7.4 % el mismo día.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Antes de irse recibieron 5 emails de 4 piezas distintas. No es cansancio acumulado, es el contenido y la cantidad del primer mes.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Los nuevos son los que mejor responden (clic 2.4 %, push 3.4 %) y los que más se dan de baja (6.9 por mil).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Regla: una sola secuencia de bienvenida, 1 email al día, 3 la primera semana. Ningún masivo incluye a usuarios con menos de 30 días.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Una sola secuencia de bienvenida (1 email al día, 3 la primera semana) y ningún masivo a menores de 30 días: protege al segmento que mejor responde.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B. DEMASIADO Y SIN COORDINACIÓN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45 Canvas pasan de 20 pasos y 477 pasos abren menos de 1 %; la insistencia no sube la apertura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S_Pasos (E15). El orden del paso es aproximado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17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18059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3680459"/>
          <a:ext cx="6766560" cy="18059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959 Canvas con 5,986 pasos. La mitad tiene 3 pasos o menos; 45 pasan de 20 y 19 pasan de 50. Los de inactividad tienen entre 96 y 120 pasos para 734 mil usuarios.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El paso 3 abre más porque ahí entran los filtros de quien ya reaccionó, no porque el tercer mensaje convenza. Push detrás de una señal abre 6 % contra 2 %.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477 pasos con mil o más usuarios abren menos de 1 %; 80 tienen más de 10 mil usuarios y menos de 0.5 %.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Regla: máximo 8 pasos, 2 toques por canal, un paso de Decision después de cada envío.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Máximo 8 pasos y 2 toques por canal: los 477 pasos que abren menos de 1 % se apagan sin perder respuesta, porque insistir no la sube.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B. DEMASIADO Y SIN COORDINACIÓN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El lunes concentra 19 % del email con el peor clic del año (0.65 %)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N_DiaSemana (E10)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18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18059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3680459"/>
          <a:ext cx="6766560" cy="18059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El fin de semana responde mejor porque salen piezas chicas a gente caliente, no por el día: domingo también tiene el doble de bajas (7.7 por mil).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WhatsApp se entrega y se lee mejor en fin de semana (87 % y 89 % en domingo contra 71 a 75 % entre semana).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Push e in-app no cambian con el día.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Sugerencia: email masivo de martes a jueves; fin de semana solo piezas acotadas y nunca a nuevos; WhatsApp a recurrentes en sábado. La hora se prueba con A/B.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Email masivo de martes a jueves y fin de semana solo piezas acotadas: mover el lunes a martes toca 19 % del email con el peor clic del año.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B. DEMASIADO Y SIN COORDINACIÓN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56 % de los envíos van a usuarios con más de un año en la base, que reciben 7 veces más push y abren la tercera parte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O_Antiguedad (E12). Push por usuario en 9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766558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283"/>
                <a:gridCol w="966651"/>
                <a:gridCol w="878774"/>
                <a:gridCol w="1142406"/>
                <a:gridCol w="1406038"/>
                <a:gridCol w="1142406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Antigüedad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% de envíos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Clic 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Apertura push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Push por usuario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Bajas por mil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Menos de 1 mes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7 %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2.41 %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3.44 %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1 a 3 meses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1.30 %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1.94 %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3 a 6 meses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11 %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0.88 %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1.48 %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3.3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6 a 12 meses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16 %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0.76 %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1.29 %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1 a 2 años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26 %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0.65 %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1.30 %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Más de 2 años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31 %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0.55 %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1.27 %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A más antigüedad, más mensajes y menos respuesta.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Las bajas por mil son iguales en todas las bandas: el nuevo no se da de baja más por email que el viejo, se da de baja por la cantidad.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Regla: a más de 1 año sin respuesta en 90 días, fuera de lo promocional. Push a más de 2 años solo a quien abrió un push en 90 días. La frecuencia alta se reserva para el primer 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A más de 1 año sin respuesta en 90 días, fuera de lo promocional: ahí está el 56 % del volumen con la respuesta más baja.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91440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Sabemos qué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9144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Gancho, canal, tamaño, toques y equipo: los datos ya dicen qué mandar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C. QUÉ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Recordar algo que el usuario empezó responde 3.09 % por email; una oferta nueva, entre 0.22 % y 0.53 %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Campañas (E1), gancho leído del nombre de la pieza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21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Tasa 0 es el gancho con más emails (54 M) y responde 6 veces menos que un recordatorio.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Referidos y lanzamientos responden 0.22 % por email y 43 a 55 % en in-app: van en in-app.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Regla: el gancho principal es recordar algo que el usuario empezó. Una sola pieza de Tasa 0 por audiencia.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El gancho que vende es recordar lo que el usuario empezó. Tasa 0 se reduce a una pieza por audiencia; referidos y lanzamientos pasan a in-app.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C. QUÉ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In-app responde 38 % y no cuesta; email responde 0.93 % y WhatsApp cuesta 20 veces más por mensaje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B_Canales, Medianas, Parámetros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76655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16"/>
                <a:gridCol w="1169091"/>
                <a:gridCol w="637686"/>
                <a:gridCol w="602259"/>
                <a:gridCol w="2125620"/>
                <a:gridCol w="1948485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Canal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Respuesta hoy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Mínimo para seguir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Costo por mensaje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Funciona para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No funciona para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In-app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38 % de clic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Referidos, lanzamientos, retargeting, onboarding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Ofertas genéricas (14 %)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WhatsApp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69 % de lectura, 74 % de entrega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60 % y 80 %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1.00 MXN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Activos y recurrentes de KPay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Bases frías, primer toque, repetir a los 2 a 6 días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Push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1.5 % de apertura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0.75 %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Cobranza, nuevos, retargeting, recurrentes; es el canal de señal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Leads, anónimos, fríos, lanzamientos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0.93 % de clic, 3.1 bajas por mil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0.3 % y 2.5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0.05 MXN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Transaccional, retargeting a registrados, nuevos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Tasa 0, referidos, newsletters, bases frías, más de 1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Email: no es el asunto (abren 24 %), es que no hay qué hacer adentro. Un solo llamado a la acción.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Push: primero push, y el resto solo a quien lo abrió.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WhatsApp: nunca como primer toque.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In-app: lo informativo va ahí primero.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Lo informativo va en in-app, el push es el primer toque, el email lleva un solo llamado a la acción y WhatsApp nunca abre la conversación.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C. QUÉ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Audiencias de 10 a 100 mil usuarios y 2 toques responden 7 veces más que envíos de más de 1 M con 3 toques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G_Practicas (E1 por banda de tamaño y de toques)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Tamaño: a más de 1 M el clic cae a 0.16 %. Regla: más de 1 M obliga a prueba al 10 % y a un segmento.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Toques: el segundo toque sube la respuesta (1.8 %); el tercero la hunde (0.5 %). Regla: 2 toques y se acabó, el segundo solo a quien no abrió el primero.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El tamaño ideal es 10 a 100 mil usuarios con un criterio.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Audiencias de 10 a 100 mil con un criterio y 2 toques: más de 1 M obliga a prueba al 10 % y el tercer toque desaparece.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C. QUÉ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Cada equipo tiene un canal que le funciona y otro que le cuesta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Vista_equipo, Campañas, Plan_accion 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9166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810"/>
                <a:gridCol w="773837"/>
                <a:gridCol w="838324"/>
                <a:gridCol w="3869187"/>
                <a:gridCol w="3869187"/>
                <a:gridCol w="838324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Equipo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Envíos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Costo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Funciona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No funciona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Ahorro al mes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262 M (39 %)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27.2 M (47 %)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Retargeting Veriff (email 3.0 %, push 5.8 %), in-app de registro (87 %)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Rescates por push a anónimos (0.6 a 0.8 % en 22 M), referidos por email (0.1 a 0.2 % en 15 M), 4.95 bajas por mil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0.16 M MXN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Product Growth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177 M (27 %)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17.3 M (30 %)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Retargeting Installments a activos (push 11 %), in-app 46 %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Tasa 0 por email a registrados (35 M, 0.28 %), NeverActive (13 M, 0.10 %), Canvas de inactividad de 120 pasos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1.30 M MXN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85 M (13 %)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7.1 M (12 %)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Push y WhatsApp a recurrentes KPay (80 % entrega, 78 % lectura, push 4.2 %)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Email (0.21 %, el peor), promoción a tarjetas congeladas (13 M)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0.10 M MXN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Collections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45 M (7 %)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1.6 M (3 %)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Precobranza: email 4.3 %, push 5.3 %, la mejor pieza de la empresa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Ticket T000 en todo; Canvas PRUEBA_ a 5 mil usuarios reales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Others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98 M (15 %)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4.4 M (8 %)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Transaccional (Payment Confirmation 3.8 %)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BillPay Intro (16 M, 0.11 %, 31 % de las bajas de nuevos), Shopping (7 M, 0.12 %)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0.04 M MXN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Cada equipo escala el canal que le funciona y apaga el que le cuesta: la regla de canal se fija por equipo, no una para toda la empresa.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C. QUÉ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10 piezas concentran 125 M envíos con respuesta debajo del mínimo; 6 piezas hay que proteger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Plan_accion P4, Campañas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766557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1162"/>
                <a:gridCol w="356134"/>
                <a:gridCol w="427361"/>
                <a:gridCol w="641042"/>
                <a:gridCol w="1210858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Pieza (nombre actual)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Canal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Envíos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Respuesta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Acción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Lending-KCash-B0211 Nuevos_RegistradosPay Tasa0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34.9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0.28 %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342B"/>
                          </a:solidFill>
                          <a:latin typeface="Calibri"/>
                        </a:rPr>
                        <a:t>Apagar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NewProducts T0000 Portfolio_BillPay_Intro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16.1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0.11 %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342B"/>
                          </a:solidFill>
                          <a:latin typeface="Calibri"/>
                        </a:rPr>
                        <a:t>Confirmar apagado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Lending-KCash-B0223 Nuevos_NeverActive Installments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13.5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0.10 %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342B"/>
                          </a:solidFill>
                          <a:latin typeface="Calibri"/>
                        </a:rPr>
                        <a:t>Apagar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Marketing-KCash-B0391 Leads RescateFinesDeSemana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push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13.4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0.76 %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8860B"/>
                          </a:solidFill>
                          <a:latin typeface="Calibri"/>
                        </a:rPr>
                        <a:t>Rehacer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Marketing-KCash-B0000 Leads Retargeting_Veriff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9.7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3.04 %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8860B"/>
                          </a:solidFill>
                          <a:latin typeface="Calibri"/>
                        </a:rPr>
                        <a:t>Bajar frecuencia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Marketing-KCash-B0171 Anonimos RescateTasa0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push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8.9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0.56 %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342B"/>
                          </a:solidFill>
                          <a:latin typeface="Calibri"/>
                        </a:rPr>
                        <a:t>Apagar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Marketing-KCash-B0326 Leads ReferralProgram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8.5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0.23 %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342B"/>
                          </a:solidFill>
                          <a:latin typeface="Calibri"/>
                        </a:rPr>
                        <a:t>Confirmar apagado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Marketing-KCash-B0326 Recurrentes_Dormants ReferralProgram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7.0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0.07 %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342B"/>
                          </a:solidFill>
                          <a:latin typeface="Calibri"/>
                        </a:rPr>
                        <a:t>Apagar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Shopping-KPay-S0004 WeeklyRecommendations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7.0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0.12 %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8860B"/>
                          </a:solidFill>
                          <a:latin typeface="Calibri"/>
                        </a:rPr>
                        <a:t>Rehacer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Sales-KPay-B0335 Recurrentes PromocionesMerchants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6.4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0.22 %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8860B"/>
                          </a:solidFill>
                          <a:latin typeface="Calibri"/>
                        </a:rPr>
                        <a:t>Rehacer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Proteger: Precobranza (email 4.3 %, push 5.3 %), Retargeting Veriff (push 5.8 %), Retargeting Installments a activos (push 11 %), Payment Confirmation (3.8 %), registro de línea MX in-app (87 %), Quincenas sin intereses (push 4.2 %).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La acción de cada pieza sale de una regla con datos (señal, canal, abren contra no abren), no del nombre.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Estas 10 piezas son 19 % del volumen: su acción (apagar, rehacer, bajar frecuencia) se decide esta semana con el dueño de cada una.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91440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Nadie puede demostrar cuánto vende Braze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9144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Sin grupo de control, sin pruebas A/B y sin nombres, no hay forma de defender una pieza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D. SIN MEDICIÓN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0 de 3,228 Canvas tienen grupo de control real y no hubo una sola prueba A/B de mensaje en 9 meses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Q_Control (E13), R_Experimentos (E14), K_Abren (E7c)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92807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0 de 3,228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9631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Canvas con control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22 tienen usuarios marcados; el único grande abrió el mensaje 84 %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783080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892807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9631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pruebas A/B de mensaje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0720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313 Canvas con 'experimento' son caminos de audiencia; la variante es siempre Variant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34739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444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4797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Canvas con push silencioso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588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650 mil usuarios para simular 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634739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37444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2.3 veces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34797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convierten más los que abren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6588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no es causal: parte iba a comprar igual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Consecuencia: ninguna cifra de conversión es incremental. Dice quién convierte después de recibir, no cuánto más convierte por recibir.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Braze trae grupo de control nativo en campañas y en la entrada del Canvas, y reporta el lift solo.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Regla: 10 % de control en toda pieza (5 % si pasa de 1 M). A las 4 semanas se lee el lift; lift cero, se apaga aunque 'convierta'. Una prueba A/B por equipo al mes.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Mientras no haya control del 10 % en toda pieza, ninguna cifra de conversión justifica mantener una campaña. Se activa en Braze en una semana.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D. SIN MEDICIÓN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749 piezas sin ticket, 731 formas de escribir la audiencia y 171 pruebas que llegaron a usuarios reales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Catálogo, P_Segmentos (E11)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766559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367"/>
                <a:gridCol w="3171825"/>
                <a:gridCol w="1797367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Qué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Cuánto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270"/>
                          </a:solidFill>
                          <a:latin typeface="Calibri"/>
                        </a:rPr>
                        <a:t>Qué se hace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Piezas sin ticket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749 (Others solo tiene ticket en 49 % de sus envíos)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Sin ticket no se activa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Formas de escribir la audiencia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731; 41 segmentos, 330 subsegmentos, 62 grupos; 13 % 'Not Tracked'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30 segmentos maestros con dueño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Piezas activas duplicadas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109 en 13 combinaciones; 15 familias con 10 o más versiones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Una por combinación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Pruebas y copias a usuarios reales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171 comunicaciones, 7.26 M envíos; un QA con 1.87 M push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Se pausan hoy; roles de aprobación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Canvas con más de 20 pasos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45 (19 con más de 50)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Se parten por audiencia, 8 pasos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D24"/>
                          </a:solidFill>
                          <a:latin typeface="Calibri"/>
                        </a:rPr>
                        <a:t>Comercio del día y Cuponera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11 y 8 segmentos distintos solo por el mes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4"/>
                          </a:solidFill>
                          <a:latin typeface="Calibri"/>
                        </a:rPr>
                        <a:t>Una pieza que lee del catálogo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Regla de nombres: Ticket-Producto-Audiencia-Gancho. El equipo sale de la letra del ticket.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Tags obligatorios de lista cerrada: tipo, equipo, producto y trimestre.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Los tags no llegan a Databricks: hoy no se pueden auditar.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Sin ticket ni nombre estándar no hay dueño ni auditoría: regla de nombres y tags de lista cerrada obligatorios desde la próxima pieza.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91440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9144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Limpiar, configurar, medir: 90 días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E. 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582 campañas a tocar: 1.6 M MXN al mes de ahorro (33 % del gasto) y 27 M mensajes menos al mes (42 %)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Plan_accion P1 y 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212080"/>
            <a:ext cx="6766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270"/>
                </a:solidFill>
                <a:latin typeface="Calibri"/>
              </a:rPr>
              <a:t>Ahorro total: 1.60 M MXN al mes (33 %). Confirmar apagado (232) y bajar frecuencia (84) no suman costo hoy.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Apagar: 48 campañas activas, 18.4 M mensajes al mes. Confirmar apagado: 232 que ya no envían, que no revivan.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Bajar frecuencia: 84. Proteger: 138. Escalar: 154.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Es un techo: supone apagar todo lo que tiene señal. WhatsApp cobrado por entregado; por enviado el ahorro sería el doble.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No incluye el costo fijo de Braze ni los MAU que dejan de contarse.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Aprobar el plan por campaña: 1.6 M MXN al mes es un techo, pero apagar las 48 con señal ya vale 1.16 M al mes y se hace en 30 días.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E. 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Product Growth tiene 81 % del ahorro; Marketing tiene el mayor volumen a bajar frecuencia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Plan_accion 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Product Growth: 1.04 M MXN al mes solo con Apagar (17 campañas, 9 M mensajes al mes).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Marketing: 23 a apagar y 23 WhatsApp a limpiar base (11.9 M MXN del periodo).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Sales: el ahorro está en rehacer 18 campañas activas de email a recurrentes.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Collections no entra: cobranza no se toca sin Legal.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Product Growth decide primero: 17 campañas a apagar valen 1.04 M MXN al mes. Marketing limpia la base de WhatsApp; Sales rehace su email.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E. 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Diez piezas con acción concreta cubren 125 M envíos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Plan_accion P4; playbook sección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91671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2466"/>
                <a:gridCol w="1446739"/>
                <a:gridCol w="4822466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Pieza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Acción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Qué cambia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B0211 Tasa0 a registrados (email, 34.9 M)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342B"/>
                          </a:solidFill>
                          <a:latin typeface="Calibri"/>
                        </a:rPr>
                        <a:t>Apagar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Se deja en push acotado a quien abrió un push en 60 días, 2 toques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BillPay Intro (email, 16.1 M)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342B"/>
                          </a:solidFill>
                          <a:latin typeface="Calibri"/>
                        </a:rPr>
                        <a:t>Confirmar apagado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Archivar; BillPay entra a las reglas de todos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B0223 NeverActive Installments (email, 13.5 M)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342B"/>
                          </a:solidFill>
                          <a:latin typeface="Calibri"/>
                        </a:rPr>
                        <a:t>Apagar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Fríos solo con señal y solo Lending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B0391 RescateFinesDeSemana (push, 13.4 M)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8860B"/>
                          </a:solidFill>
                          <a:latin typeface="Calibri"/>
                        </a:rPr>
                        <a:t>Rehacer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Solo a quien abrió un push en 60 días; nunca a nuevos en fin de semana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B0000 Retargeting Veriff (email, 9.7 M)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8860B"/>
                          </a:solidFill>
                          <a:latin typeface="Calibri"/>
                        </a:rPr>
                        <a:t>Bajar frecuencia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De 2 emails al día a 1; funciona (3.04 %)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B0171 RescateTasa0 a anónimos (push, 8.9 M)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342B"/>
                          </a:solidFill>
                          <a:latin typeface="Calibri"/>
                        </a:rPr>
                        <a:t>Apagar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Anónimos van por in-app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B0326 ReferralProgram (email, 15.5 M en dos)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5342B"/>
                          </a:solidFill>
                          <a:latin typeface="Calibri"/>
                        </a:rPr>
                        <a:t>Apagar y confirmar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Referidos a in-app y push a clientes activos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S0004 WeeklyRecommendations (email, 7.0 M)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8860B"/>
                          </a:solidFill>
                          <a:latin typeface="Calibri"/>
                        </a:rPr>
                        <a:t>Rehacer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Solo recurrentes KPay; quitar 57 mil REUS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B0335 PromocionesMerchants (email, 6.4 M)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8860B"/>
                          </a:solidFill>
                          <a:latin typeface="Calibri"/>
                        </a:rPr>
                        <a:t>Rehacer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Push y WhatsApp a recurrentes; email no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Canvas ConSinOferta B0331 a B0333 (19 Canvas, 734 mil usuarios)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8860B"/>
                          </a:solidFill>
                          <a:latin typeface="Calibri"/>
                        </a:rPr>
                        <a:t>Rehacer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8 pasos, control 10 %, partidos por audiencia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Cada pieza tiene dueño y acción: se ejecuta en las semanas 1 y 2 del plan sin esperar la configuración de Braze.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E. 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El playbook en 12 reglas evita que el desorden vuelva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Playbook de Braze para Kueski, versión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1089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1F4FD8"/>
                </a:solidFill>
                <a:latin typeface="Calibri"/>
              </a:rPr>
              <a:t>1.  </a:t>
            </a:r>
            <a:r>
              <a:rPr sz="1100">
                <a:solidFill>
                  <a:srgbClr val="1A1D24"/>
                </a:solidFill>
                <a:latin typeface="Calibri"/>
              </a:rPr>
              <a:t>Una pieza se llama Ticket-Producto-Audiencia-Gancho. Sin ticket no se activa.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F4FD8"/>
                </a:solidFill>
                <a:latin typeface="Calibri"/>
              </a:rPr>
              <a:t>2.  </a:t>
            </a:r>
            <a:r>
              <a:rPr sz="1100">
                <a:solidFill>
                  <a:srgbClr val="1A1D24"/>
                </a:solidFill>
                <a:latin typeface="Calibri"/>
              </a:rPr>
              <a:t>No se le escribe a lista negra, REUS o ARCO, tarjeta congelada, dados de baja, WhatsApp fallido 3 veces ni a quien no respondió en 90 días.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F4FD8"/>
                </a:solidFill>
                <a:latin typeface="Calibri"/>
              </a:rPr>
              <a:t>3.  </a:t>
            </a:r>
            <a:r>
              <a:rPr sz="1100">
                <a:solidFill>
                  <a:srgbClr val="1A1D24"/>
                </a:solidFill>
                <a:latin typeface="Calibri"/>
              </a:rPr>
              <a:t>Máximo 2 toques de la misma pieza al mes. El segundo solo a quien no abrió el primero.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F4FD8"/>
                </a:solidFill>
                <a:latin typeface="Calibri"/>
              </a:rPr>
              <a:t>4.  </a:t>
            </a:r>
            <a:r>
              <a:rPr sz="1100">
                <a:solidFill>
                  <a:srgbClr val="1A1D24"/>
                </a:solidFill>
                <a:latin typeface="Calibri"/>
              </a:rPr>
              <a:t>Máximo 5 promocionales por semana, 2 piezas al día y 1 push al día.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F4FD8"/>
                </a:solidFill>
                <a:latin typeface="Calibri"/>
              </a:rPr>
              <a:t>5.  </a:t>
            </a:r>
            <a:r>
              <a:rPr sz="1100">
                <a:solidFill>
                  <a:srgbClr val="1A1D24"/>
                </a:solidFill>
                <a:latin typeface="Calibri"/>
              </a:rPr>
              <a:t>Se manda por el canal al que el usuario responde.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F4FD8"/>
                </a:solidFill>
                <a:latin typeface="Calibri"/>
              </a:rPr>
              <a:t>6.  </a:t>
            </a:r>
            <a:r>
              <a:rPr sz="1100">
                <a:solidFill>
                  <a:srgbClr val="1A1D24"/>
                </a:solidFill>
                <a:latin typeface="Calibri"/>
              </a:rPr>
              <a:t>WhatsApp solo a quien ya dio señal o a clientes activos. Nunca a bases frías.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783080"/>
            <a:ext cx="31089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1F4FD8"/>
                </a:solidFill>
                <a:latin typeface="Calibri"/>
              </a:rPr>
              <a:t>7.  </a:t>
            </a:r>
            <a:r>
              <a:rPr sz="1100">
                <a:solidFill>
                  <a:srgbClr val="1A1D24"/>
                </a:solidFill>
                <a:latin typeface="Calibri"/>
              </a:rPr>
              <a:t>Nada a toda la base. Más de 1 millón: prueba al 10 % y un segmento.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F4FD8"/>
                </a:solidFill>
                <a:latin typeface="Calibri"/>
              </a:rPr>
              <a:t>8.  </a:t>
            </a:r>
            <a:r>
              <a:rPr sz="1100">
                <a:solidFill>
                  <a:srgbClr val="1A1D24"/>
                </a:solidFill>
                <a:latin typeface="Calibri"/>
              </a:rPr>
              <a:t>El gancho principal es recordar algo que el usuario empezó.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F4FD8"/>
                </a:solidFill>
                <a:latin typeface="Calibri"/>
              </a:rPr>
              <a:t>9.  </a:t>
            </a:r>
            <a:r>
              <a:rPr sz="1100">
                <a:solidFill>
                  <a:srgbClr val="1A1D24"/>
                </a:solidFill>
                <a:latin typeface="Calibri"/>
              </a:rPr>
              <a:t>Referidos, lanzamientos y novedades van en in-app, no por email.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F4FD8"/>
                </a:solidFill>
                <a:latin typeface="Calibri"/>
              </a:rPr>
              <a:t>10.  </a:t>
            </a:r>
            <a:r>
              <a:rPr sz="1100">
                <a:solidFill>
                  <a:srgbClr val="1A1D24"/>
                </a:solidFill>
                <a:latin typeface="Calibri"/>
              </a:rPr>
              <a:t>A las 4 semanas se revisa. Debajo del mínimo del canal se apaga o se rehace.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F4FD8"/>
                </a:solidFill>
                <a:latin typeface="Calibri"/>
              </a:rPr>
              <a:t>11.  </a:t>
            </a:r>
            <a:r>
              <a:rPr sz="1100">
                <a:solidFill>
                  <a:srgbClr val="1A1D24"/>
                </a:solidFill>
                <a:latin typeface="Calibri"/>
              </a:rPr>
              <a:t>Toda pieza lleva grupo de control del 10 % con la opción nativa de Braze.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F4FD8"/>
                </a:solidFill>
                <a:latin typeface="Calibri"/>
              </a:rPr>
              <a:t>12.  </a:t>
            </a:r>
            <a:r>
              <a:rPr sz="1100">
                <a:solidFill>
                  <a:srgbClr val="1A1D24"/>
                </a:solidFill>
                <a:latin typeface="Calibri"/>
              </a:rPr>
              <a:t>Un Canvas tiene máximo 8 pasos y el usuario entra una sola vez.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El playbook completo tiene tablas de consulta por tipo de mensaje, día, mes, segmento, equipo y producto, un checklist de activación y un resolvedor web que arma la pieza con cinco respuestas.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Son sugerencias con datos, no reglas fijas: cada equipo las ajusta con sus pruebas.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Las 12 reglas son el estándar de activación: ninguna pieza nueva sale sin cumplirlas (checklist de la sección 7 del playbook).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E. 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Qué mandar por tipo: el canal, el día y las veces ya están decididos con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Playbook de Braze para Kueski, sección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34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9167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9414"/>
                <a:gridCol w="3834158"/>
                <a:gridCol w="2533283"/>
                <a:gridCol w="1985546"/>
                <a:gridCol w="479269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Vas a mandar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Canal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Día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Veces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Retargeting de algo empezado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Email y push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Martes a jueves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2 en 7 días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Bienvenida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Email día 1, luego push e in-app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El día que entra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 al día, 3 la primera semana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Oferta de crédito (Tasa 0)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Push a quien abrió push en 60 días; WhatsApp solo detrás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Martes a jueves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2 al mes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Descuento o comercio KPay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Push y WhatsApp a recurrentes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Sábado WhatsApp; martes a jueves push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2 por evento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Referidos, lanzamiento, novedades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In-app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Cualquiera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Reactivación de fríos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Push barato; WhatsApp solo con señal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Martes a jueves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3 en 30 días y sale 90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Encuesta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In-app o 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Martes a jueves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Cobranza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El del proceso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Según el proceso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Según el proceso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El equipo ya no decide canal, día ni frecuencia pieza por pieza: lo toma de esta tabla y solo prueba lo que quiera cambiar.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E. 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Dieciocho ajustes de Braze que se configuran una vez y protegen todo lo demás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Playbook de Braze para Kueski, sección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35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766558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326"/>
                <a:gridCol w="2920817"/>
                <a:gridCol w="2677415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Ajuste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Cómo se deja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Frequency capping global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5 promocionales por semana, 2 piezas al día, 1 push al día, 1 WhatsApp al mes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9 % de los usuario-días reciben 3 o más piezas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Grupo de control nativo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10 % en toda pieza promocional, 5 % si pasa de 1 M, conversión a 7 días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Hoy no hay ninguno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Horas de silencio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21:00 a 9:00 hora del usuario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No hay hora en Databricks; es la única protección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Re-elegibilidad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Apagada en lifecycle y oferta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Causa probable de 17 a 31 envíos de la misma pieza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Salida del Canvas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Al convertir, al darse de baja o a los 30 días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Hoy sigue mandando después de convertir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Caducidad del push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24 horas promocional, 72 cobranza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Un push de dos días después se abre como spam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Centro de preferencias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7 grupos de suscripción y baja total en el pie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3.1 bajas por mil; hoy la única opción es irse del todo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Calidad de WhatsApp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Un número por tipo, plantillas con categoría correcta, pausa si baja la calidad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 de 4 no llega y se paga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Roles y permisos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Editor crea, aprobador activa, nadie activa lo que creó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171 pruebas llegaron a usuarios reales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Currents a Databricks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Hora de envío, dispositivo, rebotes y quejas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Hoy no se puede medir hora ni rebotes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Los otros 8: Intelligent Timing y Channel a prueba contra control, permiso de notificaciones in-app, dominio de email con SPF, DKIM y DMARC, Liquid con valor por defecto, prioridad de in-app, catálogos, MAU y puntos de datos, nombre y tags obligatorios.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Los 10 primeros ajustes se configuran en la semana 2 y protegen todo aunque una pieza salga mal: tope de frecuencia, control, silencio y exclusiones.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E. 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Un dueño por cosa y un calendario único: así se sostiene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Playbook de Braze para Kueski, sección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7665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Qué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Dueño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Cómo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Nombres, tags, suscripciones, plantillas, exclusiones, frequency cap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MarTech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Nadie activa una pieza que no cumpla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Calendario y estándares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CRM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Una vista compartida: fecha, equipo, pieza, audiencia, canal, gancho, tamaño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Cada familia de segmentos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Marketing (embudo), Lending (nuevos, activos, fríos), Sales (comercios), Collections (mora)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Un segmento nuevo se pide en el ticket y lo aprueba el dueño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Cada pieza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El ticket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Un dueño, un evento de conversión, un grupo de control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Piezas a Todos, más de 1 M, cambios a exclusiones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Comité quincenal de 30 minutos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Se defienden con grupo de control, no con opinión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Excepciones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Comité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Con fecha de fin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Indicador en rojo dos meses seguidos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El equipo que lo mueve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Abre un ticket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Cada mes: semana 1 datos y lift, semana 2 plan de acción y limpieza, semana 3 calendario del mes siguiente, semana 4 piezas nuevas con checklist.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Cada trimestre: archivar segmentos, tags y plantillas sin uso; actualizar el playbook.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Sin dueño no se sostiene: Dirección nombra esta semana a MarTech, CRM y un dueño por familia de segmentos.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E. 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Plan a 90 días: limpiar en 30, configurar en 60, medir en 90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Plan de acción y playbook secciones 6, 9 y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1783080"/>
            <a:ext cx="112699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5B6270"/>
                </a:solidFill>
                <a:latin typeface="Calibri"/>
              </a:rPr>
              <a:t>Semanas 1 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1877" y="1783080"/>
            <a:ext cx="112699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5B6270"/>
                </a:solidFill>
                <a:latin typeface="Calibri"/>
              </a:rPr>
              <a:t>Semanas 3 y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6" y="1783080"/>
            <a:ext cx="112699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5B6270"/>
                </a:solidFill>
                <a:latin typeface="Calibri"/>
              </a:rPr>
              <a:t>Mes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5874" y="1783080"/>
            <a:ext cx="112699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5B6270"/>
                </a:solidFill>
                <a:latin typeface="Calibri"/>
              </a:rPr>
              <a:t>Mes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075688"/>
            <a:ext cx="11091672" cy="0"/>
          </a:xfrm>
          <a:prstGeom prst="line">
            <a:avLst/>
          </a:prstGeom>
          <a:ln>
            <a:solidFill>
              <a:srgbClr val="1A1D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148840"/>
            <a:ext cx="41148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A1D24"/>
                </a:solidFill>
                <a:latin typeface="Calibri"/>
              </a:rPr>
              <a:t>Apagar 48 campañas y pausar 171 pruebas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28031" y="2248966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2" y="2148840"/>
            <a:ext cx="22860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B6270"/>
                </a:solidFill>
                <a:latin typeface="Calibri"/>
              </a:rPr>
              <a:t>Cada equipo con MarTech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482596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2482596"/>
            <a:ext cx="41148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A1D24"/>
                </a:solidFill>
                <a:latin typeface="Calibri"/>
              </a:rPr>
              <a:t>Confirmar 232 apagados y limpiar base de WhatsApp (56)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8031" y="2582722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55029" y="2582722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2482596"/>
            <a:ext cx="22860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B6270"/>
                </a:solidFill>
                <a:latin typeface="Calibri"/>
              </a:rPr>
              <a:t>MarTech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2816352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2816352"/>
            <a:ext cx="41148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A1D24"/>
                </a:solidFill>
                <a:latin typeface="Calibri"/>
              </a:rPr>
              <a:t>7 exclusiones como filtro negativo en todo lo promocional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28031" y="2916478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55029" y="2916478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54312" y="2816352"/>
            <a:ext cx="22860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B6270"/>
                </a:solidFill>
                <a:latin typeface="Calibri"/>
              </a:rPr>
              <a:t>MarTech con Legal y Riesgo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150108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3150108"/>
            <a:ext cx="41148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A1D24"/>
                </a:solidFill>
                <a:latin typeface="Calibri"/>
              </a:rPr>
              <a:t>Frequency cap, horas de silencio, TTL, re-elegibilidad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55029" y="3250234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54312" y="3150108"/>
            <a:ext cx="22860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B6270"/>
                </a:solidFill>
                <a:latin typeface="Calibri"/>
              </a:rPr>
              <a:t>MarTech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3483864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3483864"/>
            <a:ext cx="41148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A1D24"/>
                </a:solidFill>
                <a:latin typeface="Calibri"/>
              </a:rPr>
              <a:t>Rehacer 62 campañas activas con señal, 8 pasos y control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55029" y="3583990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82028" y="3583990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3483864"/>
            <a:ext cx="22860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B6270"/>
                </a:solidFill>
                <a:latin typeface="Calibri"/>
              </a:rPr>
              <a:t>Dueños con ticket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381762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3817620"/>
            <a:ext cx="41148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A1D24"/>
                </a:solidFill>
                <a:latin typeface="Calibri"/>
              </a:rPr>
              <a:t>30 segmentos maestros, nombres y tags; roles de aprobación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5029" y="3917746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82028" y="3917746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54312" y="3817620"/>
            <a:ext cx="22860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B6270"/>
                </a:solidFill>
                <a:latin typeface="Calibri"/>
              </a:rPr>
              <a:t>MarTech y dueños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151376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4151376"/>
            <a:ext cx="41148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A1D24"/>
                </a:solidFill>
                <a:latin typeface="Calibri"/>
              </a:rPr>
              <a:t>Calendario único y comité quincenal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55029" y="4251502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82028" y="4251502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09026" y="4251502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54312" y="4151376"/>
            <a:ext cx="22860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B6270"/>
                </a:solidFill>
                <a:latin typeface="Calibri"/>
              </a:rPr>
              <a:t>CRM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485132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640" y="4485131"/>
            <a:ext cx="41148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A1D24"/>
                </a:solidFill>
                <a:latin typeface="Calibri"/>
              </a:rPr>
              <a:t>Leer el lift a 4 semanas; apagar lo que da cero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82028" y="4585258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09026" y="4585258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54312" y="4485131"/>
            <a:ext cx="22860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B6270"/>
                </a:solidFill>
                <a:latin typeface="Calibri"/>
              </a:rPr>
              <a:t>CRM con cada equipo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4818888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48640" y="4818888"/>
            <a:ext cx="41148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A1D24"/>
                </a:solidFill>
                <a:latin typeface="Calibri"/>
              </a:rPr>
              <a:t>Primera prueba A/B por equipo (día, asunto, monto)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82028" y="4919014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09026" y="4919014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54312" y="4818888"/>
            <a:ext cx="22860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B6270"/>
                </a:solidFill>
                <a:latin typeface="Calibri"/>
              </a:rPr>
              <a:t>Cada equipo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48640" y="5152644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8640" y="5152644"/>
            <a:ext cx="41148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A1D24"/>
                </a:solidFill>
                <a:latin typeface="Calibri"/>
              </a:rPr>
              <a:t>Hora, dispositivo y rebotes de Currents a Databricks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82028" y="5252770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09026" y="5252770"/>
            <a:ext cx="980694" cy="13350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54312" y="5152644"/>
            <a:ext cx="2286000" cy="3337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B6270"/>
                </a:solidFill>
                <a:latin typeface="Calibri"/>
              </a:rPr>
              <a:t>Datos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48640" y="548640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Limpiar en 30 días captura el ahorro grande; configurar en 60 evita que vuelva; medir en 90 permite demostrar cuánto vende Braze.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E. 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No hacer nada cuesta 19 M MXN al año y 50 mil bajas al 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Plan_accion P2, B_Canales B2, J_Canal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38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92807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19.2 M MXN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9631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al año en campañas con señal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1.6 M al mes que ya se sabe que no responden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783080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892807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50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9631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bajas de email al 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0720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457 mil usuario-mes en 9 meses; 2.2 % de la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34739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444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14.2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4797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usuarios que no responden a nada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588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siguen contando como MAU facturable si reciben algo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634739"/>
            <a:ext cx="3108960" cy="3657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37444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F4FD8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347972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D24"/>
                </a:solidFill>
                <a:latin typeface="Calibri"/>
              </a:rPr>
              <a:t>piezas con lift medido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658868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B6270"/>
                </a:solidFill>
                <a:latin typeface="Calibri"/>
              </a:rPr>
              <a:t>sin control, cada discusión sigue siendo de opinión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Las bajas no se recuperan: cada usuario que se da de baja de email deja de ser alcanzable por el canal más barato.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WhatsApp a números que no reciben degrada la calidad del número ante Meta y baja el tope diario.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El costo fijo de Braze (MAU y puntos de datos) crece con usuarios que no responden.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Cada mes sin actuar cuesta 1.6 M MXN y 50 mil usuarios que dejan de ser alcanzables. La decisión es esta semana, no el próximo trimestre.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E. 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Lo que todavía no sabemos y qué dato lo resuelve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Playbook y Sheets, pestaña Léeme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9167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625"/>
                <a:gridCol w="2713070"/>
                <a:gridCol w="4707975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Qué hace falta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Cuánto vende Braze de verdad (lift)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No medible hoy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Grupos de control desde el día uno; se lee a las 4 semanas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Hora del día que funciona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No medible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Agregar hora del envío desde Currents; mientras, prueba A/B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iOS contra Android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Sí se puede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Correr la query E18c sobre braze.int_communications_joined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Rebotes y quejas de spam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No están en Databricks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Eventos de Currents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Tags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No están en Databricks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Exportar la lista de campañas con tags desde Braze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Banderas de contactabilidad del golden dataset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No coinciden con el comportamiento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Datos define fecha y fuente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Costo fijo de Braze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Significado de 7,020 USD al mes y 32,474 créditos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Región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No está en ninguna tabla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Atributo de usuario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Tres datos (hora, dispositivo, rebotes) y el costo fijo de Braze cierran lo que falta: se piden a Datos y Finanzas en las semanas 1 y 2.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E. 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Próximos pasos: quién hace qué esta semana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Plan de acción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40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9167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5003"/>
                <a:gridCol w="3216584"/>
                <a:gridCol w="1220083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Qué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Quién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Cuándo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Aprobar el plan de acción por campaña (582) y el playbook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Dirección y líderes de equipo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Esta semana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Apagar las 48 campañas con señal y pausar las 171 pruebas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Cada equipo con MarTech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Semana 1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Cargar las 7 exclusiones y el frequency cap en Braze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MarTech con Legal y Riesgo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Semana 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Nombrar dueños: MarTech, CRM y uno por familia de segmentos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Dirección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Semana 1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Confirmar el costo fijo de Braze y la base de cobro de WhatsApp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Finanzas y MarTech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Semana 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Pedir a Datos hora, dispositivo y rebotes en Databricks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CRM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Semana 2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Primer comité quincenal con el calendario de noviembre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CRM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Semana 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Primer corte mensual del Sheets con el plan ejecutado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Datos y CRM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Mes 2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Ocho acciones con dueño y fecha: si se aprueban hoy, el ahorro empieza en la semana 1.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Anexo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91440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Método, estándares y datos de apoyo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ANEXO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Método: 18 extracciones agregadas de Databricks, un modelo en Sheets con fórmulas vivas y 471 verificaciones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Léeme, Parámetros, Verificación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42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76655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106"/>
                <a:gridCol w="3759200"/>
                <a:gridCol w="1942253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Extracción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Qué trae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Lente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E1, E2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Comunicación por mes y canal; catálogo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Campañas, Catálogo, Plan_accion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E3, E4a, E4b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Distribución por usuario; serie semanal y mensual; concentración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Presión, canales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E5, E5b, E8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Cohorte de baja; qué llega después; días hasta la baja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Bajas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E6a, E6b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Solape por usuario-día; pares de familias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Solapamiento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E7a, E7b, E7c, E9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Etapa del golden dataset; canal al que responde; abren contra no abren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Segmentación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E10, E11, E12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Día de la semana; segmentos reales; antigüedad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N, P, 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E13, E14, E15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Grupos de control; experimentos; pasos de Canvas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Q, R, 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E16, E17, E18b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Sin respuesta; canal contactable; llave de dispositivo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T, U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Respuesta: clic en email, apertura en push, lectura en WhatsApp, clic en in-app.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Familia: la pieza con todas sus versiones. Campaña: familia por canal.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Costos: email 0.05 MXN por enviado, WhatsApp 1.00 por entregado (parámetro editable).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Equipo, audiencia y gancho se leen del nombre; 17 % cae en 'otros'.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Todo es reproducible: cambiar un parámetro (por ejemplo el costo de WhatsApp) recalcula el plan completo.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ANEXO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Estándares: los 24 indicadores con su valor actual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Estándares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43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91668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512"/>
                <a:gridCol w="515891"/>
                <a:gridCol w="773837"/>
                <a:gridCol w="1289729"/>
                <a:gridCol w="2665440"/>
                <a:gridCol w="1375711"/>
                <a:gridCol w="1633657"/>
                <a:gridCol w="515891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Hoy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Estándar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Hoy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Estándar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Entrega de 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95.1 %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95 %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C7A4B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Mensajes a canal mudo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59 %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20 %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Apertura de email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23.6 %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15 a 25 %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C7A4B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Usuarios sin respuesta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73 %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Clic de 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0.92 %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Promo a etapas bloqueadas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43.8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Bajas por mil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3.13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Promo a dados de baja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79,994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Apertura de push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1.53 %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Dados de baja que reciben 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16 %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Entrega de WhatsApp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74 %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90 %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Email activo a 1 M o más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C7A4B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Lectura de WhatsApp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69 %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8860B"/>
                          </a:solidFill>
                          <a:latin typeface="Calibri"/>
                        </a:rPr>
                        <a:t>Debajo por poco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Activas debajo del mínimo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Clic de in-app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38 %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 a 20 %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C7A4B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Canvas con control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 de 3,228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Todos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Toques por pieza al mes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1.71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C7A4B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Envíos con ticket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Mensajes por usuario al mes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C7A4B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Pruebas A/B en 9 meses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 por equipo al mes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Usuarios con 41+ al mes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5.3 %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Canvas con más de 8 pasos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45 con más de 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Usuario-días con 3+ piezas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9.0 %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C7A4B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Pasos con menos de 1 %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477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B5342B"/>
                          </a:solidFill>
                          <a:latin typeface="Calibri"/>
                        </a:rPr>
                        <a:t>Debajo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Los estándares son editables: cambiarlos cambia el semáforo de toda la auditoría, no las conclusiones.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ANEXO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Por mes: envíos, respuesta, bajas y costo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B_Canales B1 (E4a)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44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9166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15"/>
                <a:gridCol w="732468"/>
                <a:gridCol w="1046384"/>
                <a:gridCol w="1360299"/>
                <a:gridCol w="1778853"/>
                <a:gridCol w="1046384"/>
                <a:gridCol w="1046384"/>
                <a:gridCol w="1151022"/>
                <a:gridCol w="1674214"/>
                <a:gridCol w="941745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Envíos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Clic 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Apertura push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WhatsApp enviados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Entrega WA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Lectura WA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Clic in-app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Bajas (usuarios)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Costo MXN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Ene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58.7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1.20 %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1.83 %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5.6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80 %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48 %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69,226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7.4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67.5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0.88 %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1.43 %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7.8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73 %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19 %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57,965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9.5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67.8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1.03 %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1.81 %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10.4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74 %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72 %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24 %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50,413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12.2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64.3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0.98 %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1.53 %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5.9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69 %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66 %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36 %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38,422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7.6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May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85.0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0.86 %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1.28 %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6.1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67 %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67 %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47 %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38,034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8.1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Jun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109.0 M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0.67 %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1.05 %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7.1 M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74 %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67 %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45 %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63,425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9.7 M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Jul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71.7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1.00 %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1.77 %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4.8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73 %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62 %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37 %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52,912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6.4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Ago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78.0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0.95 %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1.57 %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4.4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64 %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42 %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50,340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6.1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Sep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65.6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0.92 %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2.12 %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3.2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64 %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42 %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36,639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5.0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Junio es el mes de referencia de lo que no se debe repetir; septiembre, de lo que sí.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ANEXO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Por día de la semana: volumen, respuesta y bajas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N_DiaSemana (E10)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45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766555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141"/>
                <a:gridCol w="478443"/>
                <a:gridCol w="751840"/>
                <a:gridCol w="683490"/>
                <a:gridCol w="888538"/>
                <a:gridCol w="888538"/>
                <a:gridCol w="683490"/>
                <a:gridCol w="683490"/>
                <a:gridCol w="1093585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Día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Envíos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% del total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Clic email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Bajas por mil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Apertura push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Entrega WA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Lectura WA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5B6270"/>
                          </a:solidFill>
                          <a:latin typeface="Calibri"/>
                        </a:rPr>
                        <a:t>Conv. WA por mil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Domingo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51.2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7.7 %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1.91 %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1.26 %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89 %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Lunes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124.0 M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18.6 %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0.65 %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2.3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1.63 %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72 %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66 %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720" marR="45720" marT="18288" marB="18288">
                    <a:solidFill>
                      <a:srgbClr val="E4EAF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Martes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113.6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17.0 %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0.82 %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1.56 %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67 %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Miércoles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92.2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13.8 %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1.01 %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4.1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1.63 %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73 %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Jueves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110.0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16.5 %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0.95 %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1.53 %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66 %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Viernes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111.7 M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16.7 %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0.82 %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2.8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1.64 %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71 %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70 %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1D24"/>
                          </a:solidFill>
                          <a:latin typeface="Calibri"/>
                        </a:rPr>
                        <a:t>Sábado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64.7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9.7 %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1.58 %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1.44 %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1D24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Clic de email por equipo y día: Marketing 1.00 % lunes contra 1.66 % domingo; Product Growth 0.29 % lunes contra 1.53 % domingo; Sales 0.15 a 0.38 % todos los días.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Compara la misma pieza en dos días antes de concluir.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El día importa menos que la pieza y la audiencia: compara la misma pieza en dos días antes de mover el calendario.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ANEXO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Segmentos registrados en Braze: pocos concentran el volumen y 13 % no se rastrea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P_Segmentos (E11)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46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41 valores de segmento, 330 de subsegmento y 62 de grupo forman 481 combinaciones. El subsegmento se usa como nombre de la oferta, no como audiencia.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Lo mismo escrito de varias formas: Comercio del día en 11 valores, Cuponera en 8, SoftInactive con error de dedo.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Propuesta: 30 segmentos maestros SEG-Producto-Audiencia con dueño y 7 exclusiones EXC-.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30 segmentos maestros con dueño sustituyen 481 combinaciones: así los segmentos y tags se pueden auditar.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ANEXO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D24"/>
                </a:solidFill>
                <a:latin typeface="Calibri"/>
              </a:rPr>
              <a:t>Supuestos y dónde está cada cosa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731520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>
            <a:solidFill>
              <a:srgbClr val="E3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8A909B"/>
                </a:solidFill>
                <a:latin typeface="Calibri"/>
              </a:rPr>
              <a:t>Fuente: Sheets braze_auditoria_v4, Léeme y Parámetros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909B"/>
                </a:solidFill>
                <a:latin typeface="Calibri"/>
              </a:rPr>
              <a:t>47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76655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996"/>
                <a:gridCol w="4613563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Supuesto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B6270"/>
                          </a:solidFill>
                          <a:latin typeface="Calibri"/>
                        </a:rPr>
                        <a:t>Detalle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Periodo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1 de enero a 30 de septiembre de 2026, 273 días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Respuesta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Clic en email, apertura en push, lectura en WhatsApp, clic en in-app. Abrir un email no cuenta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Conversión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A 7 días, como referencia, no como atribución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Costos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Email 0.05 MXN por enviado, WhatsApp 1.00 por entregado, push e in-app 0, sin costo fijo de Braze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Audiencia, gancho y tipo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Se leen del nombre de la pieza; 17 % cae en 'otros'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Etapas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Golden dataset cubre 37 % de los envíos; banderas a la fecha de la extracción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Bajas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Solo existen para email. 457 mil usuario-mes, 439 mil usuarios únicos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Control, experimentos, pasos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Solo Canvas (3,228); un usuario cuenta una vez por Canvas, grupo o paso</a:t>
                      </a:r>
                    </a:p>
                  </a:txBody>
                  <a:tcPr marL="45720" marR="45720" marT="18288" marB="18288">
                    <a:solidFill>
                      <a:srgbClr val="F6F7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D24"/>
                          </a:solidFill>
                          <a:latin typeface="Calibri"/>
                        </a:rPr>
                        <a:t>Antigüedad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D24"/>
                          </a:solidFill>
                          <a:latin typeface="Calibri"/>
                        </a:rPr>
                        <a:t>days_on_book a la fecha de la extracción menos los días desde el envío; 1.1 % con alta posterior al envío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69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Sheets braze_auditoria_v4: Léeme, Parámetros, Vista_equipo, Insights, Plan_accion, Estándares, Catálogo, Campañas, lentes B a U, extracciones E1 a E18b y Verificación (471 filas).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Playbook: PLAYBOOK_BRAZE_KUESKI (md, docx y versión web con resolvedor).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5B6270"/>
                </a:solidFill>
                <a:latin typeface="Calibri"/>
              </a:rPr>
              <a:t>•  Análisis de apoyo: ANALISIS_BRAZE_KUESKI.md.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E4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54864" cy="65836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899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900" b="1">
                <a:solidFill>
                  <a:srgbClr val="1F4FD8"/>
                </a:solidFill>
                <a:latin typeface="Calibri"/>
              </a:rPr>
              <a:t>SO WHAT   </a:t>
            </a:r>
            <a:r>
              <a:rPr sz="1100">
                <a:solidFill>
                  <a:srgbClr val="1A1D24"/>
                </a:solidFill>
                <a:latin typeface="Calibri"/>
              </a:rPr>
              <a:t>Sheets, playbook y análisis se actualizan juntos cada mes y viven en el mismo repositorio.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