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Enviados (M)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Enviados (M)</c:v>
                </c:pt>
              </c:strCache>
            </c:strRef>
          </c:tx>
          <c:spPr>
            <a:solidFill>
              <a:srgbClr val="A3AAB5"/>
            </a:solidFill>
          </c:spPr>
          <c:invertIfNegative val="0"/>
          <c:dPt>
            <c:idx val="0"/>
            <c:spPr>
              <a:solidFill>
                <a:srgbClr val="A3AAB5"/>
              </a:solidFill>
            </c:spPr>
          </c:dPt>
          <c:dPt>
            <c:idx val="1"/>
            <c:spPr>
              <a:solidFill>
                <a:srgbClr val="A3AAB5"/>
              </a:solidFill>
            </c:spPr>
          </c:dPt>
          <c:dPt>
            <c:idx val="2"/>
            <c:spPr>
              <a:solidFill>
                <a:srgbClr val="A3AAB5"/>
              </a:solidFill>
            </c:spPr>
          </c:dPt>
          <c:dPt>
            <c:idx val="3"/>
            <c:spPr>
              <a:solidFill>
                <a:srgbClr val="A3AAB5"/>
              </a:solidFill>
            </c:spPr>
          </c:dPt>
          <c:dPt>
            <c:idx val="4"/>
            <c:spPr>
              <a:solidFill>
                <a:srgbClr val="A3AAB5"/>
              </a:solidFill>
            </c:spPr>
          </c:dPt>
          <c:dPt>
            <c:idx val="5"/>
            <c:spPr>
              <a:solidFill>
                <a:srgbClr val="1F4FD8"/>
              </a:solidFill>
            </c:spPr>
          </c:dPt>
          <c:dPt>
            <c:idx val="6"/>
            <c:spPr>
              <a:solidFill>
                <a:srgbClr val="A3AAB5"/>
              </a:solidFill>
            </c:spPr>
          </c:dPt>
          <c:dPt>
            <c:idx val="7"/>
            <c:spPr>
              <a:solidFill>
                <a:srgbClr val="A3AAB5"/>
              </a:solidFill>
            </c:spPr>
          </c:dPt>
          <c:dPt>
            <c:idx val="8"/>
            <c:spPr>
              <a:solidFill>
                <a:srgbClr val="A3AAB5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35.2 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50.6 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35.3 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35.158735</c:v>
                </c:pt>
                <c:pt idx="1">
                  <c:v>35.242825</c:v>
                </c:pt>
                <c:pt idx="2">
                  <c:v>36.212646</c:v>
                </c:pt>
                <c:pt idx="3">
                  <c:v>33.829564</c:v>
                </c:pt>
                <c:pt idx="4">
                  <c:v>40.123306</c:v>
                </c:pt>
                <c:pt idx="5">
                  <c:v>50.632165</c:v>
                </c:pt>
                <c:pt idx="6">
                  <c:v>32.187574</c:v>
                </c:pt>
                <c:pt idx="7">
                  <c:v>34.850209</c:v>
                </c:pt>
                <c:pt idx="8">
                  <c:v>35.252732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Clic sobre entregados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 sobre entregados (%)</c:v>
                </c:pt>
              </c:strCache>
            </c:strRef>
          </c:tx>
          <c:spPr>
            <a:ln w="28575">
              <a:solidFill>
                <a:srgbClr val="1F4FD8"/>
              </a:solidFill>
            </a:ln>
          </c:spPr>
          <c:marker>
            <c:symbol val="circle"/>
            <c:size val="7"/>
            <c:spPr>
              <a:solidFill>
                <a:srgbClr val="1F4FD8"/>
              </a:solidFill>
              <a:ln>
                <a:solidFill>
                  <a:srgbClr val="FFFFFF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1.20 %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0.67 %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0.92 %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1.19828868633802</c:v>
                </c:pt>
                <c:pt idx="1">
                  <c:v>0.8843020237518793</c:v>
                </c:pt>
                <c:pt idx="2">
                  <c:v>1.033659005646132</c:v>
                </c:pt>
                <c:pt idx="3">
                  <c:v>0.9825436115123701</c:v>
                </c:pt>
                <c:pt idx="4">
                  <c:v>0.8587696702125149</c:v>
                </c:pt>
                <c:pt idx="5">
                  <c:v>0.6698476362292641</c:v>
                </c:pt>
                <c:pt idx="6">
                  <c:v>0.998410300552653</c:v>
                </c:pt>
                <c:pt idx="7">
                  <c:v>0.9460121793394559</c:v>
                </c:pt>
                <c:pt idx="8">
                  <c:v>0.9180661705081021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Enviados (M)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Enviados (M)</c:v>
                </c:pt>
              </c:strCache>
            </c:strRef>
          </c:tx>
          <c:spPr>
            <a:solidFill>
              <a:srgbClr val="A3AAB5"/>
            </a:solidFill>
          </c:spPr>
          <c:invertIfNegative val="0"/>
          <c:dPt>
            <c:idx val="0"/>
            <c:spPr>
              <a:solidFill>
                <a:srgbClr val="A3AAB5"/>
              </a:solidFill>
            </c:spPr>
          </c:dPt>
          <c:dPt>
            <c:idx val="1"/>
            <c:spPr>
              <a:solidFill>
                <a:srgbClr val="A3AAB5"/>
              </a:solidFill>
            </c:spPr>
          </c:dPt>
          <c:dPt>
            <c:idx val="2"/>
            <c:spPr>
              <a:solidFill>
                <a:srgbClr val="A3AAB5"/>
              </a:solidFill>
            </c:spPr>
          </c:dPt>
          <c:dPt>
            <c:idx val="3"/>
            <c:spPr>
              <a:solidFill>
                <a:srgbClr val="A3AAB5"/>
              </a:solidFill>
            </c:spPr>
          </c:dPt>
          <c:dPt>
            <c:idx val="4"/>
            <c:spPr>
              <a:solidFill>
                <a:srgbClr val="A3AAB5"/>
              </a:solidFill>
            </c:spPr>
          </c:dPt>
          <c:dPt>
            <c:idx val="5"/>
            <c:spPr>
              <a:solidFill>
                <a:srgbClr val="1F4FD8"/>
              </a:solidFill>
            </c:spPr>
          </c:dPt>
          <c:dPt>
            <c:idx val="6"/>
            <c:spPr>
              <a:solidFill>
                <a:srgbClr val="A3AAB5"/>
              </a:solidFill>
            </c:spPr>
          </c:dPt>
          <c:dPt>
            <c:idx val="7"/>
            <c:spPr>
              <a:solidFill>
                <a:srgbClr val="A3AAB5"/>
              </a:solidFill>
            </c:spPr>
          </c:dPt>
          <c:dPt>
            <c:idx val="8"/>
            <c:spPr>
              <a:solidFill>
                <a:srgbClr val="A3AAB5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15.9 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46.8 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24.4 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15.949146</c:v>
                </c:pt>
                <c:pt idx="1">
                  <c:v>21.516451</c:v>
                </c:pt>
                <c:pt idx="2">
                  <c:v>18.471313</c:v>
                </c:pt>
                <c:pt idx="3">
                  <c:v>22.337312</c:v>
                </c:pt>
                <c:pt idx="4">
                  <c:v>35.112316</c:v>
                </c:pt>
                <c:pt idx="5">
                  <c:v>46.793838</c:v>
                </c:pt>
                <c:pt idx="6">
                  <c:v>31.053603</c:v>
                </c:pt>
                <c:pt idx="7">
                  <c:v>35.455023</c:v>
                </c:pt>
                <c:pt idx="8">
                  <c:v>24.395024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Apertura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Apertura (%)</c:v>
                </c:pt>
              </c:strCache>
            </c:strRef>
          </c:tx>
          <c:spPr>
            <a:ln w="28575">
              <a:solidFill>
                <a:srgbClr val="1F4FD8"/>
              </a:solidFill>
            </a:ln>
          </c:spPr>
          <c:marker>
            <c:symbol val="circle"/>
            <c:size val="7"/>
            <c:spPr>
              <a:solidFill>
                <a:srgbClr val="1F4FD8"/>
              </a:solidFill>
              <a:ln>
                <a:solidFill>
                  <a:srgbClr val="FFFFFF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1.83 %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1.05 %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2.12 %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1.827615096131166</c:v>
                </c:pt>
                <c:pt idx="1">
                  <c:v>1.4343629439632029</c:v>
                </c:pt>
                <c:pt idx="2">
                  <c:v>1.8110515478785942</c:v>
                </c:pt>
                <c:pt idx="3">
                  <c:v>1.5293156132662695</c:v>
                </c:pt>
                <c:pt idx="4">
                  <c:v>1.2834784239239587</c:v>
                </c:pt>
                <c:pt idx="5">
                  <c:v>1.0546495459509007</c:v>
                </c:pt>
                <c:pt idx="6">
                  <c:v>1.774245004677879</c:v>
                </c:pt>
                <c:pt idx="7">
                  <c:v>1.5710242241275658</c:v>
                </c:pt>
                <c:pt idx="8">
                  <c:v>2.1220352150504134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Enviados (M)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Enviados (M)</c:v>
                </c:pt>
              </c:strCache>
            </c:strRef>
          </c:tx>
          <c:spPr>
            <a:solidFill>
              <a:srgbClr val="A3AAB5"/>
            </a:solidFill>
          </c:spPr>
          <c:invertIfNegative val="0"/>
          <c:dPt>
            <c:idx val="0"/>
            <c:spPr>
              <a:solidFill>
                <a:srgbClr val="A3AAB5"/>
              </a:solidFill>
            </c:spPr>
          </c:dPt>
          <c:dPt>
            <c:idx val="1"/>
            <c:spPr>
              <a:solidFill>
                <a:srgbClr val="A3AAB5"/>
              </a:solidFill>
            </c:spPr>
          </c:dPt>
          <c:dPt>
            <c:idx val="2"/>
            <c:spPr>
              <a:solidFill>
                <a:srgbClr val="A3AAB5"/>
              </a:solidFill>
            </c:spPr>
          </c:dPt>
          <c:dPt>
            <c:idx val="3"/>
            <c:spPr>
              <a:solidFill>
                <a:srgbClr val="A3AAB5"/>
              </a:solidFill>
            </c:spPr>
          </c:dPt>
          <c:dPt>
            <c:idx val="4"/>
            <c:spPr>
              <a:solidFill>
                <a:srgbClr val="A3AAB5"/>
              </a:solidFill>
            </c:spPr>
          </c:dPt>
          <c:dPt>
            <c:idx val="5"/>
            <c:spPr>
              <a:solidFill>
                <a:srgbClr val="1F4FD8"/>
              </a:solidFill>
            </c:spPr>
          </c:dPt>
          <c:dPt>
            <c:idx val="6"/>
            <c:spPr>
              <a:solidFill>
                <a:srgbClr val="A3AAB5"/>
              </a:solidFill>
            </c:spPr>
          </c:dPt>
          <c:dPt>
            <c:idx val="7"/>
            <c:spPr>
              <a:solidFill>
                <a:srgbClr val="A3AAB5"/>
              </a:solidFill>
            </c:spPr>
          </c:dPt>
          <c:dPt>
            <c:idx val="8"/>
            <c:spPr>
              <a:solidFill>
                <a:srgbClr val="A3AAB5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5.6 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7.1 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3.2 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5.615464</c:v>
                </c:pt>
                <c:pt idx="1">
                  <c:v>7.760317</c:v>
                </c:pt>
                <c:pt idx="2">
                  <c:v>10.425526</c:v>
                </c:pt>
                <c:pt idx="3">
                  <c:v>5.8629</c:v>
                </c:pt>
                <c:pt idx="4">
                  <c:v>6.088107</c:v>
                </c:pt>
                <c:pt idx="5">
                  <c:v>7.116053</c:v>
                </c:pt>
                <c:pt idx="6">
                  <c:v>4.752869</c:v>
                </c:pt>
                <c:pt idx="7">
                  <c:v>4.391874</c:v>
                </c:pt>
                <c:pt idx="8">
                  <c:v>3.198105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Lectura sobre entregados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Lectura sobre entregados (%)</c:v>
                </c:pt>
              </c:strCache>
            </c:strRef>
          </c:tx>
          <c:spPr>
            <a:ln w="28575">
              <a:solidFill>
                <a:srgbClr val="1F4FD8"/>
              </a:solidFill>
            </a:ln>
          </c:spPr>
          <c:marker>
            <c:symbol val="circle"/>
            <c:size val="7"/>
            <c:spPr>
              <a:solidFill>
                <a:srgbClr val="1F4FD8"/>
              </a:solidFill>
              <a:ln>
                <a:solidFill>
                  <a:srgbClr val="FFFFFF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75 %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67 %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64 %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74.58008299808482</c:v>
                </c:pt>
                <c:pt idx="1">
                  <c:v>73.32714914996728</c:v>
                </c:pt>
                <c:pt idx="2">
                  <c:v>72.45542713410649</c:v>
                </c:pt>
                <c:pt idx="3">
                  <c:v>65.58881750791429</c:v>
                </c:pt>
                <c:pt idx="4">
                  <c:v>67.11697697180351</c:v>
                </c:pt>
                <c:pt idx="5">
                  <c:v>67.41749655648815</c:v>
                </c:pt>
                <c:pt idx="6">
                  <c:v>62.47189358498838</c:v>
                </c:pt>
                <c:pt idx="7">
                  <c:v>63.55677400665346</c:v>
                </c:pt>
                <c:pt idx="8">
                  <c:v>64.10315049391536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50.0"/>
        </c:scaling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Impresiones (M)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Impresiones (M)</c:v>
                </c:pt>
              </c:strCache>
            </c:strRef>
          </c:tx>
          <c:spPr>
            <a:solidFill>
              <a:srgbClr val="A3AAB5"/>
            </a:solidFill>
          </c:spPr>
          <c:invertIfNegative val="0"/>
          <c:dPt>
            <c:idx val="0"/>
            <c:spPr>
              <a:solidFill>
                <a:srgbClr val="A3AAB5"/>
              </a:solidFill>
            </c:spPr>
          </c:dPt>
          <c:dPt>
            <c:idx val="1"/>
            <c:spPr>
              <a:solidFill>
                <a:srgbClr val="A3AAB5"/>
              </a:solidFill>
            </c:spPr>
          </c:dPt>
          <c:dPt>
            <c:idx val="2"/>
            <c:spPr>
              <a:solidFill>
                <a:srgbClr val="A3AAB5"/>
              </a:solidFill>
            </c:spPr>
          </c:dPt>
          <c:dPt>
            <c:idx val="3"/>
            <c:spPr>
              <a:solidFill>
                <a:srgbClr val="A3AAB5"/>
              </a:solidFill>
            </c:spPr>
          </c:dPt>
          <c:dPt>
            <c:idx val="4"/>
            <c:spPr>
              <a:solidFill>
                <a:srgbClr val="A3AAB5"/>
              </a:solidFill>
            </c:spPr>
          </c:dPt>
          <c:dPt>
            <c:idx val="5"/>
            <c:spPr>
              <a:solidFill>
                <a:srgbClr val="1F4FD8"/>
              </a:solidFill>
            </c:spPr>
          </c:dPt>
          <c:dPt>
            <c:idx val="6"/>
            <c:spPr>
              <a:solidFill>
                <a:srgbClr val="A3AAB5"/>
              </a:solidFill>
            </c:spPr>
          </c:dPt>
          <c:dPt>
            <c:idx val="7"/>
            <c:spPr>
              <a:solidFill>
                <a:srgbClr val="A3AAB5"/>
              </a:solidFill>
            </c:spPr>
          </c:dPt>
          <c:dPt>
            <c:idx val="8"/>
            <c:spPr>
              <a:solidFill>
                <a:srgbClr val="A3AAB5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1.9 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4.4 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2.7 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1.917443</c:v>
                </c:pt>
                <c:pt idx="1">
                  <c:v>2.971043</c:v>
                </c:pt>
                <c:pt idx="2">
                  <c:v>2.615201</c:v>
                </c:pt>
                <c:pt idx="3">
                  <c:v>2.277358</c:v>
                </c:pt>
                <c:pt idx="4">
                  <c:v>3.646721</c:v>
                </c:pt>
                <c:pt idx="5">
                  <c:v>4.405164</c:v>
                </c:pt>
                <c:pt idx="6">
                  <c:v>3.665811</c:v>
                </c:pt>
                <c:pt idx="7">
                  <c:v>3.230674</c:v>
                </c:pt>
                <c:pt idx="8">
                  <c:v>2.708621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Clic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 (%)</c:v>
                </c:pt>
              </c:strCache>
            </c:strRef>
          </c:tx>
          <c:spPr>
            <a:ln w="28575">
              <a:solidFill>
                <a:srgbClr val="1F4FD8"/>
              </a:solidFill>
            </a:ln>
          </c:spPr>
          <c:marker>
            <c:symbol val="circle"/>
            <c:size val="7"/>
            <c:spPr>
              <a:solidFill>
                <a:srgbClr val="1F4FD8"/>
              </a:solidFill>
              <a:ln>
                <a:solidFill>
                  <a:srgbClr val="FFFFFF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48 %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45 %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800">
                        <a:solidFill>
                          <a:srgbClr val="1A1D24"/>
                        </a:solidFill>
                        <a:latin typeface="Calibri"/>
                      </a:rPr>
                      <a:t>41 %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47.54806270642726</c:v>
                </c:pt>
                <c:pt idx="1">
                  <c:v>19.122577492146696</c:v>
                </c:pt>
                <c:pt idx="2">
                  <c:v>24.032990198458933</c:v>
                </c:pt>
                <c:pt idx="3">
                  <c:v>36.01994065052574</c:v>
                </c:pt>
                <c:pt idx="4">
                  <c:v>47.360601482811546</c:v>
                </c:pt>
                <c:pt idx="5">
                  <c:v>45.36153478054393</c:v>
                </c:pt>
                <c:pt idx="6">
                  <c:v>36.97792930404759</c:v>
                </c:pt>
                <c:pt idx="7">
                  <c:v>41.50616868182924</c:v>
                </c:pt>
                <c:pt idx="8">
                  <c:v>41.49070689476306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de usuarios</c:v>
                </c:pt>
              </c:strCache>
            </c:strRef>
          </c:tx>
          <c:spPr>
            <a:solidFill>
              <a:srgbClr val="1F4FD8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Ninguno</c:v>
                </c:pt>
                <c:pt idx="1">
                  <c:v>Solo WhatsApp</c:v>
                </c:pt>
                <c:pt idx="2">
                  <c:v>Solo in-app</c:v>
                </c:pt>
                <c:pt idx="3">
                  <c:v>Solo email</c:v>
                </c:pt>
                <c:pt idx="4">
                  <c:v>Varios canales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</c:v>
                </c:pt>
                <c:pt idx="1">
                  <c:v>8</c:v>
                </c:pt>
                <c:pt idx="2">
                  <c:v>6</c:v>
                </c:pt>
                <c:pt idx="3">
                  <c:v>2</c:v>
                </c:pt>
                <c:pt idx="4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de mensajes</c:v>
                </c:pt>
              </c:strCache>
            </c:strRef>
          </c:tx>
          <c:spPr>
            <a:solidFill>
              <a:srgbClr val="A3AAB5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Ninguno</c:v>
                </c:pt>
                <c:pt idx="1">
                  <c:v>Solo WhatsApp</c:v>
                </c:pt>
                <c:pt idx="2">
                  <c:v>Solo in-app</c:v>
                </c:pt>
                <c:pt idx="3">
                  <c:v>Solo email</c:v>
                </c:pt>
                <c:pt idx="4">
                  <c:v>Varios canales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</c:v>
                </c:pt>
                <c:pt idx="1">
                  <c:v>15</c:v>
                </c:pt>
                <c:pt idx="2">
                  <c:v>7</c:v>
                </c:pt>
                <c:pt idx="3">
                  <c:v>2</c:v>
                </c:pt>
                <c:pt idx="4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% del costo</c:v>
                </c:pt>
              </c:strCache>
            </c:strRef>
          </c:tx>
          <c:spPr>
            <a:solidFill>
              <a:srgbClr val="D5D9E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Ninguno</c:v>
                </c:pt>
                <c:pt idx="1">
                  <c:v>Solo WhatsApp</c:v>
                </c:pt>
                <c:pt idx="2">
                  <c:v>Solo in-app</c:v>
                </c:pt>
                <c:pt idx="3">
                  <c:v>Solo email</c:v>
                </c:pt>
                <c:pt idx="4">
                  <c:v>Varios canales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14</c:v>
                </c:pt>
                <c:pt idx="1">
                  <c:v>34</c:v>
                </c:pt>
                <c:pt idx="2">
                  <c:v>4</c:v>
                </c:pt>
                <c:pt idx="3">
                  <c:v>1</c:v>
                </c:pt>
                <c:pt idx="4">
                  <c:v>47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</c:scaling>
        <c:delete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Usuarios (M), según a cuántos canales respondieron en 9 meses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</c:spPr>
          <c:cat>
            <c:strRef>
              <c:f>Sheet1!$A$2:$A$5</c:f>
              <c:strCache>
                <c:ptCount val="4"/>
                <c:pt idx="0">
                  <c:v>Usuarios en la base</c:v>
                </c:pt>
                <c:pt idx="1">
                  <c:v>Nunca respondieron (1 % de las conversiones)</c:v>
                </c:pt>
                <c:pt idx="2">
                  <c:v>Respondieron a 1 canal (13 %)</c:v>
                </c:pt>
                <c:pt idx="3">
                  <c:v>Responden a 2 o más canales (86 %)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5.296505999999999</c:v>
                </c:pt>
                <c:pt idx="2">
                  <c:v>2.2074119999999993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Totales</c:v>
                </c:pt>
              </c:strCache>
            </c:strRef>
          </c:tx>
          <c:spPr>
            <a:solidFill>
              <a:srgbClr val="5B6270"/>
            </a:solidFill>
          </c:spPr>
          <c:dPt>
            <c:idx val="3"/>
            <c:spPr>
              <a:solidFill>
                <a:srgbClr val="1F4FD8"/>
              </a:solidFill>
            </c:spPr>
          </c:dPt>
          <c:dLbls>
            <c:numFmt formatCode="0.00&quot; M&quot;;;" sourceLinked="0"/>
            <c:txPr>
              <a:bodyPr/>
              <a:lstStyle/>
              <a:p>
                <a:pPr>
                  <a:defRPr sz="900">
                    <a:solidFill>
                      <a:srgbClr val="1A1D24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Usuarios en la base</c:v>
                </c:pt>
                <c:pt idx="1">
                  <c:v>Nunca respondieron (1 % de las conversiones)</c:v>
                </c:pt>
                <c:pt idx="2">
                  <c:v>Respondieron a 1 canal (13 %)</c:v>
                </c:pt>
                <c:pt idx="3">
                  <c:v>Responden a 2 o más canales (86 %)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19.538178</c:v>
                </c:pt>
                <c:pt idx="1">
                  <c:v>0</c:v>
                </c:pt>
                <c:pt idx="2">
                  <c:v>0</c:v>
                </c:pt>
                <c:pt idx="3">
                  <c:v>2.207412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Ahorro</c:v>
                </c:pt>
              </c:strCache>
            </c:strRef>
          </c:tx>
          <c:spPr>
            <a:solidFill>
              <a:srgbClr val="B5342B"/>
            </a:solidFill>
          </c:spPr>
          <c:dLbls>
            <c:numFmt formatCode="&quot;−&quot;0.00&quot; M&quot;;;" sourceLinked="0"/>
            <c:txPr>
              <a:bodyPr/>
              <a:lstStyle/>
              <a:p>
                <a:pPr>
                  <a:defRPr sz="900">
                    <a:solidFill>
                      <a:srgbClr val="1A1D24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Usuarios en la base</c:v>
                </c:pt>
                <c:pt idx="1">
                  <c:v>Nunca respondieron (1 % de las conversiones)</c:v>
                </c:pt>
                <c:pt idx="2">
                  <c:v>Respondieron a 1 canal (13 %)</c:v>
                </c:pt>
                <c:pt idx="3">
                  <c:v>Responden a 2 o más canales (86 %)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14.241672</c:v>
                </c:pt>
                <c:pt idx="2">
                  <c:v>3.089094</c:v>
                </c:pt>
                <c:pt idx="3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Envíos a quien nunca respondió (M)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Envíos a quien nunca respondió (M)</c:v>
                </c:pt>
              </c:strCache>
            </c:strRef>
          </c:tx>
          <c:spPr>
            <a:solidFill>
              <a:srgbClr val="A3AAB5"/>
            </a:solidFill>
          </c:spPr>
          <c:invertIfNegative val="0"/>
          <c:dPt>
            <c:idx val="0"/>
            <c:spPr>
              <a:solidFill>
                <a:srgbClr val="1F4FD8"/>
              </a:solidFill>
            </c:spPr>
          </c:dPt>
          <c:dPt>
            <c:idx val="1"/>
            <c:spPr>
              <a:solidFill>
                <a:srgbClr val="A3AAB5"/>
              </a:solidFill>
            </c:spPr>
          </c:dPt>
          <c:dPt>
            <c:idx val="2"/>
            <c:spPr>
              <a:solidFill>
                <a:srgbClr val="1F4FD8"/>
              </a:solidFill>
            </c:spPr>
          </c:dPt>
          <c:dPt>
            <c:idx val="3"/>
            <c:spPr>
              <a:solidFill>
                <a:srgbClr val="A3AAB5"/>
              </a:solidFill>
            </c:spPr>
          </c:dPt>
          <c:cat>
            <c:strRef>
              <c:f>Sheet1!$A$2:$A$5</c:f>
              <c:strCache>
                <c:ptCount val="4"/>
                <c:pt idx="0">
                  <c:v>Email  (18 % del canal, 3.1 M MXN, 191 mil bajas)</c:v>
                </c:pt>
                <c:pt idx="1">
                  <c:v>Push  (12 % del canal)</c:v>
                </c:pt>
                <c:pt idx="2">
                  <c:v>WhatsApp  (9 % del canal, 5.0 M MXN)</c:v>
                </c:pt>
                <c:pt idx="3">
                  <c:v>In-app  (0.7 % del canal)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61.4</c:v>
                </c:pt>
                <c:pt idx="1">
                  <c:v>31.0</c:v>
                </c:pt>
                <c:pt idx="2">
                  <c:v>5.0</c:v>
                </c:pt>
                <c:pt idx="3">
                  <c:v>0.1</c:v>
                </c:pt>
              </c:numCache>
            </c:numRef>
          </c:val>
        </c:ser>
        <c:dLbls>
          <c:numFmt formatCode="0.0&quot; M&quot;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% de los envíos del mes que fueron a usuarios que nunca respondieron en 9 meses, por canal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Email</c:v>
                </c:pt>
              </c:strCache>
            </c:strRef>
          </c:tx>
          <c:spPr>
            <a:ln w="28575">
              <a:solidFill>
                <a:srgbClr val="1F4FD8"/>
              </a:solidFill>
            </a:ln>
          </c:spPr>
          <c:marker>
            <c:symbol val="circle"/>
            <c:size val="7"/>
            <c:spPr>
              <a:solidFill>
                <a:srgbClr val="1F4FD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21.149862189296627</c:v>
                </c:pt>
                <c:pt idx="1">
                  <c:v>15.811314785349925</c:v>
                </c:pt>
                <c:pt idx="2">
                  <c:v>15.023975326188536</c:v>
                </c:pt>
                <c:pt idx="3">
                  <c:v>14.108334355122047</c:v>
                </c:pt>
                <c:pt idx="4">
                  <c:v>14.568744659276083</c:v>
                </c:pt>
                <c:pt idx="5">
                  <c:v>33.1278328706663</c:v>
                </c:pt>
                <c:pt idx="6">
                  <c:v>14.287911229345834</c:v>
                </c:pt>
                <c:pt idx="7">
                  <c:v>14.93818874945628</c:v>
                </c:pt>
                <c:pt idx="8">
                  <c:v>16.192086899818147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Push</c:v>
                </c:pt>
              </c:strCache>
            </c:strRef>
          </c:tx>
          <c:spPr>
            <a:ln w="28575">
              <a:solidFill>
                <a:srgbClr val="B5342B"/>
              </a:solidFill>
            </a:ln>
          </c:spPr>
          <c:marker>
            <c:symbol val="circle"/>
            <c:size val="7"/>
            <c:spPr>
              <a:solidFill>
                <a:srgbClr val="B5342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15.29109458274443</c:v>
                </c:pt>
                <c:pt idx="1">
                  <c:v>15.1554826583622</c:v>
                </c:pt>
                <c:pt idx="2">
                  <c:v>16.545272120070727</c:v>
                </c:pt>
                <c:pt idx="3">
                  <c:v>14.738644470740258</c:v>
                </c:pt>
                <c:pt idx="4">
                  <c:v>13.481753809688886</c:v>
                </c:pt>
                <c:pt idx="5">
                  <c:v>13.250161271234045</c:v>
                </c:pt>
                <c:pt idx="6">
                  <c:v>9.116178885908989</c:v>
                </c:pt>
                <c:pt idx="7">
                  <c:v>11.010815026124789</c:v>
                </c:pt>
                <c:pt idx="8">
                  <c:v>5.117195211613647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WhatsApp</c:v>
                </c:pt>
              </c:strCache>
            </c:strRef>
          </c:tx>
          <c:spPr>
            <a:ln w="28575">
              <a:solidFill>
                <a:srgbClr val="1F9E89"/>
              </a:solidFill>
            </a:ln>
          </c:spPr>
          <c:marker>
            <c:symbol val="circle"/>
            <c:size val="7"/>
            <c:spPr>
              <a:solidFill>
                <a:srgbClr val="1F9E89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9.661481223991464</c:v>
                </c:pt>
                <c:pt idx="1">
                  <c:v>8.826701280372953</c:v>
                </c:pt>
                <c:pt idx="2">
                  <c:v>6.248001299886452</c:v>
                </c:pt>
                <c:pt idx="3">
                  <c:v>16.185727199849904</c:v>
                </c:pt>
                <c:pt idx="4">
                  <c:v>11.038833581604266</c:v>
                </c:pt>
                <c:pt idx="5">
                  <c:v>6.322718507015055</c:v>
                </c:pt>
                <c:pt idx="6">
                  <c:v>10.262559308914257</c:v>
                </c:pt>
                <c:pt idx="7">
                  <c:v>7.5115087545772035</c:v>
                </c:pt>
                <c:pt idx="8">
                  <c:v>8.139538883182384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0.0"/>
          <c:min val="0.0"/>
        </c:scaling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Envíos promocionales a etapas bloqueadas (M)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Envíos promocionales a etapas bloqueadas (M)</c:v>
                </c:pt>
              </c:strCache>
            </c:strRef>
          </c:tx>
          <c:spPr>
            <a:solidFill>
              <a:srgbClr val="A3AAB5"/>
            </a:solidFill>
          </c:spPr>
          <c:invertIfNegative val="0"/>
          <c:dPt>
            <c:idx val="0"/>
            <c:spPr>
              <a:solidFill>
                <a:srgbClr val="1F4FD8"/>
              </a:solidFill>
            </c:spPr>
          </c:dPt>
          <c:dPt>
            <c:idx val="1"/>
            <c:spPr>
              <a:solidFill>
                <a:srgbClr val="1F4FD8"/>
              </a:solidFill>
            </c:spPr>
          </c:dPt>
          <c:dPt>
            <c:idx val="2"/>
            <c:spPr>
              <a:solidFill>
                <a:srgbClr val="1F4FD8"/>
              </a:solidFill>
            </c:spPr>
          </c:dPt>
          <c:dPt>
            <c:idx val="3"/>
            <c:spPr>
              <a:solidFill>
                <a:srgbClr val="A3AAB5"/>
              </a:solidFill>
            </c:spPr>
          </c:dPt>
          <c:dPt>
            <c:idx val="4"/>
            <c:spPr>
              <a:solidFill>
                <a:srgbClr val="A3AAB5"/>
              </a:solidFill>
            </c:spPr>
          </c:dPt>
          <c:cat>
            <c:strRef>
              <c:f>Sheet1!$A$2:$A$6</c:f>
              <c:strCache>
                <c:ptCount val="5"/>
                <c:pt idx="0">
                  <c:v>Marketing</c:v>
                </c:pt>
                <c:pt idx="1">
                  <c:v>Sales</c:v>
                </c:pt>
                <c:pt idx="2">
                  <c:v>Product Growth</c:v>
                </c:pt>
                <c:pt idx="3">
                  <c:v>Others</c:v>
                </c:pt>
                <c:pt idx="4">
                  <c:v>Collections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16.5</c:v>
                </c:pt>
                <c:pt idx="1">
                  <c:v>13.0</c:v>
                </c:pt>
                <c:pt idx="2">
                  <c:v>11.4</c:v>
                </c:pt>
                <c:pt idx="3">
                  <c:v>2.8</c:v>
                </c:pt>
                <c:pt idx="4">
                  <c:v>0</c:v>
                </c:pt>
              </c:numCache>
            </c:numRef>
          </c:val>
        </c:ser>
        <c:dLbls>
          <c:numFmt formatCode="0.0&quot; M&quot;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Entrega de WhatsApp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Entrega de WhatsApp (%)</c:v>
                </c:pt>
              </c:strCache>
            </c:strRef>
          </c:tx>
          <c:spPr>
            <a:ln w="28575">
              <a:solidFill>
                <a:srgbClr val="1F4FD8"/>
              </a:solidFill>
            </a:ln>
          </c:spPr>
          <c:marker>
            <c:symbol val="circle"/>
            <c:size val="7"/>
            <c:spPr>
              <a:solidFill>
                <a:srgbClr val="1F4FD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80</c:v>
                </c:pt>
                <c:pt idx="1">
                  <c:v>77</c:v>
                </c:pt>
                <c:pt idx="2">
                  <c:v>74</c:v>
                </c:pt>
                <c:pt idx="3">
                  <c:v>69</c:v>
                </c:pt>
                <c:pt idx="4">
                  <c:v>67</c:v>
                </c:pt>
                <c:pt idx="5">
                  <c:v>74</c:v>
                </c:pt>
                <c:pt idx="6">
                  <c:v>73</c:v>
                </c:pt>
                <c:pt idx="7">
                  <c:v>78</c:v>
                </c:pt>
                <c:pt idx="8">
                  <c:v>77</c:v>
                </c:pt>
              </c:numCache>
            </c:numRef>
          </c:val>
          <c:smooth val="0"/>
        </c:ser>
        <c:dLbls>
          <c:numFmt formatCode="0&quot; %&quot;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0.0"/>
          <c:min val="60.0"/>
        </c:scaling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Usuarios (M) según mensajes recibidos en 9 meses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Usuarios (M)</c:v>
                </c:pt>
              </c:strCache>
            </c:strRef>
          </c:tx>
          <c:spPr>
            <a:solidFill>
              <a:srgbClr val="A3AAB5"/>
            </a:solidFill>
          </c:spPr>
          <c:invertIfNegative val="0"/>
          <c:dPt>
            <c:idx val="0"/>
            <c:spPr>
              <a:solidFill>
                <a:srgbClr val="A3AAB5"/>
              </a:solidFill>
            </c:spPr>
          </c:dPt>
          <c:dPt>
            <c:idx val="1"/>
            <c:spPr>
              <a:solidFill>
                <a:srgbClr val="A3AAB5"/>
              </a:solidFill>
            </c:spPr>
          </c:dPt>
          <c:dPt>
            <c:idx val="2"/>
            <c:spPr>
              <a:solidFill>
                <a:srgbClr val="A3AAB5"/>
              </a:solidFill>
            </c:spPr>
          </c:dPt>
          <c:dPt>
            <c:idx val="3"/>
            <c:spPr>
              <a:solidFill>
                <a:srgbClr val="A3AAB5"/>
              </a:solidFill>
            </c:spPr>
          </c:dPt>
          <c:dPt>
            <c:idx val="4"/>
            <c:spPr>
              <a:solidFill>
                <a:srgbClr val="A3AAB5"/>
              </a:solidFill>
            </c:spPr>
          </c:dPt>
          <c:dPt>
            <c:idx val="5"/>
            <c:spPr>
              <a:solidFill>
                <a:srgbClr val="A3AAB5"/>
              </a:solidFill>
            </c:spPr>
          </c:dPt>
          <c:dPt>
            <c:idx val="6"/>
            <c:spPr>
              <a:solidFill>
                <a:srgbClr val="A3AAB5"/>
              </a:solidFill>
            </c:spPr>
          </c:dPt>
          <c:dPt>
            <c:idx val="7"/>
            <c:spPr>
              <a:solidFill>
                <a:srgbClr val="1F4FD8"/>
              </a:solidFill>
            </c:spPr>
          </c:dPt>
          <c:cat>
            <c:strRef>
              <c:f>Sheet1!$A$2:$A$9</c:f>
              <c:strCache>
                <c:ptCount val="8"/>
                <c:pt idx="0">
                  <c:v>1 a 5</c:v>
                </c:pt>
                <c:pt idx="1">
                  <c:v>6 a 10</c:v>
                </c:pt>
                <c:pt idx="2">
                  <c:v>11 a 20</c:v>
                </c:pt>
                <c:pt idx="3">
                  <c:v>21 a 40</c:v>
                </c:pt>
                <c:pt idx="4">
                  <c:v>41 a 80</c:v>
                </c:pt>
                <c:pt idx="5">
                  <c:v>81 a 160</c:v>
                </c:pt>
                <c:pt idx="6">
                  <c:v>161 a 320</c:v>
                </c:pt>
                <c:pt idx="7">
                  <c:v>321+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11.088877</c:v>
                </c:pt>
                <c:pt idx="1">
                  <c:v>0.877592</c:v>
                </c:pt>
                <c:pt idx="2">
                  <c:v>1.310781</c:v>
                </c:pt>
                <c:pt idx="3">
                  <c:v>1.74056</c:v>
                </c:pt>
                <c:pt idx="4">
                  <c:v>2.085393</c:v>
                </c:pt>
                <c:pt idx="5">
                  <c:v>1.377074</c:v>
                </c:pt>
                <c:pt idx="6">
                  <c:v>0.669734</c:v>
                </c:pt>
                <c:pt idx="7">
                  <c:v>0.339413</c:v>
                </c:pt>
              </c:numCache>
            </c:numRef>
          </c:val>
        </c:ser>
        <c:dLbls>
          <c:numFmt formatCode="0.0&quot; M&quot;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Bajas de email por 100 usuarios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Bajas por 100</c:v>
                </c:pt>
              </c:strCache>
            </c:strRef>
          </c:tx>
          <c:spPr>
            <a:ln w="28575">
              <a:solidFill>
                <a:srgbClr val="1F4FD8"/>
              </a:solidFill>
            </a:ln>
          </c:spPr>
          <c:marker>
            <c:symbol val="circle"/>
            <c:size val="7"/>
            <c:spPr>
              <a:solidFill>
                <a:srgbClr val="1F4FD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1 a 5</c:v>
                </c:pt>
                <c:pt idx="1">
                  <c:v>6 a 10</c:v>
                </c:pt>
                <c:pt idx="2">
                  <c:v>11 a 20</c:v>
                </c:pt>
                <c:pt idx="3">
                  <c:v>21 a 40</c:v>
                </c:pt>
                <c:pt idx="4">
                  <c:v>41 a 80</c:v>
                </c:pt>
                <c:pt idx="5">
                  <c:v>81 a 160</c:v>
                </c:pt>
                <c:pt idx="6">
                  <c:v>161 a 320</c:v>
                </c:pt>
                <c:pt idx="7">
                  <c:v>321+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1.2580083627945373</c:v>
                </c:pt>
                <c:pt idx="1">
                  <c:v>9.699154048806278</c:v>
                </c:pt>
                <c:pt idx="2">
                  <c:v>11.869869947763966</c:v>
                </c:pt>
                <c:pt idx="3">
                  <c:v>12.489601047938594</c:v>
                </c:pt>
                <c:pt idx="4">
                  <c:v>9.477542122755759</c:v>
                </c:pt>
                <c:pt idx="5">
                  <c:v>9.632670430202008</c:v>
                </c:pt>
                <c:pt idx="6">
                  <c:v>10.990034849656729</c:v>
                </c:pt>
                <c:pt idx="7">
                  <c:v>16.474030163841693</c:v>
                </c:pt>
              </c:numCache>
            </c:numRef>
          </c:val>
          <c:smooth val="0"/>
        </c:ser>
        <c:dLbls>
          <c:numFmt formatCode="0.0&quot; %&quot;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Usuarios que convirtieron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Convirtieron</c:v>
                </c:pt>
              </c:strCache>
            </c:strRef>
          </c:tx>
          <c:spPr>
            <a:ln w="28575">
              <a:solidFill>
                <a:srgbClr val="1F4FD8"/>
              </a:solidFill>
            </a:ln>
          </c:spPr>
          <c:marker>
            <c:symbol val="circle"/>
            <c:size val="7"/>
            <c:spPr>
              <a:solidFill>
                <a:srgbClr val="1F4FD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1 a 5</c:v>
                </c:pt>
                <c:pt idx="1">
                  <c:v>6 a 10</c:v>
                </c:pt>
                <c:pt idx="2">
                  <c:v>11 a 20</c:v>
                </c:pt>
                <c:pt idx="3">
                  <c:v>21 a 40</c:v>
                </c:pt>
                <c:pt idx="4">
                  <c:v>41 a 80</c:v>
                </c:pt>
                <c:pt idx="5">
                  <c:v>81 a 160</c:v>
                </c:pt>
                <c:pt idx="6">
                  <c:v>161 a 320</c:v>
                </c:pt>
                <c:pt idx="7">
                  <c:v>321+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0.018613246408991643</c:v>
                </c:pt>
                <c:pt idx="1">
                  <c:v>0.9315262673315162</c:v>
                </c:pt>
                <c:pt idx="2">
                  <c:v>2.196781918566107</c:v>
                </c:pt>
                <c:pt idx="3">
                  <c:v>4.268511283724778</c:v>
                </c:pt>
                <c:pt idx="4">
                  <c:v>9.154917082775285</c:v>
                </c:pt>
                <c:pt idx="5">
                  <c:v>26.94176202586063</c:v>
                </c:pt>
                <c:pt idx="6">
                  <c:v>44.713274225289446</c:v>
                </c:pt>
                <c:pt idx="7">
                  <c:v>61.99232203834267</c:v>
                </c:pt>
              </c:numCache>
            </c:numRef>
          </c:val>
          <c:smooth val="0"/>
        </c:ser>
        <c:dLbls>
          <c:numFmt formatCode="0&quot; %&quot;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Usuarios (M) que recibieron 2, 3 a 4, 5 a 7 u 8 o más campañas distintas en un mismo día, por mes (color más oscuro = más campañas)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 campañas</c:v>
                </c:pt>
              </c:strCache>
            </c:strRef>
          </c:tx>
          <c:spPr>
            <a:ln w="28575">
              <a:solidFill>
                <a:srgbClr val="C3D0F2"/>
              </a:solidFill>
            </a:ln>
          </c:spPr>
          <c:marker>
            <c:symbol val="circle"/>
            <c:size val="7"/>
            <c:spPr>
              <a:solidFill>
                <a:srgbClr val="C3D0F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2.464154</c:v>
                </c:pt>
                <c:pt idx="1">
                  <c:v>2.520085</c:v>
                </c:pt>
                <c:pt idx="2">
                  <c:v>2.387843</c:v>
                </c:pt>
                <c:pt idx="3">
                  <c:v>2.454034</c:v>
                </c:pt>
                <c:pt idx="4">
                  <c:v>2.94041</c:v>
                </c:pt>
                <c:pt idx="5">
                  <c:v>3.302729</c:v>
                </c:pt>
                <c:pt idx="6">
                  <c:v>2.034295</c:v>
                </c:pt>
                <c:pt idx="7">
                  <c:v>2.449071</c:v>
                </c:pt>
                <c:pt idx="8">
                  <c:v>1.647381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 a 4 campañas</c:v>
                </c:pt>
              </c:strCache>
            </c:strRef>
          </c:tx>
          <c:spPr>
            <a:ln w="28575">
              <a:solidFill>
                <a:srgbClr val="869ACF"/>
              </a:solidFill>
            </a:ln>
          </c:spPr>
          <c:marker>
            <c:symbol val="circle"/>
            <c:size val="7"/>
            <c:spPr>
              <a:solidFill>
                <a:srgbClr val="869AC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1.007472</c:v>
                </c:pt>
                <c:pt idx="1">
                  <c:v>1.209868</c:v>
                </c:pt>
                <c:pt idx="2">
                  <c:v>1.193131</c:v>
                </c:pt>
                <c:pt idx="3">
                  <c:v>1.064597</c:v>
                </c:pt>
                <c:pt idx="4">
                  <c:v>1.307939</c:v>
                </c:pt>
                <c:pt idx="5">
                  <c:v>1.542418</c:v>
                </c:pt>
                <c:pt idx="6">
                  <c:v>1.171349</c:v>
                </c:pt>
                <c:pt idx="7">
                  <c:v>1.547447</c:v>
                </c:pt>
                <c:pt idx="8">
                  <c:v>1.076239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 a 7 campañas</c:v>
                </c:pt>
              </c:strCache>
            </c:strRef>
          </c:tx>
          <c:spPr>
            <a:ln w="28575">
              <a:solidFill>
                <a:srgbClr val="4A64AC"/>
              </a:solidFill>
            </a:ln>
          </c:spPr>
          <c:marker>
            <c:symbol val="circle"/>
            <c:size val="7"/>
            <c:spPr>
              <a:solidFill>
                <a:srgbClr val="4A64AC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0.274983</c:v>
                </c:pt>
                <c:pt idx="1">
                  <c:v>0.441049</c:v>
                </c:pt>
                <c:pt idx="2">
                  <c:v>0.344793</c:v>
                </c:pt>
                <c:pt idx="3">
                  <c:v>0.341889</c:v>
                </c:pt>
                <c:pt idx="4">
                  <c:v>0.490254</c:v>
                </c:pt>
                <c:pt idx="5">
                  <c:v>0.620122</c:v>
                </c:pt>
                <c:pt idx="6">
                  <c:v>0.448846</c:v>
                </c:pt>
                <c:pt idx="7">
                  <c:v>0.48715</c:v>
                </c:pt>
                <c:pt idx="8">
                  <c:v>0.366827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8+ campañas</c:v>
                </c:pt>
              </c:strCache>
            </c:strRef>
          </c:tx>
          <c:spPr>
            <a:ln w="28575">
              <a:solidFill>
                <a:srgbClr val="0E2E8A"/>
              </a:solidFill>
            </a:ln>
          </c:spPr>
          <c:marker>
            <c:symbol val="circle"/>
            <c:size val="7"/>
            <c:spPr>
              <a:solidFill>
                <a:srgbClr val="0E2E8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0.019097</c:v>
                </c:pt>
                <c:pt idx="1">
                  <c:v>0.052857</c:v>
                </c:pt>
                <c:pt idx="2">
                  <c:v>0.034583</c:v>
                </c:pt>
                <c:pt idx="3">
                  <c:v>0.02497</c:v>
                </c:pt>
                <c:pt idx="4">
                  <c:v>0.086862</c:v>
                </c:pt>
                <c:pt idx="5">
                  <c:v>0.093611</c:v>
                </c:pt>
                <c:pt idx="6">
                  <c:v>0.079844</c:v>
                </c:pt>
                <c:pt idx="7">
                  <c:v>0.057952</c:v>
                </c:pt>
                <c:pt idx="8">
                  <c:v>0.041832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Bajas de email por mil usuario-días, según campañas distintas recibidas ese día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 campaña</c:v>
                </c:pt>
              </c:strCache>
            </c:strRef>
          </c:tx>
          <c:spPr>
            <a:ln w="28575">
              <a:solidFill>
                <a:srgbClr val="C3D0F2"/>
              </a:solidFill>
            </a:ln>
          </c:spPr>
          <c:marker>
            <c:symbol val="circle"/>
            <c:size val="7"/>
            <c:spPr>
              <a:solidFill>
                <a:srgbClr val="C3D0F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0.5698773293381861</c:v>
                </c:pt>
                <c:pt idx="1">
                  <c:v>0.4901943928098436</c:v>
                </c:pt>
                <c:pt idx="2">
                  <c:v>0.380389309490063</c:v>
                </c:pt>
                <c:pt idx="3">
                  <c:v>0.33683398374683793</c:v>
                </c:pt>
                <c:pt idx="4">
                  <c:v>0.28088523996231946</c:v>
                </c:pt>
                <c:pt idx="5">
                  <c:v>0.2586591777143712</c:v>
                </c:pt>
                <c:pt idx="6">
                  <c:v>0.298346766397925</c:v>
                </c:pt>
                <c:pt idx="7">
                  <c:v>0.31118993390848754</c:v>
                </c:pt>
                <c:pt idx="8">
                  <c:v>0.3430820842399282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campañas</c:v>
                </c:pt>
              </c:strCache>
            </c:strRef>
          </c:tx>
          <c:spPr>
            <a:ln w="28575">
              <a:solidFill>
                <a:srgbClr val="95A7D8"/>
              </a:solidFill>
            </a:ln>
          </c:spPr>
          <c:marker>
            <c:symbol val="circle"/>
            <c:size val="7"/>
            <c:spPr>
              <a:solidFill>
                <a:srgbClr val="95A7D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0.5330049781043527</c:v>
                </c:pt>
                <c:pt idx="1">
                  <c:v>0.4391494119725969</c:v>
                </c:pt>
                <c:pt idx="2">
                  <c:v>0.4670872103016814</c:v>
                </c:pt>
                <c:pt idx="3">
                  <c:v>0.42099585488712343</c:v>
                </c:pt>
                <c:pt idx="4">
                  <c:v>0.34001761849957735</c:v>
                </c:pt>
                <c:pt idx="5">
                  <c:v>0.25984259340405</c:v>
                </c:pt>
                <c:pt idx="6">
                  <c:v>0.339519012899854</c:v>
                </c:pt>
                <c:pt idx="7">
                  <c:v>0.3330904788859743</c:v>
                </c:pt>
                <c:pt idx="8">
                  <c:v>0.3936085054817724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 a 4 campañas</c:v>
                </c:pt>
              </c:strCache>
            </c:strRef>
          </c:tx>
          <c:spPr>
            <a:ln w="28575">
              <a:solidFill>
                <a:srgbClr val="687FBE"/>
              </a:solidFill>
            </a:ln>
          </c:spPr>
          <c:marker>
            <c:symbol val="circle"/>
            <c:size val="7"/>
            <c:spPr>
              <a:solidFill>
                <a:srgbClr val="687FB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0.5338601202279937</c:v>
                </c:pt>
                <c:pt idx="1">
                  <c:v>0.3988561961714344</c:v>
                </c:pt>
                <c:pt idx="2">
                  <c:v>0.4526398930676226</c:v>
                </c:pt>
                <c:pt idx="3">
                  <c:v>0.4300525062611531</c:v>
                </c:pt>
                <c:pt idx="4">
                  <c:v>0.35267202980109463</c:v>
                </c:pt>
                <c:pt idx="5">
                  <c:v>0.3391799132626078</c:v>
                </c:pt>
                <c:pt idx="6">
                  <c:v>0.505623969242455</c:v>
                </c:pt>
                <c:pt idx="7">
                  <c:v>0.4141622218995291</c:v>
                </c:pt>
                <c:pt idx="8">
                  <c:v>0.5103152071094883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5 a 7 campañas</c:v>
                </c:pt>
              </c:strCache>
            </c:strRef>
          </c:tx>
          <c:spPr>
            <a:ln w="28575">
              <a:solidFill>
                <a:srgbClr val="3B56A4"/>
              </a:solidFill>
            </a:ln>
          </c:spPr>
          <c:marker>
            <c:symbol val="circle"/>
            <c:size val="7"/>
            <c:spPr>
              <a:solidFill>
                <a:srgbClr val="3B56A4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0.5037275841225065</c:v>
                </c:pt>
                <c:pt idx="1">
                  <c:v>0.37622433230869207</c:v>
                </c:pt>
                <c:pt idx="2">
                  <c:v>0.5178087702255678</c:v>
                </c:pt>
                <c:pt idx="3">
                  <c:v>0.4560874557786886</c:v>
                </c:pt>
                <c:pt idx="4">
                  <c:v>0.2849108114210645</c:v>
                </c:pt>
                <c:pt idx="5">
                  <c:v>0.38569950220657995</c:v>
                </c:pt>
                <c:pt idx="6">
                  <c:v>0.6777681965661981</c:v>
                </c:pt>
                <c:pt idx="7">
                  <c:v>0.584281159448651</c:v>
                </c:pt>
                <c:pt idx="8">
                  <c:v>0.7202340760747243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8+ campañas</c:v>
                </c:pt>
              </c:strCache>
            </c:strRef>
          </c:tx>
          <c:spPr>
            <a:ln w="28575">
              <a:solidFill>
                <a:srgbClr val="0E2E8A"/>
              </a:solidFill>
            </a:ln>
          </c:spPr>
          <c:marker>
            <c:symbol val="circle"/>
            <c:size val="7"/>
            <c:spPr>
              <a:solidFill>
                <a:srgbClr val="0E2E8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0.4725401659141027</c:v>
                </c:pt>
                <c:pt idx="1">
                  <c:v>0.5328005328005329</c:v>
                </c:pt>
                <c:pt idx="2">
                  <c:v>0.6306685086191363</c:v>
                </c:pt>
                <c:pt idx="3">
                  <c:v>0.34886425304287155</c:v>
                </c:pt>
                <c:pt idx="4">
                  <c:v>0.3683919690550746</c:v>
                </c:pt>
                <c:pt idx="5">
                  <c:v>0.5915578963437905</c:v>
                </c:pt>
                <c:pt idx="6">
                  <c:v>1.0057288351368554</c:v>
                </c:pt>
                <c:pt idx="7">
                  <c:v>1.143846920600683</c:v>
                </c:pt>
                <c:pt idx="8">
                  <c:v>1.1976318524879106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5"/>
          <c:min val="0.0"/>
        </c:scaling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% de las bajas de usuarios nuevos según la pieza que llegó el día de la baja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de las bajas de usuarios nuevos según la pieza que llegó el día de la baja</c:v>
                </c:pt>
              </c:strCache>
            </c:strRef>
          </c:tx>
          <c:spPr>
            <a:solidFill>
              <a:srgbClr val="A3AAB5"/>
            </a:solidFill>
          </c:spPr>
          <c:invertIfNegative val="0"/>
          <c:dPt>
            <c:idx val="0"/>
            <c:spPr>
              <a:solidFill>
                <a:srgbClr val="1F4FD8"/>
              </a:solidFill>
            </c:spPr>
          </c:dPt>
          <c:dPt>
            <c:idx val="1"/>
            <c:spPr>
              <a:solidFill>
                <a:srgbClr val="1F4FD8"/>
              </a:solidFill>
            </c:spPr>
          </c:dPt>
          <c:dPt>
            <c:idx val="2"/>
            <c:spPr>
              <a:solidFill>
                <a:srgbClr val="A3AAB5"/>
              </a:solidFill>
            </c:spPr>
          </c:dPt>
          <c:dPt>
            <c:idx val="3"/>
            <c:spPr>
              <a:solidFill>
                <a:srgbClr val="A3AAB5"/>
              </a:solidFill>
            </c:spPr>
          </c:dPt>
          <c:cat>
            <c:strRef>
              <c:f>Sheet1!$A$2:$A$5</c:f>
              <c:strCache>
                <c:ptCount val="4"/>
                <c:pt idx="0">
                  <c:v>BillPay Intro (email masivo, junio)</c:v>
                </c:pt>
                <c:pt idx="1">
                  <c:v>Retargeting de registro (2 emails al día)</c:v>
                </c:pt>
                <c:pt idx="2">
                  <c:v>Rescates de Tasa 0</c:v>
                </c:pt>
                <c:pt idx="3">
                  <c:v>Resto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</c:v>
                </c:pt>
                <c:pt idx="1">
                  <c:v>22</c:v>
                </c:pt>
                <c:pt idx="2">
                  <c:v>8.5</c:v>
                </c:pt>
                <c:pt idx="3">
                  <c:v>38.5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Usuarios que llegan (M)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Usuarios que llegan (M)</c:v>
                </c:pt>
              </c:strCache>
            </c:strRef>
          </c:tx>
          <c:spPr>
            <a:solidFill>
              <a:srgbClr val="A3AAB5"/>
            </a:solidFill>
          </c:spPr>
          <c:invertIfNegative val="0"/>
          <c:dPt>
            <c:idx val="0"/>
            <c:spPr>
              <a:solidFill>
                <a:srgbClr val="A3AAB5"/>
              </a:solidFill>
            </c:spPr>
          </c:dPt>
          <c:dPt>
            <c:idx val="1"/>
            <c:spPr>
              <a:solidFill>
                <a:srgbClr val="A3AAB5"/>
              </a:solidFill>
            </c:spPr>
          </c:dPt>
          <c:dPt>
            <c:idx val="2"/>
            <c:spPr>
              <a:solidFill>
                <a:srgbClr val="A3AAB5"/>
              </a:solidFill>
            </c:spPr>
          </c:dPt>
          <c:dPt>
            <c:idx val="3"/>
            <c:spPr>
              <a:solidFill>
                <a:srgbClr val="A3AAB5"/>
              </a:solidFill>
            </c:spPr>
          </c:dPt>
          <c:dPt>
            <c:idx val="4"/>
            <c:spPr>
              <a:solidFill>
                <a:srgbClr val="A3AAB5"/>
              </a:solidFill>
            </c:spPr>
          </c:dPt>
          <c:cat>
            <c:strRef>
              <c:f>Sheet1!$A$2:$A$6</c:f>
              <c:strCache>
                <c:ptCount val="5"/>
                <c:pt idx="0">
                  <c:v>Paso 1</c:v>
                </c:pt>
                <c:pt idx="1">
                  <c:v>Paso 2</c:v>
                </c:pt>
                <c:pt idx="2">
                  <c:v>Paso 3</c:v>
                </c:pt>
                <c:pt idx="3">
                  <c:v>Paso 4</c:v>
                </c:pt>
                <c:pt idx="4">
                  <c:v>Paso 5 o más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31.5</c:v>
                </c:pt>
                <c:pt idx="1">
                  <c:v>28.6</c:v>
                </c:pt>
                <c:pt idx="2">
                  <c:v>16.7</c:v>
                </c:pt>
                <c:pt idx="3">
                  <c:v>7.0</c:v>
                </c:pt>
                <c:pt idx="4">
                  <c:v>6.0</c:v>
                </c:pt>
              </c:numCache>
            </c:numRef>
          </c:val>
        </c:ser>
        <c:dLbls>
          <c:numFmt formatCode="0.0&quot; M&quot;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Apertura del paso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Apertura del paso (%)</c:v>
                </c:pt>
              </c:strCache>
            </c:strRef>
          </c:tx>
          <c:spPr>
            <a:ln w="28575">
              <a:solidFill>
                <a:srgbClr val="1F4FD8"/>
              </a:solidFill>
            </a:ln>
          </c:spPr>
          <c:marker>
            <c:symbol val="circle"/>
            <c:size val="7"/>
            <c:spPr>
              <a:solidFill>
                <a:srgbClr val="1F4FD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Paso 1</c:v>
                </c:pt>
                <c:pt idx="1">
                  <c:v>Paso 2</c:v>
                </c:pt>
                <c:pt idx="2">
                  <c:v>Paso 3</c:v>
                </c:pt>
                <c:pt idx="3">
                  <c:v>Paso 4</c:v>
                </c:pt>
                <c:pt idx="4">
                  <c:v>Paso 5 o más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15.7</c:v>
                </c:pt>
                <c:pt idx="1">
                  <c:v>16.0</c:v>
                </c:pt>
                <c:pt idx="2">
                  <c:v>25.8</c:v>
                </c:pt>
                <c:pt idx="3">
                  <c:v>16.4</c:v>
                </c:pt>
                <c:pt idx="4">
                  <c:v>15.7</c:v>
                </c:pt>
              </c:numCache>
            </c:numRef>
          </c:val>
          <c:smooth val="0"/>
        </c:ser>
        <c:dLbls>
          <c:numFmt formatCode="0.00&quot; %&quot;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Envíos en 9 meses (M), por antigüedad del usuario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Envíos (M)</c:v>
                </c:pt>
              </c:strCache>
            </c:strRef>
          </c:tx>
          <c:spPr>
            <a:solidFill>
              <a:srgbClr val="A3AAB5"/>
            </a:solidFill>
          </c:spPr>
          <c:invertIfNegative val="0"/>
          <c:dPt>
            <c:idx val="0"/>
            <c:spPr>
              <a:solidFill>
                <a:srgbClr val="A3AAB5"/>
              </a:solidFill>
            </c:spPr>
          </c:dPt>
          <c:dPt>
            <c:idx val="1"/>
            <c:spPr>
              <a:solidFill>
                <a:srgbClr val="A3AAB5"/>
              </a:solidFill>
            </c:spPr>
          </c:dPt>
          <c:dPt>
            <c:idx val="2"/>
            <c:spPr>
              <a:solidFill>
                <a:srgbClr val="A3AAB5"/>
              </a:solidFill>
            </c:spPr>
          </c:dPt>
          <c:dPt>
            <c:idx val="3"/>
            <c:spPr>
              <a:solidFill>
                <a:srgbClr val="A3AAB5"/>
              </a:solidFill>
            </c:spPr>
          </c:dPt>
          <c:dPt>
            <c:idx val="4"/>
            <c:spPr>
              <a:solidFill>
                <a:srgbClr val="1F4FD8"/>
              </a:solidFill>
            </c:spPr>
          </c:dPt>
          <c:dPt>
            <c:idx val="5"/>
            <c:spPr>
              <a:solidFill>
                <a:srgbClr val="1F4FD8"/>
              </a:solidFill>
            </c:spPr>
          </c:dPt>
          <c:cat>
            <c:strRef>
              <c:f>Sheet1!$A$2:$A$7</c:f>
              <c:strCache>
                <c:ptCount val="6"/>
                <c:pt idx="0">
                  <c:v>&lt; 1 mes</c:v>
                </c:pt>
                <c:pt idx="1">
                  <c:v>1 a 3 m</c:v>
                </c:pt>
                <c:pt idx="2">
                  <c:v>3 a 6 m</c:v>
                </c:pt>
                <c:pt idx="3">
                  <c:v>6 a 12 m</c:v>
                </c:pt>
                <c:pt idx="4">
                  <c:v>1 a 2 años</c:v>
                </c:pt>
                <c:pt idx="5">
                  <c:v>&gt; 2 años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47.10342</c:v>
                </c:pt>
                <c:pt idx="1">
                  <c:v>56.336348</c:v>
                </c:pt>
                <c:pt idx="2">
                  <c:v>70.807065</c:v>
                </c:pt>
                <c:pt idx="3">
                  <c:v>109.602705</c:v>
                </c:pt>
                <c:pt idx="4">
                  <c:v>171.932551</c:v>
                </c:pt>
                <c:pt idx="5">
                  <c:v>204.140971</c:v>
                </c:pt>
              </c:numCache>
            </c:numRef>
          </c:val>
        </c:ser>
        <c:dLbls>
          <c:numFmt formatCode="0.0&quot; M&quot;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Respuesta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 de email</c:v>
                </c:pt>
              </c:strCache>
            </c:strRef>
          </c:tx>
          <c:spPr>
            <a:ln w="28575">
              <a:solidFill>
                <a:srgbClr val="1F4FD8"/>
              </a:solidFill>
            </a:ln>
          </c:spPr>
          <c:marker>
            <c:symbol val="circle"/>
            <c:size val="7"/>
            <c:spPr>
              <a:solidFill>
                <a:srgbClr val="1F4FD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&lt; 1 mes</c:v>
                </c:pt>
                <c:pt idx="1">
                  <c:v>1 a 3 m</c:v>
                </c:pt>
                <c:pt idx="2">
                  <c:v>3 a 6 m</c:v>
                </c:pt>
                <c:pt idx="3">
                  <c:v>6 a 12 m</c:v>
                </c:pt>
                <c:pt idx="4">
                  <c:v>1 a 2 años</c:v>
                </c:pt>
                <c:pt idx="5">
                  <c:v>&gt; 2 años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2.4056828633285514</c:v>
                </c:pt>
                <c:pt idx="1">
                  <c:v>1.3036433411407948</c:v>
                </c:pt>
                <c:pt idx="2">
                  <c:v>0.8833387975722169</c:v>
                </c:pt>
                <c:pt idx="3">
                  <c:v>0.7602038765886374</c:v>
                </c:pt>
                <c:pt idx="4">
                  <c:v>0.6476608121573791</c:v>
                </c:pt>
                <c:pt idx="5">
                  <c:v>0.5470821854667908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Apertura de push</c:v>
                </c:pt>
              </c:strCache>
            </c:strRef>
          </c:tx>
          <c:spPr>
            <a:ln w="28575">
              <a:solidFill>
                <a:srgbClr val="B5342B"/>
              </a:solidFill>
            </a:ln>
          </c:spPr>
          <c:marker>
            <c:symbol val="circle"/>
            <c:size val="7"/>
            <c:spPr>
              <a:solidFill>
                <a:srgbClr val="B5342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&lt; 1 mes</c:v>
                </c:pt>
                <c:pt idx="1">
                  <c:v>1 a 3 m</c:v>
                </c:pt>
                <c:pt idx="2">
                  <c:v>3 a 6 m</c:v>
                </c:pt>
                <c:pt idx="3">
                  <c:v>6 a 12 m</c:v>
                </c:pt>
                <c:pt idx="4">
                  <c:v>1 a 2 años</c:v>
                </c:pt>
                <c:pt idx="5">
                  <c:v>&gt; 2 años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3.4386454242510744</c:v>
                </c:pt>
                <c:pt idx="1">
                  <c:v>1.9377791717079866</c:v>
                </c:pt>
                <c:pt idx="2">
                  <c:v>1.482460713988854</c:v>
                </c:pt>
                <c:pt idx="3">
                  <c:v>1.2866448751901538</c:v>
                </c:pt>
                <c:pt idx="4">
                  <c:v>1.2985268655043567</c:v>
                </c:pt>
                <c:pt idx="5">
                  <c:v>1.269499977286137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Bajas por mil emails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Bajas por mil</c:v>
                </c:pt>
              </c:strCache>
            </c:strRef>
          </c:tx>
          <c:spPr>
            <a:ln w="28575">
              <a:solidFill>
                <a:srgbClr val="1F4FD8"/>
              </a:solidFill>
            </a:ln>
          </c:spPr>
          <c:marker>
            <c:symbol val="circle"/>
            <c:size val="7"/>
            <c:spPr>
              <a:solidFill>
                <a:srgbClr val="1F4FD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&lt; 1 mes</c:v>
                </c:pt>
                <c:pt idx="1">
                  <c:v>1 a 3 m</c:v>
                </c:pt>
                <c:pt idx="2">
                  <c:v>3 a 6 m</c:v>
                </c:pt>
                <c:pt idx="3">
                  <c:v>6 a 12 m</c:v>
                </c:pt>
                <c:pt idx="4">
                  <c:v>1 a 2 años</c:v>
                </c:pt>
                <c:pt idx="5">
                  <c:v>&gt; 2 años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2.9771833838099235</c:v>
                </c:pt>
                <c:pt idx="1">
                  <c:v>3.581980109106179</c:v>
                </c:pt>
                <c:pt idx="2">
                  <c:v>3.3442019504966596</c:v>
                </c:pt>
                <c:pt idx="3">
                  <c:v>3.4615421736920817</c:v>
                </c:pt>
                <c:pt idx="4">
                  <c:v>3.4478366081253107</c:v>
                </c:pt>
                <c:pt idx="5">
                  <c:v>3.1161300744871756</c:v>
                </c:pt>
              </c:numCache>
            </c:numRef>
          </c:val>
          <c:smooth val="0"/>
        </c:ser>
        <c:dLbls>
          <c:numFmt formatCode="0.0&quot; %&quot;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.5"/>
          <c:min val="0.0"/>
        </c:scaling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Clic de email por gancho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Clic de email por gancho (%)</c:v>
                </c:pt>
              </c:strCache>
            </c:strRef>
          </c:tx>
          <c:spPr>
            <a:solidFill>
              <a:srgbClr val="A3AAB5"/>
            </a:solidFill>
          </c:spPr>
          <c:invertIfNegative val="0"/>
          <c:dPt>
            <c:idx val="0"/>
            <c:spPr>
              <a:solidFill>
                <a:srgbClr val="1F4FD8"/>
              </a:solidFill>
            </c:spPr>
          </c:dPt>
          <c:dPt>
            <c:idx val="1"/>
            <c:spPr>
              <a:solidFill>
                <a:srgbClr val="A3AAB5"/>
              </a:solidFill>
            </c:spPr>
          </c:dPt>
          <c:dPt>
            <c:idx val="2"/>
            <c:spPr>
              <a:solidFill>
                <a:srgbClr val="A3AAB5"/>
              </a:solidFill>
            </c:spPr>
          </c:dPt>
          <c:dPt>
            <c:idx val="3"/>
            <c:spPr>
              <a:solidFill>
                <a:srgbClr val="A3AAB5"/>
              </a:solidFill>
            </c:spPr>
          </c:dPt>
          <c:dPt>
            <c:idx val="4"/>
            <c:spPr>
              <a:solidFill>
                <a:srgbClr val="A3AAB5"/>
              </a:solidFill>
            </c:spPr>
          </c:dPt>
          <c:dPt>
            <c:idx val="5"/>
            <c:spPr>
              <a:solidFill>
                <a:srgbClr val="A3AAB5"/>
              </a:solidFill>
            </c:spPr>
          </c:dPt>
          <c:cat>
            <c:strRef>
              <c:f>Sheet1!$A$2:$A$7</c:f>
              <c:strCache>
                <c:ptCount val="6"/>
                <c:pt idx="0">
                  <c:v>Retargeting o recordatorio  (23.6 M emails)</c:v>
                </c:pt>
                <c:pt idx="1">
                  <c:v>Tasa 0  (54.3 M emails)</c:v>
                </c:pt>
                <c:pt idx="2">
                  <c:v>Descuento, cupón, oferta  (35.0 M)</c:v>
                </c:pt>
                <c:pt idx="3">
                  <c:v>Cross sell  (2.7 M)</c:v>
                </c:pt>
                <c:pt idx="4">
                  <c:v>Referidos  (40.8 M)</c:v>
                </c:pt>
                <c:pt idx="5">
                  <c:v>Lanzamiento, novedades  (33.0 M)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3.09</c:v>
                </c:pt>
                <c:pt idx="1">
                  <c:v>0.53</c:v>
                </c:pt>
                <c:pt idx="2">
                  <c:v>0.41</c:v>
                </c:pt>
                <c:pt idx="3">
                  <c:v>0.34</c:v>
                </c:pt>
                <c:pt idx="4">
                  <c:v>0.22</c:v>
                </c:pt>
                <c:pt idx="5">
                  <c:v>0.22</c:v>
                </c:pt>
              </c:numCache>
            </c:numRef>
          </c:val>
        </c:ser>
        <c:dLbls>
          <c:numFmt formatCode="0.00&quot; %&quot;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Clic de email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Clic de email (%)</c:v>
                </c:pt>
              </c:strCache>
            </c:strRef>
          </c:tx>
          <c:spPr>
            <a:solidFill>
              <a:srgbClr val="A3AAB5"/>
            </a:solidFill>
          </c:spPr>
          <c:invertIfNegative val="0"/>
          <c:dPt>
            <c:idx val="0"/>
            <c:spPr>
              <a:solidFill>
                <a:srgbClr val="1F4FD8"/>
              </a:solidFill>
            </c:spPr>
          </c:dPt>
          <c:dPt>
            <c:idx val="1"/>
            <c:spPr>
              <a:solidFill>
                <a:srgbClr val="A3AAB5"/>
              </a:solidFill>
            </c:spPr>
          </c:dPt>
          <c:dPt>
            <c:idx val="2"/>
            <c:spPr>
              <a:solidFill>
                <a:srgbClr val="A3AAB5"/>
              </a:solidFill>
            </c:spPr>
          </c:dPt>
          <c:dPt>
            <c:idx val="3"/>
            <c:spPr>
              <a:solidFill>
                <a:srgbClr val="A3AAB5"/>
              </a:solidFill>
            </c:spPr>
          </c:dPt>
          <c:dPt>
            <c:idx val="4"/>
            <c:spPr>
              <a:solidFill>
                <a:srgbClr val="1F4FD8"/>
              </a:solidFill>
            </c:spPr>
          </c:dPt>
          <c:dPt>
            <c:idx val="5"/>
            <c:spPr>
              <a:solidFill>
                <a:srgbClr val="A3AAB5"/>
              </a:solidFill>
            </c:spPr>
          </c:dPt>
          <c:cat>
            <c:strRef>
              <c:f>Sheet1!$A$2:$A$7</c:f>
              <c:strCache>
                <c:ptCount val="6"/>
                <c:pt idx="0">
                  <c:v>10 a 100 mil usuarios</c:v>
                </c:pt>
                <c:pt idx="1">
                  <c:v>100 mil a 1 M</c:v>
                </c:pt>
                <c:pt idx="2">
                  <c:v>Más de 1 M</c:v>
                </c:pt>
                <c:pt idx="3">
                  <c:v>1 toque</c:v>
                </c:pt>
                <c:pt idx="4">
                  <c:v>2 toques</c:v>
                </c:pt>
                <c:pt idx="5">
                  <c:v>3 a 4 toques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1.2</c:v>
                </c:pt>
                <c:pt idx="1">
                  <c:v>0.6</c:v>
                </c:pt>
                <c:pt idx="2">
                  <c:v>0.16</c:v>
                </c:pt>
                <c:pt idx="3">
                  <c:v>0.8</c:v>
                </c:pt>
                <c:pt idx="4">
                  <c:v>1.8</c:v>
                </c:pt>
                <c:pt idx="5">
                  <c:v>0.5</c:v>
                </c:pt>
              </c:numCache>
            </c:numRef>
          </c:val>
        </c:ser>
        <c:dLbls>
          <c:numFmt formatCode="0.00&quot; %&quot;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2"/>
        </c:scaling>
        <c:delete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Email: clic por pieza. En verde las 38 que pasan 1.5 %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pasa el mínimo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6"/>
            <c:spPr>
              <a:solidFill>
                <a:srgbClr val="A3AAB5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Sheet1!$A$2:$A$271</c:f>
              <c:numCache>
                <c:formatCode>General</c:formatCode>
                <c:ptCount val="270"/>
                <c:pt idx="0">
                  <c:v>14317229.0</c:v>
                </c:pt>
                <c:pt idx="1">
                  <c:v>6062829.0</c:v>
                </c:pt>
                <c:pt idx="2">
                  <c:v>4374965.0</c:v>
                </c:pt>
                <c:pt idx="3">
                  <c:v>4289547.0</c:v>
                </c:pt>
                <c:pt idx="4">
                  <c:v>4115414.0</c:v>
                </c:pt>
                <c:pt idx="5">
                  <c:v>4972600.0</c:v>
                </c:pt>
                <c:pt idx="6">
                  <c:v>3383985.0</c:v>
                </c:pt>
                <c:pt idx="7">
                  <c:v>2960194.0</c:v>
                </c:pt>
                <c:pt idx="8">
                  <c:v>2759921.0</c:v>
                </c:pt>
                <c:pt idx="9">
                  <c:v>2723153.0</c:v>
                </c:pt>
                <c:pt idx="10">
                  <c:v>2471688.0</c:v>
                </c:pt>
                <c:pt idx="11">
                  <c:v>2368864.0</c:v>
                </c:pt>
                <c:pt idx="12">
                  <c:v>2330705.0</c:v>
                </c:pt>
                <c:pt idx="13">
                  <c:v>2411629.0</c:v>
                </c:pt>
                <c:pt idx="14">
                  <c:v>1883549.0</c:v>
                </c:pt>
                <c:pt idx="15">
                  <c:v>1836861.0</c:v>
                </c:pt>
                <c:pt idx="16">
                  <c:v>1718398.0</c:v>
                </c:pt>
                <c:pt idx="17">
                  <c:v>1593110.0</c:v>
                </c:pt>
                <c:pt idx="18">
                  <c:v>1628737.0</c:v>
                </c:pt>
                <c:pt idx="19">
                  <c:v>1518722.0</c:v>
                </c:pt>
                <c:pt idx="20">
                  <c:v>9829253.0</c:v>
                </c:pt>
                <c:pt idx="21">
                  <c:v>1212232.0</c:v>
                </c:pt>
                <c:pt idx="22">
                  <c:v>1224654.0</c:v>
                </c:pt>
                <c:pt idx="23">
                  <c:v>1228595.0</c:v>
                </c:pt>
                <c:pt idx="24">
                  <c:v>1181667.0</c:v>
                </c:pt>
                <c:pt idx="25">
                  <c:v>1165301.0</c:v>
                </c:pt>
                <c:pt idx="26">
                  <c:v>1155566.0</c:v>
                </c:pt>
                <c:pt idx="27">
                  <c:v>4812414.0</c:v>
                </c:pt>
                <c:pt idx="28">
                  <c:v>1147964.0</c:v>
                </c:pt>
                <c:pt idx="29">
                  <c:v>1156408.0</c:v>
                </c:pt>
                <c:pt idx="30">
                  <c:v>1140133.0</c:v>
                </c:pt>
                <c:pt idx="31">
                  <c:v>1126817.0</c:v>
                </c:pt>
                <c:pt idx="32">
                  <c:v>1129626.0</c:v>
                </c:pt>
                <c:pt idx="33">
                  <c:v>1107792.0</c:v>
                </c:pt>
                <c:pt idx="34">
                  <c:v>6731897.0</c:v>
                </c:pt>
                <c:pt idx="35">
                  <c:v>1098733.0</c:v>
                </c:pt>
                <c:pt idx="36">
                  <c:v>1078109.0</c:v>
                </c:pt>
                <c:pt idx="37">
                  <c:v>1105810.0</c:v>
                </c:pt>
                <c:pt idx="38">
                  <c:v>4044641.0</c:v>
                </c:pt>
                <c:pt idx="39">
                  <c:v>1038158.0</c:v>
                </c:pt>
                <c:pt idx="40">
                  <c:v>1067987.0</c:v>
                </c:pt>
                <c:pt idx="41">
                  <c:v>1028475.0</c:v>
                </c:pt>
                <c:pt idx="42">
                  <c:v>1018191.0</c:v>
                </c:pt>
                <c:pt idx="43">
                  <c:v>3989758.0</c:v>
                </c:pt>
                <c:pt idx="44">
                  <c:v>4509870.0</c:v>
                </c:pt>
                <c:pt idx="45">
                  <c:v>959918.0</c:v>
                </c:pt>
                <c:pt idx="46">
                  <c:v>954476.0</c:v>
                </c:pt>
                <c:pt idx="47">
                  <c:v>947665.0</c:v>
                </c:pt>
                <c:pt idx="48">
                  <c:v>951528.0</c:v>
                </c:pt>
                <c:pt idx="49">
                  <c:v>926992.0</c:v>
                </c:pt>
                <c:pt idx="50">
                  <c:v>914756.0</c:v>
                </c:pt>
                <c:pt idx="51">
                  <c:v>909657.0</c:v>
                </c:pt>
                <c:pt idx="52">
                  <c:v>883748.0</c:v>
                </c:pt>
                <c:pt idx="53">
                  <c:v>874276.0</c:v>
                </c:pt>
                <c:pt idx="54">
                  <c:v>818413.0</c:v>
                </c:pt>
                <c:pt idx="55">
                  <c:v>807674.0</c:v>
                </c:pt>
                <c:pt idx="56">
                  <c:v>824987.0</c:v>
                </c:pt>
                <c:pt idx="57">
                  <c:v>819208.0</c:v>
                </c:pt>
                <c:pt idx="58">
                  <c:v>798483.0</c:v>
                </c:pt>
                <c:pt idx="59">
                  <c:v>776528.0</c:v>
                </c:pt>
                <c:pt idx="60">
                  <c:v>793275.0</c:v>
                </c:pt>
                <c:pt idx="61">
                  <c:v>772592.0</c:v>
                </c:pt>
                <c:pt idx="62">
                  <c:v>764850.0</c:v>
                </c:pt>
                <c:pt idx="63">
                  <c:v>736261.0</c:v>
                </c:pt>
                <c:pt idx="64">
                  <c:v>711816.0</c:v>
                </c:pt>
                <c:pt idx="65">
                  <c:v>675470.0</c:v>
                </c:pt>
                <c:pt idx="66">
                  <c:v>611962.0</c:v>
                </c:pt>
                <c:pt idx="67">
                  <c:v>617940.0</c:v>
                </c:pt>
                <c:pt idx="68">
                  <c:v>591228.0</c:v>
                </c:pt>
                <c:pt idx="69">
                  <c:v>593976.0</c:v>
                </c:pt>
                <c:pt idx="70">
                  <c:v>4108174.0</c:v>
                </c:pt>
                <c:pt idx="71">
                  <c:v>554219.0</c:v>
                </c:pt>
                <c:pt idx="72">
                  <c:v>558815.0</c:v>
                </c:pt>
                <c:pt idx="73">
                  <c:v>547056.0</c:v>
                </c:pt>
                <c:pt idx="74">
                  <c:v>548359.0</c:v>
                </c:pt>
                <c:pt idx="75">
                  <c:v>549788.0</c:v>
                </c:pt>
                <c:pt idx="76">
                  <c:v>548080.0</c:v>
                </c:pt>
                <c:pt idx="77">
                  <c:v>544052.0</c:v>
                </c:pt>
                <c:pt idx="78">
                  <c:v>539868.0</c:v>
                </c:pt>
                <c:pt idx="79">
                  <c:v>532618.0</c:v>
                </c:pt>
                <c:pt idx="80">
                  <c:v>523665.0</c:v>
                </c:pt>
                <c:pt idx="81">
                  <c:v>515104.0</c:v>
                </c:pt>
                <c:pt idx="82">
                  <c:v>502951.0</c:v>
                </c:pt>
                <c:pt idx="83">
                  <c:v>533007.0</c:v>
                </c:pt>
                <c:pt idx="84">
                  <c:v>525560.0</c:v>
                </c:pt>
                <c:pt idx="85">
                  <c:v>526682.0</c:v>
                </c:pt>
                <c:pt idx="86">
                  <c:v>528541.0</c:v>
                </c:pt>
                <c:pt idx="87">
                  <c:v>505196.0</c:v>
                </c:pt>
                <c:pt idx="88">
                  <c:v>504864.0</c:v>
                </c:pt>
                <c:pt idx="89">
                  <c:v>503515.0</c:v>
                </c:pt>
                <c:pt idx="90">
                  <c:v>503212.0</c:v>
                </c:pt>
                <c:pt idx="91">
                  <c:v>1674104.0</c:v>
                </c:pt>
                <c:pt idx="92">
                  <c:v>494007.0</c:v>
                </c:pt>
                <c:pt idx="93">
                  <c:v>490472.0</c:v>
                </c:pt>
                <c:pt idx="94">
                  <c:v>494939.0</c:v>
                </c:pt>
                <c:pt idx="95">
                  <c:v>489861.0</c:v>
                </c:pt>
                <c:pt idx="96">
                  <c:v>495419.0</c:v>
                </c:pt>
                <c:pt idx="97">
                  <c:v>491811.0</c:v>
                </c:pt>
                <c:pt idx="98">
                  <c:v>483610.0</c:v>
                </c:pt>
                <c:pt idx="99">
                  <c:v>487793.0</c:v>
                </c:pt>
                <c:pt idx="100">
                  <c:v>491637.0</c:v>
                </c:pt>
                <c:pt idx="101">
                  <c:v>491499.0</c:v>
                </c:pt>
                <c:pt idx="102">
                  <c:v>484207.0</c:v>
                </c:pt>
                <c:pt idx="103">
                  <c:v>487883.0</c:v>
                </c:pt>
                <c:pt idx="104">
                  <c:v>486044.0</c:v>
                </c:pt>
                <c:pt idx="105">
                  <c:v>484179.0</c:v>
                </c:pt>
                <c:pt idx="106">
                  <c:v>478303.0</c:v>
                </c:pt>
                <c:pt idx="107">
                  <c:v>477628.0</c:v>
                </c:pt>
                <c:pt idx="108">
                  <c:v>474747.0</c:v>
                </c:pt>
                <c:pt idx="109">
                  <c:v>465658.0</c:v>
                </c:pt>
                <c:pt idx="110">
                  <c:v>460788.0</c:v>
                </c:pt>
                <c:pt idx="111">
                  <c:v>470671.0</c:v>
                </c:pt>
                <c:pt idx="112">
                  <c:v>468322.0</c:v>
                </c:pt>
                <c:pt idx="113">
                  <c:v>469563.0</c:v>
                </c:pt>
                <c:pt idx="114">
                  <c:v>467777.0</c:v>
                </c:pt>
                <c:pt idx="115">
                  <c:v>464693.0</c:v>
                </c:pt>
                <c:pt idx="116">
                  <c:v>439563.0</c:v>
                </c:pt>
                <c:pt idx="117">
                  <c:v>433964.0</c:v>
                </c:pt>
                <c:pt idx="118">
                  <c:v>445000.0</c:v>
                </c:pt>
                <c:pt idx="119">
                  <c:v>3536273.0</c:v>
                </c:pt>
                <c:pt idx="120">
                  <c:v>440119.0</c:v>
                </c:pt>
                <c:pt idx="121">
                  <c:v>417382.0</c:v>
                </c:pt>
                <c:pt idx="122">
                  <c:v>410917.0</c:v>
                </c:pt>
                <c:pt idx="123">
                  <c:v>427904.0</c:v>
                </c:pt>
                <c:pt idx="124">
                  <c:v>421144.0</c:v>
                </c:pt>
                <c:pt idx="125">
                  <c:v>410677.0</c:v>
                </c:pt>
                <c:pt idx="126">
                  <c:v>410586.0</c:v>
                </c:pt>
                <c:pt idx="127">
                  <c:v>398602.0</c:v>
                </c:pt>
                <c:pt idx="128">
                  <c:v>401426.0</c:v>
                </c:pt>
                <c:pt idx="129">
                  <c:v>414817.0</c:v>
                </c:pt>
                <c:pt idx="130">
                  <c:v>411031.0</c:v>
                </c:pt>
                <c:pt idx="131">
                  <c:v>406634.0</c:v>
                </c:pt>
                <c:pt idx="132">
                  <c:v>399708.0</c:v>
                </c:pt>
                <c:pt idx="133">
                  <c:v>407918.0</c:v>
                </c:pt>
                <c:pt idx="134">
                  <c:v>404611.0</c:v>
                </c:pt>
                <c:pt idx="135">
                  <c:v>397934.0</c:v>
                </c:pt>
                <c:pt idx="136">
                  <c:v>397007.0</c:v>
                </c:pt>
                <c:pt idx="137">
                  <c:v>396045.0</c:v>
                </c:pt>
                <c:pt idx="138">
                  <c:v>385314.0</c:v>
                </c:pt>
                <c:pt idx="139">
                  <c:v>377809.0</c:v>
                </c:pt>
                <c:pt idx="140">
                  <c:v>360696.0</c:v>
                </c:pt>
                <c:pt idx="141">
                  <c:v>357019.0</c:v>
                </c:pt>
                <c:pt idx="142">
                  <c:v>369120.0</c:v>
                </c:pt>
                <c:pt idx="143">
                  <c:v>374805.0</c:v>
                </c:pt>
                <c:pt idx="144">
                  <c:v>369985.0</c:v>
                </c:pt>
                <c:pt idx="145">
                  <c:v>359204.0</c:v>
                </c:pt>
                <c:pt idx="146">
                  <c:v>354528.0</c:v>
                </c:pt>
                <c:pt idx="147">
                  <c:v>353446.0</c:v>
                </c:pt>
                <c:pt idx="148">
                  <c:v>348719.0</c:v>
                </c:pt>
                <c:pt idx="149">
                  <c:v>350984.0</c:v>
                </c:pt>
                <c:pt idx="150">
                  <c:v>355584.0</c:v>
                </c:pt>
                <c:pt idx="151">
                  <c:v>357476.0</c:v>
                </c:pt>
                <c:pt idx="152">
                  <c:v>346672.0</c:v>
                </c:pt>
                <c:pt idx="153">
                  <c:v>354248.0</c:v>
                </c:pt>
                <c:pt idx="154">
                  <c:v>348640.0</c:v>
                </c:pt>
                <c:pt idx="155">
                  <c:v>344988.0</c:v>
                </c:pt>
                <c:pt idx="156">
                  <c:v>339988.0</c:v>
                </c:pt>
                <c:pt idx="157">
                  <c:v>453308.0</c:v>
                </c:pt>
                <c:pt idx="158">
                  <c:v>338002.0</c:v>
                </c:pt>
                <c:pt idx="159">
                  <c:v>337974.0</c:v>
                </c:pt>
                <c:pt idx="160">
                  <c:v>343896.0</c:v>
                </c:pt>
                <c:pt idx="161">
                  <c:v>335023.0</c:v>
                </c:pt>
                <c:pt idx="162">
                  <c:v>347763.0</c:v>
                </c:pt>
                <c:pt idx="163">
                  <c:v>330230.0</c:v>
                </c:pt>
                <c:pt idx="164">
                  <c:v>326444.0</c:v>
                </c:pt>
                <c:pt idx="165">
                  <c:v>328036.0</c:v>
                </c:pt>
                <c:pt idx="166">
                  <c:v>328297.0</c:v>
                </c:pt>
                <c:pt idx="167">
                  <c:v>331114.0</c:v>
                </c:pt>
                <c:pt idx="168">
                  <c:v>1002113.0</c:v>
                </c:pt>
                <c:pt idx="169">
                  <c:v>316271.0</c:v>
                </c:pt>
                <c:pt idx="170">
                  <c:v>326306.0</c:v>
                </c:pt>
                <c:pt idx="171">
                  <c:v>318966.0</c:v>
                </c:pt>
                <c:pt idx="172">
                  <c:v>324236.0</c:v>
                </c:pt>
                <c:pt idx="173">
                  <c:v>324111.0</c:v>
                </c:pt>
                <c:pt idx="174">
                  <c:v>313753.0</c:v>
                </c:pt>
                <c:pt idx="175">
                  <c:v>312661.0</c:v>
                </c:pt>
                <c:pt idx="176">
                  <c:v>307275.0</c:v>
                </c:pt>
                <c:pt idx="177">
                  <c:v>308918.0</c:v>
                </c:pt>
                <c:pt idx="178">
                  <c:v>307175.0</c:v>
                </c:pt>
                <c:pt idx="179">
                  <c:v>304916.0</c:v>
                </c:pt>
                <c:pt idx="180">
                  <c:v>308384.0</c:v>
                </c:pt>
                <c:pt idx="181">
                  <c:v>307861.0</c:v>
                </c:pt>
                <c:pt idx="182">
                  <c:v>304280.0</c:v>
                </c:pt>
                <c:pt idx="183">
                  <c:v>289420.0</c:v>
                </c:pt>
                <c:pt idx="184">
                  <c:v>293049.0</c:v>
                </c:pt>
                <c:pt idx="185">
                  <c:v>286130.0</c:v>
                </c:pt>
                <c:pt idx="186">
                  <c:v>280063.0</c:v>
                </c:pt>
                <c:pt idx="187">
                  <c:v>390378.0</c:v>
                </c:pt>
                <c:pt idx="188">
                  <c:v>283944.0</c:v>
                </c:pt>
                <c:pt idx="189">
                  <c:v>299586.0</c:v>
                </c:pt>
                <c:pt idx="190">
                  <c:v>2301568.0</c:v>
                </c:pt>
                <c:pt idx="191">
                  <c:v>273882.0</c:v>
                </c:pt>
                <c:pt idx="192">
                  <c:v>264047.0</c:v>
                </c:pt>
                <c:pt idx="193">
                  <c:v>276814.0</c:v>
                </c:pt>
                <c:pt idx="194">
                  <c:v>270601.0</c:v>
                </c:pt>
                <c:pt idx="195">
                  <c:v>270195.0</c:v>
                </c:pt>
                <c:pt idx="196">
                  <c:v>278766.0</c:v>
                </c:pt>
                <c:pt idx="197">
                  <c:v>258625.0</c:v>
                </c:pt>
                <c:pt idx="198">
                  <c:v>265106.0</c:v>
                </c:pt>
                <c:pt idx="199">
                  <c:v>254409.0</c:v>
                </c:pt>
                <c:pt idx="200">
                  <c:v>263341.0</c:v>
                </c:pt>
                <c:pt idx="201">
                  <c:v>252463.0</c:v>
                </c:pt>
                <c:pt idx="202">
                  <c:v>261025.0</c:v>
                </c:pt>
                <c:pt idx="203">
                  <c:v>257695.0</c:v>
                </c:pt>
                <c:pt idx="204">
                  <c:v>256512.0</c:v>
                </c:pt>
                <c:pt idx="205">
                  <c:v>257509.0</c:v>
                </c:pt>
                <c:pt idx="206">
                  <c:v>256189.0</c:v>
                </c:pt>
                <c:pt idx="207">
                  <c:v>251551.0</c:v>
                </c:pt>
                <c:pt idx="208">
                  <c:v>243920.0</c:v>
                </c:pt>
                <c:pt idx="209">
                  <c:v>251134.0</c:v>
                </c:pt>
                <c:pt idx="210">
                  <c:v>240341.0</c:v>
                </c:pt>
                <c:pt idx="211">
                  <c:v>250055.0</c:v>
                </c:pt>
                <c:pt idx="212">
                  <c:v>241448.0</c:v>
                </c:pt>
                <c:pt idx="213">
                  <c:v>244282.0</c:v>
                </c:pt>
                <c:pt idx="214">
                  <c:v>241518.0</c:v>
                </c:pt>
                <c:pt idx="215">
                  <c:v>2008412.0</c:v>
                </c:pt>
                <c:pt idx="216">
                  <c:v>243963.0</c:v>
                </c:pt>
                <c:pt idx="217">
                  <c:v>237741.0</c:v>
                </c:pt>
                <c:pt idx="218">
                  <c:v>237795.0</c:v>
                </c:pt>
                <c:pt idx="219">
                  <c:v>237719.0</c:v>
                </c:pt>
                <c:pt idx="220">
                  <c:v>238297.0</c:v>
                </c:pt>
                <c:pt idx="221">
                  <c:v>234125.0</c:v>
                </c:pt>
                <c:pt idx="222">
                  <c:v>223125.0</c:v>
                </c:pt>
                <c:pt idx="223">
                  <c:v>235739.0</c:v>
                </c:pt>
                <c:pt idx="224">
                  <c:v>231498.0</c:v>
                </c:pt>
                <c:pt idx="225">
                  <c:v>232654.0</c:v>
                </c:pt>
                <c:pt idx="226">
                  <c:v>230537.0</c:v>
                </c:pt>
                <c:pt idx="227">
                  <c:v>228375.0</c:v>
                </c:pt>
                <c:pt idx="228">
                  <c:v>225752.0</c:v>
                </c:pt>
                <c:pt idx="229">
                  <c:v>454041.0</c:v>
                </c:pt>
                <c:pt idx="230">
                  <c:v>221031.0</c:v>
                </c:pt>
                <c:pt idx="231">
                  <c:v>221252.0</c:v>
                </c:pt>
                <c:pt idx="232">
                  <c:v>223268.0</c:v>
                </c:pt>
                <c:pt idx="233">
                  <c:v>212593.0</c:v>
                </c:pt>
                <c:pt idx="234">
                  <c:v>214422.0</c:v>
                </c:pt>
                <c:pt idx="235">
                  <c:v>216063.0</c:v>
                </c:pt>
                <c:pt idx="236">
                  <c:v>217030.0</c:v>
                </c:pt>
                <c:pt idx="237">
                  <c:v>209287.0</c:v>
                </c:pt>
                <c:pt idx="238">
                  <c:v>215937.0</c:v>
                </c:pt>
                <c:pt idx="239">
                  <c:v>206074.0</c:v>
                </c:pt>
                <c:pt idx="240">
                  <c:v>205163.0</c:v>
                </c:pt>
                <c:pt idx="241">
                  <c:v>496936.0</c:v>
                </c:pt>
                <c:pt idx="242">
                  <c:v>209384.0</c:v>
                </c:pt>
                <c:pt idx="243">
                  <c:v>209072.0</c:v>
                </c:pt>
                <c:pt idx="244">
                  <c:v>205581.0</c:v>
                </c:pt>
                <c:pt idx="245">
                  <c:v>865864.0</c:v>
                </c:pt>
                <c:pt idx="246">
                  <c:v>208919.0</c:v>
                </c:pt>
                <c:pt idx="247">
                  <c:v>202035.0</c:v>
                </c:pt>
                <c:pt idx="248">
                  <c:v>206676.0</c:v>
                </c:pt>
                <c:pt idx="249">
                  <c:v>839501.0</c:v>
                </c:pt>
                <c:pt idx="250">
                  <c:v>240298.0</c:v>
                </c:pt>
                <c:pt idx="251">
                  <c:v>833481.0</c:v>
                </c:pt>
                <c:pt idx="252">
                  <c:v>1007018.0</c:v>
                </c:pt>
                <c:pt idx="253">
                  <c:v>503430.0</c:v>
                </c:pt>
                <c:pt idx="254">
                  <c:v>779542.0</c:v>
                </c:pt>
                <c:pt idx="255">
                  <c:v>431434.0</c:v>
                </c:pt>
                <c:pt idx="256">
                  <c:v>510666.0</c:v>
                </c:pt>
                <c:pt idx="257">
                  <c:v>645426.0</c:v>
                </c:pt>
                <c:pt idx="258">
                  <c:v>649614.0</c:v>
                </c:pt>
                <c:pt idx="259">
                  <c:v>360139.0</c:v>
                </c:pt>
                <c:pt idx="260">
                  <c:v>512903.0</c:v>
                </c:pt>
                <c:pt idx="261">
                  <c:v>366848.0</c:v>
                </c:pt>
                <c:pt idx="262">
                  <c:v>214450.0</c:v>
                </c:pt>
                <c:pt idx="263">
                  <c:v>233972.0</c:v>
                </c:pt>
                <c:pt idx="264">
                  <c:v>765311.0</c:v>
                </c:pt>
                <c:pt idx="265">
                  <c:v>277011.0</c:v>
                </c:pt>
                <c:pt idx="266">
                  <c:v>206946.0</c:v>
                </c:pt>
                <c:pt idx="267">
                  <c:v>305066.0</c:v>
                </c:pt>
                <c:pt idx="268">
                  <c:v>283499.0</c:v>
                </c:pt>
                <c:pt idx="269">
                  <c:v>286658.0</c:v>
                </c:pt>
              </c:numCache>
            </c:numRef>
          </c:xVal>
          <c:yVal>
            <c:numRef>
              <c:f>Sheet1!$B$2:$B$271</c:f>
              <c:numCache>
                <c:formatCode>General</c:formatCode>
                <c:ptCount val="270"/>
                <c:pt idx="0">
                  <c:v>0.11174648390411301</c:v>
                </c:pt>
                <c:pt idx="1">
                  <c:v>0.21979838125073295</c:v>
                </c:pt>
                <c:pt idx="2">
                  <c:v>0.32130542758627784</c:v>
                </c:pt>
                <c:pt idx="3">
                  <c:v>0.2577195214319834</c:v>
                </c:pt>
                <c:pt idx="4">
                  <c:v>0.2643962430025266</c:v>
                </c:pt>
                <c:pt idx="5">
                  <c:v>0.1914692514982102</c:v>
                </c:pt>
                <c:pt idx="6">
                  <c:v>0.2981396194132066</c:v>
                </c:pt>
                <c:pt idx="7">
                  <c:v>0.3310256017004291</c:v>
                </c:pt>
                <c:pt idx="8">
                  <c:v>0.2884865182735303</c:v>
                </c:pt>
                <c:pt idx="9">
                  <c:v>0.2869467855827418</c:v>
                </c:pt>
                <c:pt idx="10">
                  <c:v>0.07298655817400902</c:v>
                </c:pt>
                <c:pt idx="11">
                  <c:v>0.33243782673889255</c:v>
                </c:pt>
                <c:pt idx="12">
                  <c:v>0.09113122424330836</c:v>
                </c:pt>
                <c:pt idx="13">
                  <c:v>0.34391691259310614</c:v>
                </c:pt>
                <c:pt idx="14">
                  <c:v>0.09561736912604875</c:v>
                </c:pt>
                <c:pt idx="15">
                  <c:v>0.7125743319717714</c:v>
                </c:pt>
                <c:pt idx="16">
                  <c:v>0.09805644559642178</c:v>
                </c:pt>
                <c:pt idx="17">
                  <c:v>0.19289314611043806</c:v>
                </c:pt>
                <c:pt idx="18">
                  <c:v>0.23822139485994362</c:v>
                </c:pt>
                <c:pt idx="19">
                  <c:v>0.14479279288770427</c:v>
                </c:pt>
                <c:pt idx="20">
                  <c:v>0.408779792319925</c:v>
                </c:pt>
                <c:pt idx="21">
                  <c:v>0.38870447241122164</c:v>
                </c:pt>
                <c:pt idx="22">
                  <c:v>0.2351684639089898</c:v>
                </c:pt>
                <c:pt idx="23">
                  <c:v>0.4073759049971716</c:v>
                </c:pt>
                <c:pt idx="24">
                  <c:v>0.19007046824528398</c:v>
                </c:pt>
                <c:pt idx="25">
                  <c:v>0.1546381578665083</c:v>
                </c:pt>
                <c:pt idx="26">
                  <c:v>0.17705609199301467</c:v>
                </c:pt>
                <c:pt idx="27">
                  <c:v>0.13571151609150833</c:v>
                </c:pt>
                <c:pt idx="28">
                  <c:v>0.22692349237432533</c:v>
                </c:pt>
                <c:pt idx="29">
                  <c:v>0.1818562306729113</c:v>
                </c:pt>
                <c:pt idx="30">
                  <c:v>0.17954045712210767</c:v>
                </c:pt>
                <c:pt idx="31">
                  <c:v>0.09291659603999584</c:v>
                </c:pt>
                <c:pt idx="32">
                  <c:v>0.193161276387052</c:v>
                </c:pt>
                <c:pt idx="33">
                  <c:v>0.05416179210537718</c:v>
                </c:pt>
                <c:pt idx="34">
                  <c:v>0.12183787125679434</c:v>
                </c:pt>
                <c:pt idx="35">
                  <c:v>0.18976402820339427</c:v>
                </c:pt>
                <c:pt idx="36">
                  <c:v>0.12818740962184713</c:v>
                </c:pt>
                <c:pt idx="37">
                  <c:v>1.0360731047829193</c:v>
                </c:pt>
                <c:pt idx="38">
                  <c:v>0.4414730503893918</c:v>
                </c:pt>
                <c:pt idx="39">
                  <c:v>0.08842584654744268</c:v>
                </c:pt>
                <c:pt idx="40">
                  <c:v>0.6238839985879978</c:v>
                </c:pt>
                <c:pt idx="41">
                  <c:v>0.0652422275699458</c:v>
                </c:pt>
                <c:pt idx="42">
                  <c:v>0.1653913656671489</c:v>
                </c:pt>
                <c:pt idx="43">
                  <c:v>0.6628722844844224</c:v>
                </c:pt>
                <c:pt idx="44">
                  <c:v>0.17774348262810236</c:v>
                </c:pt>
                <c:pt idx="45">
                  <c:v>0.05000427119816484</c:v>
                </c:pt>
                <c:pt idx="46">
                  <c:v>0.06328079490736278</c:v>
                </c:pt>
                <c:pt idx="47">
                  <c:v>0.07418233236428484</c:v>
                </c:pt>
                <c:pt idx="48">
                  <c:v>0.13840895906373749</c:v>
                </c:pt>
                <c:pt idx="49">
                  <c:v>0.06828537894609663</c:v>
                </c:pt>
                <c:pt idx="50">
                  <c:v>0.16944409219507717</c:v>
                </c:pt>
                <c:pt idx="51">
                  <c:v>0.5610906088778518</c:v>
                </c:pt>
                <c:pt idx="52">
                  <c:v>0.09267347705454496</c:v>
                </c:pt>
                <c:pt idx="53">
                  <c:v>1.102054728712672</c:v>
                </c:pt>
                <c:pt idx="54">
                  <c:v>0.3399261741932252</c:v>
                </c:pt>
                <c:pt idx="55">
                  <c:v>0.054229800637385875</c:v>
                </c:pt>
                <c:pt idx="56">
                  <c:v>0.0872741025010091</c:v>
                </c:pt>
                <c:pt idx="57">
                  <c:v>0.13732776047108916</c:v>
                </c:pt>
                <c:pt idx="58">
                  <c:v>1.017930250237012</c:v>
                </c:pt>
                <c:pt idx="59">
                  <c:v>0.1285208002802217</c:v>
                </c:pt>
                <c:pt idx="60">
                  <c:v>0.05924805395354701</c:v>
                </c:pt>
                <c:pt idx="61">
                  <c:v>0.12322157102325677</c:v>
                </c:pt>
                <c:pt idx="62">
                  <c:v>0.12368438255867163</c:v>
                </c:pt>
                <c:pt idx="63">
                  <c:v>0.7301758479669573</c:v>
                </c:pt>
                <c:pt idx="64">
                  <c:v>0.2462715083673309</c:v>
                </c:pt>
                <c:pt idx="65">
                  <c:v>0.859697691977438</c:v>
                </c:pt>
                <c:pt idx="66">
                  <c:v>0.0609514969883751</c:v>
                </c:pt>
                <c:pt idx="67">
                  <c:v>0.1271968152247791</c:v>
                </c:pt>
                <c:pt idx="68">
                  <c:v>1.0028280122051052</c:v>
                </c:pt>
                <c:pt idx="69">
                  <c:v>0.044109526310827374</c:v>
                </c:pt>
                <c:pt idx="70">
                  <c:v>1.4438044737150861</c:v>
                </c:pt>
                <c:pt idx="71">
                  <c:v>0.20010140395764128</c:v>
                </c:pt>
                <c:pt idx="72">
                  <c:v>0.033821568855524634</c:v>
                </c:pt>
                <c:pt idx="73">
                  <c:v>0.17420520019888275</c:v>
                </c:pt>
                <c:pt idx="74">
                  <c:v>0.11671186211952389</c:v>
                </c:pt>
                <c:pt idx="75">
                  <c:v>0.03219422759318137</c:v>
                </c:pt>
                <c:pt idx="76">
                  <c:v>0.2811633338198803</c:v>
                </c:pt>
                <c:pt idx="77">
                  <c:v>0.1051370089623786</c:v>
                </c:pt>
                <c:pt idx="78">
                  <c:v>0.0994687590299851</c:v>
                </c:pt>
                <c:pt idx="79">
                  <c:v>0.24970992343480694</c:v>
                </c:pt>
                <c:pt idx="80">
                  <c:v>0.11992399721195802</c:v>
                </c:pt>
                <c:pt idx="81">
                  <c:v>0.25082313474560475</c:v>
                </c:pt>
                <c:pt idx="82">
                  <c:v>0.23203055566049177</c:v>
                </c:pt>
                <c:pt idx="83">
                  <c:v>0.34896352205505743</c:v>
                </c:pt>
                <c:pt idx="84">
                  <c:v>0.10046426668696248</c:v>
                </c:pt>
                <c:pt idx="85">
                  <c:v>0.03360661651622801</c:v>
                </c:pt>
                <c:pt idx="86">
                  <c:v>0.10292484405183325</c:v>
                </c:pt>
                <c:pt idx="87">
                  <c:v>0.40954401855913347</c:v>
                </c:pt>
                <c:pt idx="88">
                  <c:v>0.0932924510363187</c:v>
                </c:pt>
                <c:pt idx="89">
                  <c:v>0.7862725042948076</c:v>
                </c:pt>
                <c:pt idx="90">
                  <c:v>1.4021923165584287</c:v>
                </c:pt>
                <c:pt idx="91">
                  <c:v>1.3038019143374606</c:v>
                </c:pt>
                <c:pt idx="92">
                  <c:v>0.4445281139740935</c:v>
                </c:pt>
                <c:pt idx="93">
                  <c:v>0.45751847200247925</c:v>
                </c:pt>
                <c:pt idx="94">
                  <c:v>0.06202784585575192</c:v>
                </c:pt>
                <c:pt idx="95">
                  <c:v>0.14146870234617576</c:v>
                </c:pt>
                <c:pt idx="96">
                  <c:v>0.41318560652700037</c:v>
                </c:pt>
                <c:pt idx="97">
                  <c:v>0.13094461083627654</c:v>
                </c:pt>
                <c:pt idx="98">
                  <c:v>0.032670953867786026</c:v>
                </c:pt>
                <c:pt idx="99">
                  <c:v>0.2263255110261935</c:v>
                </c:pt>
                <c:pt idx="100">
                  <c:v>0.3911422451930998</c:v>
                </c:pt>
                <c:pt idx="101">
                  <c:v>0.23479193243526436</c:v>
                </c:pt>
                <c:pt idx="102">
                  <c:v>0.22201248639528134</c:v>
                </c:pt>
                <c:pt idx="103">
                  <c:v>0.3545932118971147</c:v>
                </c:pt>
                <c:pt idx="104">
                  <c:v>0.1469002806330291</c:v>
                </c:pt>
                <c:pt idx="105">
                  <c:v>0.1910450473894985</c:v>
                </c:pt>
                <c:pt idx="106">
                  <c:v>0.17373924060689563</c:v>
                </c:pt>
                <c:pt idx="107">
                  <c:v>0.23595769092264274</c:v>
                </c:pt>
                <c:pt idx="108">
                  <c:v>0.05350218116175563</c:v>
                </c:pt>
                <c:pt idx="109">
                  <c:v>0.37173204368871576</c:v>
                </c:pt>
                <c:pt idx="110">
                  <c:v>0.3320398968723144</c:v>
                </c:pt>
                <c:pt idx="111">
                  <c:v>0.12556541618242892</c:v>
                </c:pt>
                <c:pt idx="112">
                  <c:v>0.9183852135923574</c:v>
                </c:pt>
                <c:pt idx="113">
                  <c:v>0.20465837384972838</c:v>
                </c:pt>
                <c:pt idx="114">
                  <c:v>0.1620430247746255</c:v>
                </c:pt>
                <c:pt idx="115">
                  <c:v>0.16376403345864904</c:v>
                </c:pt>
                <c:pt idx="116">
                  <c:v>0.04094976146763945</c:v>
                </c:pt>
                <c:pt idx="117">
                  <c:v>0.09125180890580785</c:v>
                </c:pt>
                <c:pt idx="118">
                  <c:v>0.2539325842696629</c:v>
                </c:pt>
                <c:pt idx="119">
                  <c:v>1.28813584245334</c:v>
                </c:pt>
                <c:pt idx="120">
                  <c:v>0.5932486441167047</c:v>
                </c:pt>
                <c:pt idx="121">
                  <c:v>1.0134600917145444</c:v>
                </c:pt>
                <c:pt idx="122">
                  <c:v>0.20393412781656636</c:v>
                </c:pt>
                <c:pt idx="123">
                  <c:v>0.1252617409512414</c:v>
                </c:pt>
                <c:pt idx="124">
                  <c:v>0.039891343578443476</c:v>
                </c:pt>
                <c:pt idx="125">
                  <c:v>0.7614256459455971</c:v>
                </c:pt>
                <c:pt idx="126">
                  <c:v>0.13833886201672732</c:v>
                </c:pt>
                <c:pt idx="127">
                  <c:v>0.10587001570488859</c:v>
                </c:pt>
                <c:pt idx="128">
                  <c:v>0.6177975517280894</c:v>
                </c:pt>
                <c:pt idx="129">
                  <c:v>0.5807380121836858</c:v>
                </c:pt>
                <c:pt idx="130">
                  <c:v>1.2371329656400611</c:v>
                </c:pt>
                <c:pt idx="131">
                  <c:v>0.04279032250131568</c:v>
                </c:pt>
                <c:pt idx="132">
                  <c:v>0.6004383199735807</c:v>
                </c:pt>
                <c:pt idx="133">
                  <c:v>0.22430978775145985</c:v>
                </c:pt>
                <c:pt idx="134">
                  <c:v>0.4436359861694319</c:v>
                </c:pt>
                <c:pt idx="135">
                  <c:v>0.07890755753466655</c:v>
                </c:pt>
                <c:pt idx="136">
                  <c:v>0.506792071676318</c:v>
                </c:pt>
                <c:pt idx="137">
                  <c:v>0.1876049438826396</c:v>
                </c:pt>
                <c:pt idx="138">
                  <c:v>0.07759904908723794</c:v>
                </c:pt>
                <c:pt idx="139">
                  <c:v>1.237397732716796</c:v>
                </c:pt>
                <c:pt idx="140">
                  <c:v>1.3102446381440327</c:v>
                </c:pt>
                <c:pt idx="141">
                  <c:v>0.5915651547956832</c:v>
                </c:pt>
                <c:pt idx="142">
                  <c:v>0.6751192024273949</c:v>
                </c:pt>
                <c:pt idx="143">
                  <c:v>0.4028761622710476</c:v>
                </c:pt>
                <c:pt idx="144">
                  <c:v>0.27784910199062124</c:v>
                </c:pt>
                <c:pt idx="145">
                  <c:v>0.09159140766806606</c:v>
                </c:pt>
                <c:pt idx="146">
                  <c:v>0.429585251376478</c:v>
                </c:pt>
                <c:pt idx="147">
                  <c:v>0.09223474024320547</c:v>
                </c:pt>
                <c:pt idx="148">
                  <c:v>0.040720465475067316</c:v>
                </c:pt>
                <c:pt idx="149">
                  <c:v>0.043876643949581746</c:v>
                </c:pt>
                <c:pt idx="150">
                  <c:v>0.54698749100072</c:v>
                </c:pt>
                <c:pt idx="151">
                  <c:v>0.3756895567814343</c:v>
                </c:pt>
                <c:pt idx="152">
                  <c:v>0.11538284026399594</c:v>
                </c:pt>
                <c:pt idx="153">
                  <c:v>0.10472889049479461</c:v>
                </c:pt>
                <c:pt idx="154">
                  <c:v>1.356700321248279</c:v>
                </c:pt>
                <c:pt idx="155">
                  <c:v>0.09507577075144642</c:v>
                </c:pt>
                <c:pt idx="156">
                  <c:v>0.03970728378648658</c:v>
                </c:pt>
                <c:pt idx="157">
                  <c:v>1.407431591765422</c:v>
                </c:pt>
                <c:pt idx="158">
                  <c:v>0.021005792865130976</c:v>
                </c:pt>
                <c:pt idx="159">
                  <c:v>0.08314249025072934</c:v>
                </c:pt>
                <c:pt idx="160">
                  <c:v>0.11980366157210319</c:v>
                </c:pt>
                <c:pt idx="161">
                  <c:v>0.5387689800401764</c:v>
                </c:pt>
                <c:pt idx="162">
                  <c:v>0.38877051325184103</c:v>
                </c:pt>
                <c:pt idx="163">
                  <c:v>0.05935257244950489</c:v>
                </c:pt>
                <c:pt idx="164">
                  <c:v>0.05667128205756577</c:v>
                </c:pt>
                <c:pt idx="165">
                  <c:v>0.11431672133546318</c:v>
                </c:pt>
                <c:pt idx="166">
                  <c:v>0.6113366859886018</c:v>
                </c:pt>
                <c:pt idx="167">
                  <c:v>0.2159377132951189</c:v>
                </c:pt>
                <c:pt idx="168">
                  <c:v>0.9474979368594161</c:v>
                </c:pt>
                <c:pt idx="169">
                  <c:v>1.4712066550521545</c:v>
                </c:pt>
                <c:pt idx="170">
                  <c:v>0.1330039901197036</c:v>
                </c:pt>
                <c:pt idx="171">
                  <c:v>0.13794573716320863</c:v>
                </c:pt>
                <c:pt idx="172">
                  <c:v>0.3565304284533488</c:v>
                </c:pt>
                <c:pt idx="173">
                  <c:v>0.13328766996491942</c:v>
                </c:pt>
                <c:pt idx="174">
                  <c:v>0.14629342189556754</c:v>
                </c:pt>
                <c:pt idx="175">
                  <c:v>0.7768797515520004</c:v>
                </c:pt>
                <c:pt idx="176">
                  <c:v>0.07127166219184769</c:v>
                </c:pt>
                <c:pt idx="177">
                  <c:v>0.22692105995765866</c:v>
                </c:pt>
                <c:pt idx="178">
                  <c:v>0.2422072108732807</c:v>
                </c:pt>
                <c:pt idx="179">
                  <c:v>0.46275039683060254</c:v>
                </c:pt>
                <c:pt idx="180">
                  <c:v>0.1293841444432915</c:v>
                </c:pt>
                <c:pt idx="181">
                  <c:v>0.44208262819908983</c:v>
                </c:pt>
                <c:pt idx="182">
                  <c:v>0.9504403838569738</c:v>
                </c:pt>
                <c:pt idx="183">
                  <c:v>0.036970492709557046</c:v>
                </c:pt>
                <c:pt idx="184">
                  <c:v>0.5166371494186979</c:v>
                </c:pt>
                <c:pt idx="185">
                  <c:v>0.03320169153881103</c:v>
                </c:pt>
                <c:pt idx="186">
                  <c:v>0.9619264236975252</c:v>
                </c:pt>
                <c:pt idx="187">
                  <c:v>0.40012500704445436</c:v>
                </c:pt>
                <c:pt idx="188">
                  <c:v>0.4025441636379004</c:v>
                </c:pt>
                <c:pt idx="189">
                  <c:v>0.3678409538496458</c:v>
                </c:pt>
                <c:pt idx="190">
                  <c:v>0.5955939602914188</c:v>
                </c:pt>
                <c:pt idx="191">
                  <c:v>0.22272365471261346</c:v>
                </c:pt>
                <c:pt idx="192">
                  <c:v>1.0369366059830258</c:v>
                </c:pt>
                <c:pt idx="193">
                  <c:v>0.37461978079143393</c:v>
                </c:pt>
                <c:pt idx="194">
                  <c:v>0.18255660548187183</c:v>
                </c:pt>
                <c:pt idx="195">
                  <c:v>0.23797627639297544</c:v>
                </c:pt>
                <c:pt idx="196">
                  <c:v>0.3884978799423172</c:v>
                </c:pt>
                <c:pt idx="197">
                  <c:v>0.6163363943934268</c:v>
                </c:pt>
                <c:pt idx="198">
                  <c:v>0.6736927870361289</c:v>
                </c:pt>
                <c:pt idx="199">
                  <c:v>0.5003753798018152</c:v>
                </c:pt>
                <c:pt idx="200">
                  <c:v>0.32999039268476993</c:v>
                </c:pt>
                <c:pt idx="201">
                  <c:v>0.39490935305371483</c:v>
                </c:pt>
                <c:pt idx="202">
                  <c:v>0.21032468154391343</c:v>
                </c:pt>
                <c:pt idx="203">
                  <c:v>0.5498748520537845</c:v>
                </c:pt>
                <c:pt idx="204">
                  <c:v>0.805810254491018</c:v>
                </c:pt>
                <c:pt idx="205">
                  <c:v>0.1572760563708453</c:v>
                </c:pt>
                <c:pt idx="206">
                  <c:v>1.0640581757998977</c:v>
                </c:pt>
                <c:pt idx="207">
                  <c:v>0.2369300857480193</c:v>
                </c:pt>
                <c:pt idx="208">
                  <c:v>0.15660872417185961</c:v>
                </c:pt>
                <c:pt idx="209">
                  <c:v>0.16325945511161372</c:v>
                </c:pt>
                <c:pt idx="210">
                  <c:v>0.13938529006702977</c:v>
                </c:pt>
                <c:pt idx="211">
                  <c:v>0.23554817940053188</c:v>
                </c:pt>
                <c:pt idx="212">
                  <c:v>0.08614691362115239</c:v>
                </c:pt>
                <c:pt idx="213">
                  <c:v>0.8465625793140714</c:v>
                </c:pt>
                <c:pt idx="214">
                  <c:v>0.09730123634677333</c:v>
                </c:pt>
                <c:pt idx="215">
                  <c:v>0.7639368814765098</c:v>
                </c:pt>
                <c:pt idx="216">
                  <c:v>0.08320933912109624</c:v>
                </c:pt>
                <c:pt idx="217">
                  <c:v>0.1556315486180339</c:v>
                </c:pt>
                <c:pt idx="218">
                  <c:v>0.8225572446855485</c:v>
                </c:pt>
                <c:pt idx="219">
                  <c:v>0.20654638459694008</c:v>
                </c:pt>
                <c:pt idx="220">
                  <c:v>0.19387570972358023</c:v>
                </c:pt>
                <c:pt idx="221">
                  <c:v>0.18323545114789108</c:v>
                </c:pt>
                <c:pt idx="222">
                  <c:v>0.04929971988795518</c:v>
                </c:pt>
                <c:pt idx="223">
                  <c:v>0.3864443303823296</c:v>
                </c:pt>
                <c:pt idx="224">
                  <c:v>0.3278646035818884</c:v>
                </c:pt>
                <c:pt idx="225">
                  <c:v>0.44658591728489516</c:v>
                </c:pt>
                <c:pt idx="226">
                  <c:v>0.5001366375028737</c:v>
                </c:pt>
                <c:pt idx="227">
                  <c:v>0.3586206896551724</c:v>
                </c:pt>
                <c:pt idx="228">
                  <c:v>0.04429639604521776</c:v>
                </c:pt>
                <c:pt idx="229">
                  <c:v>0.6662393924777719</c:v>
                </c:pt>
                <c:pt idx="230">
                  <c:v>0.33841406861480966</c:v>
                </c:pt>
                <c:pt idx="231">
                  <c:v>0.057852584383418004</c:v>
                </c:pt>
                <c:pt idx="232">
                  <c:v>0.3188992600820539</c:v>
                </c:pt>
                <c:pt idx="233">
                  <c:v>1.356112383756756</c:v>
                </c:pt>
                <c:pt idx="234">
                  <c:v>0.32879088899459946</c:v>
                </c:pt>
                <c:pt idx="235">
                  <c:v>0.31333453668605915</c:v>
                </c:pt>
                <c:pt idx="236">
                  <c:v>0.23775514905773396</c:v>
                </c:pt>
                <c:pt idx="237">
                  <c:v>0.02723532756454056</c:v>
                </c:pt>
                <c:pt idx="238">
                  <c:v>0.1699569781927136</c:v>
                </c:pt>
                <c:pt idx="239">
                  <c:v>0.17323873948193366</c:v>
                </c:pt>
                <c:pt idx="240">
                  <c:v>0.13940135404532006</c:v>
                </c:pt>
                <c:pt idx="241">
                  <c:v>1.1679572419788464</c:v>
                </c:pt>
                <c:pt idx="242">
                  <c:v>0.3973560539487258</c:v>
                </c:pt>
                <c:pt idx="243">
                  <c:v>0.30659294405754955</c:v>
                </c:pt>
                <c:pt idx="244">
                  <c:v>1.0832713139832961</c:v>
                </c:pt>
                <c:pt idx="245">
                  <c:v>0.7913482948823372</c:v>
                </c:pt>
                <c:pt idx="246">
                  <c:v>0.4006337384345129</c:v>
                </c:pt>
                <c:pt idx="247">
                  <c:v>0.1479941594278219</c:v>
                </c:pt>
                <c:pt idx="248">
                  <c:v>0.3246627571658054</c:v>
                </c:pt>
                <c:pt idx="249">
                  <c:v>0.3325785198588209</c:v>
                </c:pt>
                <c:pt idx="250">
                  <c:v>0.39659089963295574</c:v>
                </c:pt>
                <c:pt idx="251">
                  <c:v>1.334523522431825</c:v>
                </c:pt>
                <c:pt idx="252">
                  <c:v>0.13028565527130598</c:v>
                </c:pt>
                <c:pt idx="253">
                  <c:v>0.9766998391037482</c:v>
                </c:pt>
                <c:pt idx="254">
                  <c:v>1.4132657380872358</c:v>
                </c:pt>
                <c:pt idx="255">
                  <c:v>0.2635397302947844</c:v>
                </c:pt>
                <c:pt idx="256">
                  <c:v>0.12591400249869777</c:v>
                </c:pt>
                <c:pt idx="257">
                  <c:v>0.10721600927139595</c:v>
                </c:pt>
                <c:pt idx="258">
                  <c:v>0.6590067332292715</c:v>
                </c:pt>
                <c:pt idx="259">
                  <c:v>0.705283237860937</c:v>
                </c:pt>
                <c:pt idx="260">
                  <c:v>0.3318366240790169</c:v>
                </c:pt>
                <c:pt idx="261">
                  <c:v>0.2785894975575715</c:v>
                </c:pt>
                <c:pt idx="262">
                  <c:v>0.8943809745861506</c:v>
                </c:pt>
                <c:pt idx="263">
                  <c:v>0.8488195168652659</c:v>
                </c:pt>
                <c:pt idx="264">
                  <c:v>0.39644014002150757</c:v>
                </c:pt>
                <c:pt idx="265">
                  <c:v>1.2602387630816105</c:v>
                </c:pt>
                <c:pt idx="266">
                  <c:v>0.9253621717742793</c:v>
                </c:pt>
                <c:pt idx="267">
                  <c:v>1.2859512367815489</c:v>
                </c:pt>
                <c:pt idx="268">
                  <c:v>0.8063520506245172</c:v>
                </c:pt>
                <c:pt idx="269">
                  <c:v>0.4608278854942126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Sheet1!$B$273</c:f>
              <c:strCache>
                <c:ptCount val="1"/>
                <c:pt idx="0">
                  <c:v>Pasa el mínimo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6"/>
            <c:spPr>
              <a:solidFill>
                <a:srgbClr val="1F9E89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Sheet1!$A$274:$A$311</c:f>
              <c:numCache>
                <c:formatCode>General</c:formatCode>
                <c:ptCount val="38"/>
                <c:pt idx="0">
                  <c:v>4181413.0</c:v>
                </c:pt>
                <c:pt idx="1">
                  <c:v>9567510.0</c:v>
                </c:pt>
                <c:pt idx="2">
                  <c:v>9064240.0</c:v>
                </c:pt>
                <c:pt idx="3">
                  <c:v>3319863.0</c:v>
                </c:pt>
                <c:pt idx="4">
                  <c:v>4094222.0</c:v>
                </c:pt>
                <c:pt idx="5">
                  <c:v>2136770.0</c:v>
                </c:pt>
                <c:pt idx="6">
                  <c:v>565301.0</c:v>
                </c:pt>
                <c:pt idx="7">
                  <c:v>2017406.0</c:v>
                </c:pt>
                <c:pt idx="8">
                  <c:v>1691445.0</c:v>
                </c:pt>
                <c:pt idx="9">
                  <c:v>2457912.0</c:v>
                </c:pt>
                <c:pt idx="10">
                  <c:v>499873.0</c:v>
                </c:pt>
                <c:pt idx="11">
                  <c:v>476330.0</c:v>
                </c:pt>
                <c:pt idx="12">
                  <c:v>1254000.0</c:v>
                </c:pt>
                <c:pt idx="13">
                  <c:v>435806.0</c:v>
                </c:pt>
                <c:pt idx="14">
                  <c:v>708647.0</c:v>
                </c:pt>
                <c:pt idx="15">
                  <c:v>1260313.0</c:v>
                </c:pt>
                <c:pt idx="16">
                  <c:v>476918.0</c:v>
                </c:pt>
                <c:pt idx="17">
                  <c:v>1295098.0</c:v>
                </c:pt>
                <c:pt idx="18">
                  <c:v>293980.0</c:v>
                </c:pt>
                <c:pt idx="19">
                  <c:v>211812.0</c:v>
                </c:pt>
                <c:pt idx="20">
                  <c:v>208721.0</c:v>
                </c:pt>
                <c:pt idx="21">
                  <c:v>230814.0</c:v>
                </c:pt>
                <c:pt idx="22">
                  <c:v>302213.0</c:v>
                </c:pt>
                <c:pt idx="23">
                  <c:v>509196.0</c:v>
                </c:pt>
                <c:pt idx="24">
                  <c:v>715800.0</c:v>
                </c:pt>
                <c:pt idx="25">
                  <c:v>214102.0</c:v>
                </c:pt>
                <c:pt idx="26">
                  <c:v>1178540.0</c:v>
                </c:pt>
                <c:pt idx="27">
                  <c:v>621988.0</c:v>
                </c:pt>
                <c:pt idx="28">
                  <c:v>402928.0</c:v>
                </c:pt>
                <c:pt idx="29">
                  <c:v>788094.0</c:v>
                </c:pt>
                <c:pt idx="30">
                  <c:v>243309.0</c:v>
                </c:pt>
                <c:pt idx="31">
                  <c:v>761697.0</c:v>
                </c:pt>
                <c:pt idx="32">
                  <c:v>438463.0</c:v>
                </c:pt>
                <c:pt idx="33">
                  <c:v>316342.0</c:v>
                </c:pt>
                <c:pt idx="34">
                  <c:v>533113.0</c:v>
                </c:pt>
                <c:pt idx="35">
                  <c:v>327642.0</c:v>
                </c:pt>
                <c:pt idx="36">
                  <c:v>423983.0</c:v>
                </c:pt>
                <c:pt idx="37">
                  <c:v>300967.0</c:v>
                </c:pt>
              </c:numCache>
            </c:numRef>
          </c:xVal>
          <c:yVal>
            <c:numRef>
              <c:f>Sheet1!$B$274:$B$311</c:f>
              <c:numCache>
                <c:formatCode>General</c:formatCode>
                <c:ptCount val="38"/>
                <c:pt idx="0">
                  <c:v>2.1212685759574574</c:v>
                </c:pt>
                <c:pt idx="1">
                  <c:v>3.03577419830238</c:v>
                </c:pt>
                <c:pt idx="2">
                  <c:v>3.797207487886464</c:v>
                </c:pt>
                <c:pt idx="3">
                  <c:v>2.7787893657057534</c:v>
                </c:pt>
                <c:pt idx="4">
                  <c:v>4.0</c:v>
                </c:pt>
                <c:pt idx="5">
                  <c:v>1.7463742003116853</c:v>
                </c:pt>
                <c:pt idx="6">
                  <c:v>1.639126766094523</c:v>
                </c:pt>
                <c:pt idx="7">
                  <c:v>2.943235025572443</c:v>
                </c:pt>
                <c:pt idx="8">
                  <c:v>2.142014667931857</c:v>
                </c:pt>
                <c:pt idx="9">
                  <c:v>2.5387808839372608</c:v>
                </c:pt>
                <c:pt idx="10">
                  <c:v>4.0</c:v>
                </c:pt>
                <c:pt idx="11">
                  <c:v>1.5119769907417127</c:v>
                </c:pt>
                <c:pt idx="12">
                  <c:v>3.6655502392344497</c:v>
                </c:pt>
                <c:pt idx="13">
                  <c:v>1.520630739365681</c:v>
                </c:pt>
                <c:pt idx="14">
                  <c:v>4.0</c:v>
                </c:pt>
                <c:pt idx="15">
                  <c:v>1.7176685474163957</c:v>
                </c:pt>
                <c:pt idx="16">
                  <c:v>1.9106009838169244</c:v>
                </c:pt>
                <c:pt idx="17">
                  <c:v>2.616404318437678</c:v>
                </c:pt>
                <c:pt idx="18">
                  <c:v>2.753588679502007</c:v>
                </c:pt>
                <c:pt idx="19">
                  <c:v>3.6589050667573133</c:v>
                </c:pt>
                <c:pt idx="20">
                  <c:v>1.7041888453964862</c:v>
                </c:pt>
                <c:pt idx="21">
                  <c:v>1.6311835503912242</c:v>
                </c:pt>
                <c:pt idx="22">
                  <c:v>3.0998004718526335</c:v>
                </c:pt>
                <c:pt idx="23">
                  <c:v>1.507278140441009</c:v>
                </c:pt>
                <c:pt idx="24">
                  <c:v>1.9874266554903603</c:v>
                </c:pt>
                <c:pt idx="25">
                  <c:v>2.179802150376923</c:v>
                </c:pt>
                <c:pt idx="26">
                  <c:v>4.0</c:v>
                </c:pt>
                <c:pt idx="27">
                  <c:v>3.1683891007543554</c:v>
                </c:pt>
                <c:pt idx="28">
                  <c:v>3.80837271174999</c:v>
                </c:pt>
                <c:pt idx="29">
                  <c:v>4.0</c:v>
                </c:pt>
                <c:pt idx="30">
                  <c:v>1.7089380170893802</c:v>
                </c:pt>
                <c:pt idx="31">
                  <c:v>4.0</c:v>
                </c:pt>
                <c:pt idx="32">
                  <c:v>1.5298896372099813</c:v>
                </c:pt>
                <c:pt idx="33">
                  <c:v>1.5634977334656794</c:v>
                </c:pt>
                <c:pt idx="34">
                  <c:v>1.977066775711716</c:v>
                </c:pt>
                <c:pt idx="35">
                  <c:v>2.9318585529327743</c:v>
                </c:pt>
                <c:pt idx="36">
                  <c:v>4.0</c:v>
                </c:pt>
                <c:pt idx="37">
                  <c:v>1.9972289320756096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logBase val="10"/>
          <c:orientation val="minMax"/>
          <c:max val="20000000.0"/>
          <c:min val="200000.0"/>
        </c:scaling>
        <c:delete val="0"/>
        <c:axPos val="b"/>
        <c:numFmt formatCode="#,##0,,&quot;M&quot;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4.0"/>
          <c:min val="0.0"/>
        </c:scaling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0.0&quot; %&quot;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28940872"/>
        <c:crosses val="autoZero"/>
        <c:crossBetween val="midCat"/>
      </c:valAx>
    </c:plotArea>
    <c:legend>
      <c:legendPos val="t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Push: apertura por pieza. En verde las 26 que pasan 3 %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pasa el mínimo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6"/>
            <c:spPr>
              <a:solidFill>
                <a:srgbClr val="A3AAB5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Sheet1!$A$2:$A$289</c:f>
              <c:numCache>
                <c:formatCode>General</c:formatCode>
                <c:ptCount val="288"/>
                <c:pt idx="0">
                  <c:v>4247081.0</c:v>
                </c:pt>
                <c:pt idx="1">
                  <c:v>4082774.0</c:v>
                </c:pt>
                <c:pt idx="2">
                  <c:v>3923496.0</c:v>
                </c:pt>
                <c:pt idx="3">
                  <c:v>2806436.0</c:v>
                </c:pt>
                <c:pt idx="4">
                  <c:v>2690842.0</c:v>
                </c:pt>
                <c:pt idx="5">
                  <c:v>2613317.0</c:v>
                </c:pt>
                <c:pt idx="6">
                  <c:v>2464325.0</c:v>
                </c:pt>
                <c:pt idx="7">
                  <c:v>2411225.0</c:v>
                </c:pt>
                <c:pt idx="8">
                  <c:v>2268414.0</c:v>
                </c:pt>
                <c:pt idx="9">
                  <c:v>2138056.0</c:v>
                </c:pt>
                <c:pt idx="10">
                  <c:v>1996803.0</c:v>
                </c:pt>
                <c:pt idx="11">
                  <c:v>1937450.0</c:v>
                </c:pt>
                <c:pt idx="12">
                  <c:v>1872378.0</c:v>
                </c:pt>
                <c:pt idx="13">
                  <c:v>1866452.0</c:v>
                </c:pt>
                <c:pt idx="14">
                  <c:v>1722624.0</c:v>
                </c:pt>
                <c:pt idx="15">
                  <c:v>1656772.0</c:v>
                </c:pt>
                <c:pt idx="16">
                  <c:v>1611288.0</c:v>
                </c:pt>
                <c:pt idx="17">
                  <c:v>1609232.0</c:v>
                </c:pt>
                <c:pt idx="18">
                  <c:v>1602467.0</c:v>
                </c:pt>
                <c:pt idx="19">
                  <c:v>1602200.0</c:v>
                </c:pt>
                <c:pt idx="20">
                  <c:v>1601318.0</c:v>
                </c:pt>
                <c:pt idx="21">
                  <c:v>1599574.0</c:v>
                </c:pt>
                <c:pt idx="22">
                  <c:v>1592188.0</c:v>
                </c:pt>
                <c:pt idx="23">
                  <c:v>1578211.0</c:v>
                </c:pt>
                <c:pt idx="24">
                  <c:v>1577891.0</c:v>
                </c:pt>
                <c:pt idx="25">
                  <c:v>1575191.0</c:v>
                </c:pt>
                <c:pt idx="26">
                  <c:v>1572238.0</c:v>
                </c:pt>
                <c:pt idx="27">
                  <c:v>1563428.0</c:v>
                </c:pt>
                <c:pt idx="28">
                  <c:v>1551272.0</c:v>
                </c:pt>
                <c:pt idx="29">
                  <c:v>1546837.0</c:v>
                </c:pt>
                <c:pt idx="30">
                  <c:v>1524064.0</c:v>
                </c:pt>
                <c:pt idx="31">
                  <c:v>1506165.0</c:v>
                </c:pt>
                <c:pt idx="32">
                  <c:v>1467350.0</c:v>
                </c:pt>
                <c:pt idx="33">
                  <c:v>1466494.0</c:v>
                </c:pt>
                <c:pt idx="34">
                  <c:v>1386427.0</c:v>
                </c:pt>
                <c:pt idx="35">
                  <c:v>1357073.0</c:v>
                </c:pt>
                <c:pt idx="36">
                  <c:v>1349107.0</c:v>
                </c:pt>
                <c:pt idx="37">
                  <c:v>1344494.0</c:v>
                </c:pt>
                <c:pt idx="38">
                  <c:v>1317609.0</c:v>
                </c:pt>
                <c:pt idx="39">
                  <c:v>1310454.0</c:v>
                </c:pt>
                <c:pt idx="40">
                  <c:v>1302325.0</c:v>
                </c:pt>
                <c:pt idx="41">
                  <c:v>1295482.0</c:v>
                </c:pt>
                <c:pt idx="42">
                  <c:v>1287237.0</c:v>
                </c:pt>
                <c:pt idx="43">
                  <c:v>1282554.0</c:v>
                </c:pt>
                <c:pt idx="44">
                  <c:v>1277853.0</c:v>
                </c:pt>
                <c:pt idx="45">
                  <c:v>1260495.0</c:v>
                </c:pt>
                <c:pt idx="46">
                  <c:v>1253050.0</c:v>
                </c:pt>
                <c:pt idx="47">
                  <c:v>1245291.0</c:v>
                </c:pt>
                <c:pt idx="48">
                  <c:v>1219347.0</c:v>
                </c:pt>
                <c:pt idx="49">
                  <c:v>1214849.0</c:v>
                </c:pt>
                <c:pt idx="50">
                  <c:v>1170430.0</c:v>
                </c:pt>
                <c:pt idx="51">
                  <c:v>1120849.0</c:v>
                </c:pt>
                <c:pt idx="52">
                  <c:v>1096349.0</c:v>
                </c:pt>
                <c:pt idx="53">
                  <c:v>1084699.0</c:v>
                </c:pt>
                <c:pt idx="54">
                  <c:v>1071349.0</c:v>
                </c:pt>
                <c:pt idx="55">
                  <c:v>1069840.0</c:v>
                </c:pt>
                <c:pt idx="56">
                  <c:v>1006841.0</c:v>
                </c:pt>
                <c:pt idx="57">
                  <c:v>954345.0</c:v>
                </c:pt>
                <c:pt idx="58">
                  <c:v>924472.0</c:v>
                </c:pt>
                <c:pt idx="59">
                  <c:v>922622.0</c:v>
                </c:pt>
                <c:pt idx="60">
                  <c:v>913534.0</c:v>
                </c:pt>
                <c:pt idx="61">
                  <c:v>901765.0</c:v>
                </c:pt>
                <c:pt idx="62">
                  <c:v>1257035.0</c:v>
                </c:pt>
                <c:pt idx="63">
                  <c:v>858826.0</c:v>
                </c:pt>
                <c:pt idx="64">
                  <c:v>822078.0</c:v>
                </c:pt>
                <c:pt idx="65">
                  <c:v>785797.0</c:v>
                </c:pt>
                <c:pt idx="66">
                  <c:v>780318.0</c:v>
                </c:pt>
                <c:pt idx="67">
                  <c:v>767420.0</c:v>
                </c:pt>
                <c:pt idx="68">
                  <c:v>1139298.0</c:v>
                </c:pt>
                <c:pt idx="69">
                  <c:v>708048.0</c:v>
                </c:pt>
                <c:pt idx="70">
                  <c:v>679190.0</c:v>
                </c:pt>
                <c:pt idx="71">
                  <c:v>677951.0</c:v>
                </c:pt>
                <c:pt idx="72">
                  <c:v>672744.0</c:v>
                </c:pt>
                <c:pt idx="73">
                  <c:v>665402.0</c:v>
                </c:pt>
                <c:pt idx="74">
                  <c:v>649396.0</c:v>
                </c:pt>
                <c:pt idx="75">
                  <c:v>647262.0</c:v>
                </c:pt>
                <c:pt idx="76">
                  <c:v>639458.0</c:v>
                </c:pt>
                <c:pt idx="77">
                  <c:v>627525.0</c:v>
                </c:pt>
                <c:pt idx="78">
                  <c:v>624585.0</c:v>
                </c:pt>
                <c:pt idx="79">
                  <c:v>621732.0</c:v>
                </c:pt>
                <c:pt idx="80">
                  <c:v>616936.0</c:v>
                </c:pt>
                <c:pt idx="81">
                  <c:v>608361.0</c:v>
                </c:pt>
                <c:pt idx="82">
                  <c:v>604133.0</c:v>
                </c:pt>
                <c:pt idx="83">
                  <c:v>603328.0</c:v>
                </c:pt>
                <c:pt idx="84">
                  <c:v>603215.0</c:v>
                </c:pt>
                <c:pt idx="85">
                  <c:v>593608.0</c:v>
                </c:pt>
                <c:pt idx="86">
                  <c:v>575670.0</c:v>
                </c:pt>
                <c:pt idx="87">
                  <c:v>561282.0</c:v>
                </c:pt>
                <c:pt idx="88">
                  <c:v>560198.0</c:v>
                </c:pt>
                <c:pt idx="89">
                  <c:v>559108.0</c:v>
                </c:pt>
                <c:pt idx="90">
                  <c:v>558792.0</c:v>
                </c:pt>
                <c:pt idx="91">
                  <c:v>554628.0</c:v>
                </c:pt>
                <c:pt idx="92">
                  <c:v>553214.0</c:v>
                </c:pt>
                <c:pt idx="93">
                  <c:v>544756.0</c:v>
                </c:pt>
                <c:pt idx="94">
                  <c:v>768864.0</c:v>
                </c:pt>
                <c:pt idx="95">
                  <c:v>539335.0</c:v>
                </c:pt>
                <c:pt idx="96">
                  <c:v>532524.0</c:v>
                </c:pt>
                <c:pt idx="97">
                  <c:v>523910.0</c:v>
                </c:pt>
                <c:pt idx="98">
                  <c:v>520888.0</c:v>
                </c:pt>
                <c:pt idx="99">
                  <c:v>520530.0</c:v>
                </c:pt>
                <c:pt idx="100">
                  <c:v>517729.0</c:v>
                </c:pt>
                <c:pt idx="101">
                  <c:v>516376.0</c:v>
                </c:pt>
                <c:pt idx="102">
                  <c:v>491172.0</c:v>
                </c:pt>
                <c:pt idx="103">
                  <c:v>488860.0</c:v>
                </c:pt>
                <c:pt idx="104">
                  <c:v>487195.0</c:v>
                </c:pt>
                <c:pt idx="105">
                  <c:v>624908.0</c:v>
                </c:pt>
                <c:pt idx="106">
                  <c:v>483313.0</c:v>
                </c:pt>
                <c:pt idx="107">
                  <c:v>480751.0</c:v>
                </c:pt>
                <c:pt idx="108">
                  <c:v>502811.0</c:v>
                </c:pt>
                <c:pt idx="109">
                  <c:v>478953.0</c:v>
                </c:pt>
                <c:pt idx="110">
                  <c:v>477966.0</c:v>
                </c:pt>
                <c:pt idx="111">
                  <c:v>476929.0</c:v>
                </c:pt>
                <c:pt idx="112">
                  <c:v>472445.0</c:v>
                </c:pt>
                <c:pt idx="113">
                  <c:v>460659.0</c:v>
                </c:pt>
                <c:pt idx="114">
                  <c:v>459805.0</c:v>
                </c:pt>
                <c:pt idx="115">
                  <c:v>452423.0</c:v>
                </c:pt>
                <c:pt idx="116">
                  <c:v>432951.0</c:v>
                </c:pt>
                <c:pt idx="117">
                  <c:v>431654.0</c:v>
                </c:pt>
                <c:pt idx="118">
                  <c:v>428054.0</c:v>
                </c:pt>
                <c:pt idx="119">
                  <c:v>425786.0</c:v>
                </c:pt>
                <c:pt idx="120">
                  <c:v>424011.0</c:v>
                </c:pt>
                <c:pt idx="121">
                  <c:v>422114.0</c:v>
                </c:pt>
                <c:pt idx="122">
                  <c:v>421256.0</c:v>
                </c:pt>
                <c:pt idx="123">
                  <c:v>1699145.0</c:v>
                </c:pt>
                <c:pt idx="124">
                  <c:v>414003.0</c:v>
                </c:pt>
                <c:pt idx="125">
                  <c:v>409763.0</c:v>
                </c:pt>
                <c:pt idx="126">
                  <c:v>409679.0</c:v>
                </c:pt>
                <c:pt idx="127">
                  <c:v>407288.0</c:v>
                </c:pt>
                <c:pt idx="128">
                  <c:v>406252.0</c:v>
                </c:pt>
                <c:pt idx="129">
                  <c:v>402434.0</c:v>
                </c:pt>
                <c:pt idx="130">
                  <c:v>399066.0</c:v>
                </c:pt>
                <c:pt idx="131">
                  <c:v>395656.0</c:v>
                </c:pt>
                <c:pt idx="132">
                  <c:v>394502.0</c:v>
                </c:pt>
                <c:pt idx="133">
                  <c:v>1501455.0</c:v>
                </c:pt>
                <c:pt idx="134">
                  <c:v>392075.0</c:v>
                </c:pt>
                <c:pt idx="135">
                  <c:v>390677.0</c:v>
                </c:pt>
                <c:pt idx="136">
                  <c:v>377963.0</c:v>
                </c:pt>
                <c:pt idx="137">
                  <c:v>377467.0</c:v>
                </c:pt>
                <c:pt idx="138">
                  <c:v>376870.0</c:v>
                </c:pt>
                <c:pt idx="139">
                  <c:v>375328.0</c:v>
                </c:pt>
                <c:pt idx="140">
                  <c:v>363791.0</c:v>
                </c:pt>
                <c:pt idx="141">
                  <c:v>360102.0</c:v>
                </c:pt>
                <c:pt idx="142">
                  <c:v>359902.0</c:v>
                </c:pt>
                <c:pt idx="143">
                  <c:v>356502.0</c:v>
                </c:pt>
                <c:pt idx="144">
                  <c:v>344455.0</c:v>
                </c:pt>
                <c:pt idx="145">
                  <c:v>344299.0</c:v>
                </c:pt>
                <c:pt idx="146">
                  <c:v>341393.0</c:v>
                </c:pt>
                <c:pt idx="147">
                  <c:v>341323.0</c:v>
                </c:pt>
                <c:pt idx="148">
                  <c:v>341284.0</c:v>
                </c:pt>
                <c:pt idx="149">
                  <c:v>340480.0</c:v>
                </c:pt>
                <c:pt idx="150">
                  <c:v>340359.0</c:v>
                </c:pt>
                <c:pt idx="151">
                  <c:v>340241.0</c:v>
                </c:pt>
                <c:pt idx="152">
                  <c:v>339846.0</c:v>
                </c:pt>
                <c:pt idx="153">
                  <c:v>339750.0</c:v>
                </c:pt>
                <c:pt idx="154">
                  <c:v>339336.0</c:v>
                </c:pt>
                <c:pt idx="155">
                  <c:v>339164.0</c:v>
                </c:pt>
                <c:pt idx="156">
                  <c:v>339157.0</c:v>
                </c:pt>
                <c:pt idx="157">
                  <c:v>338713.0</c:v>
                </c:pt>
                <c:pt idx="158">
                  <c:v>338571.0</c:v>
                </c:pt>
                <c:pt idx="159">
                  <c:v>338549.0</c:v>
                </c:pt>
                <c:pt idx="160">
                  <c:v>338061.0</c:v>
                </c:pt>
                <c:pt idx="161">
                  <c:v>337579.0</c:v>
                </c:pt>
                <c:pt idx="162">
                  <c:v>336947.0</c:v>
                </c:pt>
                <c:pt idx="163">
                  <c:v>333658.0</c:v>
                </c:pt>
                <c:pt idx="164">
                  <c:v>333576.0</c:v>
                </c:pt>
                <c:pt idx="165">
                  <c:v>333181.0</c:v>
                </c:pt>
                <c:pt idx="166">
                  <c:v>331844.0</c:v>
                </c:pt>
                <c:pt idx="167">
                  <c:v>331786.0</c:v>
                </c:pt>
                <c:pt idx="168">
                  <c:v>338912.0</c:v>
                </c:pt>
                <c:pt idx="169">
                  <c:v>327154.0</c:v>
                </c:pt>
                <c:pt idx="170">
                  <c:v>325876.0</c:v>
                </c:pt>
                <c:pt idx="171">
                  <c:v>320870.0</c:v>
                </c:pt>
                <c:pt idx="172">
                  <c:v>319544.0</c:v>
                </c:pt>
                <c:pt idx="173">
                  <c:v>318782.0</c:v>
                </c:pt>
                <c:pt idx="174">
                  <c:v>318600.0</c:v>
                </c:pt>
                <c:pt idx="175">
                  <c:v>316384.0</c:v>
                </c:pt>
                <c:pt idx="176">
                  <c:v>316299.0</c:v>
                </c:pt>
                <c:pt idx="177">
                  <c:v>356955.0</c:v>
                </c:pt>
                <c:pt idx="178">
                  <c:v>314704.0</c:v>
                </c:pt>
                <c:pt idx="179">
                  <c:v>314702.0</c:v>
                </c:pt>
                <c:pt idx="180">
                  <c:v>312099.0</c:v>
                </c:pt>
                <c:pt idx="181">
                  <c:v>311379.0</c:v>
                </c:pt>
                <c:pt idx="182">
                  <c:v>309999.0</c:v>
                </c:pt>
                <c:pt idx="183">
                  <c:v>308320.0</c:v>
                </c:pt>
                <c:pt idx="184">
                  <c:v>308187.0</c:v>
                </c:pt>
                <c:pt idx="185">
                  <c:v>306680.0</c:v>
                </c:pt>
                <c:pt idx="186">
                  <c:v>305989.0</c:v>
                </c:pt>
                <c:pt idx="187">
                  <c:v>305870.0</c:v>
                </c:pt>
                <c:pt idx="188">
                  <c:v>305296.0</c:v>
                </c:pt>
                <c:pt idx="189">
                  <c:v>305130.0</c:v>
                </c:pt>
                <c:pt idx="190">
                  <c:v>304669.0</c:v>
                </c:pt>
                <c:pt idx="191">
                  <c:v>304495.0</c:v>
                </c:pt>
                <c:pt idx="192">
                  <c:v>300980.0</c:v>
                </c:pt>
                <c:pt idx="193">
                  <c:v>300089.0</c:v>
                </c:pt>
                <c:pt idx="194">
                  <c:v>299481.0</c:v>
                </c:pt>
                <c:pt idx="195">
                  <c:v>299128.0</c:v>
                </c:pt>
                <c:pt idx="196">
                  <c:v>298354.0</c:v>
                </c:pt>
                <c:pt idx="197">
                  <c:v>295102.0</c:v>
                </c:pt>
                <c:pt idx="198">
                  <c:v>304521.0</c:v>
                </c:pt>
                <c:pt idx="199">
                  <c:v>293493.0</c:v>
                </c:pt>
                <c:pt idx="200">
                  <c:v>293120.0</c:v>
                </c:pt>
                <c:pt idx="201">
                  <c:v>292893.0</c:v>
                </c:pt>
                <c:pt idx="202">
                  <c:v>292216.0</c:v>
                </c:pt>
                <c:pt idx="203">
                  <c:v>319090.0</c:v>
                </c:pt>
                <c:pt idx="204">
                  <c:v>287443.0</c:v>
                </c:pt>
                <c:pt idx="205">
                  <c:v>286821.0</c:v>
                </c:pt>
                <c:pt idx="206">
                  <c:v>286656.0</c:v>
                </c:pt>
                <c:pt idx="207">
                  <c:v>283220.0</c:v>
                </c:pt>
                <c:pt idx="208">
                  <c:v>282631.0</c:v>
                </c:pt>
                <c:pt idx="209">
                  <c:v>280159.0</c:v>
                </c:pt>
                <c:pt idx="210">
                  <c:v>279873.0</c:v>
                </c:pt>
                <c:pt idx="211">
                  <c:v>278317.0</c:v>
                </c:pt>
                <c:pt idx="212">
                  <c:v>277404.0</c:v>
                </c:pt>
                <c:pt idx="213">
                  <c:v>276881.0</c:v>
                </c:pt>
                <c:pt idx="214">
                  <c:v>275136.0</c:v>
                </c:pt>
                <c:pt idx="215">
                  <c:v>273306.0</c:v>
                </c:pt>
                <c:pt idx="216">
                  <c:v>272019.0</c:v>
                </c:pt>
                <c:pt idx="217">
                  <c:v>270360.0</c:v>
                </c:pt>
                <c:pt idx="218">
                  <c:v>269623.0</c:v>
                </c:pt>
                <c:pt idx="219">
                  <c:v>269480.0</c:v>
                </c:pt>
                <c:pt idx="220">
                  <c:v>269317.0</c:v>
                </c:pt>
                <c:pt idx="221">
                  <c:v>268438.0</c:v>
                </c:pt>
                <c:pt idx="222">
                  <c:v>267675.0</c:v>
                </c:pt>
                <c:pt idx="223">
                  <c:v>262884.0</c:v>
                </c:pt>
                <c:pt idx="224">
                  <c:v>260602.0</c:v>
                </c:pt>
                <c:pt idx="225">
                  <c:v>260540.0</c:v>
                </c:pt>
                <c:pt idx="226">
                  <c:v>257845.0</c:v>
                </c:pt>
                <c:pt idx="227">
                  <c:v>257002.0</c:v>
                </c:pt>
                <c:pt idx="228">
                  <c:v>256818.0</c:v>
                </c:pt>
                <c:pt idx="229">
                  <c:v>266773.0</c:v>
                </c:pt>
                <c:pt idx="230">
                  <c:v>255501.0</c:v>
                </c:pt>
                <c:pt idx="231">
                  <c:v>254344.0</c:v>
                </c:pt>
                <c:pt idx="232">
                  <c:v>291789.0</c:v>
                </c:pt>
                <c:pt idx="233">
                  <c:v>252896.0</c:v>
                </c:pt>
                <c:pt idx="234">
                  <c:v>250817.0</c:v>
                </c:pt>
                <c:pt idx="235">
                  <c:v>248786.0</c:v>
                </c:pt>
                <c:pt idx="236">
                  <c:v>246454.0</c:v>
                </c:pt>
                <c:pt idx="237">
                  <c:v>262757.0</c:v>
                </c:pt>
                <c:pt idx="238">
                  <c:v>244221.0</c:v>
                </c:pt>
                <c:pt idx="239">
                  <c:v>244180.0</c:v>
                </c:pt>
                <c:pt idx="240">
                  <c:v>243823.0</c:v>
                </c:pt>
                <c:pt idx="241">
                  <c:v>243339.0</c:v>
                </c:pt>
                <c:pt idx="242">
                  <c:v>243247.0</c:v>
                </c:pt>
                <c:pt idx="243">
                  <c:v>242744.0</c:v>
                </c:pt>
                <c:pt idx="244">
                  <c:v>238626.0</c:v>
                </c:pt>
                <c:pt idx="245">
                  <c:v>236405.0</c:v>
                </c:pt>
                <c:pt idx="246">
                  <c:v>234426.0</c:v>
                </c:pt>
                <c:pt idx="247">
                  <c:v>234104.0</c:v>
                </c:pt>
                <c:pt idx="248">
                  <c:v>230328.0</c:v>
                </c:pt>
                <c:pt idx="249">
                  <c:v>228716.0</c:v>
                </c:pt>
                <c:pt idx="250">
                  <c:v>228054.0</c:v>
                </c:pt>
                <c:pt idx="251">
                  <c:v>224525.0</c:v>
                </c:pt>
                <c:pt idx="252">
                  <c:v>224406.0</c:v>
                </c:pt>
                <c:pt idx="253">
                  <c:v>224393.0</c:v>
                </c:pt>
                <c:pt idx="254">
                  <c:v>220653.0</c:v>
                </c:pt>
                <c:pt idx="255">
                  <c:v>220453.0</c:v>
                </c:pt>
                <c:pt idx="256">
                  <c:v>219946.0</c:v>
                </c:pt>
                <c:pt idx="257">
                  <c:v>219708.0</c:v>
                </c:pt>
                <c:pt idx="258">
                  <c:v>218397.0</c:v>
                </c:pt>
                <c:pt idx="259">
                  <c:v>217511.0</c:v>
                </c:pt>
                <c:pt idx="260">
                  <c:v>216931.0</c:v>
                </c:pt>
                <c:pt idx="261">
                  <c:v>214897.0</c:v>
                </c:pt>
                <c:pt idx="262">
                  <c:v>214346.0</c:v>
                </c:pt>
                <c:pt idx="263">
                  <c:v>213645.0</c:v>
                </c:pt>
                <c:pt idx="264">
                  <c:v>212875.0</c:v>
                </c:pt>
                <c:pt idx="265">
                  <c:v>212644.0</c:v>
                </c:pt>
                <c:pt idx="266">
                  <c:v>212446.0</c:v>
                </c:pt>
                <c:pt idx="267">
                  <c:v>209827.0</c:v>
                </c:pt>
                <c:pt idx="268">
                  <c:v>209689.0</c:v>
                </c:pt>
                <c:pt idx="269">
                  <c:v>209391.0</c:v>
                </c:pt>
                <c:pt idx="270">
                  <c:v>209090.0</c:v>
                </c:pt>
                <c:pt idx="271">
                  <c:v>208489.0</c:v>
                </c:pt>
                <c:pt idx="272">
                  <c:v>207437.0</c:v>
                </c:pt>
                <c:pt idx="273">
                  <c:v>207028.0</c:v>
                </c:pt>
                <c:pt idx="274">
                  <c:v>206014.0</c:v>
                </c:pt>
                <c:pt idx="275">
                  <c:v>205991.0</c:v>
                </c:pt>
                <c:pt idx="276">
                  <c:v>205640.0</c:v>
                </c:pt>
                <c:pt idx="277">
                  <c:v>205609.0</c:v>
                </c:pt>
                <c:pt idx="278">
                  <c:v>205492.0</c:v>
                </c:pt>
                <c:pt idx="279">
                  <c:v>203541.0</c:v>
                </c:pt>
                <c:pt idx="280">
                  <c:v>203200.0</c:v>
                </c:pt>
                <c:pt idx="281">
                  <c:v>204261.0</c:v>
                </c:pt>
                <c:pt idx="282">
                  <c:v>644635.0</c:v>
                </c:pt>
                <c:pt idx="283">
                  <c:v>276163.0</c:v>
                </c:pt>
                <c:pt idx="284">
                  <c:v>942374.0</c:v>
                </c:pt>
                <c:pt idx="285">
                  <c:v>472225.0</c:v>
                </c:pt>
                <c:pt idx="286">
                  <c:v>502486.0</c:v>
                </c:pt>
                <c:pt idx="287">
                  <c:v>222551.0</c:v>
                </c:pt>
              </c:numCache>
            </c:numRef>
          </c:xVal>
          <c:yVal>
            <c:numRef>
              <c:f>Sheet1!$B$2:$B$289</c:f>
              <c:numCache>
                <c:formatCode>General</c:formatCode>
                <c:ptCount val="288"/>
                <c:pt idx="0">
                  <c:v>0.5623862601160656</c:v>
                </c:pt>
                <c:pt idx="1">
                  <c:v>0.5385309106014685</c:v>
                </c:pt>
                <c:pt idx="2">
                  <c:v>0.8821724298941557</c:v>
                </c:pt>
                <c:pt idx="3">
                  <c:v>1.0795186492761637</c:v>
                </c:pt>
                <c:pt idx="4">
                  <c:v>1.2025975512497575</c:v>
                </c:pt>
                <c:pt idx="5">
                  <c:v>0.9226588278421638</c:v>
                </c:pt>
                <c:pt idx="6">
                  <c:v>0.9517007699877248</c:v>
                </c:pt>
                <c:pt idx="7">
                  <c:v>1.2895105185123745</c:v>
                </c:pt>
                <c:pt idx="8">
                  <c:v>0.6003313328166728</c:v>
                </c:pt>
                <c:pt idx="9">
                  <c:v>1.0035752103780256</c:v>
                </c:pt>
                <c:pt idx="10">
                  <c:v>0.9798663163066161</c:v>
                </c:pt>
                <c:pt idx="11">
                  <c:v>0.9301401326485845</c:v>
                </c:pt>
                <c:pt idx="12">
                  <c:v>0.006836226445728373</c:v>
                </c:pt>
                <c:pt idx="13">
                  <c:v>1.2246765520892045</c:v>
                </c:pt>
                <c:pt idx="14">
                  <c:v>1.5229092361420715</c:v>
                </c:pt>
                <c:pt idx="15">
                  <c:v>0.7232739326835558</c:v>
                </c:pt>
                <c:pt idx="16">
                  <c:v>0.7119770022491324</c:v>
                </c:pt>
                <c:pt idx="17">
                  <c:v>1.4936938862761864</c:v>
                </c:pt>
                <c:pt idx="18">
                  <c:v>0.7957106136975052</c:v>
                </c:pt>
                <c:pt idx="19">
                  <c:v>0.5547996504805892</c:v>
                </c:pt>
                <c:pt idx="20">
                  <c:v>0.5484856849170496</c:v>
                </c:pt>
                <c:pt idx="21">
                  <c:v>0.6708661181039451</c:v>
                </c:pt>
                <c:pt idx="22">
                  <c:v>0.5653226880242785</c:v>
                </c:pt>
                <c:pt idx="23">
                  <c:v>1.407036194780039</c:v>
                </c:pt>
                <c:pt idx="24">
                  <c:v>0.7194413302313024</c:v>
                </c:pt>
                <c:pt idx="25">
                  <c:v>0.7633994861575517</c:v>
                </c:pt>
                <c:pt idx="26">
                  <c:v>0.9570433992817882</c:v>
                </c:pt>
                <c:pt idx="27">
                  <c:v>0.9091560340482581</c:v>
                </c:pt>
                <c:pt idx="28">
                  <c:v>0.6172354042360076</c:v>
                </c:pt>
                <c:pt idx="29">
                  <c:v>0.9890505593026285</c:v>
                </c:pt>
                <c:pt idx="30">
                  <c:v>1.751763705461188</c:v>
                </c:pt>
                <c:pt idx="31">
                  <c:v>1.8059110389631945</c:v>
                </c:pt>
                <c:pt idx="32">
                  <c:v>0.5524244386138276</c:v>
                </c:pt>
                <c:pt idx="33">
                  <c:v>1.0956744453096978</c:v>
                </c:pt>
                <c:pt idx="34">
                  <c:v>0.5785374924175597</c:v>
                </c:pt>
                <c:pt idx="35">
                  <c:v>1.2280105786497852</c:v>
                </c:pt>
                <c:pt idx="36">
                  <c:v>0.5836453298366994</c:v>
                </c:pt>
                <c:pt idx="37">
                  <c:v>0.7799216656972809</c:v>
                </c:pt>
                <c:pt idx="38">
                  <c:v>0.4429994027059621</c:v>
                </c:pt>
                <c:pt idx="39">
                  <c:v>0.7784325127017049</c:v>
                </c:pt>
                <c:pt idx="40">
                  <c:v>0.6605877949052655</c:v>
                </c:pt>
                <c:pt idx="41">
                  <c:v>0.5141715593115149</c:v>
                </c:pt>
                <c:pt idx="42">
                  <c:v>0.46580388848362814</c:v>
                </c:pt>
                <c:pt idx="43">
                  <c:v>0.8090887401232228</c:v>
                </c:pt>
                <c:pt idx="44">
                  <c:v>1.2997582664046647</c:v>
                </c:pt>
                <c:pt idx="45">
                  <c:v>0.5571620672830911</c:v>
                </c:pt>
                <c:pt idx="46">
                  <c:v>0.32361039064682173</c:v>
                </c:pt>
                <c:pt idx="47">
                  <c:v>1.2709479149853327</c:v>
                </c:pt>
                <c:pt idx="48">
                  <c:v>0.603191708348813</c:v>
                </c:pt>
                <c:pt idx="49">
                  <c:v>0.6465824147692429</c:v>
                </c:pt>
                <c:pt idx="50">
                  <c:v>0.8717309023179515</c:v>
                </c:pt>
                <c:pt idx="51">
                  <c:v>0.3938978399409733</c:v>
                </c:pt>
                <c:pt idx="52">
                  <c:v>1.7899409768239858</c:v>
                </c:pt>
                <c:pt idx="53">
                  <c:v>0.849728818778297</c:v>
                </c:pt>
                <c:pt idx="54">
                  <c:v>1.390023232392059</c:v>
                </c:pt>
                <c:pt idx="55">
                  <c:v>1.0624953264039483</c:v>
                </c:pt>
                <c:pt idx="56">
                  <c:v>1.7322496799395337</c:v>
                </c:pt>
                <c:pt idx="57">
                  <c:v>0.3688393610277206</c:v>
                </c:pt>
                <c:pt idx="58">
                  <c:v>0.608888100450852</c:v>
                </c:pt>
                <c:pt idx="59">
                  <c:v>0.4646539969781774</c:v>
                </c:pt>
                <c:pt idx="60">
                  <c:v>0.6225274592954395</c:v>
                </c:pt>
                <c:pt idx="61">
                  <c:v>1.3619956418800907</c:v>
                </c:pt>
                <c:pt idx="62">
                  <c:v>0.5389666954380745</c:v>
                </c:pt>
                <c:pt idx="63">
                  <c:v>0.708292482994227</c:v>
                </c:pt>
                <c:pt idx="64">
                  <c:v>0.6181895148635531</c:v>
                </c:pt>
                <c:pt idx="65">
                  <c:v>2.169898841558316</c:v>
                </c:pt>
                <c:pt idx="66">
                  <c:v>0.3522922705871196</c:v>
                </c:pt>
                <c:pt idx="67">
                  <c:v>1.740376847098069</c:v>
                </c:pt>
                <c:pt idx="68">
                  <c:v>0.6405698947948649</c:v>
                </c:pt>
                <c:pt idx="69">
                  <c:v>1.6169807696653333</c:v>
                </c:pt>
                <c:pt idx="70">
                  <c:v>0.39252639173132703</c:v>
                </c:pt>
                <c:pt idx="71">
                  <c:v>0.5143439570116425</c:v>
                </c:pt>
                <c:pt idx="72">
                  <c:v>0.5135683112744224</c:v>
                </c:pt>
                <c:pt idx="73">
                  <c:v>0.9636280023204018</c:v>
                </c:pt>
                <c:pt idx="74">
                  <c:v>1.0817744488724907</c:v>
                </c:pt>
                <c:pt idx="75">
                  <c:v>2.9975496784918625</c:v>
                </c:pt>
                <c:pt idx="76">
                  <c:v>0.511214184512509</c:v>
                </c:pt>
                <c:pt idx="77">
                  <c:v>0.3910601171268077</c:v>
                </c:pt>
                <c:pt idx="78">
                  <c:v>0.41227374976984715</c:v>
                </c:pt>
                <c:pt idx="79">
                  <c:v>0.3606055342173155</c:v>
                </c:pt>
                <c:pt idx="80">
                  <c:v>0.6475550138101845</c:v>
                </c:pt>
                <c:pt idx="81">
                  <c:v>1.0459250346422602</c:v>
                </c:pt>
                <c:pt idx="82">
                  <c:v>1.2055292460435036</c:v>
                </c:pt>
                <c:pt idx="83">
                  <c:v>0.9323286835684735</c:v>
                </c:pt>
                <c:pt idx="84">
                  <c:v>1.0715913894714157</c:v>
                </c:pt>
                <c:pt idx="85">
                  <c:v>0.6131992830285307</c:v>
                </c:pt>
                <c:pt idx="86">
                  <c:v>1.2359511525700488</c:v>
                </c:pt>
                <c:pt idx="87">
                  <c:v>1.3073642126417737</c:v>
                </c:pt>
                <c:pt idx="88">
                  <c:v>0.7322411004680488</c:v>
                </c:pt>
                <c:pt idx="89">
                  <c:v>0.6002418137461815</c:v>
                </c:pt>
                <c:pt idx="90">
                  <c:v>1.15857063093244</c:v>
                </c:pt>
                <c:pt idx="91">
                  <c:v>1.169612785506682</c:v>
                </c:pt>
                <c:pt idx="92">
                  <c:v>0.7814335862794506</c:v>
                </c:pt>
                <c:pt idx="93">
                  <c:v>0.9387689167260205</c:v>
                </c:pt>
                <c:pt idx="94">
                  <c:v>0.9175875057227286</c:v>
                </c:pt>
                <c:pt idx="95">
                  <c:v>0.5925816051248296</c:v>
                </c:pt>
                <c:pt idx="96">
                  <c:v>0.5079583267608596</c:v>
                </c:pt>
                <c:pt idx="97">
                  <c:v>2.6987459678189003</c:v>
                </c:pt>
                <c:pt idx="98">
                  <c:v>0.7039901091981385</c:v>
                </c:pt>
                <c:pt idx="99">
                  <c:v>0.20632816552360095</c:v>
                </c:pt>
                <c:pt idx="100">
                  <c:v>0.9377492858232782</c:v>
                </c:pt>
                <c:pt idx="101">
                  <c:v>1.241730831796985</c:v>
                </c:pt>
                <c:pt idx="102">
                  <c:v>0.47010008713851764</c:v>
                </c:pt>
                <c:pt idx="103">
                  <c:v>0.8401178251442131</c:v>
                </c:pt>
                <c:pt idx="104">
                  <c:v>0.5831340633627192</c:v>
                </c:pt>
                <c:pt idx="105">
                  <c:v>2.5202109750555284</c:v>
                </c:pt>
                <c:pt idx="106">
                  <c:v>0.925073399639571</c:v>
                </c:pt>
                <c:pt idx="107">
                  <c:v>0.7161711572102815</c:v>
                </c:pt>
                <c:pt idx="108">
                  <c:v>1.7254992432544236</c:v>
                </c:pt>
                <c:pt idx="109">
                  <c:v>1.1890519529056087</c:v>
                </c:pt>
                <c:pt idx="110">
                  <c:v>0.5546419619805593</c:v>
                </c:pt>
                <c:pt idx="111">
                  <c:v>0.8191995034900373</c:v>
                </c:pt>
                <c:pt idx="112">
                  <c:v>0.7960715003862884</c:v>
                </c:pt>
                <c:pt idx="113">
                  <c:v>0.6421235664558816</c:v>
                </c:pt>
                <c:pt idx="114">
                  <c:v>0.5648046454475266</c:v>
                </c:pt>
                <c:pt idx="115">
                  <c:v>1.001054323056078</c:v>
                </c:pt>
                <c:pt idx="116">
                  <c:v>1.197364135895286</c:v>
                </c:pt>
                <c:pt idx="117">
                  <c:v>0.8775547081690428</c:v>
                </c:pt>
                <c:pt idx="118">
                  <c:v>1.335579155900891</c:v>
                </c:pt>
                <c:pt idx="119">
                  <c:v>0.5044787757230158</c:v>
                </c:pt>
                <c:pt idx="120">
                  <c:v>0.843374346420258</c:v>
                </c:pt>
                <c:pt idx="121">
                  <c:v>0.43779642466253194</c:v>
                </c:pt>
                <c:pt idx="122">
                  <c:v>1.1109634046755417</c:v>
                </c:pt>
                <c:pt idx="123">
                  <c:v>1.4516124286037977</c:v>
                </c:pt>
                <c:pt idx="124">
                  <c:v>1.0598957012388799</c:v>
                </c:pt>
                <c:pt idx="125">
                  <c:v>0.9683646400480278</c:v>
                </c:pt>
                <c:pt idx="126">
                  <c:v>1.6769226638416908</c:v>
                </c:pt>
                <c:pt idx="127">
                  <c:v>0.7984522008996091</c:v>
                </c:pt>
                <c:pt idx="128">
                  <c:v>0.7042426868052342</c:v>
                </c:pt>
                <c:pt idx="129">
                  <c:v>0.4882788233598553</c:v>
                </c:pt>
                <c:pt idx="130">
                  <c:v>1.3093072323876251</c:v>
                </c:pt>
                <c:pt idx="131">
                  <c:v>2.4609762015488204</c:v>
                </c:pt>
                <c:pt idx="132">
                  <c:v>0.7082346857557122</c:v>
                </c:pt>
                <c:pt idx="133">
                  <c:v>0.8913354046574823</c:v>
                </c:pt>
                <c:pt idx="134">
                  <c:v>0.4249187017789964</c:v>
                </c:pt>
                <c:pt idx="135">
                  <c:v>1.6952623266790725</c:v>
                </c:pt>
                <c:pt idx="136">
                  <c:v>0.8672806597471181</c:v>
                </c:pt>
                <c:pt idx="137">
                  <c:v>0.018544667480865876</c:v>
                </c:pt>
                <c:pt idx="138">
                  <c:v>0.5681004059755353</c:v>
                </c:pt>
                <c:pt idx="139">
                  <c:v>0.9522337795208458</c:v>
                </c:pt>
                <c:pt idx="140">
                  <c:v>0.04673012801306244</c:v>
                </c:pt>
                <c:pt idx="141">
                  <c:v>0.5093001427373355</c:v>
                </c:pt>
                <c:pt idx="142">
                  <c:v>2.5879267133830877</c:v>
                </c:pt>
                <c:pt idx="143">
                  <c:v>2.841218282085374</c:v>
                </c:pt>
                <c:pt idx="144">
                  <c:v>1.3276044766370063</c:v>
                </c:pt>
                <c:pt idx="145">
                  <c:v>0.43682961611854815</c:v>
                </c:pt>
                <c:pt idx="146">
                  <c:v>0.7774031687820195</c:v>
                </c:pt>
                <c:pt idx="147">
                  <c:v>0.7939693486814542</c:v>
                </c:pt>
                <c:pt idx="148">
                  <c:v>0.9470118728097421</c:v>
                </c:pt>
                <c:pt idx="149">
                  <c:v>0.8596687030075187</c:v>
                </c:pt>
                <c:pt idx="150">
                  <c:v>0.9725025634697482</c:v>
                </c:pt>
                <c:pt idx="151">
                  <c:v>1.0395572550045409</c:v>
                </c:pt>
                <c:pt idx="152">
                  <c:v>0.8324358680108049</c:v>
                </c:pt>
                <c:pt idx="153">
                  <c:v>0.6083885209713025</c:v>
                </c:pt>
                <c:pt idx="154">
                  <c:v>1.3429167550746164</c:v>
                </c:pt>
                <c:pt idx="155">
                  <c:v>0.6651649349577196</c:v>
                </c:pt>
                <c:pt idx="156">
                  <c:v>0.8665603245694472</c:v>
                </c:pt>
                <c:pt idx="157">
                  <c:v>1.2754160602043618</c:v>
                </c:pt>
                <c:pt idx="158">
                  <c:v>1.1879339931653923</c:v>
                </c:pt>
                <c:pt idx="159">
                  <c:v>0.7656203385625123</c:v>
                </c:pt>
                <c:pt idx="160">
                  <c:v>1.4414558319356565</c:v>
                </c:pt>
                <c:pt idx="161">
                  <c:v>2.0955094955551146</c:v>
                </c:pt>
                <c:pt idx="162">
                  <c:v>0.8651212208448212</c:v>
                </c:pt>
                <c:pt idx="163">
                  <c:v>0.9329912665064227</c:v>
                </c:pt>
                <c:pt idx="164">
                  <c:v>0.8267980909897594</c:v>
                </c:pt>
                <c:pt idx="165">
                  <c:v>2.8687110009274237</c:v>
                </c:pt>
                <c:pt idx="166">
                  <c:v>1.4585166524029363</c:v>
                </c:pt>
                <c:pt idx="167">
                  <c:v>2.4759935621153395</c:v>
                </c:pt>
                <c:pt idx="168">
                  <c:v>2.061597110754414</c:v>
                </c:pt>
                <c:pt idx="169">
                  <c:v>0.6177518844336306</c:v>
                </c:pt>
                <c:pt idx="170">
                  <c:v>0.6388933213860487</c:v>
                </c:pt>
                <c:pt idx="171">
                  <c:v>0.8358525259450867</c:v>
                </c:pt>
                <c:pt idx="172">
                  <c:v>0.7989510051823849</c:v>
                </c:pt>
                <c:pt idx="173">
                  <c:v>1.3849590001944903</c:v>
                </c:pt>
                <c:pt idx="174">
                  <c:v>1.692090395480226</c:v>
                </c:pt>
                <c:pt idx="175">
                  <c:v>1.8505992717710125</c:v>
                </c:pt>
                <c:pt idx="176">
                  <c:v>1.6007006029105373</c:v>
                </c:pt>
                <c:pt idx="177">
                  <c:v>2.996456135927498</c:v>
                </c:pt>
                <c:pt idx="178">
                  <c:v>1.2446616503126748</c:v>
                </c:pt>
                <c:pt idx="179">
                  <c:v>1.7689750938983546</c:v>
                </c:pt>
                <c:pt idx="180">
                  <c:v>0.9855847022899785</c:v>
                </c:pt>
                <c:pt idx="181">
                  <c:v>0.8661470426714711</c:v>
                </c:pt>
                <c:pt idx="182">
                  <c:v>1.1958103090655132</c:v>
                </c:pt>
                <c:pt idx="183">
                  <c:v>1.5308770108977685</c:v>
                </c:pt>
                <c:pt idx="184">
                  <c:v>1.0746721957772392</c:v>
                </c:pt>
                <c:pt idx="185">
                  <c:v>2.8818312247293596</c:v>
                </c:pt>
                <c:pt idx="186">
                  <c:v>0.9199677112575942</c:v>
                </c:pt>
                <c:pt idx="187">
                  <c:v>1.6408931899172852</c:v>
                </c:pt>
                <c:pt idx="188">
                  <c:v>0.8644070017294692</c:v>
                </c:pt>
                <c:pt idx="189">
                  <c:v>1.2148920132402583</c:v>
                </c:pt>
                <c:pt idx="190">
                  <c:v>1.579418976003466</c:v>
                </c:pt>
                <c:pt idx="191">
                  <c:v>0.7093712540435804</c:v>
                </c:pt>
                <c:pt idx="192">
                  <c:v>0.0239218552727756</c:v>
                </c:pt>
                <c:pt idx="193">
                  <c:v>0.016328489214866255</c:v>
                </c:pt>
                <c:pt idx="194">
                  <c:v>1.4264677892754465</c:v>
                </c:pt>
                <c:pt idx="195">
                  <c:v>0.1791875050145757</c:v>
                </c:pt>
                <c:pt idx="196">
                  <c:v>1.7730615309330526</c:v>
                </c:pt>
                <c:pt idx="197">
                  <c:v>0.9735616837568027</c:v>
                </c:pt>
                <c:pt idx="198">
                  <c:v>1.2442491650822112</c:v>
                </c:pt>
                <c:pt idx="199">
                  <c:v>1.1441499456545812</c:v>
                </c:pt>
                <c:pt idx="200">
                  <c:v>0.6935725982532751</c:v>
                </c:pt>
                <c:pt idx="201">
                  <c:v>0.9692959544953277</c:v>
                </c:pt>
                <c:pt idx="202">
                  <c:v>1.155994196074137</c:v>
                </c:pt>
                <c:pt idx="203">
                  <c:v>2.006017111159861</c:v>
                </c:pt>
                <c:pt idx="204">
                  <c:v>0.5719394801751999</c:v>
                </c:pt>
                <c:pt idx="205">
                  <c:v>1.0867405106320667</c:v>
                </c:pt>
                <c:pt idx="206">
                  <c:v>0.9743385800401876</c:v>
                </c:pt>
                <c:pt idx="207">
                  <c:v>0.8089118000141233</c:v>
                </c:pt>
                <c:pt idx="208">
                  <c:v>0.9821994048777382</c:v>
                </c:pt>
                <c:pt idx="209">
                  <c:v>1.246435060090877</c:v>
                </c:pt>
                <c:pt idx="210">
                  <c:v>0.7503403329367249</c:v>
                </c:pt>
                <c:pt idx="211">
                  <c:v>1.0757517507015382</c:v>
                </c:pt>
                <c:pt idx="212">
                  <c:v>1.1214690487520007</c:v>
                </c:pt>
                <c:pt idx="213">
                  <c:v>0.5840054030431846</c:v>
                </c:pt>
                <c:pt idx="214">
                  <c:v>0.6731216561991161</c:v>
                </c:pt>
                <c:pt idx="215">
                  <c:v>0.01719684163538305</c:v>
                </c:pt>
                <c:pt idx="216">
                  <c:v>1.11646612920421</c:v>
                </c:pt>
                <c:pt idx="217">
                  <c:v>0.29923065542239974</c:v>
                </c:pt>
                <c:pt idx="218">
                  <c:v>0.7896210634849401</c:v>
                </c:pt>
                <c:pt idx="219">
                  <c:v>0.6108059967344516</c:v>
                </c:pt>
                <c:pt idx="220">
                  <c:v>0.16486148293646521</c:v>
                </c:pt>
                <c:pt idx="221">
                  <c:v>1.2155507044457192</c:v>
                </c:pt>
                <c:pt idx="222">
                  <c:v>0.50919958905389</c:v>
                </c:pt>
                <c:pt idx="223">
                  <c:v>0.7714429177888347</c:v>
                </c:pt>
                <c:pt idx="224">
                  <c:v>0.733685850453949</c:v>
                </c:pt>
                <c:pt idx="225">
                  <c:v>0.7423044446150303</c:v>
                </c:pt>
                <c:pt idx="226">
                  <c:v>0.498749248579573</c:v>
                </c:pt>
                <c:pt idx="227">
                  <c:v>0.7396829596656835</c:v>
                </c:pt>
                <c:pt idx="228">
                  <c:v>0.4497348316706773</c:v>
                </c:pt>
                <c:pt idx="229">
                  <c:v>1.1380462040761246</c:v>
                </c:pt>
                <c:pt idx="230">
                  <c:v>0.393344840137612</c:v>
                </c:pt>
                <c:pt idx="231">
                  <c:v>0.5075802849683893</c:v>
                </c:pt>
                <c:pt idx="232">
                  <c:v>1.6655871194596095</c:v>
                </c:pt>
                <c:pt idx="233">
                  <c:v>1.4416993546754397</c:v>
                </c:pt>
                <c:pt idx="234">
                  <c:v>0.85998955413708</c:v>
                </c:pt>
                <c:pt idx="235">
                  <c:v>1.1560136020515623</c:v>
                </c:pt>
                <c:pt idx="236">
                  <c:v>0.9790873753317049</c:v>
                </c:pt>
                <c:pt idx="237">
                  <c:v>2.628664507510742</c:v>
                </c:pt>
                <c:pt idx="238">
                  <c:v>0.23871821014572867</c:v>
                </c:pt>
                <c:pt idx="239">
                  <c:v>1.0123679253010074</c:v>
                </c:pt>
                <c:pt idx="240">
                  <c:v>0.9465883038105511</c:v>
                </c:pt>
                <c:pt idx="241">
                  <c:v>0.44916762212386835</c:v>
                </c:pt>
                <c:pt idx="242">
                  <c:v>0.8086430665126394</c:v>
                </c:pt>
                <c:pt idx="243">
                  <c:v>1.6787232640147645</c:v>
                </c:pt>
                <c:pt idx="244">
                  <c:v>0.5439474323837302</c:v>
                </c:pt>
                <c:pt idx="245">
                  <c:v>0.35066940208540426</c:v>
                </c:pt>
                <c:pt idx="246">
                  <c:v>0.683371298405467</c:v>
                </c:pt>
                <c:pt idx="247">
                  <c:v>0.8333902880770939</c:v>
                </c:pt>
                <c:pt idx="248">
                  <c:v>0.41462609843353826</c:v>
                </c:pt>
                <c:pt idx="249">
                  <c:v>0.5312264992392312</c:v>
                </c:pt>
                <c:pt idx="250">
                  <c:v>0.4297227849544406</c:v>
                </c:pt>
                <c:pt idx="251">
                  <c:v>0.5576216456964703</c:v>
                </c:pt>
                <c:pt idx="252">
                  <c:v>2.478543354455763</c:v>
                </c:pt>
                <c:pt idx="253">
                  <c:v>1.1604640073442576</c:v>
                </c:pt>
                <c:pt idx="254">
                  <c:v>1.2086851300458186</c:v>
                </c:pt>
                <c:pt idx="255">
                  <c:v>1.5563408073376184</c:v>
                </c:pt>
                <c:pt idx="256">
                  <c:v>0.5283114946395934</c:v>
                </c:pt>
                <c:pt idx="257">
                  <c:v>1.0245416643909189</c:v>
                </c:pt>
                <c:pt idx="258">
                  <c:v>0.6868226211898515</c:v>
                </c:pt>
                <c:pt idx="259">
                  <c:v>0.5921539600296077</c:v>
                </c:pt>
                <c:pt idx="260">
                  <c:v>0.6813226325421448</c:v>
                </c:pt>
                <c:pt idx="261">
                  <c:v>0.8101555628975742</c:v>
                </c:pt>
                <c:pt idx="262">
                  <c:v>1.5712912767208158</c:v>
                </c:pt>
                <c:pt idx="263">
                  <c:v>2.398839195862295</c:v>
                </c:pt>
                <c:pt idx="264">
                  <c:v>0.5482090428655314</c:v>
                </c:pt>
                <c:pt idx="265">
                  <c:v>0.9950903858091458</c:v>
                </c:pt>
                <c:pt idx="266">
                  <c:v>0.49706749009159973</c:v>
                </c:pt>
                <c:pt idx="267">
                  <c:v>0.5128034047095941</c:v>
                </c:pt>
                <c:pt idx="268">
                  <c:v>1.1745966645842176</c:v>
                </c:pt>
                <c:pt idx="269">
                  <c:v>0.47709786953593997</c:v>
                </c:pt>
                <c:pt idx="270">
                  <c:v>0.8709168300731742</c:v>
                </c:pt>
                <c:pt idx="271">
                  <c:v>0.5827645583220218</c:v>
                </c:pt>
                <c:pt idx="272">
                  <c:v>0.5780068165274276</c:v>
                </c:pt>
                <c:pt idx="273">
                  <c:v>1.143323608400796</c:v>
                </c:pt>
                <c:pt idx="274">
                  <c:v>1.6717310474045453</c:v>
                </c:pt>
                <c:pt idx="275">
                  <c:v>1.0854843172759976</c:v>
                </c:pt>
                <c:pt idx="276">
                  <c:v>0.8544057576347014</c:v>
                </c:pt>
                <c:pt idx="277">
                  <c:v>0.39541070672976375</c:v>
                </c:pt>
                <c:pt idx="278">
                  <c:v>0.765479921359469</c:v>
                </c:pt>
                <c:pt idx="279">
                  <c:v>0.9894812347389469</c:v>
                </c:pt>
                <c:pt idx="280">
                  <c:v>0.7642716535433071</c:v>
                </c:pt>
                <c:pt idx="281">
                  <c:v>1.6718805841545865</c:v>
                </c:pt>
                <c:pt idx="282">
                  <c:v>0.0</c:v>
                </c:pt>
                <c:pt idx="283">
                  <c:v>0.8726730228162354</c:v>
                </c:pt>
                <c:pt idx="284">
                  <c:v>0.019312926714871167</c:v>
                </c:pt>
                <c:pt idx="285">
                  <c:v>2.5358674360739055</c:v>
                </c:pt>
                <c:pt idx="286">
                  <c:v>1.9313970936503704</c:v>
                </c:pt>
                <c:pt idx="287">
                  <c:v>0.999770839043635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Sheet1!$B$291</c:f>
              <c:strCache>
                <c:ptCount val="1"/>
                <c:pt idx="0">
                  <c:v>Pasa el mínimo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6"/>
            <c:spPr>
              <a:solidFill>
                <a:srgbClr val="1F9E89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Sheet1!$A$292:$A$317</c:f>
              <c:numCache>
                <c:formatCode>General</c:formatCode>
                <c:ptCount val="26"/>
                <c:pt idx="0">
                  <c:v>5610145.0</c:v>
                </c:pt>
                <c:pt idx="1">
                  <c:v>738237.0</c:v>
                </c:pt>
                <c:pt idx="2">
                  <c:v>2003640.0</c:v>
                </c:pt>
                <c:pt idx="3">
                  <c:v>2945050.0</c:v>
                </c:pt>
                <c:pt idx="4">
                  <c:v>508713.0</c:v>
                </c:pt>
                <c:pt idx="5">
                  <c:v>2599413.0</c:v>
                </c:pt>
                <c:pt idx="6">
                  <c:v>2033884.0</c:v>
                </c:pt>
                <c:pt idx="7">
                  <c:v>1538243.0</c:v>
                </c:pt>
                <c:pt idx="8">
                  <c:v>335882.0</c:v>
                </c:pt>
                <c:pt idx="9">
                  <c:v>310096.0</c:v>
                </c:pt>
                <c:pt idx="10">
                  <c:v>880762.0</c:v>
                </c:pt>
                <c:pt idx="11">
                  <c:v>886916.0</c:v>
                </c:pt>
                <c:pt idx="12">
                  <c:v>277500.0</c:v>
                </c:pt>
                <c:pt idx="13">
                  <c:v>313061.0</c:v>
                </c:pt>
                <c:pt idx="14">
                  <c:v>205352.0</c:v>
                </c:pt>
                <c:pt idx="15">
                  <c:v>327528.0</c:v>
                </c:pt>
                <c:pt idx="16">
                  <c:v>501128.0</c:v>
                </c:pt>
                <c:pt idx="17">
                  <c:v>465803.0</c:v>
                </c:pt>
                <c:pt idx="18">
                  <c:v>340056.0</c:v>
                </c:pt>
                <c:pt idx="19">
                  <c:v>564172.0</c:v>
                </c:pt>
                <c:pt idx="20">
                  <c:v>339708.0</c:v>
                </c:pt>
                <c:pt idx="21">
                  <c:v>487914.0</c:v>
                </c:pt>
                <c:pt idx="22">
                  <c:v>521166.0</c:v>
                </c:pt>
                <c:pt idx="23">
                  <c:v>226837.0</c:v>
                </c:pt>
                <c:pt idx="24">
                  <c:v>212376.0</c:v>
                </c:pt>
                <c:pt idx="25">
                  <c:v>287782.0</c:v>
                </c:pt>
              </c:numCache>
            </c:numRef>
          </c:xVal>
          <c:yVal>
            <c:numRef>
              <c:f>Sheet1!$B$292:$B$317</c:f>
              <c:numCache>
                <c:formatCode>General</c:formatCode>
                <c:ptCount val="26"/>
                <c:pt idx="0">
                  <c:v>3.109812669726005</c:v>
                </c:pt>
                <c:pt idx="1">
                  <c:v>4.196890700411927</c:v>
                </c:pt>
                <c:pt idx="2">
                  <c:v>8.0</c:v>
                </c:pt>
                <c:pt idx="3">
                  <c:v>5.830529193052749</c:v>
                </c:pt>
                <c:pt idx="4">
                  <c:v>3.107449583556937</c:v>
                </c:pt>
                <c:pt idx="5">
                  <c:v>5.302543304969237</c:v>
                </c:pt>
                <c:pt idx="6">
                  <c:v>3.3779212580461815</c:v>
                </c:pt>
                <c:pt idx="7">
                  <c:v>8.0</c:v>
                </c:pt>
                <c:pt idx="8">
                  <c:v>5.5156275120429195</c:v>
                </c:pt>
                <c:pt idx="9">
                  <c:v>3.241899282802745</c:v>
                </c:pt>
                <c:pt idx="10">
                  <c:v>6.727015924846894</c:v>
                </c:pt>
                <c:pt idx="11">
                  <c:v>8.0</c:v>
                </c:pt>
                <c:pt idx="12">
                  <c:v>3.036036036036036</c:v>
                </c:pt>
                <c:pt idx="13">
                  <c:v>7.297299887242422</c:v>
                </c:pt>
                <c:pt idx="14">
                  <c:v>3.1716272546651605</c:v>
                </c:pt>
                <c:pt idx="15">
                  <c:v>4.40206638821719</c:v>
                </c:pt>
                <c:pt idx="16">
                  <c:v>6.37182516243355</c:v>
                </c:pt>
                <c:pt idx="17">
                  <c:v>8.0</c:v>
                </c:pt>
                <c:pt idx="18">
                  <c:v>3.6508692685910558</c:v>
                </c:pt>
                <c:pt idx="19">
                  <c:v>3.54714519685486</c:v>
                </c:pt>
                <c:pt idx="20">
                  <c:v>4.144441696986824</c:v>
                </c:pt>
                <c:pt idx="21">
                  <c:v>4.492799960648803</c:v>
                </c:pt>
                <c:pt idx="22">
                  <c:v>4.86524447105145</c:v>
                </c:pt>
                <c:pt idx="23">
                  <c:v>8.0</c:v>
                </c:pt>
                <c:pt idx="24">
                  <c:v>8.0</c:v>
                </c:pt>
                <c:pt idx="25">
                  <c:v>6.8190505313049465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logBase val="10"/>
          <c:orientation val="minMax"/>
          <c:max val="20000000.0"/>
          <c:min val="200000.0"/>
        </c:scaling>
        <c:delete val="0"/>
        <c:axPos val="b"/>
        <c:numFmt formatCode="#,##0,,&quot;M&quot;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8.0"/>
          <c:min val="0.0"/>
        </c:scaling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0.0&quot; %&quot;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Valores distintos de segmento o subsegmento que nombran lo mismo (solo cambia el mes, la versión o la ortografía)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Valores distintos de segmento o subsegmento que nombran lo mismo (solo cambia el mes, la versión o la ortografía)</c:v>
                </c:pt>
              </c:strCache>
            </c:strRef>
          </c:tx>
          <c:spPr>
            <a:solidFill>
              <a:srgbClr val="A3AAB5"/>
            </a:solidFill>
          </c:spPr>
          <c:invertIfNegative val="0"/>
          <c:dPt>
            <c:idx val="0"/>
            <c:spPr>
              <a:solidFill>
                <a:srgbClr val="1F4FD8"/>
              </a:solidFill>
            </c:spPr>
          </c:dPt>
          <c:dPt>
            <c:idx val="1"/>
            <c:spPr>
              <a:solidFill>
                <a:srgbClr val="1F4FD8"/>
              </a:solidFill>
            </c:spPr>
          </c:dPt>
          <c:dPt>
            <c:idx val="2"/>
            <c:spPr>
              <a:solidFill>
                <a:srgbClr val="1F4FD8"/>
              </a:solidFill>
            </c:spPr>
          </c:dPt>
          <c:dPt>
            <c:idx val="3"/>
            <c:spPr>
              <a:solidFill>
                <a:srgbClr val="A3AAB5"/>
              </a:solidFill>
            </c:spPr>
          </c:dPt>
          <c:dPt>
            <c:idx val="4"/>
            <c:spPr>
              <a:solidFill>
                <a:srgbClr val="A3AAB5"/>
              </a:solidFill>
            </c:spPr>
          </c:dPt>
          <c:dPt>
            <c:idx val="5"/>
            <c:spPr>
              <a:solidFill>
                <a:srgbClr val="A3AAB5"/>
              </a:solidFill>
            </c:spPr>
          </c:dPt>
          <c:dPt>
            <c:idx val="6"/>
            <c:spPr>
              <a:solidFill>
                <a:srgbClr val="A3AAB5"/>
              </a:solidFill>
            </c:spPr>
          </c:dPt>
          <c:dPt>
            <c:idx val="7"/>
            <c:spPr>
              <a:solidFill>
                <a:srgbClr val="A3AAB5"/>
              </a:solidFill>
            </c:spPr>
          </c:dPt>
          <c:cat>
            <c:strRef>
              <c:f>Sheet1!$A$2:$A$9</c:f>
              <c:strCache>
                <c:ptCount val="8"/>
                <c:pt idx="0">
                  <c:v>Comercio del día</c:v>
                </c:pt>
                <c:pt idx="1">
                  <c:v>BKT (cobranza)</c:v>
                </c:pt>
                <c:pt idx="2">
                  <c:v>Cuponera de descuentos</c:v>
                </c:pt>
                <c:pt idx="3">
                  <c:v>BBDD hot leads rescate Tasa 0</c:v>
                </c:pt>
                <c:pt idx="4">
                  <c:v>Temu</c:v>
                </c:pt>
                <c:pt idx="5">
                  <c:v>Kueski nuevo</c:v>
                </c:pt>
                <c:pt idx="6">
                  <c:v>Registro de línea MX</c:v>
                </c:pt>
                <c:pt idx="7">
                  <c:v>Newsletter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</c:v>
                </c:pt>
                <c:pt idx="1">
                  <c:v>7</c:v>
                </c:pt>
                <c:pt idx="2">
                  <c:v>7</c:v>
                </c:pt>
                <c:pt idx="3">
                  <c:v>5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MXN al mes (M)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</c:spPr>
          <c:cat>
            <c:strRef>
              <c:f>Sheet1!$A$2:$A$6</c:f>
              <c:strCache>
                <c:ptCount val="5"/>
                <c:pt idx="0">
                  <c:v>Gasto al mes hoy</c:v>
                </c:pt>
                <c:pt idx="1">
                  <c:v>Apagar (48)</c:v>
                </c:pt>
                <c:pt idx="2">
                  <c:v>Limpiar base WhatsApp (56)</c:v>
                </c:pt>
                <c:pt idx="3">
                  <c:v>Rehacer o re-segmentar (162)</c:v>
                </c:pt>
                <c:pt idx="4">
                  <c:v>Gasto al mes después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3.66</c:v>
                </c:pt>
                <c:pt idx="2">
                  <c:v>3.42</c:v>
                </c:pt>
                <c:pt idx="3">
                  <c:v>3.2199999999999998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Totales</c:v>
                </c:pt>
              </c:strCache>
            </c:strRef>
          </c:tx>
          <c:spPr>
            <a:solidFill>
              <a:srgbClr val="5B6270"/>
            </a:solidFill>
          </c:spPr>
          <c:dPt>
            <c:idx val="4"/>
            <c:spPr>
              <a:solidFill>
                <a:srgbClr val="1F4FD8"/>
              </a:solidFill>
            </c:spPr>
          </c:dPt>
          <c:dLbls>
            <c:numFmt formatCode="0.00&quot; M&quot;;;" sourceLinked="0"/>
            <c:txPr>
              <a:bodyPr/>
              <a:lstStyle/>
              <a:p>
                <a:pPr>
                  <a:defRPr sz="900">
                    <a:solidFill>
                      <a:srgbClr val="1A1D24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Gasto al mes hoy</c:v>
                </c:pt>
                <c:pt idx="1">
                  <c:v>Apagar (48)</c:v>
                </c:pt>
                <c:pt idx="2">
                  <c:v>Limpiar base WhatsApp (56)</c:v>
                </c:pt>
                <c:pt idx="3">
                  <c:v>Rehacer o re-segmentar (162)</c:v>
                </c:pt>
                <c:pt idx="4">
                  <c:v>Gasto al mes después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4.82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Ahorro</c:v>
                </c:pt>
              </c:strCache>
            </c:strRef>
          </c:tx>
          <c:spPr>
            <a:solidFill>
              <a:srgbClr val="B5342B"/>
            </a:solidFill>
          </c:spPr>
          <c:dLbls>
            <c:numFmt formatCode="&quot;−&quot;0.00&quot; M&quot;;;" sourceLinked="0"/>
            <c:txPr>
              <a:bodyPr/>
              <a:lstStyle/>
              <a:p>
                <a:pPr>
                  <a:defRPr sz="900">
                    <a:solidFill>
                      <a:srgbClr val="1A1D24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Gasto al mes hoy</c:v>
                </c:pt>
                <c:pt idx="1">
                  <c:v>Apagar (48)</c:v>
                </c:pt>
                <c:pt idx="2">
                  <c:v>Limpiar base WhatsApp (56)</c:v>
                </c:pt>
                <c:pt idx="3">
                  <c:v>Rehacer o re-segmentar (162)</c:v>
                </c:pt>
                <c:pt idx="4">
                  <c:v>Gasto al mes después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1.16</c:v>
                </c:pt>
                <c:pt idx="2">
                  <c:v>0.24</c:v>
                </c:pt>
                <c:pt idx="3">
                  <c:v>0.2</c:v>
                </c:pt>
                <c:pt idx="4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Ahorro al mes si se ejecuta el plan (M MXN)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Ahorro al mes si se ejecuta el plan (M MXN)</c:v>
                </c:pt>
              </c:strCache>
            </c:strRef>
          </c:tx>
          <c:spPr>
            <a:solidFill>
              <a:srgbClr val="A3AAB5"/>
            </a:solidFill>
          </c:spPr>
          <c:invertIfNegative val="0"/>
          <c:dPt>
            <c:idx val="0"/>
            <c:spPr>
              <a:solidFill>
                <a:srgbClr val="1F4FD8"/>
              </a:solidFill>
            </c:spPr>
          </c:dPt>
          <c:dPt>
            <c:idx val="1"/>
            <c:spPr>
              <a:solidFill>
                <a:srgbClr val="A3AAB5"/>
              </a:solidFill>
            </c:spPr>
          </c:dPt>
          <c:dPt>
            <c:idx val="2"/>
            <c:spPr>
              <a:solidFill>
                <a:srgbClr val="A3AAB5"/>
              </a:solidFill>
            </c:spPr>
          </c:dPt>
          <c:dPt>
            <c:idx val="3"/>
            <c:spPr>
              <a:solidFill>
                <a:srgbClr val="A3AAB5"/>
              </a:solidFill>
            </c:spPr>
          </c:dPt>
          <c:dPt>
            <c:idx val="4"/>
            <c:spPr>
              <a:solidFill>
                <a:srgbClr val="A3AAB5"/>
              </a:solidFill>
            </c:spPr>
          </c:dPt>
          <c:cat>
            <c:strRef>
              <c:f>Sheet1!$A$2:$A$6</c:f>
              <c:strCache>
                <c:ptCount val="5"/>
                <c:pt idx="0">
                  <c:v>Product Growth  (74 campañas con señal; Apagar 17 (B0211, B0223))</c:v>
                </c:pt>
                <c:pt idx="1">
                  <c:v>Marketing  (141 con señal; 51 a bajar frecuencia)</c:v>
                </c:pt>
                <c:pt idx="2">
                  <c:v>Sales  (91 con señal; 51 a rehacer)</c:v>
                </c:pt>
                <c:pt idx="3">
                  <c:v>Others  (19 con señal)</c:v>
                </c:pt>
                <c:pt idx="4">
                  <c:v>Collections  (Fuera del alcance (cobranza))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1.3</c:v>
                </c:pt>
                <c:pt idx="1">
                  <c:v>0.16</c:v>
                </c:pt>
                <c:pt idx="2">
                  <c:v>0.1</c:v>
                </c:pt>
                <c:pt idx="3">
                  <c:v>0.04</c:v>
                </c:pt>
                <c:pt idx="4">
                  <c:v>0</c:v>
                </c:pt>
              </c:numCache>
            </c:numRef>
          </c:val>
        </c:ser>
        <c:dLbls>
          <c:numFmt formatCode="0.00&quot; M&quot;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A1D24"/>
                </a:solidFill>
                <a:latin typeface="Calibri"/>
              </a:rPr>
              <a:t>Envíos por segmento (M)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Envíos por segmento (M)</c:v>
                </c:pt>
              </c:strCache>
            </c:strRef>
          </c:tx>
          <c:spPr>
            <a:solidFill>
              <a:srgbClr val="A3AAB5"/>
            </a:solidFill>
          </c:spPr>
          <c:invertIfNegative val="0"/>
          <c:dPt>
            <c:idx val="0"/>
            <c:spPr>
              <a:solidFill>
                <a:srgbClr val="A3AAB5"/>
              </a:solidFill>
            </c:spPr>
          </c:dPt>
          <c:dPt>
            <c:idx val="1"/>
            <c:spPr>
              <a:solidFill>
                <a:srgbClr val="A3AAB5"/>
              </a:solidFill>
            </c:spPr>
          </c:dPt>
          <c:dPt>
            <c:idx val="2"/>
            <c:spPr>
              <a:solidFill>
                <a:srgbClr val="1F4FD8"/>
              </a:solidFill>
            </c:spPr>
          </c:dPt>
          <c:dPt>
            <c:idx val="3"/>
            <c:spPr>
              <a:solidFill>
                <a:srgbClr val="A3AAB5"/>
              </a:solidFill>
            </c:spPr>
          </c:dPt>
          <c:dPt>
            <c:idx val="4"/>
            <c:spPr>
              <a:solidFill>
                <a:srgbClr val="A3AAB5"/>
              </a:solidFill>
            </c:spPr>
          </c:dPt>
          <c:dPt>
            <c:idx val="5"/>
            <c:spPr>
              <a:solidFill>
                <a:srgbClr val="A3AAB5"/>
              </a:solidFill>
            </c:spPr>
          </c:dPt>
          <c:dPt>
            <c:idx val="6"/>
            <c:spPr>
              <a:solidFill>
                <a:srgbClr val="A3AAB5"/>
              </a:solidFill>
            </c:spPr>
          </c:dPt>
          <c:dPt>
            <c:idx val="7"/>
            <c:spPr>
              <a:solidFill>
                <a:srgbClr val="A3AAB5"/>
              </a:solidFill>
            </c:spPr>
          </c:dPt>
          <c:dPt>
            <c:idx val="8"/>
            <c:spPr>
              <a:solidFill>
                <a:srgbClr val="A3AAB5"/>
              </a:solidFill>
            </c:spPr>
          </c:dPt>
          <c:cat>
            <c:strRef>
              <c:f>Sheet1!$A$2:$A$10</c:f>
              <c:strCache>
                <c:ptCount val="9"/>
                <c:pt idx="0">
                  <c:v>Leads  (8.5 % respuesta, 3.5 conv por mil)</c:v>
                </c:pt>
                <c:pt idx="1">
                  <c:v>Recurrent  (7.0 %, 12.5 conv por mil)</c:v>
                </c:pt>
                <c:pt idx="2">
                  <c:v>Not Tracked  (no se mide)</c:v>
                </c:pt>
                <c:pt idx="3">
                  <c:v>New  (2.1 %)</c:v>
                </c:pt>
                <c:pt idx="4">
                  <c:v>Todos</c:v>
                </c:pt>
                <c:pt idx="5">
                  <c:v>BKT1  (1.5 %)</c:v>
                </c:pt>
                <c:pt idx="6">
                  <c:v>Active  (21 %, 50 conv por mil)</c:v>
                </c:pt>
                <c:pt idx="7">
                  <c:v>Precobranza  (45 conv por mil)</c:v>
                </c:pt>
                <c:pt idx="8">
                  <c:v>Anonimos  (0.8 %)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201</c:v>
                </c:pt>
                <c:pt idx="1">
                  <c:v>189</c:v>
                </c:pt>
                <c:pt idx="2">
                  <c:v>84.7</c:v>
                </c:pt>
                <c:pt idx="3">
                  <c:v>67</c:v>
                </c:pt>
                <c:pt idx="4">
                  <c:v>24.5</c:v>
                </c:pt>
                <c:pt idx="5">
                  <c:v>18</c:v>
                </c:pt>
                <c:pt idx="6">
                  <c:v>15</c:v>
                </c:pt>
                <c:pt idx="7">
                  <c:v>12</c:v>
                </c:pt>
                <c:pt idx="8">
                  <c:v>9.3</c:v>
                </c:pt>
              </c:numCache>
            </c:numRef>
          </c:val>
        </c:ser>
        <c:dLbls>
          <c:numFmt formatCode="0.0&quot; M&quot;" sourceLinked="0"/>
          <c:txPr>
            <a:bodyPr/>
            <a:lstStyle/>
            <a:p>
              <a:pPr>
                <a:defRPr sz="900">
                  <a:solidFill>
                    <a:srgbClr val="1A1D24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1000">
                <a:solidFill>
                  <a:srgbClr val="5B62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solidFill>
              <a:srgbClr val="E3E6EB"/>
            </a:solidFill>
          </a:ln>
        </c:spPr>
        <c:txPr>
          <a:bodyPr/>
          <a:lstStyle/>
          <a:p>
            <a:pPr>
              <a:defRPr sz="900">
                <a:solidFill>
                  <a:srgbClr val="5B62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Relationship Id="rId6" Type="http://schemas.openxmlformats.org/officeDocument/2006/relationships/chart" Target="../charts/chart5.xml"/><Relationship Id="rId7" Type="http://schemas.openxmlformats.org/officeDocument/2006/relationships/chart" Target="../charts/chart6.xml"/><Relationship Id="rId8" Type="http://schemas.openxmlformats.org/officeDocument/2006/relationships/chart" Target="../charts/chart7.xml"/><Relationship Id="rId9" Type="http://schemas.openxmlformats.org/officeDocument/2006/relationships/chart" Target="../charts/char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Relationship Id="rId3" Type="http://schemas.openxmlformats.org/officeDocument/2006/relationships/chart" Target="../charts/chart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Relationship Id="rId3" Type="http://schemas.openxmlformats.org/officeDocument/2006/relationships/chart" Target="../charts/chart24.xml"/><Relationship Id="rId4" Type="http://schemas.openxmlformats.org/officeDocument/2006/relationships/chart" Target="../charts/chart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Relationship Id="rId3" Type="http://schemas.openxmlformats.org/officeDocument/2006/relationships/chart" Target="../charts/chart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F4FD8"/>
                </a:solidFill>
                <a:latin typeface="Calibri"/>
              </a:rPr>
              <a:t>KUESKI · BRAZE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8686800" cy="1645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000" b="1">
                <a:solidFill>
                  <a:srgbClr val="1A1D24"/>
                </a:solidFill>
                <a:latin typeface="Calibri"/>
              </a:rPr>
              <a:t>Braze en Kueski: mandar menos y a quien 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86868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0">
                <a:solidFill>
                  <a:srgbClr val="5B6270"/>
                </a:solidFill>
                <a:latin typeface="Calibri"/>
              </a:rPr>
              <a:t>Auditoría de comunicaciones, enero a septiembre de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86868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8A909B"/>
                </a:solidFill>
                <a:latin typeface="Calibri"/>
              </a:rPr>
              <a:t>Business case y plan de acción. 15 de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RESUMEN EJECUTIVO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Mandar menos y a quien sí ahorra 1.6 M MXN al mes y recupera la respuesta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 (Insights, Plan_accion, Estándares); análisis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34137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F4FD8"/>
                </a:solidFill>
                <a:latin typeface="Calibri"/>
              </a:rPr>
              <a:t>QUÉ PASA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3413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1A1D24"/>
                </a:solidFill>
                <a:latin typeface="Calibri"/>
              </a:rPr>
              <a:t>•  Kueski mandó 667 M mensajes en 9 meses y gastó 57.7 M MXN. El volumen subió 86 % hasta junio y la respuesta cayó: 19 de 24 indicadores están debajo del estándar.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1D24"/>
                </a:solidFill>
                <a:latin typeface="Calibri"/>
              </a:rPr>
              <a:t>•  73 % de los usuarios no respondió a nada. 59 % de los mensajes van a un canal que el usuario nunca abrió (18.7 M MXN).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1D24"/>
                </a:solidFill>
                <a:latin typeface="Calibri"/>
              </a:rPr>
              <a:t>•  43.8 M mensajes promocionales llegaron a usuarios bloqueados, 80 mil emails a dados de baja y 1 de cada 4 WhatsApp no llega y se paga.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36720" y="1783080"/>
            <a:ext cx="34137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F4FD8"/>
                </a:solidFill>
                <a:latin typeface="Calibri"/>
              </a:rPr>
              <a:t>POR QUÉ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6720" y="2103120"/>
            <a:ext cx="3413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1A1D24"/>
                </a:solidFill>
                <a:latin typeface="Calibri"/>
              </a:rPr>
              <a:t>•  Se manda por volumen, no por señal: 5 % de los usuarios recibe 41 o más mensajes al mes y los equipos chocan en los mismos usuarios el mismo día.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1D24"/>
                </a:solidFill>
                <a:latin typeface="Calibri"/>
              </a:rPr>
              <a:t>•  No hay grupo de control en ningún Canvas ni una prueba A/B de mensaje: nadie puede decir cuánto vende Braze.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1D24"/>
                </a:solidFill>
                <a:latin typeface="Calibri"/>
              </a:rPr>
              <a:t>•  749 piezas sin ticket y 731 formas de escribir la audiencia: no hay dueños ni reglas.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799" y="1783080"/>
            <a:ext cx="34137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F4FD8"/>
                </a:solidFill>
                <a:latin typeface="Calibri"/>
              </a:rPr>
              <a:t>QUÉ HACER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99" y="2103120"/>
            <a:ext cx="3413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1A1D24"/>
                </a:solidFill>
                <a:latin typeface="Calibri"/>
              </a:rPr>
              <a:t>•  Ejecutar el plan por campaña: 582 campañas a tocar, 1.6 M MXN al mes de ahorro (33 % del gasto) y 27 M mensajes menos al mes (42 %).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1D24"/>
                </a:solidFill>
                <a:latin typeface="Calibri"/>
              </a:rPr>
              <a:t>•  Adoptar el playbook: 12 reglas, exclusiones, canal y frecuencia por usuario, control del 10 % en toda pieza.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1D24"/>
                </a:solidFill>
                <a:latin typeface="Calibri"/>
              </a:rPr>
              <a:t>•  Configurar Braze una vez (topes, control nativo, horas de silencio, re-elegibilidad) y nombrar un dueño por cosa. 90 días.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Decisión que se pide hoy: aprobar el plan por campaña y el playbook, y nombrar un dueño de Braze. El ahorro empieza en la semana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Revisamos 9 meses de envíos: 667 M mensajes, 3,439 comunicaciones y 18 extracciones de Databricks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pestañas Léeme y Parámetros; Databricks braze.*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198120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92807"/>
            <a:ext cx="1981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667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96312"/>
            <a:ext cx="19812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mensajes enviados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07208"/>
            <a:ext cx="1981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email, push, WhatsApp, in-app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4160" y="1783080"/>
            <a:ext cx="198120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4160" y="1892807"/>
            <a:ext cx="1981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57.7 M MXN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4160" y="2496312"/>
            <a:ext cx="19812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costo variable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4160" y="2807208"/>
            <a:ext cx="1981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email 0.05, WhatsApp 1.00 por entregado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59680" y="1783080"/>
            <a:ext cx="198120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59680" y="1892807"/>
            <a:ext cx="1981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3,439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9680" y="2496312"/>
            <a:ext cx="19812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comunicaciones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9680" y="2807208"/>
            <a:ext cx="1981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1,822 familias, 1,913 campañas por canal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291839"/>
            <a:ext cx="198120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401568"/>
            <a:ext cx="1981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19.5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005072"/>
            <a:ext cx="19812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usuarios alcanzados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15968"/>
            <a:ext cx="1981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20.1 M con email en el periodo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04160" y="3291839"/>
            <a:ext cx="198120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04160" y="3401568"/>
            <a:ext cx="1981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04160" y="4005072"/>
            <a:ext cx="19812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equipos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04160" y="4315968"/>
            <a:ext cx="1981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Marketing, Product Growth, Sales, Collections, Others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59680" y="3291839"/>
            <a:ext cx="198120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59680" y="3401568"/>
            <a:ext cx="1981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59680" y="4005072"/>
            <a:ext cx="19812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extracciones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9680" y="4315968"/>
            <a:ext cx="1981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E1 a E18b, agregadas, sin datos personales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Respuesta: clic en email, apertura en push, lectura en WhatsApp, clic en in-app. Abrir un email no cuenta.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Sin segmento: pieza que va a toda la base o a una etiqueta de estado ('Todos', 'Leads', 'Nuevos registrados', 'Full_Rollout') sin un filtro de comportamiento (abrió algo en 90 días, empezó una solicitud, tiene pago próximo). Con señal: pieza cuya audiencia se define por lo que el usuario hizo.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Conversión a 7 días solo como referencia: no hay grupo de control.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Costo variable sin el costo fijo de Braze (pendiente).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Todo el modelo está en el Sheets con fórmulas vivas y 471 verificaciones.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Con datos agregados de toda la base se puede atribuir cada hallazgo a piezas, equipos y meses concretos.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MÉTODO  </a:t>
            </a:r>
            <a:r>
              <a:rPr sz="850">
                <a:solidFill>
                  <a:srgbClr val="5B6270"/>
                </a:solidFill>
                <a:latin typeface="Calibri"/>
              </a:rPr>
              <a:t>Las 18 extracciones cruzan pieza, equipo, canal, mes, usuario y respuesta: cada lámina puede decir quién, qué y cuándo.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Cada acción del plan se mide campaña por campaña desde el primer mes con el mismo Sheets; no hace falta acceso a Braze para auditar.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Las cifras salen de datos agregados de toda la base, no de muestras: lo que se decida aquí se ejecuta y se mide campaña por campaña.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A1D24"/>
                </a:solidFill>
                <a:latin typeface="Calibri"/>
              </a:rPr>
              <a:t>WhatsApp es 8 % del volumen y 71 % del costo: Marketing pone 22.9 M MXN y Product Growth 11.4 M; el email más grande es el de Product Growth (117 M) y el push más grande el de Marketing (131 M)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B_Canales B2 (E4a)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71 %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del costo variable es WhatsApp, con 8 % de los envíos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22.9 M MXN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de WhatsApp los puso Marketing en 9 meses; Product Growth 11.4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131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push de Marketing y 117 M emails de Product Growth: los dos bloques más grandes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60320"/>
            <a:ext cx="6766560" cy="193203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Marketing es 39 % de los envíos y 47 % del costo: 31 M WhatsApp (22.9 M MXN) y 131 M push. Product Growth, 27 % y 30 %: 117 M emails (5.8 M MXN) y 16 M WhatsApp (11.4 M MXN).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Sales usa WhatsApp con recurrentes de KPay (5.9 M MXN, 80 % de entrega, 78 % de lectura). Collections no usa WhatsApp.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Respuesta por canal: in-app 38 %, WhatsApp 69 % de lectura, push 1.5 %, email 0.93 % de clic.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El dinero está en el WhatsApp de Marketing y Product Growth; el volumen y las bajas, en el email de Product Growth y Marketing.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El costo debería seguir al volumen: el canal más usado sería el más caro.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WhatsApp cuesta 1.00 MXN por entregado y Marketing (22.9 M MXN) y Product Growth (11.4 M) lo usan como canal masivo a leads rezagados y churn, que leen 55 a 62 %.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Reservar WhatsApp a quien ya respondió (lectura arriba de 67 %) mueve cerca de 1 M MXN al mes a push sin costo y sube la lectura del canal 10 puntos.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El dinero está en WhatsApp y las bajas en email: la limpieza empieza por WhatsApp y la frecuencia se baja primero en email.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El volumen subió 86 % de enero a junio y la respuesta cayó en los cuatro canales a la vez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B_Canales B1 (E4a). Respuesta: clic sobre entregados (email), apertura (push), lectura sobre entregados (WhatsApp), clic sobre impresiones (in-app)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2004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F4FD8"/>
                </a:solidFill>
                <a:latin typeface="Calibri"/>
              </a:rPr>
              <a:t>Email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1984248"/>
          <a:ext cx="1600200" cy="12344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240280" y="1984248"/>
          <a:ext cx="1600200" cy="12344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023359" y="1783080"/>
            <a:ext cx="32004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F4FD8"/>
                </a:solidFill>
                <a:latin typeface="Calibri"/>
              </a:rPr>
              <a:t>Push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3931920" y="1984248"/>
          <a:ext cx="1600200" cy="1234439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623559" y="1984248"/>
          <a:ext cx="1600200" cy="123443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3291839"/>
            <a:ext cx="32004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F4FD8"/>
                </a:solidFill>
                <a:latin typeface="Calibri"/>
              </a:rPr>
              <a:t>WhatsApp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548640" y="3493008"/>
          <a:ext cx="1600200" cy="1234439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2240280" y="3493008"/>
          <a:ext cx="1600200" cy="1234439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023359" y="3291839"/>
            <a:ext cx="32004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F4FD8"/>
                </a:solidFill>
                <a:latin typeface="Calibri"/>
              </a:rPr>
              <a:t>In-app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3931920" y="3493008"/>
          <a:ext cx="1600200" cy="1234439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623559" y="3493008"/>
          <a:ext cx="1600200" cy="1234439"/>
        </p:xfrm>
        <a:graphic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Junio: 109 M envíos (el doble de enero) y el peor mes en email (0.67 %), push (1.05 %) y WhatsApp (67 % de lectura). Fue el email de BillPay a 16 M usuarios encima de Hot Sale.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Septiembre: el push bajó a 24 M y abrió 2.12 %, el mejor del año. La respuesta se mueve al revés del volumen en los cuatro canales.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WhatsApp perdió 10 puntos de lectura en el año (74 % a 64 %) mientras el volumen bajó: la base que queda responde menos.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Más mensajes deberían traer más respuesta total aunque la tasa baje.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SATURACIÓN: MUCHAS PIEZAS EL MISMO DÍA  </a:t>
            </a:r>
            <a:r>
              <a:rPr sz="850">
                <a:solidFill>
                  <a:srgbClr val="5B6270"/>
                </a:solidFill>
                <a:latin typeface="Calibri"/>
              </a:rPr>
              <a:t>La tasa cayó en los cuatro canales a la vez porque el volumen nuevo fue masivo sin segmento y concentrado: 139 piezas de push nuevas en junio, BillPay Intro a 16 M por email, WhatsApp a bases rezagadas.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Con el volumen de enero (59 M al mes) el email daba 1.20 % de clic; junio dio 0.67 % con 109 M: el mismo número de clics con la mitad de los envíos y sin las 63 mil bajas de junio.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Subir volumen no sube resultados, los baja. Ningún envío a más de 1 M de usuarios sin prueba al 10 % y un segmento con criterio.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A1D24"/>
                </a:solidFill>
                <a:latin typeface="Calibri"/>
              </a:rPr>
              <a:t>Cada millón de emails más en la semana baja el clic 0.05 puntos y cada millón de push baja la apertura 0.11: el volumen semanal explica 60 % y 53 % de la respuesta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Serie semanal (E4a). Tasa sobre entregados (email) y sobre enviados (push)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r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647290" cy="3017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Con 5 M de emails en la semana el modelo espera 1.14 % de clic; con 25 M, 0.16 %. La semana del 1 de junio (BillPay Intro a 16 M) es el extremo, no la excepción: sin ella el R² es similar.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WhatsApp no depende del volumen (R² = 0.01): su lectura cayó de 74 % a 64 % por tendencia, no por cantidad. Ahí el problema es la base, no la frecuencia.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Es correlación en datos agregados, no un experimento. El mecanismo es conocido: las semanas grandes son las de masivos sin segmento, que responden 0.1 a 0.3 %.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La respuesta semanal depende del volumen de esa semana.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SATURACIÓN: MUCHAS PIEZAS EL MISMO DÍA  </a:t>
            </a:r>
            <a:r>
              <a:rPr sz="850">
                <a:solidFill>
                  <a:srgbClr val="5B6270"/>
                </a:solidFill>
                <a:latin typeface="Calibri"/>
              </a:rPr>
              <a:t>Email R² 0.60 y push 0.53: las semanas arriba de 10 M de email y 8 M de push son las de lanzamientos a 'Todos' de Marketing, NewProducts y Product Growth (junio: BillPay, AnotayGana, Mundial). WhatsApp R² 0.01: ahí manda la audiencia.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Un tope de 10 M de emails y 8 M de push por semana recupera 0.3 puntos de clic (de 0.9 a 1.2 %) y 0.5 de apertura sin tocar una sola pieza.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Tope semanal de volumen: ninguna semana arriba de 10 M de emails ni de 8 M de push sin aprobación del comité. Es la regla más simple y recupera 0.3 puntos de clic.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A1D24"/>
                </a:solidFill>
                <a:latin typeface="Calibri"/>
              </a:rPr>
              <a:t>Semana a semana: push triplicó su volumen la semana del 15 de junio y su apertura cayó a la mitad; email solo se disparó la semana del 1 de junio y WhatsApp lleva desde julio entre 80 y 87 % de la respuesta de enero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F_Serie semanal (E4a). Semanas completas del 5 de enero al 21 de septiembre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7</a:t>
            </a:r>
          </a:p>
        </p:txBody>
      </p:sp>
      <p:pic>
        <p:nvPicPr>
          <p:cNvPr id="8" name="Picture 7" descr="r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17672" cy="3017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Un panel por canal y el mismo eje en los cuatro: así se compara el push (3.4 veces enero) con el email (1.1 veces) sin que uno aplaste al otro.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Push: el pico de volumen (342) y el mínimo de apertura (51) caen en la misma semana, la del 15 de junio. La siguiente lámina dice qué piezas fueron.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Email: fuera de la semana del 1 de junio (313, BillPay Intro a 16 M) el volumen se mueve entre 64 y 148 y el clic entre 57 y 129.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WhatsApp: el volumen baja desde marzo y la respuesta no se recupera (80 en agosto): el problema es a quién se manda, no cuánto.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Si la respuesta cae por fatiga del canal, debería recuperarse cuando baja el volumen.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SATURACIÓN: MUCHAS PIEZAS EL MISMO DÍA  </a:t>
            </a:r>
            <a:r>
              <a:rPr sz="850">
                <a:solidFill>
                  <a:srgbClr val="5B6270"/>
                </a:solidFill>
                <a:latin typeface="Calibri"/>
              </a:rPr>
              <a:t>Push sí se recupera (julio: volumen 185, apertura 107): la causa fueron las piezas nuevas de junio. WhatsApp no se recupera con menos volumen: la causa es la audiencia (leads rezagados y churn), no la cantidad.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Push vuelve solo con bajar el volumen (julio: apertura 1.77 %); WhatsApp solo con cambiar la base: 10 puntos de lectura (64 a 74 %) que no se recuperan mandando menos.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El push se recupera con solo bajar volumen (ya pasó en julio); WhatsApp no. Por eso el plan apaga volumen en push y cambia la base en WhatsApp: son palancas distintas.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A1D24"/>
                </a:solidFill>
                <a:latin typeface="Calibri"/>
              </a:rPr>
              <a:t>El salto de push de junio lo pusieron 139 piezas nuevas de Marketing (25.6 M), NewProducts (9.4 M) y Product Growth (5.5 M): abrieron 0.87 % contra 3.11 % de las piezas que ya existían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F_Piezas (E1). Piezas de push con envíos en junio y sin envíos en mayo, agrupadas por familia; apertura = aperturas / envíos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43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push de junio salieron de 139 piezas que no existían en mayo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0.87 %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abrieron, contra 3.11 % de las piezas que ya existían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3 en 11 días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veces que NewProducts repitió el recordatorio de BillPay a los mismos 1.6 M usuarios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r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60320"/>
            <a:ext cx="6412854" cy="22402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Junio: 46.8 M push contra 35.1 M en mayo. 43.0 M salieron de piezas que no existían en mayo.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Las ocho familias de la tabla son 20 M: lanzamientos a toda la base (BillPay, TopUp, AnotayGana, Mundial, Día del Padre) con audiencias de 1.1 a 3.2 M usuarios.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NewProducts mandó el recordatorio de BillPay tres veces en 11 días (3, 6 y 12 de junio) y el de TopUp dos veces, a los mismos 1.6 M usuarios.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Apertura mensual de push: mayo 1.28 %, junio 1.05 %, julio 1.77 %: en cuanto se fueron las piezas nuevas, volvió.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Si el push se cansó por el volumen total, las piezas de siempre también deberían abrir menos en junio.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SATURACIÓN: MUCHAS PIEZAS EL MISMO DÍA  </a:t>
            </a:r>
            <a:r>
              <a:rPr sz="850">
                <a:solidFill>
                  <a:srgbClr val="5B6270"/>
                </a:solidFill>
                <a:latin typeface="Calibri"/>
              </a:rPr>
              <a:t>No pasó: las piezas que ya existían abrieron 3.11 %. La caída la causan las 139 piezas nuevas a 'Todos' (0.87 %), y tres equipos las lanzaron el mismo mes sin calendario común.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Un push a 'Todos' por semana en todo Kueski y recordatorios solo a quien no abrió: la mitad de esos 43 M push, a la apertura de las piezas existentes (3.1 %), habría dado 668 mil aperturas contra 374 mil.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Un lanzamiento masivo por push no se repite tres veces en 11 días ni coincide con el de otro equipo: tope de un push a 'Todos' por semana en todo Kueski, y los recordatorios de producto solo a quien no abrió el primero.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A1D24"/>
                </a:solidFill>
                <a:latin typeface="Calibri"/>
              </a:rPr>
              <a:t>WhatsApp bajó de 5.3 M entregados al mes a 3.1 M y la lectura de 70.5 a 63.3 %: lo que queda va a leads rezagados y churn de Marketing y Product Growth, que leen 50 a 62 %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F_Piezas (E1). Entregas y lecturas de WhatsApp por pieza; audiencia según el nombre de la pieza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71 % a 63 %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lectura de WhatsApp, primer contra segundo semestre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39 %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de las entregas de julio a septiembre van a rezagados y churn (leen 55 a 62 %)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1.2 M MXN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al mes en WhatsApp a esas audiencias; por push costaría cero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r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60320"/>
            <a:ext cx="6412854" cy="22402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Enero a junio: Leads y Recurrentes eran 62 % de las entregas y leían 74 a 70 %. Julio a septiembre: churn e inactivos subieron de 13 a 22 % con 55 % de lectura.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Por equipo en 9 meses: Sales lee 78 % (5.9 M), Marketing 71 % (22.9 M), Product Growth 61 % (11.4 M).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RescateTasa0 a la base rezagada (Marketing) y Churn 12 meses (Product Growth) corren los tres meses a 225 a 310 mil usuarios: 2.5 M MXN en el trimestre con la lectura más baja del canal.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Cada entregado cuesta 1.00 MXN; un push a la misma audiencia cuesta cero.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Si el canal se desgastó, todas las audiencias deberían leer menos en el segundo semestre.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Leads y Recurrentes siguen leyendo 68 y 67 %. La lectura total cae porque cambió la mezcla: Marketing y Product Growth movieron el WhatsApp a bases rezagadas y churn, que leen 62 y 55 %.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Churn y rezagados son 39 % de lo entregado de julio a septiembre (1.2 M MXN al mes); por push cuestan cero y la lectura del canal vuelve arriba de 67 %.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WhatsApp a 1 MXN por entregado se reserva a Active, Recurrentes y Precobranza (lectura arriba de 67 %). Churn, inactivos y bases rezagadas van por push o email; si no responden ahí, no van.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A1D24"/>
                </a:solidFill>
                <a:latin typeface="Calibri"/>
              </a:rPr>
              <a:t>Dentro de un mes la respuesta se mueve más que entre meses: en junio el clic de email abrió en 0.36 % y cerró en 1.00 %; push cerró septiembre 0.5 puntos debajo de donde abrió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Serie semanal (E4a). Semanas asignadas al mes de su lunes; 38 semanas completas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r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283055" cy="3017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Cada vela resume las 4 o 5 semanas del mes: apertura = primera semana, cierre = última, mecha = máximo y mínimo semanal.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Email: la mecha de junio (0.36 a 1.14 %) es más larga que todo el movimiento de enero a septiembre. El promedio mensual (0.6 %) no describe ninguna semana.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WhatsApp: ocho de nueve velas cierran igual o abajo de donde abrieron; es una tendencia, no ruido semanal.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In-app: mechas largas (febrero 16 a 38 %) porque pocas piezas grandes cambian la tasa del canal.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El promedio mensual representa bien el mes.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SIN MEDICIÓN  </a:t>
            </a:r>
            <a:r>
              <a:rPr sz="850">
                <a:solidFill>
                  <a:srgbClr val="5B6270"/>
                </a:solidFill>
                <a:latin typeface="Calibri"/>
              </a:rPr>
              <a:t>Una sola semana de masivo mueve más que todo el año: la mecha de junio en email es BillPay Intro (16 M, 0.1 % de clic) la semana del 1 de junio. Nadie lo vio a tiempo porque el tablero es mensual.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Con un tablero semanal, una semana como la del 1 de junio (0.36 %) se detecta en 7 días y se frena el segundo envío antes de que salga.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Medir y decidir por semana, no por mes: una semana de masivo hunde la respuesta y la siguiente se recupera. El tablero del playbook es semanal por canal.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19 de 24 indicadores están debajo del estándar; email, push y WhatsApp no llegan al piso de la industria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Estándares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19 de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indicadores debajo del estándar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0.92 %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clic de email contra 1.5 % de estándar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1.53 %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apertura de push contra 3 %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6766559" cy="21031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7552"/>
                <a:gridCol w="1057275"/>
                <a:gridCol w="845820"/>
                <a:gridCol w="1585912"/>
              </a:tblGrid>
              <a:tr h="161778">
                <a:tc>
                  <a:txBody>
                    <a:bodyPr wrap="square"/>
                    <a:lstStyle/>
                    <a:p>
                      <a:r>
                        <a:rPr sz="650" b="1">
                          <a:solidFill>
                            <a:srgbClr val="5B6270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650" b="1">
                          <a:solidFill>
                            <a:srgbClr val="5B6270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650" b="1">
                          <a:solidFill>
                            <a:srgbClr val="5B6270"/>
                          </a:solidFill>
                          <a:latin typeface="Calibri"/>
                        </a:rPr>
                        <a:t>Estándar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650" b="1">
                          <a:solidFill>
                            <a:srgbClr val="5B6270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Clic de email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0.92 %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1.5 %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Bajas de email por mil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3.13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Apertura de push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1.53 %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3 %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Entrega de WhatsApp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74 %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90 %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Lectura de WhatsApp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69 %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70 %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8860B"/>
                          </a:solidFill>
                          <a:latin typeface="Calibri"/>
                        </a:rPr>
                        <a:t>Debajo por poco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Mensajes a canal mudo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59 %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20 %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Usuarios que nunca respondieron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73 %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50 %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Promocional a etapas bloqueadas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43.8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Canvas con grupo de control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 de 3,228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Todos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Envíos con ticket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87 %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Entrega de email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95.1 %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95 %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2C7A4B"/>
                          </a:solidFill>
                          <a:latin typeface="Calibri"/>
                        </a:rPr>
                        <a:t>Cumple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Clic de in-app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38 %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5 a 20 %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2C7A4B"/>
                          </a:solidFill>
                          <a:latin typeface="Calibri"/>
                        </a:rPr>
                        <a:t>Cumple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Los 24 indicadores con definición, fórmula y estándar están en la pestaña Estándares del Sheets y en el anexo.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El estándar es el piso del rango de la industria o una propuesta interna; es editable.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Cumplen 5: entrega de email, apertura de email, clic de in-app, toques por pieza y usuario-días con 3 o más piezas.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Estamos cerca del estándar y falta ajustar el copy.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19 de 24 en rojo porque el problema es estructural: audiencias masivas sin segmento (Leads, 'Todos'), frecuencia sin tope y canales sin regla de preferencia. Ninguna pieza masiva llega al piso.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Las 12 reglas del playbook atacan 15 de los 19 en rojo; en 90 días la meta es 10 en verde: clic 1.5 %, apertura 3 %, bajas 2.5 por mil.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No es un problema de una campaña ni de un equipo: es la forma de operar Braze. Se corrige con reglas y configuración, no pieza por pieza.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1280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91440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Mandamos a quien no responde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La mitad del esfuerzo va a usuarios que no pueden o no quieren responder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A. A QUIEN NO RESPONDE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A1D24"/>
                </a:solidFill>
                <a:latin typeface="Calibri"/>
              </a:rPr>
              <a:t>73 % de los usuarios no respondió a nada en 9 meses; el 11 % que responde a varios canales recibe la mitad de los mensajes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J_Canal (E7b)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13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783080"/>
          <a:ext cx="6766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14.2 M usuarios sin una sola respuesta. Reciben 11 mensajes cada uno y convierten 0.08 %.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Quien solo responde a WhatsApp es 8 % de los usuarios y 34 % del costo: recibe 58 M emails y 21 M push que nunca abre.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Quien responde a varios canales convierte 30 a 75 % porque es cliente activo. Sirve para segmentar, no para decir que el mensaje vendió.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La base es grande y toda vale lo mismo para recibir mensajes.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14.2 M usuarios no respondieron a nada en 9 meses y reciben 24 % del volumen: son leads y no rastreados a los que Marketing y Product Growth mandan masivos sin segmento cada 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Excluir a los 14.2 M mudos de lo promocional ahorra cerca de 900 mil MXN al mes y 17 % de las bajas sin perder conversiones (convierten 0.08 %).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Dejar de mandar a los 14.2 M que nunca respondieron no cuesta ventas (convierten 0.08 %). Es la primera exclusión que se carga en Braze.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A. A QUIEN NO RESPONDE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A1D24"/>
                </a:solidFill>
                <a:latin typeface="Calibri"/>
              </a:rPr>
              <a:t>2.2 M usuarios que responden a 2 o más canales (11 % de la base) concentran 86 % de las conversiones; los 14.2 M que nunca respondieron, 1 %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Patrón de respuesta (E7b). Respuesta: clic de email o in-app, apertura de push, lectura de WhatsApp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14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783080"/>
          <a:ext cx="676656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526280"/>
            <a:ext cx="6766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B6270"/>
                </a:solidFill>
                <a:latin typeface="Calibri"/>
              </a:rPr>
              <a:t>Conversiones en el periodo: 1.19 M usuarios. Mensajes: 160 M a mudos, 164 M a un canal, 346 M a varios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Los 14.2 M mudos recibieron 160 M mensajes (24 % del total) y convirtieron 12 mil: 0.08 % de ellos.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Quien responde a 2 o más canales convierte 46 % en el periodo; quien responde a uno, 4.8 %.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La conversión es de Databricks (solicitud o préstamo), no de Braze: por eso no se puede atribuir a un mensaje, pero sí decir a quién no conviene escribirle.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Mandar a todos maximiza conversiones.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86 % de las conversiones vienen del 11 % que responde a varios canales; los 14.2 M mudos reciben 160 M mensajes y aportan 1 %. El volumen va a donde no hay resultado porque nadie segmenta por respuesta.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Dejar de mandar promocional a mudos quita 160 M mensajes (24 %) y 1 % de las conversiones: el presupuesto se concentra en los 5.3 M que sí responden.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La base útil para promocional son 5.3 M usuarios, no 19.5 M. Toda audiencia promocional se construye desde quien ya respondió a algo; los mudos solo reciben transaccional y una prueba de reactivación al trimestre.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A. A QUIEN NO RESPONDE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59 % de los mensajes van a un canal que el usuario nunca abrió: 394 M mensajes y 18.7 M MXN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J_Canal R22 y H22 (E7b)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310896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92807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59 %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96312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de los mensajes a canal mudo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0720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394 M en 9 meses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783080"/>
            <a:ext cx="310896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1892807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18.7 M MXN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96312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costo de esos mensajes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80720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32 % del costo variable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91839"/>
            <a:ext cx="310896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40156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149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05072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emails a quien responde a otro canal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1596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pero nunca hizo clic en un email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291839"/>
            <a:ext cx="310896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0" y="340156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3.2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005072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WhatsApp entregados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31596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a quien nunca leyó un WhatsApp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Canal mudo: canal al que ese usuario nunca respondió aunque sí respondió a otro.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Regla del playbook: se manda por el canal al que el usuario responde; el push es el canal de señal.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Hace falta el atributo canal_preferido_90d en Braze para filtrarlo en cada pieza.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Insistir por todos los canales sube la probabilidad de respuesta.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CANAL EQUIVOCADO  </a:t>
            </a:r>
            <a:r>
              <a:rPr sz="850">
                <a:solidFill>
                  <a:srgbClr val="5B6270"/>
                </a:solidFill>
                <a:latin typeface="Calibri"/>
              </a:rPr>
              <a:t>Cada equipo manda por su canal (Collections email, Sales push, Marketing WhatsApp) sin ver a qué canal responde el usuario; no existe el atributo canal_preferido en Braze.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Mandar por el canal al que responde ahorra 18.7 M MXN en 9 meses (2.1 M al mes) con la misma respuesta: 149 M emails y 3.2 M WhatsApp menos.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Mandar por el canal que el usuario sí abre ahorra 18.7 M MXN en 9 meses sin perder respuesta. Requiere un atributo en Braze: canal_preferido_90d.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A. A QUIEN NO RESPONDE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97.5 M mensajes fueron a quien nunca respondió: 8.1 M MXN, 17 % de las bajas y cero conversiones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T_SinRespuesta (E16)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16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783080"/>
          <a:ext cx="6766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Cada mes 1.1 M de usuarios reciben email sin haber respondido jamás. En junio fueron 11.9 M por BillPay.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Unos 900 mil MXN al mes. Nadie convirtió sin haber respondido antes.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Regla: sin respuesta en 90 días, fuera de lo promocional (exclusión EXC-SinRespuesta90d). Se paga sola.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Los mudos son pocos y cuestan poco.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8.1 M MXN: 5.0 M en WhatsApp de Marketing y Product Growth a bases rezagadas y churn, 3.1 M en email de Tasa0 a nuevos y masivos a 'Todos'. No hay exclusión por inactividad en ninguna pieza promocional.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Exclusión de 90 días sin respuesta: 900 mil MXN al mes, 191 mil bajas menos en 9 meses y cero conversiones perdidas (nadie convirtió sin responder antes).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Exclusión EXC-SinRespuesta90d en todo lo promocional: ahorra unos 900 mil MXN al mes y 17 % de las bajas sin perder una sola conversión.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A. A QUIEN NO RESPONDE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A1D24"/>
                </a:solidFill>
                <a:latin typeface="Calibri"/>
              </a:rPr>
              <a:t>La parte del email que va a quien nunca respondió no baja: 14 a 16 % cada mes y 33 % en junio; push sí mejoró, de 15 % en enero a 5 % en septiembre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R_SinRespuesta (E16). Mudo: sin clic, apertura ni lectura en ningún canal en los 9 meses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17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783080"/>
          <a:ext cx="6766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Push bajó de 15 a 5 % sin ninguna regla: es el canal donde los equipos ya segmentan por señal (quien abrió). Es la prueba de que la exclusión funciona.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Email no cambia porque los masivos a toda la base y las secuencias de bienvenida no filtran por respuesta; junio es BillPay Intro.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WhatsApp se mueve entre 6 y 16 % según el mes: cada punto son 1.00 MXN por mensaje entregado a alguien que nunca ha leído uno.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Con el tiempo la lista se limpia sola.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OPERACIÓN Y CONFIGURACIÓN  </a:t>
            </a:r>
            <a:r>
              <a:rPr sz="850">
                <a:solidFill>
                  <a:srgbClr val="5B6270"/>
                </a:solidFill>
                <a:latin typeface="Calibri"/>
              </a:rPr>
              <a:t>En email no hay supresión por inactividad y el 33 % de junio es BillPay Intro a 16 M (toda la base). Push sí baja de 15 a 5 % porque la desinstalación y el permiso de notificación filtran solos.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Supresión por inactividad en email, como ya pasa sola en push: la parte a mudos baja de 18 % a menos de 5 % y evita otro junio (11.9 M emails a quien nunca respondió).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Esta curva es el indicador de la exclusión EXC-SinRespuesta90d: la meta es email y WhatsApp debajo de 5 % en 60 días, como ya está push.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A. A QUIEN NO RESPONDE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43.8 M mensajes promocionales llegaron a usuarios bloqueados y 80 mil emails a gente que ya se dio de baja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H_Etapas (E7a), E_DespuesBaja (E5b). Golden dataset cubre 37 % de los envíos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18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783080"/>
          <a:ext cx="6766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Bloqueados: tarjeta KPay congelada (43.4 M), REUS o ARCO (249 mil), lista negra (146 mil).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Contando todo tipo de mensaje: 57.4 M a tarjeta congelada (4.4 M usuarios, 5.1 M MXN) y 1.48 M a lista negra, REUS o ARCO.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80 mil emails promocionales a dados de baja (Marketing 59 mil): el filtro de suscripción estaba solo a la entrada del Canvas.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Regla: 7 exclusiones como filtro negativo en todo lo promocional. Legal decide sobre REUS y ARCO.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Braze filtra automáticamente a quien se dio de baja o está bloqueado.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OPERACIÓN Y CONFIGURACIÓN  </a:t>
            </a:r>
            <a:r>
              <a:rPr sz="850">
                <a:solidFill>
                  <a:srgbClr val="5B6270"/>
                </a:solidFill>
                <a:latin typeface="Calibri"/>
              </a:rPr>
              <a:t>El filtro de suscripción aplica por canal, no por usuario, y los Canvas viejos no refrescan audiencia: Collections BKT1 a BKT3 (503 mil emails) y transaccionales de KPay siguen mandando a dados de baja; nadie cargó las etapas bloqueadas como exclusión.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7 exclusiones como filtro negativo: 4.9 M mensajes menos al mes, 570 mil MXN al mes (tarjeta congelada) y cero riesgo legal por REUS y ARCO.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Son mensajes que no debían salir y un riesgo legal. Las 7 exclusiones se cargan en Braze esta semana; Legal decide sobre REUS y ARCO.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A. A QUIEN NO RESPONDE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1 de cada 4 WhatsApp no llega: 14.2 M mensajes en 9 meses que se mandan a números que no reciben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B_Canales B4 (E4a), J_Canal (E7b)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19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783080"/>
          <a:ext cx="6766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6766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B6270"/>
                </a:solidFill>
                <a:latin typeface="Calibri"/>
              </a:rPr>
              <a:t>Línea de referencia: Estándar 90 %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55.2 M enviados, 41.0 M entregados (74 %). Meta cobra por entregado; si cobrara por enviado serían 14.2 M MXN tirados.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Entre quienes nunca responden la entrega es 34 %; entre quienes leen WhatsApp, 83 %. El número que no recibe es la primera señal de limpieza.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Abril y mayo tocaron piso (69 % y 67 %) y se siguió mandando. Se recuperó cuando bajó el volumen.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Regla: WhatsApp solo a quien ya dio señal. Exclusión EXC-WA_SinEntrega3 en toda pieza.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El número está mal capturado.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14.2 M sin entrega se concentran en bases rezagadas y leads comprados (Marketing) y churn de 12 meses (Product Growth): números sin WhatsApp o ajenos. No hay validación previa ni supresión después de dos fallos.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Exclusión tras 3 fallos y WhatsApp solo con señal: la entrega sube de 74 a más de 85 % y el número conserva su tope diario ante Meta.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Exclusión EXC-WA_SinEntrega3 en toda pieza de WhatsApp: deja de pagar por números que no reciben y protege la calidad del número ante Meta.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A. A QUIEN NO RESPONDE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A1D24"/>
                </a:solidFill>
                <a:latin typeface="Calibri"/>
              </a:rPr>
              <a:t>Recibidos y no recibidos: Product Growth pierde 28 % de sus WhatsApp y 6 % de sus emails antes de llegar; Sales entrega 80 % y 97 %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F_Piezas (E1). Entregados sobre enviados por equipo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14.2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WhatsApp que no llegaron en 9 meses (26 %)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16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emails que no llegaron (5 %)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80 %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entrega de WhatsApp de Sales, la mejor; Product Growth 72 %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r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60320"/>
            <a:ext cx="6703199" cy="22402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Email: Sales entrega 97.0 %, Marketing 96.0 %, Product Growth 93.8 %. La diferencia son los correos de nuevos registrados sin verificar (Tasa0, NeverActive) que rebotan.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WhatsApp: Sales 80 % (recurrentes KPay con número reciente), Marketing 74 %, Product Growth 72 % (churn e inactivos de 12 meses con número viejo).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Cada WhatsApp que no llega no se cobra, pero degrada la calidad del número ante Meta y baja el tope diario para los que sí llegan.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Regla: WhatsApp solo a quien ya dio señal y exclusión tras 3 fallos de entrega; email a nuevos solo con correo verificado.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Si la entrega dependiera del canal, todos los equipos perderían la misma proporción.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La pérdida va con la audiencia, no con el canal: Product Growth manda WhatsApp a churn de 12 meses y email a registrados sin verificar; Sales manda a recurrentes de KPay con datos recientes y entrega 80 y 97 %.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Con la entrega de Sales en todos los equipos, 3 M WhatsApp y 6 M emails más llegarían en 9 meses sin mandar uno más, y el número de WhatsApp conserva su tope diario.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No se compra más entrega con más envíos: se limpia la base. Exclusión EXC-WA_SinEntrega3 y correo verificado como condición de entrada a cualquier pieza de email a nuevos.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1280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91440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Mandamos demasiado y sin coordinación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La presión por usuario, el choque entre equipos y los Canvas de 100 pasos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B. DEMASIADO Y SIN COORDINACIÓN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A1D24"/>
                </a:solidFill>
                <a:latin typeface="Calibri"/>
              </a:rPr>
              <a:t>5 % de los usuarios recibe 41 o más mensajes al mes y concentra 30 % del volumen; con 321 o más mensajes la baja se multiplica por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B_Canales B3 (E4b), G_Practicas (E3)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22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783080"/>
          <a:ext cx="6766560" cy="94487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2819399"/>
          <a:ext cx="6766560" cy="94487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48640" y="3855720"/>
          <a:ext cx="6766560" cy="944879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Un usuario recibe 10.4 mensajes al mes en promedio; 5 % recibe 41 o más al mes y concentra 30 % del volumen.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339 mil usuarios recibieron 321 o más mensajes en 9 meses: 16.5 bajas por 100 usuarios contra 1.3 en la banda de 1 a 5.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La conversión también sube con los mensajes, pero por selección: el cliente activo recibe cobranza y transaccionales. No prueba que el mensaje convierta; la baja sí es consecuencia directa.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Regla: 5 promocionales por semana, 2 piezas al día, 1 push al día, 1 WhatsApp al mes.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Los que más reciben son los clientes más activos.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SATURACIÓN: MUCHAS PIEZAS EL MISMO DÍA  </a:t>
            </a:r>
            <a:r>
              <a:rPr sz="850">
                <a:solidFill>
                  <a:srgbClr val="5B6270"/>
                </a:solidFill>
                <a:latin typeface="Calibri"/>
              </a:rPr>
              <a:t>Son usuarios que caen en varios Canvas a la vez: la banda de 41 a 80 recibe 25 piezas distintas al mes y la de 321 o más, 220. Sin frequency cap global, cada equipo suma sin ver al otro.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Frequency cap de 5 promocionales por semana: 339 mil usuarios salen de la banda de 321 o más (16.5 bajas por 100 contra 1.3) y el volumen baja cerca de 15 % sin tocar la conversión.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Frequency cap global en Braze (5 promocionales por semana, 1 push al día): recorta la cola de 41 o más y saca a los usuarios de la banda donde la baja se multiplica por 13.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B. DEMASIADO Y SIN COORDINACIÓN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A1D24"/>
                </a:solidFill>
                <a:latin typeface="Calibri"/>
              </a:rPr>
              <a:t>Cada mes 1.3 a 2.2 M usuarios reciben 3 o más campañas distintas el mismo día; desde junio su baja por mil se duplica, mientras quien recibe una sola bajó de 0.57 a 0.34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F_Solape (E6a, E6b). Usuario-día: un usuario en un día con al menos un envío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23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783080"/>
          <a:ext cx="6766560" cy="1463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3337560"/>
          <a:ext cx="6766560" cy="14630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Cuántos: la banda de 8 o más son 19 a 94 mil usuarios al mes (0.2 a 1.0 M mensajes); la de 2 campañas, 1.7 a 3.3 M usuarios. 9 % de los usuario-días reciben 3 o más campañas y son 24 % de los mensajes.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Quién: 38 % del choque es dentro del mismo equipo. Marketing con Marketing 28 M usuario-días, Sales con Sales 15 M, Marketing con Sales 14 M, Product Growth con Marketing 9 M.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Cuándo y de qué: junio, piezas a 'Todos' (lanzamiento de BillPay, Día del Padre, AnotayGana, Mundial) encima de los Canvas que corren diario. La siguiente lámina lista los pares.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Los choques son entre equipos distintos.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SOLAPE ENTRE FAMILIAS Y EQUIPOS  </a:t>
            </a:r>
            <a:r>
              <a:rPr sz="850">
                <a:solidFill>
                  <a:srgbClr val="5B6270"/>
                </a:solidFill>
                <a:latin typeface="Calibri"/>
              </a:rPr>
              <a:t>38 % de los choques son del mismo equipo: Marketing con Marketing (27.6 M usuario-días) y Sales con Sales (15.4 M). Desde junio se suman piezas a 'Todos' encima de los Canvas diarios. No hay calendario único ni regla de un promocional por usuario por día.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Un promocional por usuario por día: la baja de quien recibe 3 o más (0.9 a 1.3 por mil) cae a la de quien recibe una (0.34): 60 a 70 % menos bajas en el 9 % de usuario-días con choque.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El problema no son 90 mil usuarios con 8 campañas: son 2 a 3 M con dos piezas el mismo día, casi siempre del mismo equipo. Calendario único por equipo antes que reglas entre equipos.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B. DEMASIADO Y SIN COORDINACIÓN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A1D24"/>
                </a:solidFill>
                <a:latin typeface="Calibri"/>
              </a:rPr>
              <a:t>Los choques más grandes son dos piezas a 'Todos' el mismo día: 1.5 M usuarios recibieron dos push de Marketing el 21 de junio y un Canvas de QA chocó con 1.45 M usuarios reales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F_Solape (E6b). Usuarios aproximados que recibieron ambas piezas el mismo día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1.5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usuarios con dos push de Marketing el 21 de junio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1.45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usuarios reales alcanzados por un Canvas de QA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38 %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de los choques son dentro del mismo equipo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676655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0850"/>
                <a:gridCol w="2859109"/>
                <a:gridCol w="333562"/>
                <a:gridCol w="381214"/>
                <a:gridCol w="571821"/>
              </a:tblGrid>
              <a:tr h="256032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Pieza A (equipo)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Pieza B (equipo)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Canales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Usuarios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Meses juntas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Ecosistema Todos PushFelicitiacionDiaPadres (Marketing)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KPay LeadsRecurrentes LanzamientoBillpayments On (Marketing)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push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1.54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KPay Leads BillpaymentsOnboarding (Marketing)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KPay Todos ReminderRegistroTelefono (QA)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push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1.45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Ecosistema Todos AnotayGana (Product Growth)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Kueski Portfolio BillPay Intro Full Rollout (Others)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push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1.23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KCash Todos ReferralProgram (Marketing)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KPay Ecosistema BAUMundial (Marketing)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push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1.13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Ecosistema Ecosistema RegistroLineaMX (Marketing)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Kueski Portfolio BillPay Intro Full Rollout (Others)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in-app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0.85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KCash Nuevos RegistradosPay Tasa0 (Product Growth)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KCash Nuevos Eligibles Christmas (Product Growth)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0.65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Pares promocionales con más usuario-días juntos (E6b, 1,000 pares). Los pares transaccionales (préstamo dispersado con confirmación de pago, 0.5 a 0.6 M usuarios) son legítimos y no se tocan.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La fecha en el nombre de la pieza es la del lanzamiento; 'meses juntas' es en cuántos meses coincidieron.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Ninguno de estos pares pasó por un calendario: cada equipo activó su pieza sin ver la del otro, y QA activó a usuarios reales.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Los choques son accidentes de un día.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SOLAPE ENTRE FAMILIAS Y EQUIPOS  </a:t>
            </a:r>
            <a:r>
              <a:rPr sz="850">
                <a:solidFill>
                  <a:srgbClr val="5B6270"/>
                </a:solidFill>
                <a:latin typeface="Calibri"/>
              </a:rPr>
              <a:t>Son piezas a 'Todos' lanzadas el mismo mes por el mismo equipo (Día del Padre y Billpayments de Marketing) y un Canvas de QA activo con usuarios reales: nadie revisa el calendario antes de activar.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Calendario único y comité quincenal: ninguno de estos pares se repite (5 M usuario-días) y QA fuera de audiencias reales evita 1.45 M envíos de prueba.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Calendario único con fecha, equipo, pieza, audiencia y canal, y comité quincenal: ninguna pieza a 'Todos' o a más de 1 M sale el mismo día que otra. QA nunca con audiencias reales.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B. DEMASIADO Y SIN COORDINACIÓN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Un usuario nuevo se da de baja a los 27 días con 5 emails; un solo envío masivo explica 31 % de esas bajas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L_Baja (E8), O_Antiguedad (E12)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783080"/>
          <a:ext cx="6766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158 mil usuarios nuevos se dieron de baja en el periodo. 33 % con el primer email; 7.4 % el mismo día.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Antes de irse recibieron 5 emails de 4 piezas distintas. No es cansancio acumulado, es el contenido y la cantidad del primer mes.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Los nuevos son los que mejor responden (clic 2.4 %, push 3.4 %) y los que más se dan de baja (6.9 por mil).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Regla: una sola secuencia de bienvenida, 1 email al día, 3 la primera semana. Ningún masivo incluye a usuarios con menos de 30 días.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La baja del nuevo es por el contenido del email.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SATURACIÓN: MUCHAS PIEZAS EL MISMO DÍA  </a:t>
            </a:r>
            <a:r>
              <a:rPr sz="850">
                <a:solidFill>
                  <a:srgbClr val="5B6270"/>
                </a:solidFill>
                <a:latin typeface="Calibri"/>
              </a:rPr>
              <a:t>Es por frecuencia y masivos en el primer mes: 5 emails de 4 piezas distintas en 27 días (retargeting 2 al día de Marketing, Tasa0 de Product Growth) y BillPay Intro (NewProducts, junio) explica 31 % de esas bajas.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Una sola secuencia de bienvenida (3 emails la primera semana) y sin masivos a menores de 30 días: 53 % de las bajas de nuevos desaparecen, 84 mil usuarios en 9 meses.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Una sola secuencia de bienvenida (1 email al día, 3 la primera semana) y ningún masivo a menores de 30 días: protege al segmento que mejor responde.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A. A QUIEN NO RESPONDE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A1D24"/>
                </a:solidFill>
                <a:latin typeface="Calibri"/>
              </a:rPr>
              <a:t>Ocho familias de email generan 37 % de las bajas: Tasa0 a nuevos registrados (46 mil, nueve meses), ReferralProgram y Retargeting Veriff de Marketing (38 mil cada una) y BillPay Intro en un solo envío (37 mil)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F_Piezas (E1). Bajas de email por pieza y mes, solo meses con entrega; familias con 100 mil entregados o más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37 %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de las bajas vienen de 8 familias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4.6 contra 1.8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bajas por mil: 'Todos' contra recurrentes y activos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7 de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familias hacen clic debajo de 1 %; solo Veriff responde (3.04 %)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r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60320"/>
            <a:ext cx="6412854" cy="22402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635 mil bajas con entrega en el mismo mes; promedio 2.0 por mil entregados. Marketing 43 %, Product Growth 33 %, NewProducts 15 %.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Por audiencia: 'Todos' 4.6 por mil y Leads 3.2, contra Recurrentes y Active 1.8. Leads y 'Todos' son 46 % de las bajas.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Veriff se da de baja 3.9 por mil pero hace clic 3.04 %: es la pieza que más responde; se protege y se le baja la frecuencia. Las otras siete hacen clic debajo de 1 %.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Otras 458 mil bajas se registran en meses en que la pieza no entregó nada (Braze las atribuye al último envío recibido); se excluyen de la tabla.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Si las bajas vinieran de piezas puntuales mal hechas, se concentrarían en pocas piezas de un 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Vienen de piezas que corren todos los meses a audiencias frías: Leads, bases rezagadas y 'Todos' se dan de baja 3.2 a 4.6 por mil, dos a tres veces más que Recurrentes. La causa es a quién se manda y cuántas veces, no el copy.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Detener Referral y NarrativaTasa0 y meter Tasa0 a nuevos en la bienvenida evita 110 mil bajas en 9 meses y cerca de 55 M emails.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ReferralProgram y NarrativaTasa0 (más de 4 bajas por mil, clic debajo de 1 %) se detienen esta semana. Tasa0 a nuevos entra a la secuencia de bienvenida con tope de 3 emails. Ninguna pieza a 'Todos' sin segmento.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B. DEMASIADO Y SIN COORDINACIÓN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45 Canvas pasan de 20 pasos y 477 pasos abren menos de 1 %; la insistencia no sube la apertura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S_Pasos (E15). El orden del paso es aproximado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783080"/>
          <a:ext cx="6766560" cy="1463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3337559"/>
          <a:ext cx="6766560" cy="14630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959 Canvas con 5,986 pasos. La mitad tiene 3 pasos o menos; 45 pasan de 20 y 19 pasan de 50. Los de inactividad tienen entre 96 y 120 pasos para 734 mil usuarios.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El paso 3 abre más porque ahí entran los filtros de quien ya reaccionó, no porque el tercer mensaje convenza. Push detrás de una señal abre 6 % contra 2 %.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477 pasos con mil o más usuarios abren menos de 1 %; 80 tienen más de 10 mil usuarios y menos de 0.5 %.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Regla: máximo 8 pasos, 2 toques por canal, un paso de Decision después de cada envío.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Más pasos dan más oportunidades de convertir.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SATURACIÓN: MUCHAS PIEZAS EL MISMO DÍA  </a:t>
            </a:r>
            <a:r>
              <a:rPr sz="850">
                <a:solidFill>
                  <a:srgbClr val="5B6270"/>
                </a:solidFill>
                <a:latin typeface="Calibri"/>
              </a:rPr>
              <a:t>477 pasos abren menos de 1 % porque insisten al mismo usuario que ya no abrió: retargeting de Marketing (Veriff, PersonalInfo) y Tasa0 de Product Growth encadenan hasta 50 pasos sin paso de decisión.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Tope de 8 pasos y 2 toques por canal: los 477 pasos debajo de 1 % se apagan; 6 M usuarios dejan de recibir del paso 5 en adelante sin perder apertura (15.7 %, igual que el paso 1).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Máximo 8 pasos y 2 toques por canal: los 477 pasos que abren menos de 1 % se apagan sin perder respuesta, porque insistir no la sube.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B. DEMASIADO Y SIN COORDINACIÓN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A1D24"/>
                </a:solidFill>
                <a:latin typeface="Calibri"/>
              </a:rPr>
              <a:t>El lunes concentra 23 % del email con el peor clic de la semana (0.65 %); el fin de semana responde más en todos los equipos salvo Collections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N_DiaSemana (E10). Celdas con menos de 50 mil entregados en gris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676655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744582"/>
                <a:gridCol w="744582"/>
                <a:gridCol w="744582"/>
                <a:gridCol w="744582"/>
                <a:gridCol w="744582"/>
                <a:gridCol w="744582"/>
                <a:gridCol w="744582"/>
              </a:tblGrid>
              <a:tr h="342900">
                <a:tc>
                  <a:txBody>
                    <a:bodyPr/>
                    <a:lstStyle/>
                    <a:p>
                      <a:pPr algn="l"/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B6270"/>
                          </a:solidFill>
                          <a:latin typeface="Calibri"/>
                        </a:rPr>
                        <a:t>Lun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B627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B6270"/>
                          </a:solidFill>
                          <a:latin typeface="Calibri"/>
                        </a:rPr>
                        <a:t>Mié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B6270"/>
                          </a:solidFill>
                          <a:latin typeface="Calibri"/>
                        </a:rPr>
                        <a:t>Jue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B6270"/>
                          </a:solidFill>
                          <a:latin typeface="Calibri"/>
                        </a:rPr>
                        <a:t>Vie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B6270"/>
                          </a:solidFill>
                          <a:latin typeface="Calibri"/>
                        </a:rPr>
                        <a:t>Sáb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B6270"/>
                          </a:solidFill>
                          <a:latin typeface="Calibri"/>
                        </a:rPr>
                        <a:t>Dom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% de los emails enviados, por día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23 %</a:t>
                      </a:r>
                    </a:p>
                  </a:txBody>
                  <a:tcPr marL="45720" marR="45720" marT="45720" marB="4572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18 %</a:t>
                      </a:r>
                    </a:p>
                  </a:txBody>
                  <a:tcPr marL="45720" marR="45720" marT="45720" marB="4572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14 %</a:t>
                      </a:r>
                    </a:p>
                  </a:txBody>
                  <a:tcPr marL="45720" marR="45720" marT="45720" marB="4572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16 %</a:t>
                      </a:r>
                    </a:p>
                  </a:txBody>
                  <a:tcPr marL="45720" marR="45720" marT="45720" marB="4572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18 %</a:t>
                      </a:r>
                    </a:p>
                  </a:txBody>
                  <a:tcPr marL="45720" marR="45720" marT="45720" marB="4572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7 %</a:t>
                      </a:r>
                    </a:p>
                  </a:txBody>
                  <a:tcPr marL="45720" marR="45720" marT="45720" marB="4572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4 %</a:t>
                      </a:r>
                    </a:p>
                  </a:txBody>
                  <a:tcPr marL="45720" marR="45720" marT="45720" marB="45720" anchor="ctr">
                    <a:solidFill>
                      <a:srgbClr val="F6F7F9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Todos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0.65 %</a:t>
                      </a:r>
                    </a:p>
                  </a:txBody>
                  <a:tcPr marL="45720" marR="45720" marT="45720" marB="45720" anchor="ctr">
                    <a:solidFill>
                      <a:srgbClr val="C8D4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0.82 %</a:t>
                      </a:r>
                    </a:p>
                  </a:txBody>
                  <a:tcPr marL="45720" marR="45720" marT="45720" marB="45720" anchor="ctr">
                    <a:solidFill>
                      <a:srgbClr val="BBCA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1.01 %</a:t>
                      </a:r>
                    </a:p>
                  </a:txBody>
                  <a:tcPr marL="45720" marR="45720" marT="45720" marB="45720" anchor="ctr">
                    <a:solidFill>
                      <a:srgbClr val="AEBF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0.95 %</a:t>
                      </a:r>
                    </a:p>
                  </a:txBody>
                  <a:tcPr marL="45720" marR="45720" marT="45720" marB="45720" anchor="ctr">
                    <a:solidFill>
                      <a:srgbClr val="B2C3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0.82 %</a:t>
                      </a:r>
                    </a:p>
                  </a:txBody>
                  <a:tcPr marL="45720" marR="45720" marT="45720" marB="45720" anchor="ctr">
                    <a:solidFill>
                      <a:srgbClr val="BCCA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1.58 %</a:t>
                      </a:r>
                    </a:p>
                  </a:txBody>
                  <a:tcPr marL="45720" marR="45720" marT="45720" marB="45720" anchor="ctr">
                    <a:solidFill>
                      <a:srgbClr val="859F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1.91 %</a:t>
                      </a:r>
                    </a:p>
                  </a:txBody>
                  <a:tcPr marL="45720" marR="45720" marT="45720" marB="45720" anchor="ctr">
                    <a:solidFill>
                      <a:srgbClr val="6C8CE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Product Growth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0.29 %</a:t>
                      </a:r>
                    </a:p>
                  </a:txBody>
                  <a:tcPr marL="45720" marR="45720" marT="45720" marB="45720" anchor="ctr">
                    <a:solidFill>
                      <a:srgbClr val="E2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0.46 %</a:t>
                      </a:r>
                    </a:p>
                  </a:txBody>
                  <a:tcPr marL="45720" marR="45720" marT="45720" marB="45720" anchor="ctr">
                    <a:solidFill>
                      <a:srgbClr val="D5D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0.77 %</a:t>
                      </a:r>
                    </a:p>
                  </a:txBody>
                  <a:tcPr marL="45720" marR="45720" marT="45720" marB="45720" anchor="ctr">
                    <a:solidFill>
                      <a:srgbClr val="BFCD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0.34 %</a:t>
                      </a:r>
                    </a:p>
                  </a:txBody>
                  <a:tcPr marL="45720" marR="45720" marT="45720" marB="45720" anchor="ctr">
                    <a:solidFill>
                      <a:srgbClr val="DFE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0.33 %</a:t>
                      </a:r>
                    </a:p>
                  </a:txBody>
                  <a:tcPr marL="45720" marR="45720" marT="45720" marB="45720" anchor="ctr">
                    <a:solidFill>
                      <a:srgbClr val="DFE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1.29 %</a:t>
                      </a:r>
                    </a:p>
                  </a:txBody>
                  <a:tcPr marL="45720" marR="45720" marT="45720" marB="45720" anchor="ctr">
                    <a:solidFill>
                      <a:srgbClr val="99AF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1.53 %</a:t>
                      </a:r>
                    </a:p>
                  </a:txBody>
                  <a:tcPr marL="45720" marR="45720" marT="45720" marB="45720" anchor="ctr">
                    <a:solidFill>
                      <a:srgbClr val="88A1E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1.00 %</a:t>
                      </a:r>
                    </a:p>
                  </a:txBody>
                  <a:tcPr marL="45720" marR="45720" marT="45720" marB="45720" anchor="ctr">
                    <a:solidFill>
                      <a:srgbClr val="AEC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0.74 %</a:t>
                      </a:r>
                    </a:p>
                  </a:txBody>
                  <a:tcPr marL="45720" marR="45720" marT="45720" marB="45720" anchor="ctr">
                    <a:solidFill>
                      <a:srgbClr val="C1C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0.69 %</a:t>
                      </a:r>
                    </a:p>
                  </a:txBody>
                  <a:tcPr marL="45720" marR="45720" marT="45720" marB="45720" anchor="ctr">
                    <a:solidFill>
                      <a:srgbClr val="C5D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1.21 %</a:t>
                      </a:r>
                    </a:p>
                  </a:txBody>
                  <a:tcPr marL="45720" marR="45720" marT="45720" marB="45720" anchor="ctr">
                    <a:solidFill>
                      <a:srgbClr val="9FB3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0.80 %</a:t>
                      </a:r>
                    </a:p>
                  </a:txBody>
                  <a:tcPr marL="45720" marR="45720" marT="45720" marB="45720" anchor="ctr">
                    <a:solidFill>
                      <a:srgbClr val="BDCB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1.55 %</a:t>
                      </a:r>
                    </a:p>
                  </a:txBody>
                  <a:tcPr marL="45720" marR="45720" marT="45720" marB="45720" anchor="ctr">
                    <a:solidFill>
                      <a:srgbClr val="86A0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1.66 %</a:t>
                      </a:r>
                    </a:p>
                  </a:txBody>
                  <a:tcPr marL="45720" marR="45720" marT="45720" marB="45720" anchor="ctr">
                    <a:solidFill>
                      <a:srgbClr val="7F9AE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Sales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0.22 %</a:t>
                      </a:r>
                    </a:p>
                  </a:txBody>
                  <a:tcPr marL="45720" marR="45720" marT="45720" marB="45720" anchor="ctr">
                    <a:solidFill>
                      <a:srgbClr val="E7EC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0.15 %</a:t>
                      </a:r>
                    </a:p>
                  </a:txBody>
                  <a:tcPr marL="45720" marR="45720" marT="45720" marB="45720" anchor="ctr">
                    <a:solidFill>
                      <a:srgbClr val="ED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0.19 %</a:t>
                      </a:r>
                    </a:p>
                  </a:txBody>
                  <a:tcPr marL="45720" marR="45720" marT="45720" marB="45720" anchor="ctr">
                    <a:solidFill>
                      <a:srgbClr val="E9EE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0.22 %</a:t>
                      </a:r>
                    </a:p>
                  </a:txBody>
                  <a:tcPr marL="45720" marR="45720" marT="45720" marB="45720" anchor="ctr">
                    <a:solidFill>
                      <a:srgbClr val="E7EC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0.17 %</a:t>
                      </a:r>
                    </a:p>
                  </a:txBody>
                  <a:tcPr marL="45720" marR="45720" marT="45720" marB="45720" anchor="ctr">
                    <a:solidFill>
                      <a:srgbClr val="EBEF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0.38 %</a:t>
                      </a:r>
                    </a:p>
                  </a:txBody>
                  <a:tcPr marL="45720" marR="45720" marT="45720" marB="45720" anchor="ctr">
                    <a:solidFill>
                      <a:srgbClr val="DBE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0.26 %</a:t>
                      </a:r>
                    </a:p>
                  </a:txBody>
                  <a:tcPr marL="45720" marR="45720" marT="45720" marB="45720" anchor="ctr">
                    <a:solidFill>
                      <a:srgbClr val="E4EAF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Collections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1.13 %</a:t>
                      </a:r>
                    </a:p>
                  </a:txBody>
                  <a:tcPr marL="45720" marR="45720" marT="45720" marB="45720" anchor="ctr">
                    <a:solidFill>
                      <a:srgbClr val="A5B8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1.09 %</a:t>
                      </a:r>
                    </a:p>
                  </a:txBody>
                  <a:tcPr marL="45720" marR="45720" marT="45720" marB="45720" anchor="ctr">
                    <a:solidFill>
                      <a:srgbClr val="A8BA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1.02 %</a:t>
                      </a:r>
                    </a:p>
                  </a:txBody>
                  <a:tcPr marL="45720" marR="45720" marT="45720" marB="45720" anchor="ctr">
                    <a:solidFill>
                      <a:srgbClr val="ADBE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1.00 %</a:t>
                      </a:r>
                    </a:p>
                  </a:txBody>
                  <a:tcPr marL="45720" marR="45720" marT="45720" marB="45720" anchor="ctr">
                    <a:solidFill>
                      <a:srgbClr val="AEC0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1.15 %</a:t>
                      </a:r>
                    </a:p>
                  </a:txBody>
                  <a:tcPr marL="45720" marR="45720" marT="45720" marB="45720" anchor="ctr">
                    <a:solidFill>
                      <a:srgbClr val="A4B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0.82 %</a:t>
                      </a:r>
                    </a:p>
                  </a:txBody>
                  <a:tcPr marL="45720" marR="45720" marT="45720" marB="45720" anchor="ctr">
                    <a:solidFill>
                      <a:srgbClr val="BCCA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Others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0.84 %</a:t>
                      </a:r>
                    </a:p>
                  </a:txBody>
                  <a:tcPr marL="45720" marR="45720" marT="45720" marB="45720" anchor="ctr">
                    <a:solidFill>
                      <a:srgbClr val="BAC9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1.42 %</a:t>
                      </a:r>
                    </a:p>
                  </a:txBody>
                  <a:tcPr marL="45720" marR="45720" marT="45720" marB="45720" anchor="ctr">
                    <a:solidFill>
                      <a:srgbClr val="90A8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2.84 %</a:t>
                      </a:r>
                    </a:p>
                  </a:txBody>
                  <a:tcPr marL="45720" marR="45720" marT="45720" marB="45720" anchor="ctr">
                    <a:solidFill>
                      <a:srgbClr val="2957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2.49 %</a:t>
                      </a:r>
                    </a:p>
                  </a:txBody>
                  <a:tcPr marL="45720" marR="45720" marT="45720" marB="45720" anchor="ctr">
                    <a:solidFill>
                      <a:srgbClr val="426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2.67 %</a:t>
                      </a:r>
                    </a:p>
                  </a:txBody>
                  <a:tcPr marL="45720" marR="45720" marT="45720" marB="45720" anchor="ctr">
                    <a:solidFill>
                      <a:srgbClr val="3560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2.79 %</a:t>
                      </a:r>
                    </a:p>
                  </a:txBody>
                  <a:tcPr marL="45720" marR="45720" marT="45720" marB="45720" anchor="ctr">
                    <a:solidFill>
                      <a:srgbClr val="2C59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2.98 %</a:t>
                      </a:r>
                    </a:p>
                  </a:txBody>
                  <a:tcPr marL="45720" marR="45720" marT="45720" marB="45720" anchor="ctr">
                    <a:solidFill>
                      <a:srgbClr val="1F4FD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544568"/>
            <a:ext cx="67665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B6270"/>
                </a:solidFill>
                <a:latin typeface="Calibri"/>
              </a:rPr>
              <a:t>Clic de email sobre entregados (%), por equipo y día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Product Growth: 0.29 % el lunes contra 1.53 % el domingo. Sales no pasa de 0.38 % ningún día: su problema es la pieza, no el calendario.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El domingo también tiene el triple de bajas por mil (7.7 contra 2.3): responde más porque las piezas son chicas y van a gente caliente, no porque sea domingo.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WhatsApp se entrega y se lee mejor en fin de semana (87 % y 89 % en domingo contra 71 a 75 % entre semana). Push e in-app no cambian con el día.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El lunes es un mal día para mandar.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El lunes salen los masivos sin segmento de Product Growth y Marketing (45 mil usuarios por pieza contra 9 mil el domingo). El día no explica la respuesta; el tamaño de la pieza sí.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Partir los masivos del lunes en segmentos de 10 a 100 mil: el clic del lunes sube de 0.65 % hacia el 1.0 % del resto de la semana, más de 400 mil clics en 9 meses.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El lunes es el día de los masivos sin segmento (23 % del email). Antes de mover el calendario, la siguiente lámina muestra que el tamaño de la pieza explica el clic, no el día.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B. DEMASIADO Y SIN COORDINACIÓN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A1D24"/>
                </a:solidFill>
                <a:latin typeface="Calibri"/>
              </a:rPr>
              <a:t>El fin de semana responde más porque cada pieza llega a 5 veces menos gente (9 mil el domingo contra 45 mil el lunes), no por el día: el tamaño por pieza explica 71 % del clic en los equipos promocionales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N_DiaSemana (E10). Celdas con 50 mil o más entregados; recta por mínimos cuadrados sobre el logaritmo del tamaño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r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647290" cy="3017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Cada día salen casi las mismas piezas (1546 a 1798): los Canvas corren diario. Lo que cambia es que los masivos a toda la base salen entre semana, sobre todo el lunes (76 M de envíos contra 15 M el domingo).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Por usuario también: 2.6 emails el lunes contra 1.6 el domingo. El cruce entre familias por día de la semana no está en las extracciones (E6a es mensual); este es su proxy.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Collections es plano todos los días (transaccional, 200 mil por pieza, 1 %) y Others mezcla todo: por eso quedan fuera de la recta. Con los 34 puntos el R² cae a 0.02.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Mover campañas al fin de semana subiría la respuesta.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El tamaño de la pieza explica 71 % de la variación del clic en Product Growth, Marketing y Sales. El fin de semana responde más porque ese día solo salen piezas chicas y segmentadas.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No se mueve nada de día: con piezas de menos de 100 mil usuarios y una señal, cualquier día responde 1 % o más. Mover un masivo al domingo no cambia nada.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No mover campañas al fin de semana: segmentarlas. Un masivo de 1 M el domingo respondería como un masivo de lunes. La regla es tamaño máximo por pieza, no día.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B. DEMASIADO Y SIN COORDINACIÓN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A1D24"/>
                </a:solidFill>
                <a:latin typeface="Calibri"/>
              </a:rPr>
              <a:t>56 % de los envíos van a usuarios con más de un año en la base, que reciben 7 veces más push y abren la tercera parte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O_Antiguedad (E12). Push por usuario en 9 meses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783080"/>
          <a:ext cx="6766560" cy="94487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2819399"/>
          <a:ext cx="6766560" cy="94487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48640" y="3855720"/>
          <a:ext cx="6766560" cy="944879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A más antigüedad, más mensajes y menos respuesta: el usuario de más de 2 años recibió 91 push en 9 meses; el de menos de 1 mes, 13.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Las bajas por mil son iguales en todas las bandas: el nuevo no se da de baja más por email que el viejo, se da de baja por la cantidad.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Regla: a más de 1 año sin respuesta en 90 días, fuera de lo promocional. Push a más de 2 años solo a quien abrió un push en 90 días. La frecuencia alta se reserva para el primer mes.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Los usuarios antiguos ya no responden por desgaste natural.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SATURACIÓN: MUCHAS PIEZAS EL MISMO DÍA  </a:t>
            </a:r>
            <a:r>
              <a:rPr sz="850">
                <a:solidFill>
                  <a:srgbClr val="5B6270"/>
                </a:solidFill>
                <a:latin typeface="Calibri"/>
              </a:rPr>
              <a:t>Reciben 7 veces más push porque acumulan Canvas recurrentes de Sales y Collections que nunca se apagan. Las bajas por mil son iguales en todas las bandas: es saturación, no edad.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A más de 1 año sin respuesta en 90 días, fuera de lo promocional: se quita la mitad del volumen de donde la respuesta es más baja y el resultado no cambia, porque ese volumen no respondía.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A más de 1 año sin respuesta en 90 días, fuera de lo promocional: ahí está el 56 % del volumen con la respuesta más baja.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1280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91440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Sabemos qué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Gancho, canal, tamaño, toques y equipo: los datos ya dicen qué mandar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C. QUÉ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Recordar algo que el usuario empezó responde 3.09 % por email; una oferta nueva, entre 0.22 % y 0.53 %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Campañas (E1), gancho leído del nombre de la pieza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32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783080"/>
          <a:ext cx="6766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Tasa 0 es el gancho con más emails (54 M) y responde 6 veces menos que un recordatorio.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Referidos y lanzamientos responden 0.22 % por email y 43 a 55 % en in-app: van en in-app.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Regla: el gancho principal es recordar algo que el usuario empezó. Una sola pieza de Tasa 0 por audiencia.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Una oferta nueva mueve más que un recordatorio.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PRODUCTO U OFERTA  </a:t>
            </a:r>
            <a:r>
              <a:rPr sz="850">
                <a:solidFill>
                  <a:srgbClr val="5B6270"/>
                </a:solidFill>
                <a:latin typeface="Calibri"/>
              </a:rPr>
              <a:t>El recordatorio de algo empezado (Veriff, datos personales, carrito) responde 3.09 % porque el usuario ya tenía intención; la oferta nueva a leads (Tasa 0, referidos, lanzamientos) responde 0.22 a 0.53 %. El volumen está en la oferta.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Mover 30 M de los 54 M de Tasa 0 a recordatorios de algo empezado daría cerca de 770 mil clics más en 9 meses (3.09 % contra 0.53 %).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El gancho que vende es recordar lo que el usuario empezó. Tasa 0 se reduce a una pieza por audiencia; referidos y lanzamientos pasan a in-app.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C. QUÉ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50" b="1">
                <a:solidFill>
                  <a:srgbClr val="1A1D24"/>
                </a:solidFill>
                <a:latin typeface="Calibri"/>
              </a:rPr>
              <a:t>Lo que más abren los usuarios es lo que ya empezaron o deben pagar: recordatorios (3.1 % en email, 3.8 % en push) y cobranza (1.8 %, 4.0 %); ofertas, Tasa 0, referidos y lanzamientos responden 0.2 a 0.5 % por email y 0.8 a 1.1 % por push, y son 59 % de los envíos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F_Piezas (E1). Respuesta: clic (email, in-app), apertura (push), lectura (WhatsApp) sobre entregados o impresiones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3.1 %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clic de email de un recordatorio de algo empezado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0.22 a 0.26 %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clic de referidos, lanzamientos y ofertas por email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59 %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de los envíos son ofertas, Tasa 0, referidos y lanzamientos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6766560" cy="19659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32688"/>
                <a:gridCol w="932688"/>
                <a:gridCol w="932688"/>
                <a:gridCol w="932688"/>
                <a:gridCol w="932688"/>
              </a:tblGrid>
              <a:tr h="218439">
                <a:tc>
                  <a:txBody>
                    <a:bodyPr/>
                    <a:lstStyle/>
                    <a:p>
                      <a:pPr algn="l"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Email (clic)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Push (apertura)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In-app (clic)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WhatsApp (lectura)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% de los envíos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18439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Recordatorio de algo empezado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Calibri"/>
                        </a:rPr>
                        <a:t>3.08 %</a:t>
                      </a:r>
                    </a:p>
                  </a:txBody>
                  <a:tcPr marL="45720" marR="45720" marT="18288" marB="18288" anchor="ctr">
                    <a:solidFill>
                      <a:srgbClr val="1F4F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Calibri"/>
                        </a:rPr>
                        <a:t>3.75 %</a:t>
                      </a:r>
                    </a:p>
                  </a:txBody>
                  <a:tcPr marL="45720" marR="45720" marT="18288" marB="18288" anchor="ctr">
                    <a:solidFill>
                      <a:srgbClr val="2C59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Calibri"/>
                        </a:rPr>
                        <a:t>69 %</a:t>
                      </a:r>
                    </a:p>
                  </a:txBody>
                  <a:tcPr marL="45720" marR="45720" marT="18288" marB="18288" anchor="ctr">
                    <a:solidFill>
                      <a:srgbClr val="1F4F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Calibri"/>
                        </a:rPr>
                        <a:t>70 %</a:t>
                      </a:r>
                    </a:p>
                  </a:txBody>
                  <a:tcPr marL="45720" marR="45720" marT="18288" marB="18288" anchor="ctr">
                    <a:solidFill>
                      <a:srgbClr val="476E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5B6270"/>
                          </a:solidFill>
                          <a:latin typeface="Calibri"/>
                        </a:rPr>
                        <a:t>7 %</a:t>
                      </a:r>
                    </a:p>
                  </a:txBody>
                  <a:tcPr marL="45720" marR="45720" marT="18288" marB="18288" anchor="ctr">
                    <a:solidFill>
                      <a:srgbClr val="F6F7F9"/>
                    </a:solidFill>
                  </a:tcPr>
                </a:tc>
              </a:tr>
              <a:tr h="218439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Cobranza y pagos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Calibri"/>
                        </a:rPr>
                        <a:t>1.81 %</a:t>
                      </a:r>
                    </a:p>
                  </a:txBody>
                  <a:tcPr marL="45720" marR="45720" marT="18288" marB="18288" anchor="ctr">
                    <a:solidFill>
                      <a:srgbClr val="799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Calibri"/>
                        </a:rPr>
                        <a:t>3.96 %</a:t>
                      </a:r>
                    </a:p>
                  </a:txBody>
                  <a:tcPr marL="45720" marR="45720" marT="18288" marB="18288" anchor="ctr">
                    <a:solidFill>
                      <a:srgbClr val="1F4F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5 %</a:t>
                      </a:r>
                    </a:p>
                  </a:txBody>
                  <a:tcPr marL="45720" marR="45720" marT="18288" marB="18288" anchor="ctr">
                    <a:solidFill>
                      <a:srgbClr val="ED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5B6270"/>
                          </a:solidFill>
                          <a:latin typeface="Calibri"/>
                        </a:rPr>
                        <a:t>11 %</a:t>
                      </a:r>
                    </a:p>
                  </a:txBody>
                  <a:tcPr marL="45720" marR="45720" marT="18288" marB="18288" anchor="ctr">
                    <a:solidFill>
                      <a:srgbClr val="F6F7F9"/>
                    </a:solidFill>
                  </a:tcPr>
                </a:tc>
              </a:tr>
              <a:tr h="218439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Bienvenida y activación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0.16 %</a:t>
                      </a:r>
                    </a:p>
                  </a:txBody>
                  <a:tcPr marL="45720" marR="45720" marT="18288" marB="18288" anchor="ctr">
                    <a:solidFill>
                      <a:srgbClr val="ED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2.51 %</a:t>
                      </a:r>
                    </a:p>
                  </a:txBody>
                  <a:tcPr marL="45720" marR="45720" marT="18288" marB="18288" anchor="ctr">
                    <a:solidFill>
                      <a:srgbClr val="7C9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56 %</a:t>
                      </a:r>
                    </a:p>
                  </a:txBody>
                  <a:tcPr marL="45720" marR="45720" marT="18288" marB="18288" anchor="ctr">
                    <a:solidFill>
                      <a:srgbClr val="ED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5B6270"/>
                          </a:solidFill>
                          <a:latin typeface="Calibri"/>
                        </a:rPr>
                        <a:t>3 %</a:t>
                      </a:r>
                    </a:p>
                  </a:txBody>
                  <a:tcPr marL="45720" marR="45720" marT="18288" marB="18288" anchor="ctr">
                    <a:solidFill>
                      <a:srgbClr val="F6F7F9"/>
                    </a:solidFill>
                  </a:tcPr>
                </a:tc>
              </a:tr>
              <a:tr h="218439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Tasa 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0.53 %</a:t>
                      </a:r>
                    </a:p>
                  </a:txBody>
                  <a:tcPr marL="45720" marR="45720" marT="18288" marB="18288" anchor="ctr">
                    <a:solidFill>
                      <a:srgbClr val="D3DC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0.77 %</a:t>
                      </a:r>
                    </a:p>
                  </a:txBody>
                  <a:tcPr marL="45720" marR="45720" marT="18288" marB="18288" anchor="ctr">
                    <a:solidFill>
                      <a:srgbClr val="ED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22 %</a:t>
                      </a:r>
                    </a:p>
                  </a:txBody>
                  <a:tcPr marL="45720" marR="45720" marT="18288" marB="18288" anchor="ctr">
                    <a:solidFill>
                      <a:srgbClr val="B6C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Calibri"/>
                        </a:rPr>
                        <a:t>69 %</a:t>
                      </a:r>
                    </a:p>
                  </a:txBody>
                  <a:tcPr marL="45720" marR="45720" marT="18288" marB="18288" anchor="ctr">
                    <a:solidFill>
                      <a:srgbClr val="567A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5B6270"/>
                          </a:solidFill>
                          <a:latin typeface="Calibri"/>
                        </a:rPr>
                        <a:t>15 %</a:t>
                      </a:r>
                    </a:p>
                  </a:txBody>
                  <a:tcPr marL="45720" marR="45720" marT="18288" marB="18288" anchor="ctr">
                    <a:solidFill>
                      <a:srgbClr val="F6F7F9"/>
                    </a:solidFill>
                  </a:tcPr>
                </a:tc>
              </a:tr>
              <a:tr h="218439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Descuento, cupón u oferta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0.26 %</a:t>
                      </a:r>
                    </a:p>
                  </a:txBody>
                  <a:tcPr marL="45720" marR="45720" marT="18288" marB="18288" anchor="ctr">
                    <a:solidFill>
                      <a:srgbClr val="E6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1.09 %</a:t>
                      </a:r>
                    </a:p>
                  </a:txBody>
                  <a:tcPr marL="45720" marR="45720" marT="18288" marB="18288" anchor="ctr">
                    <a:solidFill>
                      <a:srgbClr val="D8E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30 %</a:t>
                      </a:r>
                    </a:p>
                  </a:txBody>
                  <a:tcPr marL="45720" marR="45720" marT="18288" marB="18288" anchor="ctr">
                    <a:solidFill>
                      <a:srgbClr val="9CB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61 %</a:t>
                      </a:r>
                    </a:p>
                  </a:txBody>
                  <a:tcPr marL="45720" marR="45720" marT="18288" marB="18288" anchor="ctr">
                    <a:solidFill>
                      <a:srgbClr val="B5C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5B6270"/>
                          </a:solidFill>
                          <a:latin typeface="Calibri"/>
                        </a:rPr>
                        <a:t>23 %</a:t>
                      </a:r>
                    </a:p>
                  </a:txBody>
                  <a:tcPr marL="45720" marR="45720" marT="18288" marB="18288" anchor="ctr">
                    <a:solidFill>
                      <a:srgbClr val="F6F7F9"/>
                    </a:solidFill>
                  </a:tcPr>
                </a:tc>
              </a:tr>
              <a:tr h="218439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Referidos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0.22 %</a:t>
                      </a:r>
                    </a:p>
                  </a:txBody>
                  <a:tcPr marL="45720" marR="45720" marT="18288" marB="18288" anchor="ctr">
                    <a:solidFill>
                      <a:srgbClr val="E9EE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1.12 %</a:t>
                      </a:r>
                    </a:p>
                  </a:txBody>
                  <a:tcPr marL="45720" marR="45720" marT="18288" marB="18288" anchor="ctr">
                    <a:solidFill>
                      <a:srgbClr val="D6DF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23 %</a:t>
                      </a:r>
                    </a:p>
                  </a:txBody>
                  <a:tcPr marL="45720" marR="45720" marT="18288" marB="18288" anchor="ctr">
                    <a:solidFill>
                      <a:srgbClr val="B3C3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Calibri"/>
                        </a:rPr>
                        <a:t>72 %</a:t>
                      </a:r>
                    </a:p>
                  </a:txBody>
                  <a:tcPr marL="45720" marR="45720" marT="18288" marB="18288" anchor="ctr">
                    <a:solidFill>
                      <a:srgbClr val="2B5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5B6270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45720" marR="45720" marT="18288" marB="18288" anchor="ctr">
                    <a:solidFill>
                      <a:srgbClr val="F6F7F9"/>
                    </a:solidFill>
                  </a:tcPr>
                </a:tc>
              </a:tr>
              <a:tr h="218439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Lanzamiento y novedades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0.26 %</a:t>
                      </a:r>
                    </a:p>
                  </a:txBody>
                  <a:tcPr marL="45720" marR="45720" marT="18288" marB="18288" anchor="ctr">
                    <a:solidFill>
                      <a:srgbClr val="E6E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0.94 %</a:t>
                      </a:r>
                    </a:p>
                  </a:txBody>
                  <a:tcPr marL="45720" marR="45720" marT="18288" marB="18288" anchor="ctr">
                    <a:solidFill>
                      <a:srgbClr val="E2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Calibri"/>
                        </a:rPr>
                        <a:t>50 %</a:t>
                      </a:r>
                    </a:p>
                  </a:txBody>
                  <a:tcPr marL="45720" marR="45720" marT="18288" marB="18288" anchor="ctr">
                    <a:solidFill>
                      <a:srgbClr val="5A7D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Calibri"/>
                        </a:rPr>
                        <a:t>72 %</a:t>
                      </a:r>
                    </a:p>
                  </a:txBody>
                  <a:tcPr marL="45720" marR="45720" marT="18288" marB="18288" anchor="ctr">
                    <a:solidFill>
                      <a:srgbClr val="315D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5B6270"/>
                          </a:solidFill>
                          <a:latin typeface="Calibri"/>
                        </a:rPr>
                        <a:t>11 %</a:t>
                      </a:r>
                    </a:p>
                  </a:txBody>
                  <a:tcPr marL="45720" marR="45720" marT="18288" marB="18288" anchor="ctr">
                    <a:solidFill>
                      <a:srgbClr val="F6F7F9"/>
                    </a:solidFill>
                  </a:tcPr>
                </a:tc>
              </a:tr>
              <a:tr h="218439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Otro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1.29 %</a:t>
                      </a:r>
                    </a:p>
                  </a:txBody>
                  <a:tcPr marL="45720" marR="45720" marT="18288" marB="18288" anchor="ctr">
                    <a:solidFill>
                      <a:srgbClr val="9DB2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1.35 %</a:t>
                      </a:r>
                    </a:p>
                  </a:txBody>
                  <a:tcPr marL="45720" marR="45720" marT="18288" marB="18288" anchor="ctr">
                    <a:solidFill>
                      <a:srgbClr val="C7D3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Calibri"/>
                        </a:rPr>
                        <a:t>43 %</a:t>
                      </a:r>
                    </a:p>
                  </a:txBody>
                  <a:tcPr marL="45720" marR="45720" marT="18288" marB="18288" anchor="ctr">
                    <a:solidFill>
                      <a:srgbClr val="718F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Calibri"/>
                        </a:rPr>
                        <a:t>73 %</a:t>
                      </a:r>
                    </a:p>
                  </a:txBody>
                  <a:tcPr marL="45720" marR="45720" marT="18288" marB="18288" anchor="ctr">
                    <a:solidFill>
                      <a:srgbClr val="1F4F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5B6270"/>
                          </a:solidFill>
                          <a:latin typeface="Calibri"/>
                        </a:rPr>
                        <a:t>20 %</a:t>
                      </a:r>
                    </a:p>
                  </a:txBody>
                  <a:tcPr marL="45720" marR="45720" marT="18288" marB="18288" anchor="ctr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Gancho leído del nombre de la pieza; celdas en gris: menos de 200 mil entregados en ese canal. 'Otro' incluye transaccionales y encuestas.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En in-app casi todo responde (22 a 69 %) porque solo lo ve quien ya abrió la app; en WhatsApp la lectura es 56 a 73 % en todos los ganchos: ahí el gancho no cambia el resultado, cambia el costo.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Bienvenida y activación responde 0.16 % por email y 2.5 % por push: al nuevo se le habla por push e in-app, no por email.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La única forma de subir la respuesta de ofertas y lanzamientos es mandarlos a quien dio una señal (carrito, solicitud empezada, pago próximo) o moverlos a in-app.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Si el usuario quisiera ofertas, el gancho con más volumen sería el que más responde.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PRODUCTO U OFERTA  </a:t>
            </a:r>
            <a:r>
              <a:rPr sz="850">
                <a:solidFill>
                  <a:srgbClr val="5B6270"/>
                </a:solidFill>
                <a:latin typeface="Calibri"/>
              </a:rPr>
              <a:t>El volumen va a lo que el equipo quiere vender (ofertas, Tasa 0, referidos, lanzamientos: 59 % de los envíos), no a lo que el usuario tiene pendiente (recordatorios y pagos: 18 %). La oferta nueva sin señal es el gancho que menos interesa.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Si la mitad de ofertas y lanzamientos por email (37 M) fueran recordatorios de algo empezado, ese volumen pasaría de 0.26 % a 3.1 % de clic: más de 1 M de clics adicionales en 9 meses.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El playbook invierte la mezcla: el gancho por defecto es recordar algo que el usuario empezó o debe pagar; ofertas, referidos y lanzamientos van a in-app o a un segmento con señal, nunca a 'Todos'.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C. QUÉ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In-app responde 38 % y no cuesta; email responde 0.93 % y WhatsApp cuesta 20 veces más por mensaje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B_Canales, Medianas, Parámetros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38 %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clic de in-app, sin costo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0.93 %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clic de email a 0.05 MXN por envío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20 veces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más caro WhatsApp que email por mensaje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676655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16"/>
                <a:gridCol w="1169091"/>
                <a:gridCol w="637686"/>
                <a:gridCol w="602259"/>
                <a:gridCol w="2125620"/>
                <a:gridCol w="1948485"/>
              </a:tblGrid>
              <a:tr h="25603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270"/>
                          </a:solidFill>
                          <a:latin typeface="Calibri"/>
                        </a:rPr>
                        <a:t>Canal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270"/>
                          </a:solidFill>
                          <a:latin typeface="Calibri"/>
                        </a:rPr>
                        <a:t>Respuesta hoy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270"/>
                          </a:solidFill>
                          <a:latin typeface="Calibri"/>
                        </a:rPr>
                        <a:t>Mínimo para seguir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270"/>
                          </a:solidFill>
                          <a:latin typeface="Calibri"/>
                        </a:rPr>
                        <a:t>Costo por mensaje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270"/>
                          </a:solidFill>
                          <a:latin typeface="Calibri"/>
                        </a:rPr>
                        <a:t>Funciona para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270"/>
                          </a:solidFill>
                          <a:latin typeface="Calibri"/>
                        </a:rPr>
                        <a:t>No funciona para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D24"/>
                          </a:solidFill>
                          <a:latin typeface="Calibri"/>
                        </a:rPr>
                        <a:t>In-app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38 % de clic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Referidos, lanzamientos, retargeting, onboarding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Ofertas genéricas (14 %)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D24"/>
                          </a:solidFill>
                          <a:latin typeface="Calibri"/>
                        </a:rPr>
                        <a:t>WhatsApp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69 % de lectura, 74 % de entrega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60 % y 80 %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1.00 MXN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Activos y recurrentes de KPay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Bases frías, primer toque, repetir a los 2 a 6 días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D24"/>
                          </a:solidFill>
                          <a:latin typeface="Calibri"/>
                        </a:rPr>
                        <a:t>Push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1.5 % de apertura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0.75 %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Cobranza, nuevos, retargeting, recurrentes; es el canal de señal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Leads, anónimos, fríos, lanzamientos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D24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0.93 % de clic, 3.1 bajas por mil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0.3 % y 2.5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0.05 MXN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Transaccional, retargeting a registrados, nuevos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Tasa 0, referidos, newsletters, bases frías, más de 1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Email: no es el asunto (abren 24 %), es que no hay qué hacer adentro. Un solo llamado a la acción.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Push: primero push, y el resto solo a quien lo abrió.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WhatsApp: nunca como primer toque.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In-app: lo informativo va ahí primero.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WhatsApp justifica su costo porque responde más.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CANAL EQUIVOCADO  </a:t>
            </a:r>
            <a:r>
              <a:rPr sz="850">
                <a:solidFill>
                  <a:srgbClr val="5B6270"/>
                </a:solidFill>
                <a:latin typeface="Calibri"/>
              </a:rPr>
              <a:t>In-app responde 38 % porque solo lo ve quien ya abrió la app y cuesta cero; WhatsApp lee 63 a 70 % pero cuesta 20 veces más que email por mensaje. Referidos y lanzamientos van por email (0.22 %) cuando en in-app responden 43 a 55 %.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Referidos y lanzamientos (74 M emails) a in-app: 3.7 M MXN de email que se ahorran en 9 meses y una respuesta de 43 a 55 % en lugar de 0.22 %.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Lo informativo va en in-app, el push es el primer toque, el email lleva un solo llamado a la acción y WhatsApp nunca abre la conversación.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C. QUÉ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Audiencias de 10 a 100 mil usuarios y 2 toques responden 7 veces más que envíos de más de 1 M con 3 toques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G_Practicas (E1 por banda de tamaño y de toques)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35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783080"/>
          <a:ext cx="6766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Tamaño: a más de 1 M el clic cae a 0.16 %. Regla: más de 1 M obliga a prueba al 10 % y a un segmento.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Toques: el segundo toque sube la respuesta (1.8 %); el tercero la hunde (0.5 %). Regla: 2 toques y se acabó, el segundo solo a quien no abrió el primero.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El tamaño ideal es 10 a 100 mil usuarios con un criterio.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Más alcance, más resultado.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Las audiencias de 10 a 100 mil son segmentos con una señal (Active, Precobranza, retargeting); las de más de 1 M son 'Todos' y Leads sin señal de Product Growth, NewProducts y Marketing. Es la audiencia, no el tamaño en sí.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Prueba al 10 % y un segmento en todo envío de más de 1 M: los 125 M de las 10 piezas masivas responderían como las de 100 mil a 1 M (0.6 % contra 0.16 %), 4 veces más clics con la mitad del volumen.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Audiencias de 10 a 100 mil con un criterio y 2 toques: más de 1 M obliga a prueba al 10 % y el tercer toque desaparece.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C. QUÉ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A1D24"/>
                </a:solidFill>
                <a:latin typeface="Calibri"/>
              </a:rPr>
              <a:t>Solo 38 de 308 piezas de email y 26 de 314 de push pasan el mínimo, y las que pasan existen en todos los tamaños: las 270 que no pasan son 81 % del volumen de email y 31 % de los clics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Campañas (E1). Escala horizontal logarítmica; puntos arriba del tope se dibujan en el tope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38 de 308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piezas de email pasan el mínimo de 1.5 %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26 de 314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piezas de push pasan el mínimo de 3 %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81 % / 31 %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del volumen y de los clics de email están en piezas que no pasan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548640" y="2560320"/>
          <a:ext cx="3246120" cy="224027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8640" y="4800600"/>
            <a:ext cx="3246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5B6270"/>
                </a:solidFill>
                <a:latin typeface="Calibri"/>
              </a:rPr>
              <a:t>Mínimo: Mínimo 1.5 %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4069080" y="2560320"/>
          <a:ext cx="3246120" cy="224027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069080" y="4800600"/>
            <a:ext cx="3246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5B6270"/>
                </a:solidFill>
                <a:latin typeface="Calibri"/>
              </a:rPr>
              <a:t>Mínimo: Mínimo 3 %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Cada punto es una pieza con 200 mil o más entregados (email) o enviados (push). Verde: pasa el mínimo del canal; gris: no pasa. Debajo de cada panel, cuántas pasan en cada banda de tamaño.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Pasan piezas chicas y grandes (Veriff con 9.7 M, Precobranza, Payment Confirmation): lo que las separa es que van a quien ya hizo algo, no su tamaño.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Las 270 piezas de email que no pasan concentran 81 % del volumen y aportan 31 % de los clics; en push, las 288 que no pasan son 88 % del volumen y 53 % de las aperturas.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Las piezas malas son pocas y grandes; el resto está bien.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La mediana está en 0.3 %: el problema es general. 270 piezas de email y 288 de push usan la misma plantilla de audiencia sin segmento (Leads, 'Todos', Recurrentes); cambia el gancho, no el público.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Rehacer con señal las 270 que no pasan: son 81 % del volumen y 31 % de los clics; si respondieran como las 38 que pasan, los clics de email se multiplican por 3 con el mismo volumen.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No hay piezas grandes malas y piezas chicas buenas: hay piezas con señal y piezas sin señal. El criterio para apagar es la respuesta contra el mínimo a las 4 semanas, no el tamaño.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C. QUÉ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A1D24"/>
                </a:solidFill>
                <a:latin typeface="Calibri"/>
              </a:rPr>
              <a:t>La respuesta por pieza no es una campana: la mitad de las piezas de email está debajo de 0.35 % y el promedio de 1.14 % lo infla el 10 % de piezas arriba de 2.9 %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Campañas (E1). Campana: normal con el mismo promedio y desviación que los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37</a:t>
            </a:r>
          </a:p>
        </p:txBody>
      </p:sp>
      <p:pic>
        <p:nvPicPr>
          <p:cNvPr id="8" name="Picture 7" descr="r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647290" cy="3017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Piezas-mes de email con 100 mil o más entregados. 60 % están debajo de 0.5 %; 80 % debajo del mínimo de 1.5 %.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Push (apertura, n = 509): mediana 0.93 %, promedio 1.67 %, 86 % debajo del mínimo de 3 %.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Que sea log-normal significa que las mejoras se miden en múltiplos, no en puntos: pasar de 0.3 a 0.6 % es el mismo salto que de 1.5 a 3 %.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La respuesta se distribuye alrededor de un promedio útil.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SIN MEDICIÓN  </a:t>
            </a:r>
            <a:r>
              <a:rPr sz="850">
                <a:solidFill>
                  <a:srgbClr val="5B6270"/>
                </a:solidFill>
                <a:latin typeface="Calibri"/>
              </a:rPr>
              <a:t>Es log-normal: pocas piezas con señal (Precobranza, Veriff) inflan el promedio a 1.14 % mientras la mitad está debajo de 0.35 %. Decidir con el promedio esconde a la mayoría.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Decidir por mediana y mínimo, no por promedio: la mitad de las piezas (debajo de 0.35 %) entra a revisión a las 4 semanas en lugar de esconderse detrás del 1.14 %.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Las metas se fijan con la mediana, no con el promedio: una pieza 'promedio' no existe. El mínimo de 1.5 % ya lo pasan 122 piezas-mes: es exigente, no imposible.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C. QUÉ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Cada equipo tiene un canal que le funciona y otro que le cuesta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Vista_equipo, Campañas, Plan_accion P3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1.30 M MXN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ahorro al mes en Product Growth, 81 % del total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0.21 %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clic de email de Sales, el peor de los cinco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4.3 % y 5.3 %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Precobranza por email y push, la mejor pieza de la empresa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1109166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2810"/>
                <a:gridCol w="773837"/>
                <a:gridCol w="838324"/>
                <a:gridCol w="3869187"/>
                <a:gridCol w="3869187"/>
                <a:gridCol w="838324"/>
              </a:tblGrid>
              <a:tr h="25603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270"/>
                          </a:solidFill>
                          <a:latin typeface="Calibri"/>
                        </a:rPr>
                        <a:t>Equipo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270"/>
                          </a:solidFill>
                          <a:latin typeface="Calibri"/>
                        </a:rPr>
                        <a:t>Envíos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270"/>
                          </a:solidFill>
                          <a:latin typeface="Calibri"/>
                        </a:rPr>
                        <a:t>Costo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270"/>
                          </a:solidFill>
                          <a:latin typeface="Calibri"/>
                        </a:rPr>
                        <a:t>Funciona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270"/>
                          </a:solidFill>
                          <a:latin typeface="Calibri"/>
                        </a:rPr>
                        <a:t>No funciona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270"/>
                          </a:solidFill>
                          <a:latin typeface="Calibri"/>
                        </a:rPr>
                        <a:t>Ahorro al mes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D24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262 M (39 %)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27.2 M (47 %)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Retargeting Veriff (email 3.0 %, push 5.8 %), in-app de registro (87 %)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Rescates por push a anónimos (0.6 a 0.8 % en 22 M), referidos por email (0.1 a 0.2 % en 15 M), 4.95 bajas por mil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0.16 M MXN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D24"/>
                          </a:solidFill>
                          <a:latin typeface="Calibri"/>
                        </a:rPr>
                        <a:t>Product Growth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177 M (27 %)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17.3 M (30 %)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Retargeting Installments a activos (push 11 %), in-app 46 %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Tasa 0 por email a registrados (35 M, 0.28 %), NeverActive (13 M, 0.10 %), Canvas de inactividad de 120 pasos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1.30 M MXN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D24"/>
                          </a:solidFill>
                          <a:latin typeface="Calibri"/>
                        </a:rPr>
                        <a:t>Sales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85 M (13 %)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7.1 M (12 %)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Push y WhatsApp a recurrentes KPay (80 % entrega, 78 % lectura, push 4.2 %)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Email (0.21 %, el peor), promoción a tarjetas congeladas (13 M)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0.10 M MXN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D24"/>
                          </a:solidFill>
                          <a:latin typeface="Calibri"/>
                        </a:rPr>
                        <a:t>Collections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45 M (7 %)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1.6 M (3 %)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Precobranza: email 4.3 %, push 5.3 %, la mejor pieza de la empresa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Ticket T000 en todo; Canvas PRUEBA_ a 5 mil usuarios reales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D24"/>
                          </a:solidFill>
                          <a:latin typeface="Calibri"/>
                        </a:rPr>
                        <a:t>Others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98 M (15 %)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4.4 M (8 %)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Transaccional (Payment Confirmation 3.8 %)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BillPay Intro (16 M, 0.11 %, 31 % de las bajas de nuevos), Shopping (7 M, 0.12 %)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0.04 M MXN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16" name="Connector 15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Cada equipo debería usar el canal que mejor le responde.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CANAL EQUIVOCADO  </a:t>
            </a:r>
            <a:r>
              <a:rPr sz="850">
                <a:solidFill>
                  <a:srgbClr val="5B6270"/>
                </a:solidFill>
                <a:latin typeface="Calibri"/>
              </a:rPr>
              <a:t>Cada equipo usa el canal que tiene a la mano, no el que le responde: Collections manda email y le funciona el push; Sales lee 78 % en WhatsApp pero su volumen va por email a recurrentes (0.21 %).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Cada equipo mueve su volumen al canal que le responde: Sales su email a push y WhatsApp (0.21 % a 1.2 % y 78 %), Collections su email a push (1.1 a 3.6 %).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Cada equipo escala el canal que le funciona y apaga el que le cuesta: la regla de canal se fija por equipo, no una para toda la empresa.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C. QUÉ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A1D24"/>
                </a:solidFill>
                <a:latin typeface="Calibri"/>
              </a:rPr>
              <a:t>Dentro de cada equipo la respuesta varía más que entre equipos: Marketing promedia 0.62 % de clic con una desviación de 1.09 puntos; Sales, 0.20 % con 0.14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Campañas (E7a). Desviación estándar poblacional entre piezas; puntos arriba de 3 % se dibujan en el tope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766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A1D24"/>
                </a:solidFill>
                <a:latin typeface="Calibri"/>
              </a:rPr>
              <a:t>Clic de email por pieza (100 mil o más envíos), por equipo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020824"/>
            <a:ext cx="53949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5B6270"/>
                </a:solidFill>
                <a:latin typeface="Calibri"/>
              </a:rPr>
              <a:t>Punto gris: una pieza. Banda: promedio ± 1 desviación estándar. Línea azul: promedio. Línea punteada: mediana.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76856"/>
            <a:ext cx="12801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1A1D24"/>
                </a:solidFill>
                <a:latin typeface="Calibri"/>
              </a:rPr>
              <a:t>Product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78024"/>
            <a:ext cx="12801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5B6270"/>
                </a:solidFill>
                <a:latin typeface="Calibri"/>
              </a:rPr>
              <a:t>138 piezas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20240" y="2459736"/>
            <a:ext cx="4572000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920240" y="2313432"/>
            <a:ext cx="1304102" cy="29260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04823" y="2395514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16960" y="2363879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352782" y="2455334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259659" y="2349539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268477" y="2434294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525396" y="2403169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19361" y="2346898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50724" y="2429091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368931" y="2343149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99494" y="2415597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303800" y="2349067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65401" y="2352881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37269" y="2413928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991687" y="2487506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17560" y="2358932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24352" y="2377117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27891" y="2451036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071570" y="2509609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228086" y="2441832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165299" y="2408836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108901" y="2514829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151028" y="2344811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212561" y="2493288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142162" y="2389255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164624" y="2362673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146226" y="2357833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160529" y="2392707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124279" y="2485545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014941" y="2369343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020546" y="2442655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070145" y="2453136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375358" y="241354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871134" y="244560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493563" y="235691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67976" y="235633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079349" y="238310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73192" y="246986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073448" y="242363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275726" y="240288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195112" y="245252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042779" y="242831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051529" y="240025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993569" y="249071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044747" y="247326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274910" y="239007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490751" y="245048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622443" y="244148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033401" y="250548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046723" y="247883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159684" y="239809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702498" y="252469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897380" y="236702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547435" y="242190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342543" y="248390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576618" y="237323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489703" y="243485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2713126" y="235260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378965" y="246763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031590" y="248526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048098" y="245023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936140" y="250554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995436" y="240281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297674" y="247259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227921" y="245413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099121" y="245148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379047" y="242886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777299" y="249904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461108" y="251819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232890" y="243213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247541" y="246689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088281" y="235653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48005" y="247372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168577" y="246378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2369270" y="252705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038620" y="249574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263994" y="239748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247628" y="241598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125438" y="246771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413583" y="234956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595377" y="242987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295956" y="237616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185422" y="236685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561871" y="235621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2617369" y="248593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385078" y="236908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328945" y="239071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305236" y="241693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557203" y="250480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463916" y="236017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349470" y="242758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2421693" y="244591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2221895" y="250698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077468" y="249526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380709" y="250344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95164" y="239635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273110" y="242138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988889" y="241104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995868" y="250713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959295" y="252058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140895" y="237303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2060119" y="237766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971631" y="238785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230536" y="238810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983180" y="243412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995216" y="245317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977453" y="239348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032647" y="234618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364084" y="242205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052421" y="241296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238223" y="244900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2289156" y="251973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488656" y="247171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2092463" y="243970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2238609" y="245838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246191" y="246909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2195156" y="235531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2301263" y="250994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143400" y="248807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422830" y="250536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474591" y="249135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5086628" y="241719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664233" y="241840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333021" y="236437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266942" y="246143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049820" y="235681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2188028" y="235775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765703" y="238361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2919652" y="237511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556852" y="240762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2402451" y="235505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210986" y="234547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132665" y="237309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2547661" y="236399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2573654" y="241193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2346377" y="235009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426812" y="250533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901058" y="245773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2704384" y="237260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2" name="Connector 151"/>
          <p:cNvCxnSpPr/>
          <p:nvPr/>
        </p:nvCxnSpPr>
        <p:spPr>
          <a:xfrm>
            <a:off x="2306248" y="2295144"/>
            <a:ext cx="0" cy="329184"/>
          </a:xfrm>
          <a:prstGeom prst="line">
            <a:avLst/>
          </a:prstGeom>
          <a:ln w="19050">
            <a:solidFill>
              <a:srgbClr val="1A1D2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516957" y="2295144"/>
            <a:ext cx="0" cy="329184"/>
          </a:xfrm>
          <a:prstGeom prst="line">
            <a:avLst/>
          </a:prstGeom>
          <a:ln w="38100">
            <a:solidFill>
              <a:srgbClr val="1F4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6537959" y="2276856"/>
            <a:ext cx="7772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1A1D24"/>
                </a:solidFill>
                <a:latin typeface="Calibri"/>
              </a:rPr>
              <a:t>0.39 %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537959" y="2459736"/>
            <a:ext cx="7772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5B6270"/>
                </a:solidFill>
                <a:latin typeface="Calibri"/>
              </a:rPr>
              <a:t>± 0.46 %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48640" y="2715768"/>
            <a:ext cx="12801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1A1D24"/>
                </a:solidFill>
                <a:latin typeface="Calibri"/>
              </a:rPr>
              <a:t>Marketing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48640" y="2916936"/>
            <a:ext cx="12801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5B6270"/>
                </a:solidFill>
                <a:latin typeface="Calibri"/>
              </a:rPr>
              <a:t>180 piezas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1920240" y="2898648"/>
            <a:ext cx="4572000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ectangle 158"/>
          <p:cNvSpPr/>
          <p:nvPr/>
        </p:nvSpPr>
        <p:spPr>
          <a:xfrm>
            <a:off x="1920240" y="2752344"/>
            <a:ext cx="2598498" cy="29260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6460236" y="2821336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5930730" y="2838734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395316" y="2841802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930228" y="2797669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239628" y="2930457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2480072" y="2956822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166107" y="2860424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2095159" y="2863687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2480614" y="2790910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3400842" y="2793892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6460236" y="2837865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2810626" y="2823622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960259" y="2926785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2101674" y="281387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723890" y="278857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979570" y="2949120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491451" y="288095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995765" y="281115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2004820" y="288368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389343" y="278929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374501" y="288092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031945" y="296329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6469379" y="294223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975763" y="291166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983067" y="283210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966070" y="2842266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3172924" y="281489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982073" y="2916376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972173" y="288174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342466" y="292682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3131377" y="284463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4258995" y="282513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068120" y="293275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217303" y="296447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944480" y="294027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946844" y="293176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4134476" y="293400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988906" y="291965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944734" y="282581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3337652" y="287901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2180377" y="284937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3260542" y="278964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187025" y="278945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995569" y="283544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050267" y="283174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3740849" y="291099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2010258" y="295927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3679247" y="286613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955561" y="295571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2794144" y="296504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3763365" y="295899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2777627" y="285103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2100512" y="282466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2522457" y="282583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956984" y="282032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956019" y="282172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961057" y="289847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701943" y="294899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098876" y="293804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065173" y="287203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035474" y="290376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954258" y="293058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2275156" y="279985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927451" y="290515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2893848" y="295072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004595" y="292741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2271678" y="292153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2218741" y="287177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2013164" y="281699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2577593" y="292866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2053524" y="284515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491907" y="293080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096099" y="296204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2029103" y="285673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921532" y="285775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2652004" y="295749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2501984" y="291689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3271437" y="281543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2311066" y="280758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2490871" y="281199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2245462" y="294982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2074489" y="293184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2128856" y="281108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3822606" y="293550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2120553" y="296362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2135896" y="290454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2096432" y="284843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2021234" y="288468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2199671" y="280830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2607928" y="278695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2168210" y="296190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966208" y="290316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6469379" y="288064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2629526" y="295508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2444208" y="286368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3475018" y="294377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2468464" y="293543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983018" y="282294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2371910" y="283040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4252231" y="283792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459292" y="282833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3137028" y="289159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2558171" y="283178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2144925" y="286097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2096793" y="280831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3476151" y="295077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2461827" y="284904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2495517" y="286813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2475127" y="289103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2503889" y="294972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2514146" y="286127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2547335" y="295218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2020828" y="287608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2254209" y="288160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94557" y="288008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4141432" y="278776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76486" y="286483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2150908" y="281783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2235647" y="278506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2551435" y="293050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2362646" y="281586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6284" y="287094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3915709" y="291697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2624901" y="288611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2063711" y="284396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2034709" y="287914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4671554" y="288592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2383075" y="292777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2461266" y="280375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4851026" y="288681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3675383" y="282979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597525" y="283499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1972925" y="292557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4640541" y="287719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189026" y="288707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906985" y="292333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145750" y="295122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519220" y="286540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490671" y="289636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58953" y="287680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30278" y="287801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435082" y="291103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4295253" y="286707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516315" y="288187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187049" y="287177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3982985" y="295652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381519" y="291222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08761" y="294464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559218" y="295665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069860" y="283182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324978" y="288667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261572" y="295685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1954220" y="293796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4241149" y="280942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083091" y="280659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236521" y="286520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609535" y="279761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23871" y="282835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458854" y="279772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211082" y="290678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5898" y="292771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3898531" y="294839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335844" y="281259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325775" y="291531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77298" y="290509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745203" y="281049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631994" y="294580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100565" y="296129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103591" y="282450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6469379" y="295854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905167" y="285718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4290549" y="287345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4007002" y="296537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575007" y="293658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509517" y="281387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952695" y="286326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66205" y="287864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662763" y="284636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011040" y="282014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147160" y="284259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0" name="Connector 339"/>
          <p:cNvCxnSpPr/>
          <p:nvPr/>
        </p:nvCxnSpPr>
        <p:spPr>
          <a:xfrm>
            <a:off x="2409069" y="2734056"/>
            <a:ext cx="0" cy="329184"/>
          </a:xfrm>
          <a:prstGeom prst="line">
            <a:avLst/>
          </a:prstGeom>
          <a:ln w="19050">
            <a:solidFill>
              <a:srgbClr val="1A1D2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2857584" y="2734056"/>
            <a:ext cx="0" cy="329184"/>
          </a:xfrm>
          <a:prstGeom prst="line">
            <a:avLst/>
          </a:prstGeom>
          <a:ln w="38100">
            <a:solidFill>
              <a:srgbClr val="1F4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TextBox 341"/>
          <p:cNvSpPr txBox="1"/>
          <p:nvPr/>
        </p:nvSpPr>
        <p:spPr>
          <a:xfrm>
            <a:off x="6537959" y="2715768"/>
            <a:ext cx="7772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1A1D24"/>
                </a:solidFill>
                <a:latin typeface="Calibri"/>
              </a:rPr>
              <a:t>0.62 %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6537959" y="2898648"/>
            <a:ext cx="7772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5B6270"/>
                </a:solidFill>
                <a:latin typeface="Calibri"/>
              </a:rPr>
              <a:t>± 1.09 %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548640" y="3154680"/>
            <a:ext cx="12801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1A1D24"/>
                </a:solidFill>
                <a:latin typeface="Calibri"/>
              </a:rPr>
              <a:t>Sales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548640" y="3355848"/>
            <a:ext cx="12801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5B6270"/>
                </a:solidFill>
                <a:latin typeface="Calibri"/>
              </a:rPr>
              <a:t>55 piezas</a:t>
            </a:r>
          </a:p>
        </p:txBody>
      </p:sp>
      <p:cxnSp>
        <p:nvCxnSpPr>
          <p:cNvPr id="346" name="Connector 345"/>
          <p:cNvCxnSpPr/>
          <p:nvPr/>
        </p:nvCxnSpPr>
        <p:spPr>
          <a:xfrm>
            <a:off x="1920240" y="3337560"/>
            <a:ext cx="4572000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7" name="Rectangle 346"/>
          <p:cNvSpPr/>
          <p:nvPr/>
        </p:nvSpPr>
        <p:spPr>
          <a:xfrm>
            <a:off x="2009198" y="3191256"/>
            <a:ext cx="440387" cy="29260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1985913" y="335532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026411" y="322682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1961203" y="332458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1946393" y="330381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150875" y="322656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261284" y="328388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070283" y="333736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257135" y="331694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085632" y="323501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106907" y="340341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231180" y="336743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225777" y="340096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1976427" y="324242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247787" y="327182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091268" y="323049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141640" y="336572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313094" y="327271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182160" y="324695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15755" y="330048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779601" y="338993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137848" y="337303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248422" y="327055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083899" y="325057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482425" y="339135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202882" y="332761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15136" y="335135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117322" y="323962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154585" y="323378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427225" y="334911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177633" y="330104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031972" y="323650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016725" y="339486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1983700" y="333928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1979789" y="336986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083227" y="323857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000970" y="337984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766457" y="323544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234809" y="338104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561796" y="330624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1951071" y="328528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1945602" y="332440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095405" y="339272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429715" y="327224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091047" y="324689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114261" y="331962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555821" y="326686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451707" y="324327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479455" y="325278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458728" y="323247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961760" y="326015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325378" y="328031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1992146" y="327903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768186" y="336215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032850" y="327628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042563" y="331471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3" name="Connector 402"/>
          <p:cNvCxnSpPr/>
          <p:nvPr/>
        </p:nvCxnSpPr>
        <p:spPr>
          <a:xfrm>
            <a:off x="2164500" y="3172968"/>
            <a:ext cx="0" cy="329184"/>
          </a:xfrm>
          <a:prstGeom prst="line">
            <a:avLst/>
          </a:prstGeom>
          <a:ln w="19050">
            <a:solidFill>
              <a:srgbClr val="1A1D2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2229392" y="3172968"/>
            <a:ext cx="0" cy="329184"/>
          </a:xfrm>
          <a:prstGeom prst="line">
            <a:avLst/>
          </a:prstGeom>
          <a:ln w="38100">
            <a:solidFill>
              <a:srgbClr val="1F4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5" name="TextBox 404"/>
          <p:cNvSpPr txBox="1"/>
          <p:nvPr/>
        </p:nvSpPr>
        <p:spPr>
          <a:xfrm>
            <a:off x="6537959" y="3154680"/>
            <a:ext cx="7772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1A1D24"/>
                </a:solidFill>
                <a:latin typeface="Calibri"/>
              </a:rPr>
              <a:t>0.20 %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6537959" y="3337560"/>
            <a:ext cx="7772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5B6270"/>
                </a:solidFill>
                <a:latin typeface="Calibri"/>
              </a:rPr>
              <a:t>± 0.14 %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548640" y="3593591"/>
            <a:ext cx="12801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1A1D24"/>
                </a:solidFill>
                <a:latin typeface="Calibri"/>
              </a:rPr>
              <a:t>Collections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548640" y="3794759"/>
            <a:ext cx="12801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5B6270"/>
                </a:solidFill>
                <a:latin typeface="Calibri"/>
              </a:rPr>
              <a:t>19 piezas</a:t>
            </a:r>
          </a:p>
        </p:txBody>
      </p:sp>
      <p:cxnSp>
        <p:nvCxnSpPr>
          <p:cNvPr id="409" name="Connector 408"/>
          <p:cNvCxnSpPr/>
          <p:nvPr/>
        </p:nvCxnSpPr>
        <p:spPr>
          <a:xfrm>
            <a:off x="1920240" y="3776472"/>
            <a:ext cx="4572000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0" name="Rectangle 409"/>
          <p:cNvSpPr/>
          <p:nvPr/>
        </p:nvSpPr>
        <p:spPr>
          <a:xfrm>
            <a:off x="1920240" y="3630168"/>
            <a:ext cx="3517769" cy="29260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487217" y="3685562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083632" y="3716487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146066" y="3656349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6460236" y="3698830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5676303" y="3655834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075144" y="3787093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051083" y="376294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4836047" y="369681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077083" y="374899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4704136" y="383309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857723" y="368160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3128873" y="381193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5058803" y="374120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173756" y="375269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3193445" y="381480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666713" y="373405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3873175" y="375483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638364" y="378794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6469379" y="384184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0" name="Connector 429"/>
          <p:cNvCxnSpPr/>
          <p:nvPr/>
        </p:nvCxnSpPr>
        <p:spPr>
          <a:xfrm>
            <a:off x="2880583" y="3611879"/>
            <a:ext cx="0" cy="329184"/>
          </a:xfrm>
          <a:prstGeom prst="line">
            <a:avLst/>
          </a:prstGeom>
          <a:ln w="19050">
            <a:solidFill>
              <a:srgbClr val="1A1D2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3658170" y="3611879"/>
            <a:ext cx="0" cy="329184"/>
          </a:xfrm>
          <a:prstGeom prst="line">
            <a:avLst/>
          </a:prstGeom>
          <a:ln w="38100">
            <a:solidFill>
              <a:srgbClr val="1F4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2" name="TextBox 431"/>
          <p:cNvSpPr txBox="1"/>
          <p:nvPr/>
        </p:nvSpPr>
        <p:spPr>
          <a:xfrm>
            <a:off x="6537959" y="3593591"/>
            <a:ext cx="7772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1A1D24"/>
                </a:solidFill>
                <a:latin typeface="Calibri"/>
              </a:rPr>
              <a:t>1.14 %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6537959" y="3776472"/>
            <a:ext cx="7772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5B6270"/>
                </a:solidFill>
                <a:latin typeface="Calibri"/>
              </a:rPr>
              <a:t>± 1.17 %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548640" y="4032504"/>
            <a:ext cx="12801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1">
                <a:solidFill>
                  <a:srgbClr val="1A1D24"/>
                </a:solidFill>
                <a:latin typeface="Calibri"/>
              </a:rPr>
              <a:t>Others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548640" y="4233672"/>
            <a:ext cx="12801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>
                <a:solidFill>
                  <a:srgbClr val="5B6270"/>
                </a:solidFill>
                <a:latin typeface="Calibri"/>
              </a:rPr>
              <a:t>55 piezas</a:t>
            </a:r>
          </a:p>
        </p:txBody>
      </p:sp>
      <p:cxnSp>
        <p:nvCxnSpPr>
          <p:cNvPr id="436" name="Connector 435"/>
          <p:cNvCxnSpPr/>
          <p:nvPr/>
        </p:nvCxnSpPr>
        <p:spPr>
          <a:xfrm>
            <a:off x="1920240" y="4215384"/>
            <a:ext cx="4572000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7" name="Rectangle 436"/>
          <p:cNvSpPr/>
          <p:nvPr/>
        </p:nvSpPr>
        <p:spPr>
          <a:xfrm>
            <a:off x="1920240" y="4069080"/>
            <a:ext cx="4572000" cy="29260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2039532" y="4154613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2067959" y="4244148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6460236" y="4221185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4039962" y="4208247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818338" y="4165951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2725243" y="4155500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5033395" y="4101886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36580" y="4115681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4493672" y="4104873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832540" y="4227433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5759379" y="4138683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4456567" y="4121794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2142282" y="411653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6469379" y="425493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288380" y="4251143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6460236" y="4214568"/>
            <a:ext cx="64008" cy="64008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6469379" y="415264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6469379" y="414537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4783957" y="415467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4167663" y="418510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967569" y="4129893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6469379" y="418261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6469379" y="414922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6286730" y="427697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1961038" y="427895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2800622" y="420113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4254750" y="414578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2901185" y="427768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743974" y="415769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044929" y="416629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6320977" y="410127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304886" y="417087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885852" y="418788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6469379" y="419302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2890507" y="413783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086126" y="419339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4458693" y="4101989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2208650" y="414939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113628" y="411749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782317" y="4174146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2256201" y="410870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2535282" y="410519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2657361" y="415672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2634033" y="4143660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5538540" y="420817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2207172" y="419786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2584449" y="423834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2374358" y="4221335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3250472" y="4232024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3336029" y="4261852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1991599" y="4172318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3159439" y="416072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4026285" y="4281171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3490019" y="412841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6469379" y="4233517"/>
            <a:ext cx="45720" cy="45720"/>
          </a:xfrm>
          <a:prstGeom prst="ellipse">
            <a:avLst/>
          </a:prstGeom>
          <a:solidFill>
            <a:srgbClr val="A3A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3" name="Connector 492"/>
          <p:cNvCxnSpPr/>
          <p:nvPr/>
        </p:nvCxnSpPr>
        <p:spPr>
          <a:xfrm>
            <a:off x="3766834" y="4050792"/>
            <a:ext cx="0" cy="329184"/>
          </a:xfrm>
          <a:prstGeom prst="line">
            <a:avLst/>
          </a:prstGeom>
          <a:ln w="19050">
            <a:solidFill>
              <a:srgbClr val="1A1D2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>
            <a:off x="4712168" y="4050792"/>
            <a:ext cx="0" cy="329184"/>
          </a:xfrm>
          <a:prstGeom prst="line">
            <a:avLst/>
          </a:prstGeom>
          <a:ln w="38100">
            <a:solidFill>
              <a:srgbClr val="1F4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5" name="TextBox 494"/>
          <p:cNvSpPr txBox="1"/>
          <p:nvPr/>
        </p:nvSpPr>
        <p:spPr>
          <a:xfrm>
            <a:off x="6537959" y="4032504"/>
            <a:ext cx="7772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1A1D24"/>
                </a:solidFill>
                <a:latin typeface="Calibri"/>
              </a:rPr>
              <a:t>1.83 %</a:t>
            </a:r>
          </a:p>
        </p:txBody>
      </p:sp>
      <p:sp>
        <p:nvSpPr>
          <p:cNvPr id="496" name="TextBox 495"/>
          <p:cNvSpPr txBox="1"/>
          <p:nvPr/>
        </p:nvSpPr>
        <p:spPr>
          <a:xfrm>
            <a:off x="6537959" y="4215384"/>
            <a:ext cx="7772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5B6270"/>
                </a:solidFill>
                <a:latin typeface="Calibri"/>
              </a:rPr>
              <a:t>± 2.65 %</a:t>
            </a:r>
          </a:p>
        </p:txBody>
      </p:sp>
      <p:cxnSp>
        <p:nvCxnSpPr>
          <p:cNvPr id="497" name="Connector 496"/>
          <p:cNvCxnSpPr/>
          <p:nvPr/>
        </p:nvCxnSpPr>
        <p:spPr>
          <a:xfrm>
            <a:off x="4206240" y="2240280"/>
            <a:ext cx="0" cy="2194560"/>
          </a:xfrm>
          <a:prstGeom prst="line">
            <a:avLst/>
          </a:prstGeom>
          <a:ln>
            <a:solidFill>
              <a:srgbClr val="5B62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8" name="TextBox 497"/>
          <p:cNvSpPr txBox="1"/>
          <p:nvPr/>
        </p:nvSpPr>
        <p:spPr>
          <a:xfrm>
            <a:off x="4251959" y="2221992"/>
            <a:ext cx="22860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>
                <a:solidFill>
                  <a:srgbClr val="5B6270"/>
                </a:solidFill>
                <a:latin typeface="Calibri"/>
              </a:rPr>
              <a:t>Mínimo 1.5 %</a:t>
            </a:r>
          </a:p>
        </p:txBody>
      </p:sp>
      <p:sp>
        <p:nvSpPr>
          <p:cNvPr id="499" name="TextBox 498"/>
          <p:cNvSpPr txBox="1"/>
          <p:nvPr/>
        </p:nvSpPr>
        <p:spPr>
          <a:xfrm>
            <a:off x="1554480" y="4453127"/>
            <a:ext cx="731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5B6270"/>
                </a:solidFill>
                <a:latin typeface="Calibri"/>
              </a:rPr>
              <a:t>0.00 %</a:t>
            </a:r>
          </a:p>
        </p:txBody>
      </p:sp>
      <p:sp>
        <p:nvSpPr>
          <p:cNvPr id="500" name="TextBox 499"/>
          <p:cNvSpPr txBox="1"/>
          <p:nvPr/>
        </p:nvSpPr>
        <p:spPr>
          <a:xfrm>
            <a:off x="2697480" y="4453127"/>
            <a:ext cx="731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5B6270"/>
                </a:solidFill>
                <a:latin typeface="Calibri"/>
              </a:rPr>
              <a:t>0.75 %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3840479" y="4453127"/>
            <a:ext cx="731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5B6270"/>
                </a:solidFill>
                <a:latin typeface="Calibri"/>
              </a:rPr>
              <a:t>1.50 %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4983479" y="4453127"/>
            <a:ext cx="731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5B6270"/>
                </a:solidFill>
                <a:latin typeface="Calibri"/>
              </a:rPr>
              <a:t>2.25 %</a:t>
            </a:r>
          </a:p>
        </p:txBody>
      </p:sp>
      <p:sp>
        <p:nvSpPr>
          <p:cNvPr id="503" name="TextBox 502"/>
          <p:cNvSpPr txBox="1"/>
          <p:nvPr/>
        </p:nvSpPr>
        <p:spPr>
          <a:xfrm>
            <a:off x="6126479" y="4453127"/>
            <a:ext cx="731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5B6270"/>
                </a:solidFill>
                <a:latin typeface="Calibri"/>
              </a:rPr>
              <a:t>3.00 %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Promedio simple por pieza. Ponderado por volumen: Marketing 0.89 %, Product Growth 0.40 %, Sales 0.20 %, Collections 1.05 %.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Push (apertura): Product Growth 1.80 % ± 2.14, Marketing 1.04 % ± 1.19, Sales 1.19 % ± 0.84, Collections 3.10 % ± 1.75.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Sales no tiene una sola pieza de email arriba de 0.6 %: su email se rehace o se apaga, no se optimiza. La mitad de las piezas de Marketing y Product Growth está debajo de 0.32 % y 0.25 %.</a:t>
            </a:r>
          </a:p>
        </p:txBody>
      </p:sp>
      <p:cxnSp>
        <p:nvCxnSpPr>
          <p:cNvPr id="505" name="Connector 504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6" name="TextBox 505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Hay equipos buenos y equipos malos.</a:t>
            </a:r>
          </a:p>
        </p:txBody>
      </p:sp>
      <p:sp>
        <p:nvSpPr>
          <p:cNvPr id="507" name="TextBox 506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La varianza está dentro del equipo: Marketing promedia 0.62 % con piezas de 0.1 a 3 %. Lo que separa una pieza de otra es su audiencia (Veriff con señal contra Referral a Leads), no el equipo que la manda.</a:t>
            </a:r>
          </a:p>
        </p:txBody>
      </p:sp>
      <p:sp>
        <p:nvSpPr>
          <p:cNvPr id="508" name="TextBox 507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Sales rehace su email entero (ninguna pieza arriba de 0.6 %); Marketing y Product Growth apagan la mitad de sus piezas (debajo de 0.32 y 0.25 %) y replican la audiencia de las de arriba.</a:t>
            </a:r>
          </a:p>
        </p:txBody>
      </p:sp>
      <p:sp>
        <p:nvSpPr>
          <p:cNvPr id="509" name="Rectangle 508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Rectangle 509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TextBox 510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La palanca no es cambiar de equipo sino replicar las piezas de arriba de cada equipo y apagar su cola: cada equipo ya tiene piezas que pasan el mínimo y sabe cómo se ven.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C. QUÉ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50" b="1">
                <a:solidFill>
                  <a:srgbClr val="1A1D24"/>
                </a:solidFill>
                <a:latin typeface="Calibri"/>
              </a:rPr>
              <a:t>Quién lo maneja mejor: Others (transaccional) y Collections tienen la mejor respuesta por canal y Sales la mejor entrega; Product Growth insiste con 39 % de su volumen tras fallar y Marketing se da de baja 5.9 por mil, el doble que el resto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F_Piezas (E1), Vista_equipo. Tasas ponderadas por volumen en 9 meses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3.6 %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apertura de push de Collections, la mejor; Others 1.8 % de clic en email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80 %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entrega de WhatsApp de Sales, la mejor; Product Growth 72 %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39 %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del volumen de Product Growth insiste tras fallar; Marketing 5.9 bajas por mil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r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60320"/>
            <a:ext cx="6637866" cy="22402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Verde: el mejor equipo en ese indicador; rojo: el peor. Collections y Others no usan WhatsApp o no llegan a 100 mil entregados.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Others responde bien porque es transaccional (confirmación de pago, préstamo dispersado): es la prueba de que el usuario abre lo que le concierne.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Collections tiene la mejor apertura de push (3.6 %) y las menores bajas (0.25 por mil): manda a quien tiene un pago, con una razón.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Marketing tiene el mejor clic de email entre los promocionales (0.95 %) pero paga con bajas (5.9 por mil): el mismo equipo tiene Veriff (3.0 %) y Referral (0.2 %).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Si hubiera un equipo que lo hace bien en todo, bastaría copiar su forma de operar.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SIN MEDICIÓN  </a:t>
            </a:r>
            <a:r>
              <a:rPr sz="850">
                <a:solidFill>
                  <a:srgbClr val="5B6270"/>
                </a:solidFill>
                <a:latin typeface="Calibri"/>
              </a:rPr>
              <a:t>No hay uno: cada equipo opera Braze solo y gana donde manda con una razón (pago, transacción, recurrente) y pierde donde manda masivo sin señal. Nadie compara su tablero con el de los otros ni revisa a las 4 semanas.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Un tablero por equipo con estos 6 indicadores y revisión mensual: Product Growth y Marketing dejan de insistir con 125 M mensajes (10.8 M MXN en 9 meses) y Marketing baja sus bajas a la mitad al sacar Leads y 'Todos' de sus masivos.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El equipo que 'lo maneja mejor' es el que manda con una razón del usuario: cobranza y transaccional. El playbook lleva esa lógica a lo promocional: señal antes que volumen, y un tablero común para que se vea.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C. QUÉ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50" b="1">
                <a:solidFill>
                  <a:srgbClr val="1A1D24"/>
                </a:solidFill>
                <a:latin typeface="Calibri"/>
              </a:rPr>
              <a:t>22 % de los envíos (149 M, 12 M MXN) salieron en meses posteriores a que la pieza ya estaba debajo del mínimo: Product Growth insiste con 39 % de su volumen (Tasa0 a nuevos, 7 meses seguidos), Marketing con 22 %, Sales con 6 %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F_Piezas (E1). Familia por canal y mes; mínimo del canal según Parámetros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149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mensajes enviados cuando la pieza ya estaba debajo del mínimo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12 M MXN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costo de insistir, 9 meses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7 meses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siguió Tasa0 a nuevos registrados (29 M emails) después de fallar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r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60320"/>
            <a:ext cx="6400799" cy="22402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Una pieza 'falló' el primer mes en que, con 50 mil o más entregados, respondió debajo del mínimo del canal (email 0.3 %, push 0.75 %, WhatsApp 60 %, in-app 10 %). Se cuenta lo que mandó después.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Product Growth: 26 familias, 69 M envíos y 7.5 M MXN. Marketing: 43 familias, 57 M y 3.3 M MXN.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Sales insiste poco (6 %) y Others (8 %): sus piezas son transaccionales o se apagan solas al terminar la campaña.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Ninguna de las ocho familias de la gráfica cambió de audiencia ni de gancho entre el mes que falló y el último envío.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Si hubiera revisión, una pieza que falla se apaga o se rehace al mes siguiente.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SIN MEDICIÓN  </a:t>
            </a:r>
            <a:r>
              <a:rPr sz="850">
                <a:solidFill>
                  <a:srgbClr val="5B6270"/>
                </a:solidFill>
                <a:latin typeface="Calibri"/>
              </a:rPr>
              <a:t>Nadie revisa la pieza a las 4 semanas: sin tablero por pieza ni regla de apagado, un Canvas que falló en febrero sigue corriendo en septiembre con la misma audiencia y el mismo gancho.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Regla de 4 semanas (debajo del mínimo se apaga o se rehace): 17 M mensajes menos al mes, 1.3 M MXN al mes y las bajas de esas piezas con ellas.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La regla más barata del playbook: a las 4 semanas se mira la respuesta contra el mínimo y lo que no pasa se apaga. Product Growth y Marketing la aplican primero: tienen 125 M de los 149 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C. QUÉ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A1D24"/>
                </a:solidFill>
                <a:latin typeface="Calibri"/>
              </a:rPr>
              <a:t>Active y Precobranza responden 3 a 10 veces más que Leads y Recurrent en email y push, pero reciben 4 % de los envíos; Leads y Recurrent reciben 58 %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P_Segmentos (E11). Respuesta: clic (email, in-app), apertura (push), lectura (WhatsApp)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42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6766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</a:tblGrid>
              <a:tr h="365760">
                <a:tc>
                  <a:txBody>
                    <a:bodyPr/>
                    <a:lstStyle/>
                    <a:p>
                      <a:pPr algn="l"/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B6270"/>
                          </a:solidFill>
                          <a:latin typeface="Calibri"/>
                        </a:rPr>
                        <a:t>Leads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B6270"/>
                          </a:solidFill>
                          <a:latin typeface="Calibri"/>
                        </a:rPr>
                        <a:t>Recurrent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B6270"/>
                          </a:solidFill>
                          <a:latin typeface="Calibri"/>
                        </a:rPr>
                        <a:t>No rastr.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B6270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B6270"/>
                          </a:solidFill>
                          <a:latin typeface="Calibri"/>
                        </a:rPr>
                        <a:t>Todos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B6270"/>
                          </a:solidFill>
                          <a:latin typeface="Calibri"/>
                        </a:rPr>
                        <a:t>Active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B6270"/>
                          </a:solidFill>
                          <a:latin typeface="Calibri"/>
                        </a:rPr>
                        <a:t>Precobr.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B6270"/>
                          </a:solidFill>
                          <a:latin typeface="Calibri"/>
                        </a:rPr>
                        <a:t>Churn 12m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B6270"/>
                          </a:solidFill>
                          <a:latin typeface="Calibri"/>
                        </a:rPr>
                        <a:t>HardInac. 6m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% de todos los envíos, por segmento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30 %</a:t>
                      </a:r>
                    </a:p>
                  </a:txBody>
                  <a:tcPr marL="45720" marR="45720" marT="45720" marB="4572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28 %</a:t>
                      </a:r>
                    </a:p>
                  </a:txBody>
                  <a:tcPr marL="45720" marR="45720" marT="45720" marB="4572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13 %</a:t>
                      </a:r>
                    </a:p>
                  </a:txBody>
                  <a:tcPr marL="45720" marR="45720" marT="45720" marB="4572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45720" marR="45720" marT="45720" marB="4572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4 %</a:t>
                      </a:r>
                    </a:p>
                  </a:txBody>
                  <a:tcPr marL="45720" marR="45720" marT="45720" marB="4572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2 %</a:t>
                      </a:r>
                    </a:p>
                  </a:txBody>
                  <a:tcPr marL="45720" marR="45720" marT="45720" marB="4572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2 %</a:t>
                      </a:r>
                    </a:p>
                  </a:txBody>
                  <a:tcPr marL="45720" marR="45720" marT="45720" marB="4572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1 %</a:t>
                      </a:r>
                    </a:p>
                  </a:txBody>
                  <a:tcPr marL="45720" marR="45720" marT="45720" marB="4572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1 %</a:t>
                      </a:r>
                    </a:p>
                  </a:txBody>
                  <a:tcPr marL="45720" marR="45720" marT="45720" marB="45720" anchor="ctr">
                    <a:solidFill>
                      <a:srgbClr val="F6F7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Email (clic)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0.91 %</a:t>
                      </a:r>
                    </a:p>
                  </a:txBody>
                  <a:tcPr marL="45720" marR="45720" marT="45720" marB="45720" anchor="ctr">
                    <a:solidFill>
                      <a:srgbClr val="BCCA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0.39 %</a:t>
                      </a:r>
                    </a:p>
                  </a:txBody>
                  <a:tcPr marL="45720" marR="45720" marT="45720" marB="45720" anchor="ctr">
                    <a:solidFill>
                      <a:srgbClr val="DBE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1.67 %</a:t>
                      </a:r>
                    </a:p>
                  </a:txBody>
                  <a:tcPr marL="45720" marR="45720" marT="45720" marB="45720" anchor="ctr">
                    <a:solidFill>
                      <a:srgbClr val="8DA6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0.23 %</a:t>
                      </a:r>
                    </a:p>
                  </a:txBody>
                  <a:tcPr marL="45720" marR="45720" marT="45720" marB="45720" anchor="ctr">
                    <a:solidFill>
                      <a:srgbClr val="E5E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0.20 %</a:t>
                      </a:r>
                    </a:p>
                  </a:txBody>
                  <a:tcPr marL="45720" marR="45720" marT="45720" marB="45720" anchor="ctr">
                    <a:solidFill>
                      <a:srgbClr val="E7EC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2.52 %</a:t>
                      </a:r>
                    </a:p>
                  </a:txBody>
                  <a:tcPr marL="45720" marR="45720" marT="45720" marB="45720" anchor="ctr">
                    <a:solidFill>
                      <a:srgbClr val="5A7D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3.50 %</a:t>
                      </a:r>
                    </a:p>
                  </a:txBody>
                  <a:tcPr marL="45720" marR="45720" marT="45720" marB="45720" anchor="ctr">
                    <a:solidFill>
                      <a:srgbClr val="1F4F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0.11 %</a:t>
                      </a:r>
                    </a:p>
                  </a:txBody>
                  <a:tcPr marL="45720" marR="45720" marT="45720" marB="45720" anchor="ctr">
                    <a:solidFill>
                      <a:srgbClr val="ED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0.21 %</a:t>
                      </a:r>
                    </a:p>
                  </a:txBody>
                  <a:tcPr marL="45720" marR="45720" marT="45720" marB="45720" anchor="ctr">
                    <a:solidFill>
                      <a:srgbClr val="E6EB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Push (apertura)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0.96 %</a:t>
                      </a:r>
                    </a:p>
                  </a:txBody>
                  <a:tcPr marL="45720" marR="45720" marT="45720" marB="45720" anchor="ctr">
                    <a:solidFill>
                      <a:srgbClr val="E4E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1.45 %</a:t>
                      </a:r>
                    </a:p>
                  </a:txBody>
                  <a:tcPr marL="45720" marR="45720" marT="45720" marB="45720" anchor="ctr">
                    <a:solidFill>
                      <a:srgbClr val="D9E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3.22 %</a:t>
                      </a:r>
                    </a:p>
                  </a:txBody>
                  <a:tcPr marL="45720" marR="45720" marT="45720" marB="45720" anchor="ctr">
                    <a:solidFill>
                      <a:srgbClr val="B2C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0.71 %</a:t>
                      </a:r>
                    </a:p>
                  </a:txBody>
                  <a:tcPr marL="45720" marR="45720" marT="45720" marB="45720" anchor="ctr">
                    <a:solidFill>
                      <a:srgbClr val="EAEE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1.04 %</a:t>
                      </a:r>
                    </a:p>
                  </a:txBody>
                  <a:tcPr marL="45720" marR="45720" marT="45720" marB="45720" anchor="ctr">
                    <a:solidFill>
                      <a:srgbClr val="E3E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9.81 %</a:t>
                      </a:r>
                    </a:p>
                  </a:txBody>
                  <a:tcPr marL="45720" marR="45720" marT="45720" marB="45720" anchor="ctr">
                    <a:solidFill>
                      <a:srgbClr val="1F4F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4.48 %</a:t>
                      </a:r>
                    </a:p>
                  </a:txBody>
                  <a:tcPr marL="45720" marR="45720" marT="45720" marB="45720" anchor="ctr">
                    <a:solidFill>
                      <a:srgbClr val="96A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0.59 %</a:t>
                      </a:r>
                    </a:p>
                  </a:txBody>
                  <a:tcPr marL="45720" marR="45720" marT="45720" marB="45720" anchor="ctr">
                    <a:solidFill>
                      <a:srgbClr val="ED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1.03 %</a:t>
                      </a:r>
                    </a:p>
                  </a:txBody>
                  <a:tcPr marL="45720" marR="45720" marT="45720" marB="45720" anchor="ctr">
                    <a:solidFill>
                      <a:srgbClr val="E3E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WhatsApp (lectura)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52.18 %</a:t>
                      </a:r>
                    </a:p>
                  </a:txBody>
                  <a:tcPr marL="45720" marR="45720" marT="45720" marB="45720" anchor="ctr">
                    <a:solidFill>
                      <a:srgbClr val="9DB2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52.79 %</a:t>
                      </a:r>
                    </a:p>
                  </a:txBody>
                  <a:tcPr marL="45720" marR="45720" marT="45720" marB="45720" anchor="ctr">
                    <a:solidFill>
                      <a:srgbClr val="9AB0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77.33 %</a:t>
                      </a:r>
                    </a:p>
                  </a:txBody>
                  <a:tcPr marL="45720" marR="45720" marT="45720" marB="45720" anchor="ctr">
                    <a:solidFill>
                      <a:srgbClr val="1F4F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36.45 %</a:t>
                      </a:r>
                    </a:p>
                  </a:txBody>
                  <a:tcPr marL="45720" marR="45720" marT="45720" marB="45720" anchor="ctr">
                    <a:solidFill>
                      <a:srgbClr val="ED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58.65 %</a:t>
                      </a:r>
                    </a:p>
                  </a:txBody>
                  <a:tcPr marL="45720" marR="45720" marT="45720" marB="45720" anchor="ctr">
                    <a:solidFill>
                      <a:srgbClr val="7D99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58.58 %</a:t>
                      </a:r>
                    </a:p>
                  </a:txBody>
                  <a:tcPr marL="45720" marR="45720" marT="45720" marB="45720" anchor="ctr">
                    <a:solidFill>
                      <a:srgbClr val="7D99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38.52 %</a:t>
                      </a:r>
                    </a:p>
                  </a:txBody>
                  <a:tcPr marL="45720" marR="45720" marT="45720" marB="45720" anchor="ctr">
                    <a:solidFill>
                      <a:srgbClr val="E2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46.86 %</a:t>
                      </a:r>
                    </a:p>
                  </a:txBody>
                  <a:tcPr marL="45720" marR="45720" marT="45720" marB="45720" anchor="ctr">
                    <a:solidFill>
                      <a:srgbClr val="B8C7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In-app (clic)</a:t>
                      </a:r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21.04 %</a:t>
                      </a:r>
                    </a:p>
                  </a:txBody>
                  <a:tcPr marL="45720" marR="45720" marT="45720" marB="45720" anchor="ctr">
                    <a:solidFill>
                      <a:srgbClr val="CED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23.98 %</a:t>
                      </a:r>
                    </a:p>
                  </a:txBody>
                  <a:tcPr marL="45720" marR="45720" marT="45720" marB="45720" anchor="ctr">
                    <a:solidFill>
                      <a:srgbClr val="C6D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81.96 %</a:t>
                      </a:r>
                    </a:p>
                  </a:txBody>
                  <a:tcPr marL="45720" marR="45720" marT="45720" marB="45720" anchor="ctr">
                    <a:solidFill>
                      <a:srgbClr val="1F4F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19.06 %</a:t>
                      </a:r>
                    </a:p>
                  </a:txBody>
                  <a:tcPr marL="45720" marR="45720" marT="45720" marB="45720" anchor="ctr">
                    <a:solidFill>
                      <a:srgbClr val="D4DD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71.95 %</a:t>
                      </a:r>
                    </a:p>
                  </a:txBody>
                  <a:tcPr marL="45720" marR="45720" marT="45720" marB="45720" anchor="ctr">
                    <a:solidFill>
                      <a:srgbClr val="3B65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66.50 %</a:t>
                      </a:r>
                    </a:p>
                  </a:txBody>
                  <a:tcPr marL="45720" marR="45720" marT="45720" marB="45720" anchor="ctr">
                    <a:solidFill>
                      <a:srgbClr val="4B72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L="45720" marR="4572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10.55 %</a:t>
                      </a:r>
                    </a:p>
                  </a:txBody>
                  <a:tcPr marL="45720" marR="45720" marT="45720" marB="45720" anchor="ctr">
                    <a:solidFill>
                      <a:srgbClr val="ED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11.05 %</a:t>
                      </a:r>
                    </a:p>
                  </a:txBody>
                  <a:tcPr marL="45720" marR="45720" marT="45720" marB="45720" anchor="ctr">
                    <a:solidFill>
                      <a:srgbClr val="EBEF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995928"/>
            <a:ext cx="67665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B6270"/>
                </a:solidFill>
                <a:latin typeface="Calibri"/>
              </a:rPr>
              <a:t>Respuesta por segmento y canal (color relativo dentro de cada canal)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Nueve segmentos con más envíos (92 % del total). Celdas en gris: menos de 100 mil envíos en ese canal.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Leads y Recurrent son la mitad del volumen y responden 0.4 a 0.9 % en email; Active responde 2.5 % en email y 9.8 % en push con 2 % de los envíos.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Not Tracked (13 %) responde bien porque es transaccional sin etiquetar: hay que etiquetarlo, no apagarlo. Churn y HardInactive responden 0.1 a 0.2 % en email: ahí solo push barato con señal.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WhatsApp e in-app leen o hacen clic entre 20 y 80 % en todos los segmentos: el canal, no el segmento, explica esa tasa.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Leads necesita más toques porque todavía no conoce el producto.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Active y Precobranza responden 3 a 10 veces más y reciben 4 % de los envíos; Leads y Recurrent sin señal reciben 58 %. El volumen está invertido respecto a la respuesta porque se manda por tamaño de lista.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Leads y Recurrent solo con oferta probada y prueba al 10 %: 20 % menos volumen (80 M) con la misma respuesta total, porque lo que se quita va a quien no responde.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El volumen sigue a la respuesta: Active y Precobranza pueden recibir más; Leads y Recurrent solo con oferta probada y prueba al 10 %. Not Tracked se etiqueta este mes.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C. QUÉ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10 piezas concentran 125 M envíos con respuesta debajo del mínimo; 6 piezas hay que proteger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Plan_accion P4, Campañas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125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envíos en 10 piezas, 19 % del total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0.07 a 0.76 %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respuesta de 9 de las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piezas a proteger (3 a 87 % de respuesta)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6766557" cy="2103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31162"/>
                <a:gridCol w="356134"/>
                <a:gridCol w="427361"/>
                <a:gridCol w="641042"/>
                <a:gridCol w="1210858"/>
              </a:tblGrid>
              <a:tr h="191192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Pieza (nombre actual)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Canal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Envíos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Respuesta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Acción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Lending-KCash-B0211 Nuevos_RegistradosPay Tasa0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34.9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0.28 %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5342B"/>
                          </a:solidFill>
                          <a:latin typeface="Calibri"/>
                        </a:rPr>
                        <a:t>Apagar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NewProducts T0000 Portfolio_BillPay_Intro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16.1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0.11 %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5342B"/>
                          </a:solidFill>
                          <a:latin typeface="Calibri"/>
                        </a:rPr>
                        <a:t>Confirmar apagado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Lending-KCash-B0223 Nuevos_NeverActive Installments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13.5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0.10 %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5342B"/>
                          </a:solidFill>
                          <a:latin typeface="Calibri"/>
                        </a:rPr>
                        <a:t>Apagar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Marketing-KCash-B0391 Leads RescateFinesDeSemana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push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13.4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0.76 %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8860B"/>
                          </a:solidFill>
                          <a:latin typeface="Calibri"/>
                        </a:rPr>
                        <a:t>Rehacer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Marketing-KCash-B0000 Leads Retargeting_Veriff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9.7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3.04 %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8860B"/>
                          </a:solidFill>
                          <a:latin typeface="Calibri"/>
                        </a:rPr>
                        <a:t>Bajar frecuencia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Marketing-KCash-B0171 Anonimos RescateTasa0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push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8.9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0.56 %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5342B"/>
                          </a:solidFill>
                          <a:latin typeface="Calibri"/>
                        </a:rPr>
                        <a:t>Apagar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Marketing-KCash-B0326 Leads ReferralProgram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8.5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0.23 %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5342B"/>
                          </a:solidFill>
                          <a:latin typeface="Calibri"/>
                        </a:rPr>
                        <a:t>Confirmar apagado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Marketing-KCash-B0326 Recurrentes_Dormants ReferralProgram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7.0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0.07 %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5342B"/>
                          </a:solidFill>
                          <a:latin typeface="Calibri"/>
                        </a:rPr>
                        <a:t>Apagar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Shopping-KPay-S0004 WeeklyRecommendations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7.0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0.12 %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8860B"/>
                          </a:solidFill>
                          <a:latin typeface="Calibri"/>
                        </a:rPr>
                        <a:t>Rehacer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Sales-KPay-B0335 Recurrentes PromocionesMerchants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6.4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0.22 %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8860B"/>
                          </a:solidFill>
                          <a:latin typeface="Calibri"/>
                        </a:rPr>
                        <a:t>Rehacer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Proteger: Precobranza (email 4.3 %, push 5.3 %), Retargeting Veriff (push 5.8 %), Retargeting Installments a activos (push 11 %), Payment Confirmation (3.8 %), registro de línea MX in-app (87 %), Quincenas sin intereses (push 4.2 %).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La acción de cada pieza sale de una regla con datos (señal, canal, abren contra no abren), no del nombre.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Las 10 piezas más grandes son las más importantes.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Son masivos sin segmento de Product Growth (Tasa0 a registrados, NeverActive), NewProducts (BillPay) y Marketing (Referral, Newsletter): 19 % del volumen con respuesta debajo del mínimo. Las 6 a proteger son segmentadas.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Apagar o rehacer las 10 quita 125 M envíos (19 %) que aportan menos de 10 % de los clics de email; Veriff se protege y baja a 1 email al día.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Estas 10 piezas son 19 % del volumen: su acción (apagar, rehacer, bajar frecuencia) se decide esta semana con el dueño de cada una.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1280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91440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Nadie puede demostrar cuánto vende Braze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Sin grupo de control, sin pruebas A/B y sin nombres, no hay forma de defender una pieza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D. SIN MEDICIÓN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0 de 3,228 Canvas tienen grupo de control real y no hubo una sola prueba A/B de mensaje en 9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Q_Control (E13), R_Experimentos (E14), K_Abren (E7c)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45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310896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92807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0 de 3,228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96312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Canvas con control real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0720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22 tienen usuarios marcados; el único grande abrió el mensaje 84 %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783080"/>
            <a:ext cx="310896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1892807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96312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pruebas A/B de mensaje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80720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313 Canvas con 'experimento' son caminos de audiencia; la variante es siempre Variant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91839"/>
            <a:ext cx="310896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40156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05072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Canvas con push silencioso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1596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650 mil usuarios para simular control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291839"/>
            <a:ext cx="310896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0" y="340156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2.3 veces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005072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convierten más los que abren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31596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no es causal: parte iba a comprar igual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Consecuencia: ninguna cifra de conversión es incremental. Dice quién convierte después de recibir, no cuánto más convierte por recibir.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Braze trae grupo de control nativo en campañas y en la entrada del Canvas, y reporta el lift solo.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Regla: 10 % de control en toda pieza (5 % si pasa de 1 M). A las 4 semanas se lee el lift; lift cero, se apaga aunque 'convierta'. Una prueba A/B por equipo al mes.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El lift de Braze se puede medir con lo que hay.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SIN MEDICIÓN  </a:t>
            </a:r>
            <a:r>
              <a:rPr sz="850">
                <a:solidFill>
                  <a:srgbClr val="5B6270"/>
                </a:solidFill>
                <a:latin typeface="Calibri"/>
              </a:rPr>
              <a:t>Nadie activó el grupo de control que Braze ofrece en cada Canvas ni corrió una prueba A/B de mensaje: la conversión que se reporta es correlación con usuarios que ya iban a convertir.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Control del 10 % en toda pieza: en 4 semanas se sabe el lift de las 20 piezas más grandes; lo que da cero se apaga con datos y el ahorro de 1.6 M MXN al mes pasa de techo a medición.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Mientras no haya control del 10 % en toda pieza, ninguna cifra de conversión justifica mantener una campaña. Se activa en Braze en una semana.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D. SIN MEDICIÓN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749 piezas sin ticket, 731 formas de escribir la audiencia y 171 pruebas que llegaron a usuarios reales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Catálogo, P_Segmentos (E11)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749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piezas sin ticket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731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formas de escribir la audiencia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pruebas y copias que llegaron a usuarios reales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6766559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7367"/>
                <a:gridCol w="3171825"/>
                <a:gridCol w="1797367"/>
              </a:tblGrid>
              <a:tr h="25603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270"/>
                          </a:solidFill>
                          <a:latin typeface="Calibri"/>
                        </a:rPr>
                        <a:t>Qué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270"/>
                          </a:solidFill>
                          <a:latin typeface="Calibri"/>
                        </a:rPr>
                        <a:t>Cuánto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270"/>
                          </a:solidFill>
                          <a:latin typeface="Calibri"/>
                        </a:rPr>
                        <a:t>Qué se hace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D24"/>
                          </a:solidFill>
                          <a:latin typeface="Calibri"/>
                        </a:rPr>
                        <a:t>Piezas sin ticket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749 (Others solo tiene ticket en 49 % de sus envíos)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Sin ticket no se activa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D24"/>
                          </a:solidFill>
                          <a:latin typeface="Calibri"/>
                        </a:rPr>
                        <a:t>Formas de escribir la audiencia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731; 41 segmentos, 330 subsegmentos, 62 grupos; 13 % 'Not Tracked'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30 segmentos maestros con dueño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D24"/>
                          </a:solidFill>
                          <a:latin typeface="Calibri"/>
                        </a:rPr>
                        <a:t>Piezas activas duplicadas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109 en 13 combinaciones; 15 familias con 10 o más versiones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Una por combinación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D24"/>
                          </a:solidFill>
                          <a:latin typeface="Calibri"/>
                        </a:rPr>
                        <a:t>Pruebas y copias a usuarios reales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171 comunicaciones, 7.26 M envíos; un QA con 1.87 M push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Se pausan hoy; roles de aprobación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D24"/>
                          </a:solidFill>
                          <a:latin typeface="Calibri"/>
                        </a:rPr>
                        <a:t>Canvas con más de 20 pasos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45 (19 con más de 50)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Se parten por audiencia, 8 pasos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D24"/>
                          </a:solidFill>
                          <a:latin typeface="Calibri"/>
                        </a:rPr>
                        <a:t>Comercio del día y Cuponera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11 y 8 segmentos distintos solo por el mes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D24"/>
                          </a:solidFill>
                          <a:latin typeface="Calibri"/>
                        </a:rPr>
                        <a:t>Una pieza que lee del catálogo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Regla de nombres: Ticket-Producto-Audiencia-Gancho. El equipo sale de la letra del ticket.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Tags obligatorios de lista cerrada: tipo, equipo, producto y trimestre.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Los tags no llegan a Databricks: hoy no se pueden auditar.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La nomenclatura se cumple y permite auditar.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OPERACIÓN Y CONFIGURACIÓN  </a:t>
            </a:r>
            <a:r>
              <a:rPr sz="850">
                <a:solidFill>
                  <a:srgbClr val="5B6270"/>
                </a:solidFill>
                <a:latin typeface="Calibri"/>
              </a:rPr>
              <a:t>749 piezas sin ticket, 731 formas de escribir la audiencia y 171 pruebas a usuarios reales: no hay revisión antes de activar ni dueño del catálogo en Braze.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Nombre y ticket obligatorios y roles de aprobación: 171 pruebas (7.26 M envíos) no llegan a usuarios reales y 100 % del volumen se audita por equipo.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Sin ticket ni nombre estándar no hay dueño ni auditoría: regla de nombres y tags de lista cerrada obligatorios desde la próxima pieza.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D. SIN MEDICIÓN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A1D24"/>
                </a:solidFill>
                <a:latin typeface="Calibri"/>
              </a:rPr>
              <a:t>Repetición: 187 familias tienen 5 o más versiones y concentran 35 % de los envíos; 'Comercio del día' existe en 9 segmentos distintos y 'Cuponera' en 7: el mismo segmento se vuelve a crear cada 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Catálogo (E1, E2), P_Segmentos (E11). Agrupación por nombre normalizado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familias con 5 o más versiones de la misma pieza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35 %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de los envíos salen de esas familias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valores de segmento que repiten 8 nombres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548640" y="2560320"/>
          <a:ext cx="6766560" cy="224027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Una versión es una comunicación distinta en Braze con el mismo nombre de familia (sin la fecha): se copia la pieza, se cambia la fecha y se activa, sin archivar la anterior.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El segmento se escribe con el mes ('ComercioDelDia_Junio'), con la ola ('W1', 'W2') o con un error de dedo: 481 combinaciones de segmento, subsegmento y grupo para 30 audiencias reales.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109 piezas activas duplicadas en 13 combinaciones de producto, audiencia y gancho: dos versiones vivas de lo mismo mandan al mismo usuario dos veces.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Comercio del día y Cuponera son una sola pieza que lee del catálogo, no 16 segmentos.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Si hubiera segmentos maestros con dueño, una audiencia tendría un solo nombre y una pieza una sola versión viva.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OPERACIÓN Y CONFIGURACIÓN  </a:t>
            </a:r>
            <a:r>
              <a:rPr sz="850">
                <a:solidFill>
                  <a:srgbClr val="5B6270"/>
                </a:solidFill>
                <a:latin typeface="Calibri"/>
              </a:rPr>
              <a:t>Sin segmentos maestros ni dueño del catálogo, cada mes se crea un segmento nuevo con el nombre del mes y una copia de la pieza; Braze acumula versiones que nadie archiva y dos versiones vivas chocan en el mismo usuario.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30 segmentos maestros con dueño y una pieza viva por combinación: 55 valores duplicados pasan a 8, las 109 piezas activas duplicadas a una por combinación, y los choques de la misma familia desaparecen.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Nomenclatura Ticket-Producto-Audiencia-Gancho, segmentos SEG- con dueño y archivo trimestral de lo que no se usa: es trabajo de MarTech de dos semanas y evita el 38 % de choques dentro del mismo equipo.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1280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91440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El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Limpiar, configurar, medir: 90 días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E. EL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582 campañas a tocar: 1.6 M MXN al mes de ahorro (33 % del gasto) y 27 M mensajes menos al mes (42 %)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Plan_accion P1 y P2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49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783080"/>
          <a:ext cx="676656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Apagar: 48 campañas activas, 18.4 M mensajes al mes. Confirmar apagado: 232 que ya no envían, que no revivan.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Bajar frecuencia: 84. Proteger: 138. Escalar: 154.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Es un techo: supone apagar todo lo que tiene señal. WhatsApp cobrado por entregado; por enviado el ahorro sería el doble.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No incluye el costo fijo de Braze ni los MAU que dejan de contarse.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Si se apagan las 48 con señal y se segmentan las masivas, el ahorro es 1.6 M MXN al mes.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El ahorro sale de donde está el desperdicio: WhatsApp a mudos y bloqueados, email a quien nunca respondió, push repetido. Es un techo porque supone apagar todo lo que tiene señal.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1.6 M MXN al mes (19 M al año), 27 M mensajes menos al mes y cerca de 50 mil bajas menos al mes si se ejecuta en 30 días.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Aprobar el plan por campaña: 1.6 M MXN al mes es un techo, pero apagar las 48 con señal ya vale 1.16 M al mes y se hace en 30 días.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E. EL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Product Growth tiene 81 % del ahorro; Marketing tiene el mayor volumen a bajar frecuencia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Plan_accion P3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50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783080"/>
          <a:ext cx="6766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Product Growth: 1.04 M MXN al mes solo con Apagar (17 campañas, 9 M mensajes al mes).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Marketing: 23 a apagar y 23 WhatsApp a limpiar base (11.9 M MXN del periodo).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Sales: el ahorro está en rehacer 18 campañas activas de email a recurrentes.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Collections no entra: cobranza no se toca sin Legal.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El ahorro se reparte parejo entre equipos.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Product Growth concentra el WhatsApp a churn y el email Tasa0 masivo; Marketing tiene el volumen a bajar frecuencia (Referral, Newsletter, Rescate); Sales rehace su email. Collections no entra sin Legal.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Product Growth solo con apagar 17 campañas: 1.04 M MXN al mes desde la semana 1; Marketing 0.16 M y Sales 0.10 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Product Growth decide primero: 17 campañas a apagar valen 1.04 M MXN al mes. Marketing limpia la base de WhatsApp; Sales rehace su email.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E. EL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Diez piezas con acción concreta cubren 125 M envíos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Plan_accion P4; playbook sección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125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envíos cubiertos por diez acciones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6 de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se apagan o se confirma su apagado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14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mensajes menos al mes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11091671" cy="2103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2466"/>
                <a:gridCol w="1446739"/>
                <a:gridCol w="4822466"/>
              </a:tblGrid>
              <a:tr h="191192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Pieza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Acción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Qué cambia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B0211 Tasa0 a registrados (email, 34.9 M)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5342B"/>
                          </a:solidFill>
                          <a:latin typeface="Calibri"/>
                        </a:rPr>
                        <a:t>Apagar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Se deja en push acotado a quien abrió un push en 60 días, 2 toques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BillPay Intro (email, 16.1 M)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5342B"/>
                          </a:solidFill>
                          <a:latin typeface="Calibri"/>
                        </a:rPr>
                        <a:t>Confirmar apagado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Archivar; BillPay entra a las reglas de todos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B0223 NeverActive Installments (email, 13.5 M)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5342B"/>
                          </a:solidFill>
                          <a:latin typeface="Calibri"/>
                        </a:rPr>
                        <a:t>Apagar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Fríos solo con señal y solo Lending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B0391 RescateFinesDeSemana (push, 13.4 M)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8860B"/>
                          </a:solidFill>
                          <a:latin typeface="Calibri"/>
                        </a:rPr>
                        <a:t>Rehacer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Solo a quien abrió un push en 60 días; nunca a nuevos en fin de semana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B0000 Retargeting Veriff (email, 9.7 M)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8860B"/>
                          </a:solidFill>
                          <a:latin typeface="Calibri"/>
                        </a:rPr>
                        <a:t>Bajar frecuencia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De 2 emails al día a 1; funciona (3.04 %)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B0171 RescateTasa0 a anónimos (push, 8.9 M)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5342B"/>
                          </a:solidFill>
                          <a:latin typeface="Calibri"/>
                        </a:rPr>
                        <a:t>Apagar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Anónimos van por in-app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B0326 ReferralProgram (email, 15.5 M en dos)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5342B"/>
                          </a:solidFill>
                          <a:latin typeface="Calibri"/>
                        </a:rPr>
                        <a:t>Apagar y confirmar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Referidos a in-app y push a clientes activos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S0004 WeeklyRecommendations (email, 7.0 M)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8860B"/>
                          </a:solidFill>
                          <a:latin typeface="Calibri"/>
                        </a:rPr>
                        <a:t>Rehacer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Solo recurrentes KPay; quitar 57 mil REUS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B0335 PromocionesMerchants (email, 6.4 M)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8860B"/>
                          </a:solidFill>
                          <a:latin typeface="Calibri"/>
                        </a:rPr>
                        <a:t>Rehacer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Push y WhatsApp a recurrentes; email no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Canvas ConSinOferta B0331 a B0333 (19 Canvas, 734 mil usuarios)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B8860B"/>
                          </a:solidFill>
                          <a:latin typeface="Calibri"/>
                        </a:rPr>
                        <a:t>Rehacer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8 pasos, control 10 %, partidos por audiencia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cxnSp>
        <p:nvCxnSpPr>
          <p:cNvPr id="16" name="Connector 15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Si cada pieza tiene dueño y acción, 125 M envíos se corrigen en dos semanas.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Las diez piezas salen de las láminas anteriores: masivos sin segmento, repetidos y a quien no responde. Cada acción tiene una regla con datos detrás.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125 M envíos corregidos en dos semanas: cerca de 14 M mensajes menos al mes y 0.9 M MXN al mes del ahorro total.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Cada pieza tiene dueño y acción: se ejecuta en las semanas 1 y 2 del plan sin esperar la configuración de Braze.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E. EL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El playbook en 12 reglas evita que el desorden vuelva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Playbook de Braze para Kueski, versión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reglas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15 de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indicadores en rojo que atacan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grupo de control en toda pieza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2560320"/>
            <a:ext cx="310896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850">
                <a:solidFill>
                  <a:srgbClr val="1F4FD8"/>
                </a:solidFill>
                <a:latin typeface="Calibri"/>
              </a:rPr>
              <a:t>1.  </a:t>
            </a:r>
            <a:r>
              <a:rPr sz="850">
                <a:solidFill>
                  <a:srgbClr val="1A1D24"/>
                </a:solidFill>
                <a:latin typeface="Calibri"/>
              </a:rPr>
              <a:t>Una pieza se llama Ticket-Producto-Audiencia-Gancho. Sin ticket no se activa.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1F4FD8"/>
                </a:solidFill>
                <a:latin typeface="Calibri"/>
              </a:rPr>
              <a:t>2.  </a:t>
            </a:r>
            <a:r>
              <a:rPr sz="850">
                <a:solidFill>
                  <a:srgbClr val="1A1D24"/>
                </a:solidFill>
                <a:latin typeface="Calibri"/>
              </a:rPr>
              <a:t>No se le escribe a lista negra, REUS o ARCO, tarjeta congelada, dados de baja, WhatsApp fallido 3 veces ni a quien no respondió en 90 días.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1F4FD8"/>
                </a:solidFill>
                <a:latin typeface="Calibri"/>
              </a:rPr>
              <a:t>3.  </a:t>
            </a:r>
            <a:r>
              <a:rPr sz="850">
                <a:solidFill>
                  <a:srgbClr val="1A1D24"/>
                </a:solidFill>
                <a:latin typeface="Calibri"/>
              </a:rPr>
              <a:t>Máximo 2 toques de la misma pieza al mes. El segundo solo a quien no abrió el primero.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1F4FD8"/>
                </a:solidFill>
                <a:latin typeface="Calibri"/>
              </a:rPr>
              <a:t>4.  </a:t>
            </a:r>
            <a:r>
              <a:rPr sz="850">
                <a:solidFill>
                  <a:srgbClr val="1A1D24"/>
                </a:solidFill>
                <a:latin typeface="Calibri"/>
              </a:rPr>
              <a:t>Máximo 5 promocionales por semana, 2 piezas al día y 1 push al día.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1F4FD8"/>
                </a:solidFill>
                <a:latin typeface="Calibri"/>
              </a:rPr>
              <a:t>5.  </a:t>
            </a:r>
            <a:r>
              <a:rPr sz="850">
                <a:solidFill>
                  <a:srgbClr val="1A1D24"/>
                </a:solidFill>
                <a:latin typeface="Calibri"/>
              </a:rPr>
              <a:t>Se manda por el canal al que el usuario responde.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1F4FD8"/>
                </a:solidFill>
                <a:latin typeface="Calibri"/>
              </a:rPr>
              <a:t>6.  </a:t>
            </a:r>
            <a:r>
              <a:rPr sz="850">
                <a:solidFill>
                  <a:srgbClr val="1A1D24"/>
                </a:solidFill>
                <a:latin typeface="Calibri"/>
              </a:rPr>
              <a:t>WhatsApp solo a quien ya dio señal o a clientes activos. Nunca a bases frías.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60320"/>
            <a:ext cx="310896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850">
                <a:solidFill>
                  <a:srgbClr val="1F4FD8"/>
                </a:solidFill>
                <a:latin typeface="Calibri"/>
              </a:rPr>
              <a:t>7.  </a:t>
            </a:r>
            <a:r>
              <a:rPr sz="850">
                <a:solidFill>
                  <a:srgbClr val="1A1D24"/>
                </a:solidFill>
                <a:latin typeface="Calibri"/>
              </a:rPr>
              <a:t>Nada a toda la base. Más de 1 millón: prueba al 10 % y un segmento.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1F4FD8"/>
                </a:solidFill>
                <a:latin typeface="Calibri"/>
              </a:rPr>
              <a:t>8.  </a:t>
            </a:r>
            <a:r>
              <a:rPr sz="850">
                <a:solidFill>
                  <a:srgbClr val="1A1D24"/>
                </a:solidFill>
                <a:latin typeface="Calibri"/>
              </a:rPr>
              <a:t>El gancho principal es recordar algo que el usuario empezó.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1F4FD8"/>
                </a:solidFill>
                <a:latin typeface="Calibri"/>
              </a:rPr>
              <a:t>9.  </a:t>
            </a:r>
            <a:r>
              <a:rPr sz="850">
                <a:solidFill>
                  <a:srgbClr val="1A1D24"/>
                </a:solidFill>
                <a:latin typeface="Calibri"/>
              </a:rPr>
              <a:t>Referidos, lanzamientos y novedades van en in-app, no por email.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1F4FD8"/>
                </a:solidFill>
                <a:latin typeface="Calibri"/>
              </a:rPr>
              <a:t>10.  </a:t>
            </a:r>
            <a:r>
              <a:rPr sz="850">
                <a:solidFill>
                  <a:srgbClr val="1A1D24"/>
                </a:solidFill>
                <a:latin typeface="Calibri"/>
              </a:rPr>
              <a:t>A las 4 semanas se revisa. Debajo del mínimo del canal se apaga o se rehace.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1F4FD8"/>
                </a:solidFill>
                <a:latin typeface="Calibri"/>
              </a:rPr>
              <a:t>11.  </a:t>
            </a:r>
            <a:r>
              <a:rPr sz="850">
                <a:solidFill>
                  <a:srgbClr val="1A1D24"/>
                </a:solidFill>
                <a:latin typeface="Calibri"/>
              </a:rPr>
              <a:t>Toda pieza lleva grupo de control del 10 % con la opción nativa de Braze.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1F4FD8"/>
                </a:solidFill>
                <a:latin typeface="Calibri"/>
              </a:rPr>
              <a:t>12.  </a:t>
            </a:r>
            <a:r>
              <a:rPr sz="850">
                <a:solidFill>
                  <a:srgbClr val="1A1D24"/>
                </a:solidFill>
                <a:latin typeface="Calibri"/>
              </a:rPr>
              <a:t>Un Canvas tiene máximo 8 pasos y el usuario entra una sola vez.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El playbook completo tiene tablas de consulta por tipo de mensaje, día, mes, segmento, equipo y producto, un checklist de activación y un resolvedor web que arma la pieza con cinco respuestas.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Son sugerencias con datos, no reglas fijas: cada equipo las ajusta con sus pruebas.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Si las reglas viven en Braze (exclusiones, frequency cap, calendario), el desorden no vuelve.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OPERACIÓN Y CONFIGURACIÓN  </a:t>
            </a:r>
            <a:r>
              <a:rPr sz="850">
                <a:solidFill>
                  <a:srgbClr val="5B6270"/>
                </a:solidFill>
                <a:latin typeface="Calibri"/>
              </a:rPr>
              <a:t>El desorden viene de que cada equipo opera Braze por separado sin reglas comunes ni dueño: 5 equipos, 5 formas de nombrar, segmentar y mandar.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Las 12 reglas cubren las causas de 15 de los 19 indicadores en rojo; cargadas en Braze no dependen de que cada equipo se acuerde.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Las 12 reglas son el estándar de activación: ninguna pieza nueva sale sin cumplirlas (checklist de la sección 7 del playbook).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E. EL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Qué mandar por tipo: el canal, el día y las veces ya están decididos con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Playbook de Braze para Kueski, sección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tipos de mensaje con canal, día y veces decididos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3.09 %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clic de un recordatorio por email, el gancho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toques máximo; el segundo solo a quien no abrió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11091670" cy="2103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9414"/>
                <a:gridCol w="3834158"/>
                <a:gridCol w="2533283"/>
                <a:gridCol w="1985546"/>
                <a:gridCol w="479269"/>
              </a:tblGrid>
              <a:tr h="233679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Vas a mandar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Canal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Día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Veces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Retargeting de algo empezado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Email y push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Martes a jueves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2 en 7 días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Bienvenida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Email día 1, luego push e in-app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El día que entra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 al día, 3 la primera semana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Oferta de crédito (Tasa 0)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Push a quien abrió push en 60 días; WhatsApp solo detrás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Martes a jueves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2 al mes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Descuento o comercio KPay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Push y WhatsApp a recurrentes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Sábado WhatsApp; martes a jueves push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2 por evento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Referidos, lanzamiento, novedades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In-app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Cualquiera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Reactivación de fríos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Push barato; WhatsApp solo con señal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Martes a jueves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3 en 30 días y sale 90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Encuesta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In-app o email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Martes a jueves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Cobranza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El del proceso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Según el proceso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Según el proceso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cxnSp>
        <p:nvCxnSpPr>
          <p:cNvPr id="16" name="Connector 15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El canal, el día y la frecuencia de cada tipo de mensaje se decide con datos, no por costumbre.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CANAL EQUIVOCADO  </a:t>
            </a:r>
            <a:r>
              <a:rPr sz="850">
                <a:solidFill>
                  <a:srgbClr val="5B6270"/>
                </a:solidFill>
                <a:latin typeface="Calibri"/>
              </a:rPr>
              <a:t>Hoy cada equipo elige canal y día por costumbre; los datos de respuesta por tipo, canal y tamaño ya dicen qué funciona.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Cada pieza nueva nace con canal, día y veces decididos: respuesta esperada por tipo entre 1.5 y 5 %, no 0.2 a 0.5 %.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El equipo ya no decide canal, día ni frecuencia pieza por pieza: lo toma de esta tabla y solo prueba lo que quiera cambiar.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E. EL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Dieciocho ajustes de Braze que se configuran una vez y protegen todo lo demás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Playbook de Braze para Kueski, sección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ajustes que se configuran una vez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5 / 2 /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promocionales por semana, piezas al día, push al día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grupo de control nativo en toda pieza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6766558" cy="2103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326"/>
                <a:gridCol w="2920817"/>
                <a:gridCol w="2677415"/>
              </a:tblGrid>
              <a:tr h="191192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Ajuste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Cómo se deja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Frequency capping global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5 promocionales por semana, 2 piezas al día, 1 push al día, 1 WhatsApp al mes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9 % de los usuario-días reciben 3 o más piezas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Grupo de control nativo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10 % en toda pieza promocional, 5 % si pasa de 1 M, conversión a 7 días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Hoy no hay ninguno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Horas de silencio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21:00 a 9:00 hora del usuario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No hay hora en Databricks; es la única protección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Re-elegibilidad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Apagada en lifecycle y oferta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Causa probable de 17 a 31 envíos de la misma pieza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Salida del Canvas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Al convertir, al darse de baja o a los 30 días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Hoy sigue mandando después de convertir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Caducidad del push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24 horas promocional, 72 cobranza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Un push de dos días después se abre como spam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Centro de preferencias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 grupos de suscripción y baja total en el pie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3.1 bajas por mil; hoy la única opción es irse del todo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Calidad de WhatsApp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Un número por tipo, plantillas con categoría correcta, pausa si baja la calidad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 de 4 no llega y se paga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Roles y permisos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Editor crea, aprobador activa, nadie activa lo que creó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171 pruebas llegaron a usuarios reales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Currents a Databricks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Hora de envío, dispositivo, rebotes y quejas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Hoy no se puede medir hora ni rebotes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Los otros 8: Intelligent Timing y Channel a prueba contra control, permiso de notificaciones in-app, dominio de email con SPF, DKIM y DMARC, Liquid con valor por defecto, prioridad de in-app, catálogos, MAU y puntos de datos, nombre y tags obligatorios.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Si los ajustes se configuran una vez a nivel cuenta, protegen todas las piezas sin depender de cada equipo.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OPERACIÓN Y CONFIGURACIÓN  </a:t>
            </a:r>
            <a:r>
              <a:rPr sz="850">
                <a:solidFill>
                  <a:srgbClr val="5B6270"/>
                </a:solidFill>
                <a:latin typeface="Calibri"/>
              </a:rPr>
              <a:t>Los 18 ajustes atacan las causas de las láminas anteriores: exclusiones, frequency cap, canal preferido, grupo de control, validación de número. Hoy ninguno está activo.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Frequency cap, exclusiones y control nativo protegen el 100 % de las piezas desde el día que se configuran; el ahorro deja de depender de revisar pieza por pieza.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Los 10 primeros ajustes se configuran en la semana 2 y protegen todo aunque una pieza salga mal: tope de frecuencia, control, silencio y exclusiones.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E. EL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Un dueño por cosa y un calendario único: así se sostiene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Playbook de Braze para Kueski, sección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dueño por nombre, segmento, calendario y pieza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30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comité quincenal para 'Todos' y más de 1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2 meses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en rojo abren un ticket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67665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</a:tblGrid>
              <a:tr h="25603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Qué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Dueño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Cómo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Nombres, tags, suscripciones, plantillas, exclusiones, frequency cap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MarTech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Nadie activa una pieza que no cumpla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Calendario y estándares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CRM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Una vista compartida: fecha, equipo, pieza, audiencia, canal, gancho, tamaño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Cada familia de segmentos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Marketing (embudo), Lending (nuevos, activos, fríos), Sales (comercios), Collections (mora)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Un segmento nuevo se pide en el ticket y lo aprueba el dueño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Cada pieza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El ticket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Un dueño, un evento de conversión, un grupo de control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Piezas a Todos, más de 1 M, cambios a exclusiones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Comité quincenal de 30 minutos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Se defienden con grupo de control, no con opinión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Excepciones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Comité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Con fecha de fin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Indicador en rojo dos meses seguidos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El equipo que lo mueve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Abre un ticket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Cada mes: semana 1 datos y lift, semana 2 plan de acción y limpieza, semana 3 calendario del mes siguiente, semana 4 piezas nuevas con checklist.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Cada trimestre: archivar segmentos, tags y plantillas sin uso; actualizar el playbook.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Con dueño por segmento, pieza y calendario, los choques y masivos sin segmento desaparecen.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SOLAPE ENTRE FAMILIAS Y EQUIPOS  </a:t>
            </a:r>
            <a:r>
              <a:rPr sz="850">
                <a:solidFill>
                  <a:srgbClr val="5B6270"/>
                </a:solidFill>
                <a:latin typeface="Calibri"/>
              </a:rPr>
              <a:t>Los choques y repeticiones vienen de que nadie es dueño del calendario ni de los segmentos: 481 combinaciones de segmento sin dueño y piezas a 'Todos' que se activan sin ver las del otro equipo.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Con calendario y comité quincenal no hay dos piezas a 'Todos' el mismo día: los choques de 3 o más campañas (9 % de los usuario-días, 24 % de los mensajes) bajan a cero por diseño.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Sin dueño no se sostiene: Dirección nombra esta semana a MarTech, CRM y un dueño por familia de segmentos.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E. EL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Plan a 90 días: limpiar en 30, configurar en 60, medir en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Plan de acción y playbook secciones 6, 9 y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30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limpiar: apagar 48, pausar 171, 7 exclusiones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60 días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configurar: frequency cap, control, segmentos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90 días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medir: primer lift y primera prueba A/B por equipo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754879" y="2560320"/>
            <a:ext cx="112699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5B6270"/>
                </a:solidFill>
                <a:latin typeface="Calibri"/>
              </a:rPr>
              <a:t>Semanas 1 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1877" y="2560320"/>
            <a:ext cx="112699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5B6270"/>
                </a:solidFill>
                <a:latin typeface="Calibri"/>
              </a:rPr>
              <a:t>Semanas 3 y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8876" y="2560320"/>
            <a:ext cx="112699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5B6270"/>
                </a:solidFill>
                <a:latin typeface="Calibri"/>
              </a:rPr>
              <a:t>Mes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5874" y="2560320"/>
            <a:ext cx="112699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5B6270"/>
                </a:solidFill>
                <a:latin typeface="Calibri"/>
              </a:rPr>
              <a:t>Mes 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2852927"/>
            <a:ext cx="11091672" cy="0"/>
          </a:xfrm>
          <a:prstGeom prst="line">
            <a:avLst/>
          </a:prstGeom>
          <a:ln>
            <a:solidFill>
              <a:srgbClr val="1A1D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2926079"/>
            <a:ext cx="41148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50" b="1">
                <a:solidFill>
                  <a:srgbClr val="1A1D24"/>
                </a:solidFill>
                <a:latin typeface="Calibri"/>
              </a:rPr>
              <a:t>Apagar 48 campañas y pausar 171 pruebas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28031" y="2982315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2926079"/>
            <a:ext cx="22860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B6270"/>
                </a:solidFill>
                <a:latin typeface="Calibri"/>
              </a:rPr>
              <a:t>Cada equipo con MarTech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311353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13532"/>
            <a:ext cx="41148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50" b="1">
                <a:solidFill>
                  <a:srgbClr val="1A1D24"/>
                </a:solidFill>
                <a:latin typeface="Calibri"/>
              </a:rPr>
              <a:t>Confirmar 232 apagados y limpiar base de WhatsApp (56)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28031" y="3169767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55029" y="3169767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3113532"/>
            <a:ext cx="22860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B6270"/>
                </a:solidFill>
                <a:latin typeface="Calibri"/>
              </a:rPr>
              <a:t>MarTech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3300984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3300984"/>
            <a:ext cx="41148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50" b="1">
                <a:solidFill>
                  <a:srgbClr val="1A1D24"/>
                </a:solidFill>
                <a:latin typeface="Calibri"/>
              </a:rPr>
              <a:t>7 exclusiones como filtro negativo en todo lo promocional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28031" y="3357219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55029" y="3357219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54312" y="3300984"/>
            <a:ext cx="22860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B6270"/>
                </a:solidFill>
                <a:latin typeface="Calibri"/>
              </a:rPr>
              <a:t>MarTech con Legal y Riesgo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3488436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3488435"/>
            <a:ext cx="41148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50" b="1">
                <a:solidFill>
                  <a:srgbClr val="1A1D24"/>
                </a:solidFill>
                <a:latin typeface="Calibri"/>
              </a:rPr>
              <a:t>Frequency cap, horas de silencio, TTL, re-elegibilidad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55029" y="3544671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54312" y="3488435"/>
            <a:ext cx="22860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B6270"/>
                </a:solidFill>
                <a:latin typeface="Calibri"/>
              </a:rPr>
              <a:t>MarTech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3675887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3675887"/>
            <a:ext cx="41148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50" b="1">
                <a:solidFill>
                  <a:srgbClr val="1A1D24"/>
                </a:solidFill>
                <a:latin typeface="Calibri"/>
              </a:rPr>
              <a:t>Rehacer 62 campañas activas con señal, 8 pasos y control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55029" y="3732123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082028" y="3732123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54312" y="3675887"/>
            <a:ext cx="22860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B6270"/>
                </a:solidFill>
                <a:latin typeface="Calibri"/>
              </a:rPr>
              <a:t>Dueños con ticket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8640" y="3863339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8640" y="3863339"/>
            <a:ext cx="41148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50" b="1">
                <a:solidFill>
                  <a:srgbClr val="1A1D24"/>
                </a:solidFill>
                <a:latin typeface="Calibri"/>
              </a:rPr>
              <a:t>30 segmentos maestros, nombres y tags; roles de aprobación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55029" y="3919575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082028" y="3919575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54312" y="3863339"/>
            <a:ext cx="22860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B6270"/>
                </a:solidFill>
                <a:latin typeface="Calibri"/>
              </a:rPr>
              <a:t>MarTech y dueños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48640" y="4050791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8640" y="4050791"/>
            <a:ext cx="41148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50" b="1">
                <a:solidFill>
                  <a:srgbClr val="1A1D24"/>
                </a:solidFill>
                <a:latin typeface="Calibri"/>
              </a:rPr>
              <a:t>Calendario único y comité quincenal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55029" y="4107027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82028" y="4107027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09026" y="4107027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54312" y="4050791"/>
            <a:ext cx="22860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B6270"/>
                </a:solidFill>
                <a:latin typeface="Calibri"/>
              </a:rPr>
              <a:t>CRM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48640" y="4238244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48640" y="4238244"/>
            <a:ext cx="41148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50" b="1">
                <a:solidFill>
                  <a:srgbClr val="1A1D24"/>
                </a:solidFill>
                <a:latin typeface="Calibri"/>
              </a:rPr>
              <a:t>Leer el lift a 4 semanas; apagar lo que da cero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82028" y="4294479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09026" y="4294479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54312" y="4238244"/>
            <a:ext cx="22860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B6270"/>
                </a:solidFill>
                <a:latin typeface="Calibri"/>
              </a:rPr>
              <a:t>CRM con cada equipo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48640" y="4425696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48640" y="4425696"/>
            <a:ext cx="41148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50" b="1">
                <a:solidFill>
                  <a:srgbClr val="1A1D24"/>
                </a:solidFill>
                <a:latin typeface="Calibri"/>
              </a:rPr>
              <a:t>Primera prueba A/B por equipo (día, asunto, monto)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82028" y="4481931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209026" y="4481931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354312" y="4425696"/>
            <a:ext cx="22860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B6270"/>
                </a:solidFill>
                <a:latin typeface="Calibri"/>
              </a:rPr>
              <a:t>Cada equipo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48640" y="46131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48640" y="4613148"/>
            <a:ext cx="41148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50" b="1">
                <a:solidFill>
                  <a:srgbClr val="1A1D24"/>
                </a:solidFill>
                <a:latin typeface="Calibri"/>
              </a:rPr>
              <a:t>Hora, dispositivo y rebotes de Currents a Databricks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082028" y="4669383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09026" y="4669383"/>
            <a:ext cx="980694" cy="7498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54312" y="4613148"/>
            <a:ext cx="2286000" cy="1874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B6270"/>
                </a:solidFill>
                <a:latin typeface="Calibri"/>
              </a:rPr>
              <a:t>Datos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48640" y="480060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Limpiar primero (apagar), configurar después (Braze) y medir al final (control) da resultados desde el primer mes.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OPERACIÓN Y CONFIGURACIÓN  </a:t>
            </a:r>
            <a:r>
              <a:rPr sz="850">
                <a:solidFill>
                  <a:srgbClr val="5B6270"/>
                </a:solidFill>
                <a:latin typeface="Calibri"/>
              </a:rPr>
              <a:t>El orden sigue a la causa: el desperdicio se apaga sin configurar nada; las reglas evitan que vuelva; el control mide lo que queda.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Mes 1: cerca de 1.0 M MXN al mes de ahorro solo con apagar. Mes 2: reglas en Braze. Mes 3: primer lift medido.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Limpiar en 30 días captura el ahorro grande; configurar en 60 evita que vuelva; medir en 90 permite demostrar cuánto vende Braze.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E. EL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No hacer nada cuesta 19 M MXN al año y 50 mil bajas al 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Plan_accion P2, B_Canales B2, J_Canal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57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310896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92807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19.2 M MXN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96312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al año en campañas con señal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0720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1.6 M al mes que ya se sabe que no responden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783080"/>
            <a:ext cx="310896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1892807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50 mil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96312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bajas de email al 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80720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457 mil usuario-mes en 9 meses; 2.2 % de la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91839"/>
            <a:ext cx="310896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40156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14.2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05072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usuarios que no responden a nada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1596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siguen contando como MAU facturable si reciben algo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291839"/>
            <a:ext cx="3108960" cy="36576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0" y="340156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F4FD8"/>
                </a:solidFill>
                <a:latin typeface="Calibr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005072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A1D24"/>
                </a:solidFill>
                <a:latin typeface="Calibri"/>
              </a:rPr>
              <a:t>piezas con lift medido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315968"/>
            <a:ext cx="3108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sin control, cada discusión sigue siendo de opinión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Las bajas no se recuperan: cada usuario que se da de baja de email deja de ser alcanzable por el canal más barato.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WhatsApp a números que no reciben degrada la calidad del número ante Meta y baja el tope diario.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El costo fijo de Braze (MAU y puntos de datos) crece con usuarios que no responden.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Si no se actúa, el costo y las bajas siguen al ritmo de junio a septiembre.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19 M MXN al año salen del costo variable actual de mensajes a mudos, bloqueados y repetidos; 50 mil bajas al mes salen de los masivos a Leads y 'Todos'.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Cada mes sin actuar cuesta 1.6 M MXN y 50 mil usuarios que dejan de ser alcanzables por email; en un año, 19 M MXN y 600 mil bajas evitables.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Cada mes sin actuar cuesta 1.6 M MXN y 50 mil usuarios que dejan de ser alcanzables. La decisión es esta semana, no el próximo trimestre.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E. EL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Lo que todavía no sabemos y qué dato lo resuelve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Playbook y Sheets, pestaña Léeme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preguntas abiertas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6 de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se resuelven con datos que ya existen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depende de Finanzas: el costo fijo de Braze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11091670" cy="2103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0625"/>
                <a:gridCol w="2713070"/>
                <a:gridCol w="4707975"/>
              </a:tblGrid>
              <a:tr h="233679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Qué hace falta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Cuánto vende Braze de verdad (lift)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No medible hoy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Grupos de control desde el día uno; se lee a las 4 semanas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Hora del día que funciona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No medible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Agregar hora del envío desde Currents; mientras, prueba A/B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iOS contra Android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Sí se puede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Correr la query E18c sobre braze.int_communications_joined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Rebotes y quejas de spam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No están en Databricks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Eventos de Currents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Tags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No están en Databricks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Exportar la lista de campañas con tags desde Braze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Banderas de contactabilidad del golden dataset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No coinciden con el comportamiento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Datos define fecha y fuente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Costo fijo de Braze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Significado de 7,020 USD al mes y 32,474 créditos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Región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No está en ninguna tabla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Atributo de usuario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cxnSp>
        <p:nvCxnSpPr>
          <p:cNvPr id="16" name="Connector 15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Cada pregunta abierta tiene un dato que la resuelve.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SIN MEDICIÓN  </a:t>
            </a:r>
            <a:r>
              <a:rPr sz="850">
                <a:solidFill>
                  <a:srgbClr val="5B6270"/>
                </a:solidFill>
                <a:latin typeface="Calibri"/>
              </a:rPr>
              <a:t>Lo que falta no es análisis sino datos que hoy no existen: costo fijo de Braze, grupo de control, hora de envío, rebotes, canal preferido.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Con hora, dispositivo y rebotes en Databricks y control en Braze, en 60 días se responden 6 de las 8 preguntas.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Tres datos (hora, dispositivo, rebotes) y el costo fijo de Braze cierran lo que falta: se piden a Datos y Finanzas en las semanas 1 y 2.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E. EL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Próximos pasos: quién hace qué esta semana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Plan de acción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tareas con dueño esta semana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campañas a apagar en la semana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exclusiones a cargar en la semana 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11091670" cy="2103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55003"/>
                <a:gridCol w="3216584"/>
                <a:gridCol w="1220083"/>
              </a:tblGrid>
              <a:tr h="233679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Qué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Quién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Cuándo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Aprobar el plan de acción por campaña (582) y el playbook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Dirección y líderes de equipo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Esta semana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Apagar las 48 campañas con señal y pausar las 171 pruebas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Cada equipo con MarTech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Semana 1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Cargar las 7 exclusiones y el frequency cap en Braze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MarTech con Legal y Riesgo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Semana 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Nombrar dueños: MarTech, CRM y uno por familia de segmentos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Dirección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Semana 1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Confirmar el costo fijo de Braze y la base de cobro de WhatsApp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Finanzas y MarTech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Semana 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Pedir a Datos hora, dispositivo y rebotes en Databricks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CRM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Semana 2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Primer comité quincenal con el calendario de noviembre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CRM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Semana 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Primer corte mensual del Sheets con el plan ejecutado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Datos y CRM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Mes 2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cxnSp>
        <p:nvCxnSpPr>
          <p:cNvPr id="16" name="Connector 15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Si cada tarea tiene dueño y fecha esta semana, el plan de 30 días arranca sin esperar a Braze.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OPERACIÓN Y CONFIGURACIÓN  </a:t>
            </a:r>
            <a:r>
              <a:rPr sz="850">
                <a:solidFill>
                  <a:srgbClr val="5B6270"/>
                </a:solidFill>
                <a:latin typeface="Calibri"/>
              </a:rPr>
              <a:t>Las tareas de la semana atacan las causas con más peso: masivos sin segmento, WhatsApp a quien no lee, exclusiones, pruebas a usuarios reales.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Si las 8 tareas se cumplen, el ahorro empieza en la semana 1 y el primer lift se lee en el mes 2.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Ocho acciones con dueño y fecha: si se aprueban hoy, el ahorro empieza en la semana 1.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1280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Anexo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91440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Método, estándares y datos de apoyo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ANEXO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Método: 18 extracciones agregadas de Databricks, un modelo en Sheets con fórmulas vivas y 471 verificaciones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Léeme, Parámetros, Verificación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extracciones agregadas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471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verificaciones en el Sheets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datos personales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6766559" cy="2103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106"/>
                <a:gridCol w="3759200"/>
                <a:gridCol w="1942253"/>
              </a:tblGrid>
              <a:tr h="233679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Extracción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Qué trae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B6270"/>
                          </a:solidFill>
                          <a:latin typeface="Calibri"/>
                        </a:rPr>
                        <a:t>Lente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E1, E2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Comunicación por mes y canal; catálogo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Campañas, Catálogo, Plan_accion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E3, E4a, E4b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Distribución por usuario; serie semanal y mensual; concentración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Presión, canales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E5, E5b, E8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Cohorte de baja; qué llega después; días hasta la baja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Bajas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E6a, E6b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Solape por usuario-día; pares de familias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Solapamiento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E7a, E7b, E7c, E9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Etapa del golden dataset; canal al que responde; abren contra no abren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Segmentación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E10, E11, E12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Día de la semana; segmentos reales; antigüedad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N, P, 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E13, E14, E15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Grupos de control; experimentos; pasos de Canvas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Q, R, 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1D24"/>
                          </a:solidFill>
                          <a:latin typeface="Calibri"/>
                        </a:rPr>
                        <a:t>E16, E17, E18b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Sin respuesta; canal contactable; llave de dispositivo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1D24"/>
                          </a:solidFill>
                          <a:latin typeface="Calibri"/>
                        </a:rPr>
                        <a:t>T, U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Respuesta: clic en email, apertura en push, lectura en WhatsApp, clic en in-app.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Familia: la pieza con todas sus versiones. Campaña: familia por canal.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Costos: email 0.05 MXN por enviado, WhatsApp 1.00 por entregado (parámetro editable).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Equipo, audiencia y gancho se leen del nombre; 17 % cae en 'otros'.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El modelo se puede reproducir y auditar sin acceso a Braze.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MÉTODO  </a:t>
            </a:r>
            <a:r>
              <a:rPr sz="850">
                <a:solidFill>
                  <a:srgbClr val="5B6270"/>
                </a:solidFill>
                <a:latin typeface="Calibri"/>
              </a:rPr>
              <a:t>Todo sale de extracciones agregadas de Databricks; cambiar un parámetro recalcula el plan y las 471 verificaciones detectan si algo no cuadra.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Cualquier cambio de parámetro (costo, mínimo, ventana) recalcula el plan y las láminas en minutos.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Todo es reproducible: cambiar un parámetro (por ejemplo el costo de WhatsApp) recalcula el plan completo.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ANEXO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Estándares: los 24 indicadores con su valor actual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Estándares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indicadores con definición y fórmula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debajo del estándar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cumplen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11091668" cy="21031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1512"/>
                <a:gridCol w="515891"/>
                <a:gridCol w="773837"/>
                <a:gridCol w="1289729"/>
                <a:gridCol w="2665440"/>
                <a:gridCol w="1375711"/>
                <a:gridCol w="1633657"/>
                <a:gridCol w="515891"/>
              </a:tblGrid>
              <a:tr h="161778">
                <a:tc>
                  <a:txBody>
                    <a:bodyPr wrap="square"/>
                    <a:lstStyle/>
                    <a:p>
                      <a:r>
                        <a:rPr sz="650" b="1">
                          <a:solidFill>
                            <a:srgbClr val="5B6270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650" b="1">
                          <a:solidFill>
                            <a:srgbClr val="5B6270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650" b="1">
                          <a:solidFill>
                            <a:srgbClr val="5B6270"/>
                          </a:solidFill>
                          <a:latin typeface="Calibri"/>
                        </a:rPr>
                        <a:t>Estándar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650" b="1">
                          <a:solidFill>
                            <a:srgbClr val="5B6270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650" b="1">
                          <a:solidFill>
                            <a:srgbClr val="5B6270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650" b="1">
                          <a:solidFill>
                            <a:srgbClr val="5B6270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650" b="1">
                          <a:solidFill>
                            <a:srgbClr val="5B6270"/>
                          </a:solidFill>
                          <a:latin typeface="Calibri"/>
                        </a:rPr>
                        <a:t>Estándar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650" b="1">
                          <a:solidFill>
                            <a:srgbClr val="5B6270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Entrega de email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95.1 %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95 %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2C7A4B"/>
                          </a:solidFill>
                          <a:latin typeface="Calibri"/>
                        </a:rPr>
                        <a:t>Cumple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Mensajes a canal mudo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59 %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20 %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Apertura de email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23.6 %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15 a 25 %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2C7A4B"/>
                          </a:solidFill>
                          <a:latin typeface="Calibri"/>
                        </a:rPr>
                        <a:t>Cumple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Usuarios sin respuesta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73 %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50 %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Clic de email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0.92 %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1.5 %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Promo a etapas bloqueadas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43.8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Bajas por mil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3.13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Promo a dados de baja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79,994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Apertura de push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1.53 %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3 %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Dados de baja que reciben email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16 %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Entrega de WhatsApp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74 %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90 %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Email activo a 1 M o más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2C7A4B"/>
                          </a:solidFill>
                          <a:latin typeface="Calibri"/>
                        </a:rPr>
                        <a:t>Cumple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Lectura de WhatsApp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69 %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70 %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8860B"/>
                          </a:solidFill>
                          <a:latin typeface="Calibri"/>
                        </a:rPr>
                        <a:t>Debajo por poco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Activas debajo del mínimo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Clic de in-app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38 %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5 a 20 %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2C7A4B"/>
                          </a:solidFill>
                          <a:latin typeface="Calibri"/>
                        </a:rPr>
                        <a:t>Cumple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Canvas con control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 de 3,228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Todos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Toques por pieza al mes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1.71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2C7A4B"/>
                          </a:solidFill>
                          <a:latin typeface="Calibri"/>
                        </a:rPr>
                        <a:t>Cumple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Envíos con ticket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87 %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Mensajes por usuario al mes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10.4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2C7A4B"/>
                          </a:solidFill>
                          <a:latin typeface="Calibri"/>
                        </a:rPr>
                        <a:t>Cumple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Pruebas A/B en 9 meses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 por equipo al mes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Usuarios con 41+ al mes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5.3 %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Canvas con más de 8 pasos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45 con más de 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16177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1A1D24"/>
                          </a:solidFill>
                          <a:latin typeface="Calibri"/>
                        </a:rPr>
                        <a:t>Usuario-días con 3+ piezas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9.0 %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2C7A4B"/>
                          </a:solidFill>
                          <a:latin typeface="Calibri"/>
                        </a:rPr>
                        <a:t>Cumple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Pasos con menos de 1 %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477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A1D2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B5342B"/>
                          </a:solidFill>
                          <a:latin typeface="Calibri"/>
                        </a:rPr>
                        <a:t>Debajo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cxnSp>
        <p:nvCxnSpPr>
          <p:cNvPr id="16" name="Connector 15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Los estándares son el piso de la industria, no una meta de Kueski.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MÉTODO  </a:t>
            </a:r>
            <a:r>
              <a:rPr sz="850">
                <a:solidFill>
                  <a:srgbClr val="5B6270"/>
                </a:solidFill>
                <a:latin typeface="Calibri"/>
              </a:rPr>
              <a:t>Cada indicador en rojo tiene una lámina que atribuye la causa: masivos sin segmento, frecuencia, canal mudo, falta de control.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Con las 12 reglas, en 90 días 10 de los 19 en rojo pueden pasar a verde.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Los estándares son editables: cambiarlos cambia el semáforo de toda la auditoría, no las conclusiones.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ANEXO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Por mes: envíos, respuesta, bajas y costo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B_Canales B1 (E4a)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109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envíos en junio, el doble de enero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0.67 %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clic de email en junio, el peor del año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2.12 %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apertura de push en septiembre, la mejor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11091668" cy="2103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15"/>
                <a:gridCol w="732468"/>
                <a:gridCol w="1046384"/>
                <a:gridCol w="1360299"/>
                <a:gridCol w="1778853"/>
                <a:gridCol w="1046384"/>
                <a:gridCol w="1046384"/>
                <a:gridCol w="1151022"/>
                <a:gridCol w="1674214"/>
                <a:gridCol w="941745"/>
              </a:tblGrid>
              <a:tr h="210311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Envíos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Clic email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Apertura push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WhatsApp enviados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Entrega WA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Lectura WA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Clic in-app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Bajas (usuarios)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Costo MXN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Ene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58.7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1.20 %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1.83 %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5.6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48 %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69,226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7.4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67.5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0.88 %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1.43 %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7.8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77 %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73 %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19 %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57,965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9.5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67.8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1.03 %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1.81 %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10.4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74 %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72 %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24 %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50,413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12.2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Abr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64.3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0.98 %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1.53 %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5.9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69 %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66 %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36 %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38,422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7.6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85.0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0.86 %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1.28 %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6.1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67 %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67 %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47 %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38,034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8.1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109.0 M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0.67 %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1.05 %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7.1 M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74 %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67 %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45 %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63,425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9.7 M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Jul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71.7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1.00 %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1.77 %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4.8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73 %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62 %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37 %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52,912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6.4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Ago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78.0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0.95 %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1.57 %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4.4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64 %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42 %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50,340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6.1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Sep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65.6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0.92 %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2.12 %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3.2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77 %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64 %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42 %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36,639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5.0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16" name="Connector 15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Junio es el mes que no se debe repetir; septiembre, el que sí.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SATURACIÓN: MUCHAS PIEZAS EL MISMO DÍA  </a:t>
            </a:r>
            <a:r>
              <a:rPr sz="850">
                <a:solidFill>
                  <a:srgbClr val="5B6270"/>
                </a:solidFill>
                <a:latin typeface="Calibri"/>
              </a:rPr>
              <a:t>Junio concentra las piezas nuevas de push, BillPay Intro por email y el pico de bajas; septiembre tiene menos volumen y mejor respuesta.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Repetir septiembre y no junio: 65 M al mes con 2.1 % de apertura de push y 5 M MXN de costo, contra 109 M, 1.05 % y 9.7 M MXN.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Junio es el mes de referencia de lo que no se debe repetir; septiembre, de lo que sí.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ANEXO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Por día de la semana: volumen, respuesta y bajas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N_DiaSemana (E10)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18.6 %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de los envíos salen el lunes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0.65 %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clic de email del lunes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1.91 %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clic del domingo, con piezas chicas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6766555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141"/>
                <a:gridCol w="478443"/>
                <a:gridCol w="751840"/>
                <a:gridCol w="683490"/>
                <a:gridCol w="888538"/>
                <a:gridCol w="888538"/>
                <a:gridCol w="683490"/>
                <a:gridCol w="683490"/>
                <a:gridCol w="1093585"/>
              </a:tblGrid>
              <a:tr h="256032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Día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Envíos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% del total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Clic email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Bajas por mil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Apertura push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Entrega WA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Lectura WA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Conv. WA por mil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Domingo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51.2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7.7 %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1.91 %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1.26 %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87 %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89 %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Lunes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124.0 M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18.6 %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0.65 %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2.3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1.63 %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72 %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66 %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>
                    <a:solidFill>
                      <a:srgbClr val="E4EAFB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Martes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113.6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17.0 %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0.82 %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3.2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1.56 %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67 %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Miércoles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92.2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13.8 %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1.01 %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4.1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1.63 %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73 %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70 %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Jueves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110.0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16.5 %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0.95 %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3.6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1.53 %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66 %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Viernes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111.7 M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16.7 %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0.82 %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2.8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1.64 %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71 %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70 %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Sábado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64.7 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9.7 %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1.58 %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1.44 %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82 %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82 %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Clic de email por equipo y día: Marketing 1.00 % lunes contra 1.66 % domingo; Product Growth 0.29 % lunes contra 1.53 % domingo; Sales 0.15 a 0.38 % todos los días.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Compara la misma pieza en dos días antes de concluir.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El día de la semana no explica la respuesta.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AUDIENCIA SIN SEGMENTO  </a:t>
            </a:r>
            <a:r>
              <a:rPr sz="850">
                <a:solidFill>
                  <a:srgbClr val="5B6270"/>
                </a:solidFill>
                <a:latin typeface="Calibri"/>
              </a:rPr>
              <a:t>El tamaño de la pieza por día sí: el lunes salen las masivas de Product Growth y Marketing; el fin de semana, las segmentadas.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Regla de tamaño por pieza, no de día: el lunes responde como el resto de la semana.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El día importa menos que la pieza y la audiencia: compara la misma pieza en dos días antes de mover el calendario.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ANEXO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Segmentos registrados en Braze: pocos concentran el volumen y 13 % no se rastrea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P_Segmentos (E11)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65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783080"/>
          <a:ext cx="6766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1783080"/>
            <a:ext cx="4069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41 valores de segmento, 330 de subsegmento y 62 de grupo forman 481 combinaciones. El subsegmento se usa como nombre de la oferta, no como audiencia.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Lo mismo escrito de varias formas: Comercio del día en 11 valores, Cuponera en 8, SoftInactive con error de dedo.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Propuesta: 30 segmentos maestros SEG-Producto-Audiencia con dueño y 7 exclusiones EXC-.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Los segmentos de Braze reflejan a quién se manda.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OPERACIÓN Y CONFIGURACIÓN  </a:t>
            </a:r>
            <a:r>
              <a:rPr sz="850">
                <a:solidFill>
                  <a:srgbClr val="5B6270"/>
                </a:solidFill>
                <a:latin typeface="Calibri"/>
              </a:rPr>
              <a:t>13 % del volumen no se rastrea y pocos segmentos concentran el volumen: los segmentos no tienen dueño ni nomenclatura.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Etiquetar Not Tracked (85 M) y 30 segmentos maestros: 100 % del volumen con segmento auditable.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30 segmentos maestros con dueño sustituyen 481 combinaciones: así los segmentos y tags se pueden auditar.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228600"/>
            <a:ext cx="3566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ANEXO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A1D24"/>
                </a:solidFill>
                <a:latin typeface="Calibri"/>
              </a:rPr>
              <a:t>Supuestos y dónde está cada cosa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731520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09B"/>
                </a:solidFill>
                <a:latin typeface="Calibri"/>
              </a:rPr>
              <a:t>Fuente: Sheets braze_auditoria_v4, Léeme y Parámetros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411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8A909B"/>
                </a:solidFill>
                <a:latin typeface="Calibri"/>
              </a:rPr>
              <a:t>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0.05 y 1.00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MXN por email enviado y por WhatsApp entregado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5864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7 días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64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ventana de conversión, solo como referencia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088" y="1737360"/>
            <a:ext cx="3422904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F4FD8"/>
                </a:solidFill>
                <a:latin typeface="Calibri"/>
              </a:rPr>
              <a:t>37 %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3088" y="2130552"/>
            <a:ext cx="342290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5B6270"/>
                </a:solidFill>
                <a:latin typeface="Calibri"/>
              </a:rPr>
              <a:t>de los envíos cubre el golden dataset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450592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560320"/>
          <a:ext cx="6766559" cy="2103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2996"/>
                <a:gridCol w="4613563"/>
              </a:tblGrid>
              <a:tr h="210311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Supuesto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5B6270"/>
                          </a:solidFill>
                          <a:latin typeface="Calibri"/>
                        </a:rPr>
                        <a:t>Detalle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Periodo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1 de enero a 30 de septiembre de 2026, 273 días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Respuesta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Clic en email, apertura en push, lectura en WhatsApp, clic en in-app. Abrir un email no cuenta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Conversión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A 7 días, como referencia, no como atribución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Costos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Email 0.05 MXN por enviado, WhatsApp 1.00 por entregado, push e in-app 0, sin costo fijo de Braze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Audiencia, gancho y tipo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Se leen del nombre de la pieza; 17 % cae en 'otros'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Etapas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Golden dataset cubre 37 % de los envíos; banderas a la fecha de la extracción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Bajas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Solo existen para email. 457 mil usuario-mes, 439 mil usuarios únicos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Control, experimentos, pasos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Solo Canvas (3,228); un usuario cuenta una vez por Canvas, grupo o paso</a:t>
                      </a:r>
                    </a:p>
                  </a:txBody>
                  <a:tcPr marL="45720" marR="45720" marT="18288" marB="18288">
                    <a:solidFill>
                      <a:srgbClr val="F6F7F9"/>
                    </a:solidFill>
                  </a:tcPr>
                </a:tc>
              </a:tr>
              <a:tr h="21031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A1D24"/>
                          </a:solidFill>
                          <a:latin typeface="Calibri"/>
                        </a:rPr>
                        <a:t>Antigüedad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1D24"/>
                          </a:solidFill>
                          <a:latin typeface="Calibri"/>
                        </a:rPr>
                        <a:t>days_on_book a la fecha de la extracción menos los días desde el envío; 1.1 % con alta posterior al envío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560320"/>
            <a:ext cx="40690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Sheets braze_auditoria_v4: Léeme, Parámetros, Vista_equipo, Insights, Plan_accion, Estándares, Catálogo, Campañas, lentes B a U, extracciones E1 a E18b y Verificación (471 filas).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Playbook: PLAYBOOK_BRAZE_KUESKI (md, docx y versión web con resolvedor).</a:t>
            </a:r>
          </a:p>
          <a:p>
            <a:pPr>
              <a:spcAft>
                <a:spcPts val="600"/>
              </a:spcAft>
            </a:pPr>
            <a:r>
              <a:rPr sz="950">
                <a:solidFill>
                  <a:srgbClr val="5B6270"/>
                </a:solidFill>
                <a:latin typeface="Calibri"/>
              </a:rPr>
              <a:t>•  Análisis de apoyo: ANALISIS_BRAZE_KUESKI.md.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956048"/>
            <a:ext cx="11091672" cy="0"/>
          </a:xfrm>
          <a:prstGeom prst="line">
            <a:avLst/>
          </a:prstGeom>
          <a:ln>
            <a:solidFill>
              <a:srgbClr val="E3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HIPÓTESIS  </a:t>
            </a:r>
            <a:r>
              <a:rPr sz="850">
                <a:solidFill>
                  <a:srgbClr val="5B6270"/>
                </a:solidFill>
                <a:latin typeface="Calibri"/>
              </a:rPr>
              <a:t>Los supuestos son explícitos y cambiarlos cambia el resultado, no la conclusión.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4992624"/>
            <a:ext cx="4233672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CAUSA  </a:t>
            </a:r>
            <a:r>
              <a:rPr sz="700" b="1">
                <a:solidFill>
                  <a:srgbClr val="B5342B"/>
                </a:solidFill>
                <a:latin typeface="Calibri"/>
              </a:rPr>
              <a:t>MÉTODO  </a:t>
            </a:r>
            <a:r>
              <a:rPr sz="850">
                <a:solidFill>
                  <a:srgbClr val="5B6270"/>
                </a:solidFill>
                <a:latin typeface="Calibri"/>
              </a:rPr>
              <a:t>Los supuestos cubren lo que no está en los datos: costo por mensaje, ventana de respuesta, costo fijo de Braze.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3" y="4992624"/>
            <a:ext cx="3136391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rPr sz="700" b="1">
                <a:solidFill>
                  <a:srgbClr val="1A1D24"/>
                </a:solidFill>
                <a:latin typeface="Calibri"/>
              </a:rPr>
              <a:t>SI LO RESOLVEMOS  </a:t>
            </a:r>
            <a:r>
              <a:rPr sz="850">
                <a:solidFill>
                  <a:srgbClr val="5B6270"/>
                </a:solidFill>
                <a:latin typeface="Calibri"/>
              </a:rPr>
              <a:t>Si WhatsApp se cobra por enviado y no por entregado, el ahorro del plan en WhatsApp sube cerca del doble.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E4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577840"/>
            <a:ext cx="54864" cy="65836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77840"/>
            <a:ext cx="1078992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900" b="1">
                <a:solidFill>
                  <a:srgbClr val="1F4FD8"/>
                </a:solidFill>
                <a:latin typeface="Calibri"/>
              </a:rPr>
              <a:t>SO WHAT   </a:t>
            </a:r>
            <a:r>
              <a:rPr sz="1100">
                <a:solidFill>
                  <a:srgbClr val="1A1D24"/>
                </a:solidFill>
                <a:latin typeface="Calibri"/>
              </a:rPr>
              <a:t>Sheets, playbook y análisis se actualizan juntos cada mes y viven en el mismo repositorio.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